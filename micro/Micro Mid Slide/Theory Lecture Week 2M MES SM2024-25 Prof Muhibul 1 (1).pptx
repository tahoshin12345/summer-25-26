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53"/>
  </p:notesMasterIdLst>
  <p:handoutMasterIdLst>
    <p:handoutMasterId r:id="rId54"/>
  </p:handoutMasterIdLst>
  <p:sldIdLst>
    <p:sldId id="256" r:id="rId5"/>
    <p:sldId id="268" r:id="rId6"/>
    <p:sldId id="269" r:id="rId7"/>
    <p:sldId id="353" r:id="rId8"/>
    <p:sldId id="322" r:id="rId9"/>
    <p:sldId id="292" r:id="rId10"/>
    <p:sldId id="323" r:id="rId11"/>
    <p:sldId id="297" r:id="rId12"/>
    <p:sldId id="296" r:id="rId13"/>
    <p:sldId id="298" r:id="rId14"/>
    <p:sldId id="299" r:id="rId15"/>
    <p:sldId id="300" r:id="rId16"/>
    <p:sldId id="324" r:id="rId17"/>
    <p:sldId id="301" r:id="rId18"/>
    <p:sldId id="302" r:id="rId19"/>
    <p:sldId id="325" r:id="rId20"/>
    <p:sldId id="304" r:id="rId21"/>
    <p:sldId id="305" r:id="rId22"/>
    <p:sldId id="320" r:id="rId23"/>
    <p:sldId id="307" r:id="rId24"/>
    <p:sldId id="308" r:id="rId25"/>
    <p:sldId id="309" r:id="rId26"/>
    <p:sldId id="310" r:id="rId27"/>
    <p:sldId id="326" r:id="rId28"/>
    <p:sldId id="311" r:id="rId29"/>
    <p:sldId id="318" r:id="rId30"/>
    <p:sldId id="312" r:id="rId31"/>
    <p:sldId id="319" r:id="rId32"/>
    <p:sldId id="314" r:id="rId33"/>
    <p:sldId id="315" r:id="rId34"/>
    <p:sldId id="316" r:id="rId35"/>
    <p:sldId id="349" r:id="rId36"/>
    <p:sldId id="342" r:id="rId37"/>
    <p:sldId id="351" r:id="rId38"/>
    <p:sldId id="352" r:id="rId39"/>
    <p:sldId id="355" r:id="rId40"/>
    <p:sldId id="354" r:id="rId41"/>
    <p:sldId id="356" r:id="rId42"/>
    <p:sldId id="357" r:id="rId43"/>
    <p:sldId id="358" r:id="rId44"/>
    <p:sldId id="359" r:id="rId45"/>
    <p:sldId id="360" r:id="rId46"/>
    <p:sldId id="361" r:id="rId47"/>
    <p:sldId id="364" r:id="rId48"/>
    <p:sldId id="363" r:id="rId49"/>
    <p:sldId id="362" r:id="rId50"/>
    <p:sldId id="317" r:id="rId51"/>
    <p:sldId id="321"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3E57"/>
    <a:srgbClr val="184259"/>
    <a:srgbClr val="9C4E4E"/>
    <a:srgbClr val="700000"/>
    <a:srgbClr val="5E2001"/>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01" autoAdjust="0"/>
  </p:normalViewPr>
  <p:slideViewPr>
    <p:cSldViewPr snapToGrid="0">
      <p:cViewPr varScale="1">
        <p:scale>
          <a:sx n="77" d="100"/>
          <a:sy n="77" d="100"/>
        </p:scale>
        <p:origin x="268" y="56"/>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BF7510-B9ED-40E0-8274-4F64AD62B8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5E24B0-B97F-4932-93CD-4307D6181DC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0AA17F-CB06-445B-ACD3-321E84E51A80}" type="datetimeFigureOut">
              <a:rPr lang="en-US" smtClean="0"/>
              <a:t>6/15/2026</a:t>
            </a:fld>
            <a:endParaRPr lang="en-US" dirty="0"/>
          </a:p>
        </p:txBody>
      </p:sp>
      <p:sp>
        <p:nvSpPr>
          <p:cNvPr id="4" name="Footer Placeholder 3">
            <a:extLst>
              <a:ext uri="{FF2B5EF4-FFF2-40B4-BE49-F238E27FC236}">
                <a16:creationId xmlns:a16="http://schemas.microsoft.com/office/drawing/2014/main" id="{7FC3A0DF-A8A7-4EF4-96E5-757FFFC2A93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2BEC987-E8F6-4FD2-BFB2-04815BD1D2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078EF9-7F2B-4B20-A25C-9E80C16977B9}" type="slidenum">
              <a:rPr lang="en-US" smtClean="0"/>
              <a:t>‹#›</a:t>
            </a:fld>
            <a:endParaRPr lang="en-US" dirty="0"/>
          </a:p>
        </p:txBody>
      </p:sp>
    </p:spTree>
    <p:extLst>
      <p:ext uri="{BB962C8B-B14F-4D97-AF65-F5344CB8AC3E}">
        <p14:creationId xmlns:p14="http://schemas.microsoft.com/office/powerpoint/2010/main" val="2500114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6141C0-BF72-4A20-AFA7-D05563D549B7}" type="datetimeFigureOut">
              <a:rPr lang="en-US" smtClean="0"/>
              <a:t>6/15/2026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AF9CF-D1E5-49FD-94F7-B246BB67E246}" type="slidenum">
              <a:rPr lang="en-US" smtClean="0"/>
              <a:t>‹#›</a:t>
            </a:fld>
            <a:endParaRPr lang="en-US" dirty="0"/>
          </a:p>
        </p:txBody>
      </p:sp>
    </p:spTree>
    <p:extLst>
      <p:ext uri="{BB962C8B-B14F-4D97-AF65-F5344CB8AC3E}">
        <p14:creationId xmlns:p14="http://schemas.microsoft.com/office/powerpoint/2010/main" val="1629285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750">
              <a:spcBef>
                <a:spcPct val="30000"/>
              </a:spcBef>
              <a:defRPr>
                <a:solidFill>
                  <a:schemeClr val="tx1"/>
                </a:solidFill>
                <a:latin typeface="Times New Roman" panose="02020603050405020304" pitchFamily="18" charset="0"/>
              </a:defRPr>
            </a:lvl1pPr>
            <a:lvl2pPr marL="742950" indent="-285750" defTabSz="920750">
              <a:spcBef>
                <a:spcPct val="30000"/>
              </a:spcBef>
              <a:defRPr>
                <a:solidFill>
                  <a:schemeClr val="tx1"/>
                </a:solidFill>
                <a:latin typeface="Times New Roman" panose="02020603050405020304" pitchFamily="18" charset="0"/>
              </a:defRPr>
            </a:lvl2pPr>
            <a:lvl3pPr marL="1143000" indent="-228600" defTabSz="920750">
              <a:spcBef>
                <a:spcPct val="30000"/>
              </a:spcBef>
              <a:defRPr>
                <a:solidFill>
                  <a:schemeClr val="tx1"/>
                </a:solidFill>
                <a:latin typeface="Times New Roman" panose="02020603050405020304" pitchFamily="18" charset="0"/>
              </a:defRPr>
            </a:lvl3pPr>
            <a:lvl4pPr marL="1600200" indent="-228600" defTabSz="920750">
              <a:spcBef>
                <a:spcPct val="30000"/>
              </a:spcBef>
              <a:defRPr>
                <a:solidFill>
                  <a:schemeClr val="tx1"/>
                </a:solidFill>
                <a:latin typeface="Times New Roman" panose="02020603050405020304" pitchFamily="18" charset="0"/>
              </a:defRPr>
            </a:lvl4pPr>
            <a:lvl5pPr marL="2057400" indent="-228600" defTabSz="920750">
              <a:spcBef>
                <a:spcPct val="30000"/>
              </a:spcBef>
              <a:defRPr>
                <a:solidFill>
                  <a:schemeClr val="tx1"/>
                </a:solidFill>
                <a:latin typeface="Times New Roman" panose="02020603050405020304" pitchFamily="18" charset="0"/>
              </a:defRPr>
            </a:lvl5pPr>
            <a:lvl6pPr marL="2514600" indent="-228600" defTabSz="920750" eaLnBrk="0" fontAlgn="base" hangingPunct="0">
              <a:spcBef>
                <a:spcPct val="30000"/>
              </a:spcBef>
              <a:spcAft>
                <a:spcPct val="0"/>
              </a:spcAft>
              <a:defRPr>
                <a:solidFill>
                  <a:schemeClr val="tx1"/>
                </a:solidFill>
                <a:latin typeface="Times New Roman" panose="02020603050405020304" pitchFamily="18" charset="0"/>
              </a:defRPr>
            </a:lvl6pPr>
            <a:lvl7pPr marL="2971800" indent="-228600" defTabSz="920750" eaLnBrk="0" fontAlgn="base" hangingPunct="0">
              <a:spcBef>
                <a:spcPct val="30000"/>
              </a:spcBef>
              <a:spcAft>
                <a:spcPct val="0"/>
              </a:spcAft>
              <a:defRPr>
                <a:solidFill>
                  <a:schemeClr val="tx1"/>
                </a:solidFill>
                <a:latin typeface="Times New Roman" panose="02020603050405020304" pitchFamily="18" charset="0"/>
              </a:defRPr>
            </a:lvl7pPr>
            <a:lvl8pPr marL="3429000" indent="-228600" defTabSz="920750" eaLnBrk="0" fontAlgn="base" hangingPunct="0">
              <a:spcBef>
                <a:spcPct val="30000"/>
              </a:spcBef>
              <a:spcAft>
                <a:spcPct val="0"/>
              </a:spcAft>
              <a:defRPr>
                <a:solidFill>
                  <a:schemeClr val="tx1"/>
                </a:solidFill>
                <a:latin typeface="Times New Roman" panose="02020603050405020304" pitchFamily="18" charset="0"/>
              </a:defRPr>
            </a:lvl8pPr>
            <a:lvl9pPr marL="3886200" indent="-228600" defTabSz="920750" eaLnBrk="0" fontAlgn="base" hangingPunct="0">
              <a:spcBef>
                <a:spcPct val="30000"/>
              </a:spcBef>
              <a:spcAft>
                <a:spcPct val="0"/>
              </a:spcAft>
              <a:defRPr>
                <a:solidFill>
                  <a:schemeClr val="tx1"/>
                </a:solidFill>
                <a:latin typeface="Times New Roman" panose="02020603050405020304" pitchFamily="18" charset="0"/>
              </a:defRPr>
            </a:lvl9pPr>
          </a:lstStyle>
          <a:p>
            <a:pPr>
              <a:spcBef>
                <a:spcPct val="0"/>
              </a:spcBef>
            </a:pPr>
            <a:fld id="{197BAB13-D4A1-40A8-A557-79A139C3ED67}" type="slidenum">
              <a:rPr lang="en-US" altLang="en-US"/>
              <a:pPr>
                <a:spcBef>
                  <a:spcPct val="0"/>
                </a:spcBef>
              </a:pPr>
              <a:t>1</a:t>
            </a:fld>
            <a:endParaRPr lang="en-US" altLang="en-US"/>
          </a:p>
        </p:txBody>
      </p:sp>
      <p:sp>
        <p:nvSpPr>
          <p:cNvPr id="5123"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endParaRPr lang="en-US" altLang="en-US" sz="1851"/>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6AAF9CF-D1E5-49FD-94F7-B246BB67E246}" type="slidenum">
              <a:rPr lang="en-US" smtClean="0"/>
              <a:t>5</a:t>
            </a:fld>
            <a:endParaRPr lang="en-US" dirty="0"/>
          </a:p>
        </p:txBody>
      </p:sp>
    </p:spTree>
    <p:extLst>
      <p:ext uri="{BB962C8B-B14F-4D97-AF65-F5344CB8AC3E}">
        <p14:creationId xmlns:p14="http://schemas.microsoft.com/office/powerpoint/2010/main" val="41941321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6AAF9CF-D1E5-49FD-94F7-B246BB67E246}" type="slidenum">
              <a:rPr lang="en-US" smtClean="0"/>
              <a:t>6</a:t>
            </a:fld>
            <a:endParaRPr lang="en-US" dirty="0"/>
          </a:p>
        </p:txBody>
      </p:sp>
    </p:spTree>
    <p:extLst>
      <p:ext uri="{BB962C8B-B14F-4D97-AF65-F5344CB8AC3E}">
        <p14:creationId xmlns:p14="http://schemas.microsoft.com/office/powerpoint/2010/main" val="2398728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6AAF9CF-D1E5-49FD-94F7-B246BB67E246}" type="slidenum">
              <a:rPr lang="en-US" smtClean="0"/>
              <a:t>7</a:t>
            </a:fld>
            <a:endParaRPr lang="en-US" dirty="0"/>
          </a:p>
        </p:txBody>
      </p:sp>
    </p:spTree>
    <p:extLst>
      <p:ext uri="{BB962C8B-B14F-4D97-AF65-F5344CB8AC3E}">
        <p14:creationId xmlns:p14="http://schemas.microsoft.com/office/powerpoint/2010/main" val="757531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6AAF9CF-D1E5-49FD-94F7-B246BB67E246}" type="slidenum">
              <a:rPr lang="en-US" smtClean="0"/>
              <a:t>8</a:t>
            </a:fld>
            <a:endParaRPr lang="en-US" dirty="0"/>
          </a:p>
        </p:txBody>
      </p:sp>
    </p:spTree>
    <p:extLst>
      <p:ext uri="{BB962C8B-B14F-4D97-AF65-F5344CB8AC3E}">
        <p14:creationId xmlns:p14="http://schemas.microsoft.com/office/powerpoint/2010/main" val="24512169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6AAF9CF-D1E5-49FD-94F7-B246BB67E246}" type="slidenum">
              <a:rPr lang="en-US" smtClean="0"/>
              <a:t>9</a:t>
            </a:fld>
            <a:endParaRPr lang="en-US" dirty="0"/>
          </a:p>
        </p:txBody>
      </p:sp>
    </p:spTree>
    <p:extLst>
      <p:ext uri="{BB962C8B-B14F-4D97-AF65-F5344CB8AC3E}">
        <p14:creationId xmlns:p14="http://schemas.microsoft.com/office/powerpoint/2010/main" val="7879322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6AAF9CF-D1E5-49FD-94F7-B246BB67E246}" type="slidenum">
              <a:rPr lang="en-US" smtClean="0"/>
              <a:t>10</a:t>
            </a:fld>
            <a:endParaRPr lang="en-US" dirty="0"/>
          </a:p>
        </p:txBody>
      </p:sp>
    </p:spTree>
    <p:extLst>
      <p:ext uri="{BB962C8B-B14F-4D97-AF65-F5344CB8AC3E}">
        <p14:creationId xmlns:p14="http://schemas.microsoft.com/office/powerpoint/2010/main" val="2729143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6AAF9CF-D1E5-49FD-94F7-B246BB67E246}" type="slidenum">
              <a:rPr lang="en-US" smtClean="0"/>
              <a:t>14</a:t>
            </a:fld>
            <a:endParaRPr lang="en-US" dirty="0"/>
          </a:p>
        </p:txBody>
      </p:sp>
    </p:spTree>
    <p:extLst>
      <p:ext uri="{BB962C8B-B14F-4D97-AF65-F5344CB8AC3E}">
        <p14:creationId xmlns:p14="http://schemas.microsoft.com/office/powerpoint/2010/main" val="2948961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15</a:t>
            </a:fld>
            <a:endParaRPr lang="en-US"/>
          </a:p>
        </p:txBody>
      </p:sp>
    </p:spTree>
    <p:extLst>
      <p:ext uri="{BB962C8B-B14F-4D97-AF65-F5344CB8AC3E}">
        <p14:creationId xmlns:p14="http://schemas.microsoft.com/office/powerpoint/2010/main" val="14646534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16</a:t>
            </a:fld>
            <a:endParaRPr lang="en-US"/>
          </a:p>
        </p:txBody>
      </p:sp>
    </p:spTree>
    <p:extLst>
      <p:ext uri="{BB962C8B-B14F-4D97-AF65-F5344CB8AC3E}">
        <p14:creationId xmlns:p14="http://schemas.microsoft.com/office/powerpoint/2010/main" val="28609457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17</a:t>
            </a:fld>
            <a:endParaRPr lang="en-US"/>
          </a:p>
        </p:txBody>
      </p:sp>
    </p:spTree>
    <p:extLst>
      <p:ext uri="{BB962C8B-B14F-4D97-AF65-F5344CB8AC3E}">
        <p14:creationId xmlns:p14="http://schemas.microsoft.com/office/powerpoint/2010/main" val="22299725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18</a:t>
            </a:fld>
            <a:endParaRPr lang="en-US"/>
          </a:p>
        </p:txBody>
      </p:sp>
    </p:spTree>
    <p:extLst>
      <p:ext uri="{BB962C8B-B14F-4D97-AF65-F5344CB8AC3E}">
        <p14:creationId xmlns:p14="http://schemas.microsoft.com/office/powerpoint/2010/main" val="23675367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19</a:t>
            </a:fld>
            <a:endParaRPr lang="en-US"/>
          </a:p>
        </p:txBody>
      </p:sp>
    </p:spTree>
    <p:extLst>
      <p:ext uri="{BB962C8B-B14F-4D97-AF65-F5344CB8AC3E}">
        <p14:creationId xmlns:p14="http://schemas.microsoft.com/office/powerpoint/2010/main" val="39707388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32</a:t>
            </a:fld>
            <a:endParaRPr lang="en-US"/>
          </a:p>
        </p:txBody>
      </p:sp>
    </p:spTree>
    <p:extLst>
      <p:ext uri="{BB962C8B-B14F-4D97-AF65-F5344CB8AC3E}">
        <p14:creationId xmlns:p14="http://schemas.microsoft.com/office/powerpoint/2010/main" val="29471945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D4C5A-DDB1-F17F-7CFD-8A344FC513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7521E2-4C73-BEB2-6125-4A4B0067037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D9A42DC-473F-D9A4-1A6D-EA3BE096D427}"/>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760FBE2-C5D8-5D31-4574-F63831FD1A32}"/>
              </a:ext>
            </a:extLst>
          </p:cNvPr>
          <p:cNvSpPr>
            <a:spLocks noGrp="1"/>
          </p:cNvSpPr>
          <p:nvPr>
            <p:ph type="sldNum" sz="quarter" idx="10"/>
          </p:nvPr>
        </p:nvSpPr>
        <p:spPr/>
        <p:txBody>
          <a:bodyPr/>
          <a:lstStyle/>
          <a:p>
            <a:fld id="{33F28183-2755-4A32-BE4D-8CF9D32630D9}" type="slidenum">
              <a:rPr lang="en-US" smtClean="0"/>
              <a:pPr/>
              <a:t>36</a:t>
            </a:fld>
            <a:endParaRPr lang="en-US"/>
          </a:p>
        </p:txBody>
      </p:sp>
    </p:spTree>
    <p:extLst>
      <p:ext uri="{BB962C8B-B14F-4D97-AF65-F5344CB8AC3E}">
        <p14:creationId xmlns:p14="http://schemas.microsoft.com/office/powerpoint/2010/main" val="36760666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44D7-10A5-05CA-0A96-9E871610E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C981F1-55F1-5A7E-B9E8-AFD195B505B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69D8E2A-EA38-6BDD-20C9-4C4C4641DDCB}"/>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C26D91A-E720-8A1E-B211-E8E4DAFD3808}"/>
              </a:ext>
            </a:extLst>
          </p:cNvPr>
          <p:cNvSpPr>
            <a:spLocks noGrp="1"/>
          </p:cNvSpPr>
          <p:nvPr>
            <p:ph type="sldNum" sz="quarter" idx="10"/>
          </p:nvPr>
        </p:nvSpPr>
        <p:spPr/>
        <p:txBody>
          <a:bodyPr/>
          <a:lstStyle/>
          <a:p>
            <a:fld id="{33F28183-2755-4A32-BE4D-8CF9D32630D9}" type="slidenum">
              <a:rPr lang="en-US" smtClean="0"/>
              <a:pPr/>
              <a:t>37</a:t>
            </a:fld>
            <a:endParaRPr lang="en-US"/>
          </a:p>
        </p:txBody>
      </p:sp>
    </p:spTree>
    <p:extLst>
      <p:ext uri="{BB962C8B-B14F-4D97-AF65-F5344CB8AC3E}">
        <p14:creationId xmlns:p14="http://schemas.microsoft.com/office/powerpoint/2010/main" val="42117830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CE192-DB9F-6D8D-20E3-133D04D840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F21659-991B-552D-5EB0-F57A3591EE3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CF5AD84-1D20-5B51-F77D-B5606CF938C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93179ADB-446B-AE53-5E4B-ABD4D5B1553A}"/>
              </a:ext>
            </a:extLst>
          </p:cNvPr>
          <p:cNvSpPr>
            <a:spLocks noGrp="1"/>
          </p:cNvSpPr>
          <p:nvPr>
            <p:ph type="sldNum" sz="quarter" idx="10"/>
          </p:nvPr>
        </p:nvSpPr>
        <p:spPr/>
        <p:txBody>
          <a:bodyPr/>
          <a:lstStyle/>
          <a:p>
            <a:fld id="{33F28183-2755-4A32-BE4D-8CF9D32630D9}" type="slidenum">
              <a:rPr lang="en-US" smtClean="0"/>
              <a:pPr/>
              <a:t>38</a:t>
            </a:fld>
            <a:endParaRPr lang="en-US"/>
          </a:p>
        </p:txBody>
      </p:sp>
    </p:spTree>
    <p:extLst>
      <p:ext uri="{BB962C8B-B14F-4D97-AF65-F5344CB8AC3E}">
        <p14:creationId xmlns:p14="http://schemas.microsoft.com/office/powerpoint/2010/main" val="23687474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E0723-6722-76BF-66EE-336FEE0947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D4215F-77EA-A7D1-0D01-F9A0A23B819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6F14D93-2D80-12A3-A63F-A80D521EB1A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1F533CF-071E-EE6B-6E0A-54388B2FE7A0}"/>
              </a:ext>
            </a:extLst>
          </p:cNvPr>
          <p:cNvSpPr>
            <a:spLocks noGrp="1"/>
          </p:cNvSpPr>
          <p:nvPr>
            <p:ph type="sldNum" sz="quarter" idx="10"/>
          </p:nvPr>
        </p:nvSpPr>
        <p:spPr/>
        <p:txBody>
          <a:bodyPr/>
          <a:lstStyle/>
          <a:p>
            <a:fld id="{33F28183-2755-4A32-BE4D-8CF9D32630D9}" type="slidenum">
              <a:rPr lang="en-US" smtClean="0"/>
              <a:pPr/>
              <a:t>39</a:t>
            </a:fld>
            <a:endParaRPr lang="en-US"/>
          </a:p>
        </p:txBody>
      </p:sp>
    </p:spTree>
    <p:extLst>
      <p:ext uri="{BB962C8B-B14F-4D97-AF65-F5344CB8AC3E}">
        <p14:creationId xmlns:p14="http://schemas.microsoft.com/office/powerpoint/2010/main" val="28536970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D5ACA-9A18-2F8C-FAE7-589468489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8C421E-0103-2469-ED4A-D8585ED3FF0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48EA514-5BDE-9928-5266-CC32F7F16158}"/>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DB8985F-19E7-7DB8-74D2-9B63E3A56A6C}"/>
              </a:ext>
            </a:extLst>
          </p:cNvPr>
          <p:cNvSpPr>
            <a:spLocks noGrp="1"/>
          </p:cNvSpPr>
          <p:nvPr>
            <p:ph type="sldNum" sz="quarter" idx="10"/>
          </p:nvPr>
        </p:nvSpPr>
        <p:spPr/>
        <p:txBody>
          <a:bodyPr/>
          <a:lstStyle/>
          <a:p>
            <a:fld id="{33F28183-2755-4A32-BE4D-8CF9D32630D9}" type="slidenum">
              <a:rPr lang="en-US" smtClean="0"/>
              <a:pPr/>
              <a:t>40</a:t>
            </a:fld>
            <a:endParaRPr lang="en-US"/>
          </a:p>
        </p:txBody>
      </p:sp>
    </p:spTree>
    <p:extLst>
      <p:ext uri="{BB962C8B-B14F-4D97-AF65-F5344CB8AC3E}">
        <p14:creationId xmlns:p14="http://schemas.microsoft.com/office/powerpoint/2010/main" val="27483069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0DDB0-5920-C325-2192-9EE3E7647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FA7FD2-0B2E-AA8B-4175-632CD12ADEE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71ECF7E-54E0-8D93-2D07-F945E68E35AC}"/>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C84985AA-D2D9-4970-076B-A3BCAA9E7925}"/>
              </a:ext>
            </a:extLst>
          </p:cNvPr>
          <p:cNvSpPr>
            <a:spLocks noGrp="1"/>
          </p:cNvSpPr>
          <p:nvPr>
            <p:ph type="sldNum" sz="quarter" idx="10"/>
          </p:nvPr>
        </p:nvSpPr>
        <p:spPr/>
        <p:txBody>
          <a:bodyPr/>
          <a:lstStyle/>
          <a:p>
            <a:fld id="{33F28183-2755-4A32-BE4D-8CF9D32630D9}" type="slidenum">
              <a:rPr lang="en-US" smtClean="0"/>
              <a:pPr/>
              <a:t>41</a:t>
            </a:fld>
            <a:endParaRPr lang="en-US"/>
          </a:p>
        </p:txBody>
      </p:sp>
    </p:spTree>
    <p:extLst>
      <p:ext uri="{BB962C8B-B14F-4D97-AF65-F5344CB8AC3E}">
        <p14:creationId xmlns:p14="http://schemas.microsoft.com/office/powerpoint/2010/main" val="13971961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B7BF5-9923-540A-A8A8-437EEBC3A2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6B5373-532F-BC0C-4C7D-A0E1F975805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B78C522-9BA9-ED6B-E10E-38327C7494EC}"/>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05051C06-D573-489B-5C53-7B30BED029C1}"/>
              </a:ext>
            </a:extLst>
          </p:cNvPr>
          <p:cNvSpPr>
            <a:spLocks noGrp="1"/>
          </p:cNvSpPr>
          <p:nvPr>
            <p:ph type="sldNum" sz="quarter" idx="10"/>
          </p:nvPr>
        </p:nvSpPr>
        <p:spPr/>
        <p:txBody>
          <a:bodyPr/>
          <a:lstStyle/>
          <a:p>
            <a:fld id="{33F28183-2755-4A32-BE4D-8CF9D32630D9}" type="slidenum">
              <a:rPr lang="en-US" smtClean="0"/>
              <a:pPr/>
              <a:t>42</a:t>
            </a:fld>
            <a:endParaRPr lang="en-US"/>
          </a:p>
        </p:txBody>
      </p:sp>
    </p:spTree>
    <p:extLst>
      <p:ext uri="{BB962C8B-B14F-4D97-AF65-F5344CB8AC3E}">
        <p14:creationId xmlns:p14="http://schemas.microsoft.com/office/powerpoint/2010/main" val="11894880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FAE05-FBA4-99FC-2649-9D49D3385A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0556C1-B04A-C89B-2258-960E7B84BD5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5F93CC2-F035-9FDF-4DD3-81E1C27F810F}"/>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EBA8B4A9-CB2F-C70C-358E-23C313BEDFC4}"/>
              </a:ext>
            </a:extLst>
          </p:cNvPr>
          <p:cNvSpPr>
            <a:spLocks noGrp="1"/>
          </p:cNvSpPr>
          <p:nvPr>
            <p:ph type="sldNum" sz="quarter" idx="10"/>
          </p:nvPr>
        </p:nvSpPr>
        <p:spPr/>
        <p:txBody>
          <a:bodyPr/>
          <a:lstStyle/>
          <a:p>
            <a:fld id="{33F28183-2755-4A32-BE4D-8CF9D32630D9}" type="slidenum">
              <a:rPr lang="en-US" smtClean="0"/>
              <a:pPr/>
              <a:t>43</a:t>
            </a:fld>
            <a:endParaRPr lang="en-US"/>
          </a:p>
        </p:txBody>
      </p:sp>
    </p:spTree>
    <p:extLst>
      <p:ext uri="{BB962C8B-B14F-4D97-AF65-F5344CB8AC3E}">
        <p14:creationId xmlns:p14="http://schemas.microsoft.com/office/powerpoint/2010/main" val="38362467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21D3D-346D-989F-DB70-2AB2D0922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B90139-3DD2-7FF5-6128-DC40D7C8B6A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FC12E3E-1175-3D2B-7B03-2E2092A433BF}"/>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91B4861D-9016-2BBC-D3A9-079435C5D2B7}"/>
              </a:ext>
            </a:extLst>
          </p:cNvPr>
          <p:cNvSpPr>
            <a:spLocks noGrp="1"/>
          </p:cNvSpPr>
          <p:nvPr>
            <p:ph type="sldNum" sz="quarter" idx="10"/>
          </p:nvPr>
        </p:nvSpPr>
        <p:spPr/>
        <p:txBody>
          <a:bodyPr/>
          <a:lstStyle/>
          <a:p>
            <a:fld id="{33F28183-2755-4A32-BE4D-8CF9D32630D9}" type="slidenum">
              <a:rPr lang="en-US" smtClean="0"/>
              <a:pPr/>
              <a:t>44</a:t>
            </a:fld>
            <a:endParaRPr lang="en-US"/>
          </a:p>
        </p:txBody>
      </p:sp>
    </p:spTree>
    <p:extLst>
      <p:ext uri="{BB962C8B-B14F-4D97-AF65-F5344CB8AC3E}">
        <p14:creationId xmlns:p14="http://schemas.microsoft.com/office/powerpoint/2010/main" val="133512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30C5D-17C4-FF8F-763A-D2B8BECF97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B76818-EF68-C1F0-51C7-F714CE6ED1F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0614B7D-D359-580E-980C-012E34556C4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4F29139-C9A0-C542-4AE9-2EE0003C93AC}"/>
              </a:ext>
            </a:extLst>
          </p:cNvPr>
          <p:cNvSpPr>
            <a:spLocks noGrp="1"/>
          </p:cNvSpPr>
          <p:nvPr>
            <p:ph type="sldNum" sz="quarter" idx="10"/>
          </p:nvPr>
        </p:nvSpPr>
        <p:spPr/>
        <p:txBody>
          <a:bodyPr/>
          <a:lstStyle/>
          <a:p>
            <a:fld id="{33F28183-2755-4A32-BE4D-8CF9D32630D9}" type="slidenum">
              <a:rPr lang="en-US" smtClean="0"/>
              <a:pPr/>
              <a:t>45</a:t>
            </a:fld>
            <a:endParaRPr lang="en-US"/>
          </a:p>
        </p:txBody>
      </p:sp>
    </p:spTree>
    <p:extLst>
      <p:ext uri="{BB962C8B-B14F-4D97-AF65-F5344CB8AC3E}">
        <p14:creationId xmlns:p14="http://schemas.microsoft.com/office/powerpoint/2010/main" val="37972896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46E99-CF97-89F1-CE52-6B9F16167D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C7CAD4-276F-F7ED-37B8-54D13DCC64A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5227126-D2A7-6823-34B2-F636EA2E5BF8}"/>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B3225964-E1D3-5D1E-DE15-EB81FADB0D52}"/>
              </a:ext>
            </a:extLst>
          </p:cNvPr>
          <p:cNvSpPr>
            <a:spLocks noGrp="1"/>
          </p:cNvSpPr>
          <p:nvPr>
            <p:ph type="sldNum" sz="quarter" idx="10"/>
          </p:nvPr>
        </p:nvSpPr>
        <p:spPr/>
        <p:txBody>
          <a:bodyPr/>
          <a:lstStyle/>
          <a:p>
            <a:fld id="{33F28183-2755-4A32-BE4D-8CF9D32630D9}" type="slidenum">
              <a:rPr lang="en-US" smtClean="0"/>
              <a:pPr/>
              <a:t>46</a:t>
            </a:fld>
            <a:endParaRPr lang="en-US"/>
          </a:p>
        </p:txBody>
      </p:sp>
    </p:spTree>
    <p:extLst>
      <p:ext uri="{BB962C8B-B14F-4D97-AF65-F5344CB8AC3E}">
        <p14:creationId xmlns:p14="http://schemas.microsoft.com/office/powerpoint/2010/main" val="15402550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chor="ctr" anchorCtr="0">
            <a:normAutofit/>
          </a:bodyPr>
          <a:lstStyle>
            <a:lvl1pPr>
              <a:defRPr sz="3000"/>
            </a:lvl1pPr>
          </a:lstStyle>
          <a:p>
            <a:r>
              <a:rPr lang="en-US" noProof="0"/>
              <a:t>Click to edit Master title style</a:t>
            </a:r>
          </a:p>
        </p:txBody>
      </p:sp>
      <p:sp>
        <p:nvSpPr>
          <p:cNvPr id="3" name="Content Placeholder 2"/>
          <p:cNvSpPr>
            <a:spLocks noGrp="1"/>
          </p:cNvSpPr>
          <p:nvPr>
            <p:ph idx="1"/>
          </p:nvPr>
        </p:nvSpPr>
        <p:spPr>
          <a:xfrm>
            <a:off x="685801" y="1869601"/>
            <a:ext cx="10840914" cy="3921600"/>
          </a:xfrm>
        </p:spPr>
        <p:txBody>
          <a:bodyPr anchor="t" anchorCtr="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AE91C37B-4CB2-43B5-B0C1-84A0FA9E1EDB}" type="datetime3">
              <a:rPr lang="en-US" noProof="0" smtClean="0"/>
              <a:t>15 June 2026</a:t>
            </a:fld>
            <a:endParaRPr lang="en-US" noProof="0" dirty="0"/>
          </a:p>
        </p:txBody>
      </p:sp>
      <p:sp>
        <p:nvSpPr>
          <p:cNvPr id="5" name="Footer Placeholder 4"/>
          <p:cNvSpPr>
            <a:spLocks noGrp="1"/>
          </p:cNvSpPr>
          <p:nvPr>
            <p:ph type="ftr" sz="quarter" idx="11"/>
          </p:nvPr>
        </p:nvSpPr>
        <p:spPr/>
        <p:txBody>
          <a:bodyPr/>
          <a:lstStyle/>
          <a:p>
            <a:r>
              <a:rPr lang="en-US" noProof="0"/>
              <a:t>Course Teacher: Prof. Dr. Engr. Muhibul Haque Bhuyan</a:t>
            </a:r>
            <a:endParaRPr lang="en-US" noProof="0" dirty="0"/>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8" name="Straight Connector 7">
            <a:extLst>
              <a:ext uri="{FF2B5EF4-FFF2-40B4-BE49-F238E27FC236}">
                <a16:creationId xmlns:a16="http://schemas.microsoft.com/office/drawing/2014/main" id="{328F7C25-BFB6-430F-87B6-7D0D2C7493D6}"/>
              </a:ext>
              <a:ext uri="{C183D7F6-B498-43B3-948B-1728B52AA6E4}">
                <adec:decorative xmlns:adec="http://schemas.microsoft.com/office/drawing/2017/decorative" val="1"/>
              </a:ext>
            </a:extLst>
          </p:cNvPr>
          <p:cNvCxnSpPr>
            <a:cxnSpLocks/>
          </p:cNvCxnSpPr>
          <p:nvPr userDrawn="1"/>
        </p:nvCxnSpPr>
        <p:spPr>
          <a:xfrm rot="16200000">
            <a:off x="-185517" y="122343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10262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5" y="0"/>
            <a:ext cx="12188825" cy="6856214"/>
          </a:xfrm>
          <a:prstGeom prst="rect">
            <a:avLst/>
          </a:prstGeom>
        </p:spPr>
      </p:pic>
      <p:sp>
        <p:nvSpPr>
          <p:cNvPr id="2" name="Title 1"/>
          <p:cNvSpPr>
            <a:spLocks noGrp="1"/>
          </p:cNvSpPr>
          <p:nvPr>
            <p:ph type="ctrTitle"/>
          </p:nvPr>
        </p:nvSpPr>
        <p:spPr>
          <a:xfrm>
            <a:off x="1649896" y="2716272"/>
            <a:ext cx="10287000" cy="2421464"/>
          </a:xfrm>
        </p:spPr>
        <p:txBody>
          <a:bodyPr anchor="b">
            <a:normAutofit/>
          </a:bodyPr>
          <a:lstStyle>
            <a:lvl1pPr algn="r">
              <a:defRPr sz="4800">
                <a:effectLst/>
              </a:defRPr>
            </a:lvl1pPr>
          </a:lstStyle>
          <a:p>
            <a:r>
              <a:rPr lang="en-US" noProof="0" dirty="0"/>
              <a:t>Click to edit Master title style</a:t>
            </a:r>
          </a:p>
        </p:txBody>
      </p:sp>
      <p:sp>
        <p:nvSpPr>
          <p:cNvPr id="3" name="Subtitle 2"/>
          <p:cNvSpPr>
            <a:spLocks noGrp="1"/>
          </p:cNvSpPr>
          <p:nvPr>
            <p:ph type="subTitle" idx="1"/>
          </p:nvPr>
        </p:nvSpPr>
        <p:spPr>
          <a:xfrm>
            <a:off x="2476500" y="5137736"/>
            <a:ext cx="9460396" cy="732840"/>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4" name="Date Placeholder 3"/>
          <p:cNvSpPr>
            <a:spLocks noGrp="1"/>
          </p:cNvSpPr>
          <p:nvPr>
            <p:ph type="dt" sz="half" idx="10"/>
          </p:nvPr>
        </p:nvSpPr>
        <p:spPr>
          <a:xfrm>
            <a:off x="8932558" y="6447045"/>
            <a:ext cx="1600200" cy="377825"/>
          </a:xfrm>
        </p:spPr>
        <p:txBody>
          <a:bodyPr/>
          <a:lstStyle/>
          <a:p>
            <a:fld id="{82871B3C-E497-4A50-B30B-5CC85E2F355F}" type="datetime3">
              <a:rPr lang="en-US" noProof="0" smtClean="0"/>
              <a:t>15 June 2026</a:t>
            </a:fld>
            <a:endParaRPr lang="en-US" noProof="0" dirty="0"/>
          </a:p>
        </p:txBody>
      </p:sp>
      <p:sp>
        <p:nvSpPr>
          <p:cNvPr id="5" name="Footer Placeholder 4"/>
          <p:cNvSpPr>
            <a:spLocks noGrp="1"/>
          </p:cNvSpPr>
          <p:nvPr>
            <p:ph type="ftr" sz="quarter" idx="11"/>
          </p:nvPr>
        </p:nvSpPr>
        <p:spPr>
          <a:xfrm>
            <a:off x="0" y="6478389"/>
            <a:ext cx="4893958" cy="377825"/>
          </a:xfrm>
        </p:spPr>
        <p:txBody>
          <a:bodyPr/>
          <a:lstStyle/>
          <a:p>
            <a:r>
              <a:rPr lang="en-US" noProof="0"/>
              <a:t>Course Teacher: Prof. Dr. Engr. Muhibul Haque Bhuyan</a:t>
            </a:r>
            <a:endParaRPr lang="en-US" noProof="0" dirty="0"/>
          </a:p>
        </p:txBody>
      </p:sp>
      <p:sp>
        <p:nvSpPr>
          <p:cNvPr id="6" name="Slide Number Placeholder 5"/>
          <p:cNvSpPr>
            <a:spLocks noGrp="1"/>
          </p:cNvSpPr>
          <p:nvPr>
            <p:ph type="sldNum" sz="quarter" idx="12"/>
          </p:nvPr>
        </p:nvSpPr>
        <p:spPr>
          <a:xfrm>
            <a:off x="11632690" y="6456976"/>
            <a:ext cx="551167" cy="377825"/>
          </a:xfrm>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406293711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552450" y="1874308"/>
            <a:ext cx="3814235" cy="1260000"/>
          </a:xfrm>
        </p:spPr>
        <p:txBody>
          <a:bodyPr anchor="ctr" anchorCtr="0">
            <a:noAutofit/>
          </a:bodyPr>
          <a:lstStyle>
            <a:lvl1pPr algn="r">
              <a:defRPr sz="3000" b="0"/>
            </a:lvl1pPr>
          </a:lstStyle>
          <a:p>
            <a:r>
              <a:rPr lang="en-US" noProof="0" dirty="0"/>
              <a:t>Click to edit Master title style</a:t>
            </a:r>
          </a:p>
        </p:txBody>
      </p:sp>
      <p:sp>
        <p:nvSpPr>
          <p:cNvPr id="3" name="Content Placeholder 2"/>
          <p:cNvSpPr>
            <a:spLocks noGrp="1"/>
          </p:cNvSpPr>
          <p:nvPr>
            <p:ph idx="1"/>
          </p:nvPr>
        </p:nvSpPr>
        <p:spPr>
          <a:xfrm>
            <a:off x="4648200" y="0"/>
            <a:ext cx="7543800" cy="6856214"/>
          </a:xfrm>
        </p:spPr>
        <p:txBody>
          <a:bodyPr anchor="ctr">
            <a:normAutofit/>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Text Placeholder 3"/>
          <p:cNvSpPr>
            <a:spLocks noGrp="1"/>
          </p:cNvSpPr>
          <p:nvPr>
            <p:ph type="body" sz="half" idx="2"/>
          </p:nvPr>
        </p:nvSpPr>
        <p:spPr>
          <a:xfrm>
            <a:off x="552450" y="3134308"/>
            <a:ext cx="3814235" cy="2016600"/>
          </a:xfrm>
        </p:spPr>
        <p:txBody>
          <a:bodyPr anchor="t">
            <a:normAutofit/>
          </a:bodyPr>
          <a:lstStyle>
            <a:lvl1pPr marL="0" indent="0" algn="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dirty="0"/>
              <a:t>Edit Master text styles</a:t>
            </a:r>
          </a:p>
        </p:txBody>
      </p:sp>
      <p:sp>
        <p:nvSpPr>
          <p:cNvPr id="5" name="Date Placeholder 4"/>
          <p:cNvSpPr>
            <a:spLocks noGrp="1"/>
          </p:cNvSpPr>
          <p:nvPr>
            <p:ph type="dt" sz="half" idx="10"/>
          </p:nvPr>
        </p:nvSpPr>
        <p:spPr/>
        <p:txBody>
          <a:bodyPr/>
          <a:lstStyle/>
          <a:p>
            <a:fld id="{6803B112-DD76-4404-ABBC-FEA439B487B2}" type="datetime3">
              <a:rPr lang="en-US" noProof="0" smtClean="0"/>
              <a:t>15 June 2026</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00633881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white">
          <a:xfrm>
            <a:off x="685801" y="609600"/>
            <a:ext cx="10840914" cy="1456267"/>
          </a:xfrm>
          <a:prstGeom prst="rect">
            <a:avLst/>
          </a:prstGeom>
          <a:effectLst/>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bwMode="white">
          <a:xfrm>
            <a:off x="685801" y="2142067"/>
            <a:ext cx="10840914" cy="3649133"/>
          </a:xfrm>
          <a:prstGeom prst="rect">
            <a:avLst/>
          </a:prstGeom>
        </p:spPr>
        <p:txBody>
          <a:bodyPr vert="horz" lIns="91440" tIns="45720" rIns="91440" bIns="45720" rtlCol="0" anchor="ctr">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8551024" y="6546717"/>
            <a:ext cx="1600200" cy="315577"/>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5EC4E12-0D55-4CBE-B181-874523D17FFF}" type="datetime3">
              <a:rPr lang="en-US" noProof="0" smtClean="0"/>
              <a:t>15 June 2026</a:t>
            </a:fld>
            <a:endParaRPr lang="en-US" noProof="0" dirty="0"/>
          </a:p>
        </p:txBody>
      </p:sp>
      <p:sp>
        <p:nvSpPr>
          <p:cNvPr id="5" name="Footer Placeholder 4"/>
          <p:cNvSpPr>
            <a:spLocks noGrp="1"/>
          </p:cNvSpPr>
          <p:nvPr>
            <p:ph type="ftr" sz="quarter" idx="3"/>
          </p:nvPr>
        </p:nvSpPr>
        <p:spPr>
          <a:xfrm>
            <a:off x="196402" y="6546717"/>
            <a:ext cx="7827659" cy="311283"/>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noProof="0"/>
              <a:t>Course Teacher: Prof. Dr. Engr. Muhibul Haque Bhuyan</a:t>
            </a:r>
            <a:endParaRPr lang="en-US" noProof="0" dirty="0"/>
          </a:p>
        </p:txBody>
      </p:sp>
      <p:sp>
        <p:nvSpPr>
          <p:cNvPr id="6" name="Slide Number Placeholder 5"/>
          <p:cNvSpPr>
            <a:spLocks noGrp="1"/>
          </p:cNvSpPr>
          <p:nvPr>
            <p:ph type="sldNum" sz="quarter" idx="4"/>
          </p:nvPr>
        </p:nvSpPr>
        <p:spPr>
          <a:xfrm>
            <a:off x="10896387" y="6546717"/>
            <a:ext cx="1260655" cy="315576"/>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009069978"/>
      </p:ext>
    </p:extLst>
  </p:cSld>
  <p:clrMap bg1="dk1" tx1="lt1" bg2="dk2" tx2="lt2" accent1="accent1" accent2="accent2" accent3="accent3" accent4="accent4" accent5="accent5" accent6="accent6" hlink="hlink" folHlink="folHlink"/>
  <p:sldLayoutIdLst>
    <p:sldLayoutId id="2147483662" r:id="rId1"/>
    <p:sldLayoutId id="2147483661" r:id="rId2"/>
    <p:sldLayoutId id="2147483668" r:id="rId3"/>
  </p:sldLayoutIdLst>
  <p:hf hdr="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9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hyperlink" Target="http://maxembedded.com/2011/06/avr-timers-timer0/" TargetMode="External"/><Relationship Id="rId2" Type="http://schemas.openxmlformats.org/officeDocument/2006/relationships/hyperlink" Target="https://www.avrfreaks.net/forum/tut-c-newbies-guide-avr-timers" TargetMode="Externa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827794" y="663222"/>
            <a:ext cx="7193531" cy="4402667"/>
          </a:xfrm>
          <a:prstGeom prst="rect">
            <a:avLst/>
          </a:prstGeom>
        </p:spPr>
      </p:pic>
      <p:sp>
        <p:nvSpPr>
          <p:cNvPr id="4098" name="Rectangle 2"/>
          <p:cNvSpPr>
            <a:spLocks noGrp="1" noChangeArrowheads="1"/>
          </p:cNvSpPr>
          <p:nvPr>
            <p:ph type="ctrTitle"/>
          </p:nvPr>
        </p:nvSpPr>
        <p:spPr>
          <a:xfrm>
            <a:off x="4797778" y="663222"/>
            <a:ext cx="7168444" cy="2483556"/>
          </a:xfrm>
        </p:spPr>
        <p:txBody>
          <a:bodyPr anchor="t">
            <a:normAutofit/>
          </a:bodyPr>
          <a:lstStyle/>
          <a:p>
            <a:pPr algn="l" eaLnBrk="1" hangingPunct="1"/>
            <a:r>
              <a:rPr lang="en-US" altLang="en-US" dirty="0">
                <a:solidFill>
                  <a:srgbClr val="FFFF00"/>
                </a:solidFill>
                <a:latin typeface="Algerian" panose="04020705040A02060702" pitchFamily="82" charset="0"/>
              </a:rPr>
              <a:t>Lecture # 02M</a:t>
            </a:r>
          </a:p>
        </p:txBody>
      </p:sp>
      <p:sp>
        <p:nvSpPr>
          <p:cNvPr id="4100" name="Rectangle 5"/>
          <p:cNvSpPr>
            <a:spLocks noChangeAspect="1" noChangeArrowheads="1"/>
          </p:cNvSpPr>
          <p:nvPr/>
        </p:nvSpPr>
        <p:spPr bwMode="auto">
          <a:xfrm>
            <a:off x="4852880" y="5193282"/>
            <a:ext cx="7193530" cy="1117130"/>
          </a:xfrm>
          <a:prstGeom prst="rect">
            <a:avLst/>
          </a:prstGeom>
          <a:solidFill>
            <a:schemeClr val="tx1"/>
          </a:solidFill>
          <a:ln w="28575">
            <a:solidFill>
              <a:srgbClr val="0070C0"/>
            </a:solidFill>
            <a:miter lim="800000"/>
            <a:headEnd/>
            <a:tailEnd/>
          </a:ln>
        </p:spPr>
        <p:txBody>
          <a:bodyPr lIns="86808" tIns="0" rIns="86808" bIns="0"/>
          <a:lstStyle>
            <a:lvl1pPr>
              <a:spcBef>
                <a:spcPct val="20000"/>
              </a:spcBef>
              <a:buFont typeface="Wingdings" panose="05000000000000000000" pitchFamily="2" charset="2"/>
              <a:buChar char="q"/>
              <a:defRPr sz="28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800">
                <a:solidFill>
                  <a:schemeClr val="tx1"/>
                </a:solidFill>
                <a:latin typeface="Arial" panose="020B0604020202020204" pitchFamily="34" charset="0"/>
              </a:defRPr>
            </a:lvl3pPr>
            <a:lvl4pPr marL="1600200" indent="-228600">
              <a:spcBef>
                <a:spcPct val="20000"/>
              </a:spcBef>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eaLnBrk="1" hangingPunct="1">
              <a:spcBef>
                <a:spcPct val="0"/>
              </a:spcBef>
              <a:buFontTx/>
              <a:buNone/>
            </a:pPr>
            <a:r>
              <a:rPr lang="en-US" altLang="en-US" sz="1778" b="1" dirty="0">
                <a:solidFill>
                  <a:srgbClr val="0000FF"/>
                </a:solidFill>
                <a:cs typeface="Arial" panose="020B0604020202020204" pitchFamily="34" charset="0"/>
              </a:rPr>
              <a:t>Prof. Dr. Engr. </a:t>
            </a:r>
            <a:r>
              <a:rPr lang="en-US" altLang="en-US" sz="1778" b="1" dirty="0" err="1">
                <a:solidFill>
                  <a:srgbClr val="0000FF"/>
                </a:solidFill>
                <a:cs typeface="Arial" panose="020B0604020202020204" pitchFamily="34" charset="0"/>
              </a:rPr>
              <a:t>Muhibul</a:t>
            </a:r>
            <a:r>
              <a:rPr lang="en-US" altLang="en-US" sz="1778" b="1" dirty="0">
                <a:solidFill>
                  <a:srgbClr val="0000FF"/>
                </a:solidFill>
                <a:cs typeface="Arial" panose="020B0604020202020204" pitchFamily="34" charset="0"/>
              </a:rPr>
              <a:t> </a:t>
            </a:r>
            <a:r>
              <a:rPr lang="en-US" altLang="en-US" sz="1778" b="1" dirty="0" err="1">
                <a:solidFill>
                  <a:srgbClr val="0000FF"/>
                </a:solidFill>
                <a:cs typeface="Arial" panose="020B0604020202020204" pitchFamily="34" charset="0"/>
              </a:rPr>
              <a:t>Haque</a:t>
            </a:r>
            <a:r>
              <a:rPr lang="en-US" altLang="en-US" sz="1778" b="1" dirty="0">
                <a:solidFill>
                  <a:srgbClr val="0000FF"/>
                </a:solidFill>
                <a:cs typeface="Arial" panose="020B0604020202020204" pitchFamily="34" charset="0"/>
              </a:rPr>
              <a:t> </a:t>
            </a:r>
            <a:r>
              <a:rPr lang="en-US" altLang="en-US" sz="1778" b="1" dirty="0" err="1">
                <a:solidFill>
                  <a:srgbClr val="0000FF"/>
                </a:solidFill>
                <a:cs typeface="Arial" panose="020B0604020202020204" pitchFamily="34" charset="0"/>
              </a:rPr>
              <a:t>Bhuyan</a:t>
            </a:r>
            <a:endParaRPr lang="en-US" altLang="en-US" sz="1778" b="1" dirty="0">
              <a:solidFill>
                <a:srgbClr val="0000FF"/>
              </a:solidFill>
              <a:cs typeface="Arial" panose="020B0604020202020204" pitchFamily="34" charset="0"/>
            </a:endParaRPr>
          </a:p>
          <a:p>
            <a:pPr eaLnBrk="1" hangingPunct="1">
              <a:spcBef>
                <a:spcPct val="0"/>
              </a:spcBef>
              <a:buFontTx/>
              <a:buNone/>
            </a:pPr>
            <a:r>
              <a:rPr lang="en-US" altLang="en-US" sz="1778" b="1" dirty="0">
                <a:solidFill>
                  <a:srgbClr val="FF0000"/>
                </a:solidFill>
                <a:cs typeface="Arial" panose="020B0604020202020204" pitchFamily="34" charset="0"/>
              </a:rPr>
              <a:t>Professor, Department of EEE</a:t>
            </a:r>
          </a:p>
          <a:p>
            <a:pPr eaLnBrk="1" hangingPunct="1">
              <a:spcBef>
                <a:spcPct val="0"/>
              </a:spcBef>
              <a:buFontTx/>
              <a:buNone/>
            </a:pPr>
            <a:r>
              <a:rPr lang="en-US" altLang="en-US" sz="1778" b="1" dirty="0">
                <a:solidFill>
                  <a:srgbClr val="008000"/>
                </a:solidFill>
                <a:cs typeface="Arial" panose="020B0604020202020204" pitchFamily="34" charset="0"/>
              </a:rPr>
              <a:t>American International University-Bangladesh (AIUB)</a:t>
            </a:r>
          </a:p>
          <a:p>
            <a:pPr eaLnBrk="1" hangingPunct="1">
              <a:spcBef>
                <a:spcPct val="0"/>
              </a:spcBef>
              <a:buFontTx/>
              <a:buNone/>
            </a:pPr>
            <a:r>
              <a:rPr lang="en-US" altLang="en-US" sz="1778" b="1" dirty="0">
                <a:solidFill>
                  <a:srgbClr val="008000"/>
                </a:solidFill>
                <a:cs typeface="Arial" panose="020B0604020202020204" pitchFamily="34" charset="0"/>
              </a:rPr>
              <a:t>Dhaka, Bangladesh</a:t>
            </a:r>
          </a:p>
        </p:txBody>
      </p:sp>
      <p:pic>
        <p:nvPicPr>
          <p:cNvPr id="6" name="Picture 5"/>
          <p:cNvPicPr>
            <a:picLocks noChangeAspect="1"/>
          </p:cNvPicPr>
          <p:nvPr/>
        </p:nvPicPr>
        <p:blipFill>
          <a:blip r:embed="rId4"/>
          <a:stretch>
            <a:fillRect/>
          </a:stretch>
        </p:blipFill>
        <p:spPr>
          <a:xfrm>
            <a:off x="282222" y="663222"/>
            <a:ext cx="4460453" cy="564718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7000"/>
    </mc:Choice>
    <mc:Fallback xmlns="">
      <p:transition spd="slow" advTm="7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pillar icon">
            <a:extLst>
              <a:ext uri="{FF2B5EF4-FFF2-40B4-BE49-F238E27FC236}">
                <a16:creationId xmlns:a16="http://schemas.microsoft.com/office/drawing/2014/main" id="{FC7E2CCC-C53E-454B-9DE0-F2484BA0FF9D}"/>
              </a:ext>
              <a:ext uri="{C183D7F6-B498-43B3-948B-1728B52AA6E4}">
                <adec:decorative xmlns:adec="http://schemas.microsoft.com/office/drawing/2017/decorative" val="1"/>
              </a:ext>
            </a:extLst>
          </p:cNvPr>
          <p:cNvPicPr>
            <a:picLocks/>
          </p:cNvPicPr>
          <p:nvPr/>
        </p:nvPicPr>
        <p:blipFill>
          <a:blip r:embed="rId2"/>
          <a:stretch>
            <a:fillRect/>
          </a:stretch>
        </p:blipFill>
        <p:spPr>
          <a:xfrm>
            <a:off x="10279336" y="1419087"/>
            <a:ext cx="1803807" cy="1663748"/>
          </a:xfrm>
          <a:prstGeom prst="rect">
            <a:avLst/>
          </a:prstGeom>
          <a:ln>
            <a:noFill/>
          </a:ln>
        </p:spPr>
      </p:pic>
      <p:sp>
        <p:nvSpPr>
          <p:cNvPr id="2" name="Title 1">
            <a:extLst>
              <a:ext uri="{FF2B5EF4-FFF2-40B4-BE49-F238E27FC236}">
                <a16:creationId xmlns:a16="http://schemas.microsoft.com/office/drawing/2014/main" id="{7635B398-1E7F-44AD-8356-8345134C958C}"/>
              </a:ext>
            </a:extLst>
          </p:cNvPr>
          <p:cNvSpPr>
            <a:spLocks noGrp="1"/>
          </p:cNvSpPr>
          <p:nvPr>
            <p:ph type="ctrTitle"/>
          </p:nvPr>
        </p:nvSpPr>
        <p:spPr>
          <a:xfrm>
            <a:off x="117567" y="2495006"/>
            <a:ext cx="11965576" cy="1357316"/>
          </a:xfrm>
        </p:spPr>
        <p:txBody>
          <a:bodyPr>
            <a:noAutofit/>
          </a:bodyPr>
          <a:lstStyle/>
          <a:p>
            <a:pPr algn="ctr"/>
            <a:r>
              <a:rPr lang="en-US" sz="7200" b="1" cap="none" dirty="0"/>
              <a:t>Introduction to Timers</a:t>
            </a:r>
          </a:p>
        </p:txBody>
      </p:sp>
      <p:sp>
        <p:nvSpPr>
          <p:cNvPr id="3" name="Subtitle 2">
            <a:extLst>
              <a:ext uri="{FF2B5EF4-FFF2-40B4-BE49-F238E27FC236}">
                <a16:creationId xmlns:a16="http://schemas.microsoft.com/office/drawing/2014/main" id="{852A3D91-AB3F-4EDF-B87E-FDDF6C5DC4CF}"/>
              </a:ext>
            </a:extLst>
          </p:cNvPr>
          <p:cNvSpPr>
            <a:spLocks noGrp="1"/>
          </p:cNvSpPr>
          <p:nvPr>
            <p:ph type="subTitle" idx="1"/>
          </p:nvPr>
        </p:nvSpPr>
        <p:spPr>
          <a:xfrm>
            <a:off x="2476500" y="5137736"/>
            <a:ext cx="9473928" cy="481424"/>
          </a:xfrm>
        </p:spPr>
        <p:txBody>
          <a:bodyPr>
            <a:normAutofit lnSpcReduction="10000"/>
          </a:bodyPr>
          <a:lstStyle/>
          <a:p>
            <a:r>
              <a:rPr lang="en-US" dirty="0"/>
              <a:t>By   </a:t>
            </a:r>
            <a:r>
              <a:rPr lang="en-US" dirty="0" err="1"/>
              <a:t>Nowshin</a:t>
            </a:r>
            <a:r>
              <a:rPr lang="en-US" dirty="0"/>
              <a:t> </a:t>
            </a:r>
            <a:r>
              <a:rPr lang="en-US" dirty="0" err="1"/>
              <a:t>AlAm</a:t>
            </a:r>
            <a:endParaRPr lang="en-US" dirty="0"/>
          </a:p>
          <a:p>
            <a:endParaRPr lang="en-US" dirty="0"/>
          </a:p>
        </p:txBody>
      </p:sp>
      <p:sp>
        <p:nvSpPr>
          <p:cNvPr id="5" name="TextBox 4"/>
          <p:cNvSpPr txBox="1"/>
          <p:nvPr/>
        </p:nvSpPr>
        <p:spPr>
          <a:xfrm>
            <a:off x="2476500" y="711200"/>
            <a:ext cx="9473928" cy="707886"/>
          </a:xfrm>
          <a:prstGeom prst="rect">
            <a:avLst/>
          </a:prstGeom>
          <a:solidFill>
            <a:schemeClr val="tx1"/>
          </a:solidFill>
        </p:spPr>
        <p:txBody>
          <a:bodyPr wrap="square" rtlCol="0">
            <a:spAutoFit/>
          </a:bodyPr>
          <a:lstStyle/>
          <a:p>
            <a:r>
              <a:rPr lang="en-US" sz="2400" b="1" dirty="0">
                <a:solidFill>
                  <a:schemeClr val="accent3">
                    <a:lumMod val="75000"/>
                  </a:schemeClr>
                </a:solidFill>
              </a:rPr>
              <a:t>AMERICAN INTERNATIONAL UNIVERSITY – BANGLADESH (AIUB)</a:t>
            </a:r>
          </a:p>
          <a:p>
            <a:r>
              <a:rPr lang="en-US" sz="1600" b="1" dirty="0">
                <a:solidFill>
                  <a:schemeClr val="accent3">
                    <a:lumMod val="75000"/>
                  </a:schemeClr>
                </a:solidFill>
              </a:rPr>
              <a:t>Where leaders are created</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912" y="332865"/>
            <a:ext cx="1500680" cy="1464556"/>
          </a:xfrm>
          <a:prstGeom prst="rect">
            <a:avLst/>
          </a:prstGeom>
        </p:spPr>
      </p:pic>
      <p:sp>
        <p:nvSpPr>
          <p:cNvPr id="4" name="Slide Number Placeholder 3"/>
          <p:cNvSpPr>
            <a:spLocks noGrp="1"/>
          </p:cNvSpPr>
          <p:nvPr>
            <p:ph type="sldNum" sz="quarter" idx="12"/>
          </p:nvPr>
        </p:nvSpPr>
        <p:spPr>
          <a:xfrm>
            <a:off x="11399261" y="6283733"/>
            <a:ext cx="551167" cy="377825"/>
          </a:xfrm>
        </p:spPr>
        <p:txBody>
          <a:bodyPr/>
          <a:lstStyle/>
          <a:p>
            <a:fld id="{5D99DD2A-B520-4620-9B43-64B657BA2D42}" type="slidenum">
              <a:rPr lang="en-US" noProof="0" smtClean="0"/>
              <a:t>2</a:t>
            </a:fld>
            <a:endParaRPr lang="en-US" noProof="0" dirty="0"/>
          </a:p>
        </p:txBody>
      </p:sp>
      <p:sp>
        <p:nvSpPr>
          <p:cNvPr id="7" name="Date Placeholder 6"/>
          <p:cNvSpPr>
            <a:spLocks noGrp="1"/>
          </p:cNvSpPr>
          <p:nvPr>
            <p:ph type="dt" sz="half" idx="10"/>
          </p:nvPr>
        </p:nvSpPr>
        <p:spPr>
          <a:xfrm>
            <a:off x="9061009" y="6388647"/>
            <a:ext cx="1600200" cy="377825"/>
          </a:xfrm>
        </p:spPr>
        <p:txBody>
          <a:bodyPr/>
          <a:lstStyle/>
          <a:p>
            <a:fld id="{6B97FA58-AEAB-4D82-9D44-5D56C33C8D89}" type="datetime3">
              <a:rPr lang="en-US" noProof="0" smtClean="0"/>
              <a:t>15 June 2026</a:t>
            </a:fld>
            <a:endParaRPr lang="en-US" noProof="0" dirty="0"/>
          </a:p>
        </p:txBody>
      </p:sp>
      <p:sp>
        <p:nvSpPr>
          <p:cNvPr id="8" name="Footer Placeholder 7"/>
          <p:cNvSpPr>
            <a:spLocks noGrp="1"/>
          </p:cNvSpPr>
          <p:nvPr>
            <p:ph type="ftr" sz="quarter" idx="11"/>
          </p:nvPr>
        </p:nvSpPr>
        <p:spPr>
          <a:xfrm>
            <a:off x="640079" y="5870575"/>
            <a:ext cx="10759181" cy="481424"/>
          </a:xfrm>
        </p:spPr>
        <p:txBody>
          <a:bodyPr/>
          <a:lstStyle/>
          <a:p>
            <a:pPr algn="ctr"/>
            <a:r>
              <a:rPr lang="en-US" sz="2800" noProof="0" dirty="0"/>
              <a:t>Course Teacher: </a:t>
            </a:r>
            <a:r>
              <a:rPr lang="en-US" sz="3200" b="1" noProof="0" dirty="0"/>
              <a:t>Prof. Dr. Engr. </a:t>
            </a:r>
            <a:r>
              <a:rPr lang="en-US" sz="3200" b="1" noProof="0" dirty="0" err="1"/>
              <a:t>Muhibul</a:t>
            </a:r>
            <a:r>
              <a:rPr lang="en-US" sz="3200" b="1" noProof="0" dirty="0"/>
              <a:t> </a:t>
            </a:r>
            <a:r>
              <a:rPr lang="en-US" sz="3200" b="1" noProof="0" dirty="0" err="1"/>
              <a:t>Haque</a:t>
            </a:r>
            <a:r>
              <a:rPr lang="en-US" sz="3200" b="1" noProof="0" dirty="0"/>
              <a:t> </a:t>
            </a:r>
            <a:r>
              <a:rPr lang="en-US" sz="3200" b="1" noProof="0" dirty="0" err="1"/>
              <a:t>Bhuyan</a:t>
            </a:r>
            <a:endParaRPr lang="en-US" sz="3200" b="1" noProof="0" dirty="0"/>
          </a:p>
        </p:txBody>
      </p:sp>
    </p:spTree>
    <p:extLst>
      <p:ext uri="{BB962C8B-B14F-4D97-AF65-F5344CB8AC3E}">
        <p14:creationId xmlns:p14="http://schemas.microsoft.com/office/powerpoint/2010/main" val="2352749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08668" y="780767"/>
            <a:ext cx="11886930" cy="984235"/>
          </a:xfrm>
        </p:spPr>
        <p:txBody>
          <a:bodyPr>
            <a:noAutofit/>
          </a:bodyPr>
          <a:lstStyle/>
          <a:p>
            <a:pPr marL="285750" indent="-285750" algn="l">
              <a:buFont typeface="Arial" panose="020B0604020202020204" pitchFamily="34" charset="0"/>
              <a:buChar char="•"/>
            </a:pPr>
            <a:r>
              <a:rPr lang="en-CA" sz="3200" dirty="0">
                <a:latin typeface="Arial" panose="020B0604020202020204" pitchFamily="34" charset="0"/>
                <a:cs typeface="Arial" panose="020B0604020202020204" pitchFamily="34" charset="0"/>
              </a:rPr>
              <a:t>A </a:t>
            </a:r>
            <a:r>
              <a:rPr lang="en-CA" sz="3200" b="1" dirty="0">
                <a:solidFill>
                  <a:srgbClr val="FF0000"/>
                </a:solidFill>
                <a:latin typeface="Arial" panose="020B0604020202020204" pitchFamily="34" charset="0"/>
                <a:cs typeface="Arial" panose="020B0604020202020204" pitchFamily="34" charset="0"/>
              </a:rPr>
              <a:t>timer/counter </a:t>
            </a:r>
            <a:r>
              <a:rPr lang="en-CA" sz="3200" dirty="0">
                <a:latin typeface="Arial" panose="020B0604020202020204" pitchFamily="34" charset="0"/>
                <a:cs typeface="Arial" panose="020B0604020202020204" pitchFamily="34" charset="0"/>
              </a:rPr>
              <a:t>is like a </a:t>
            </a:r>
            <a:r>
              <a:rPr lang="en-CA" sz="3200" b="1" dirty="0">
                <a:solidFill>
                  <a:srgbClr val="FFFF00"/>
                </a:solidFill>
                <a:latin typeface="Arial" panose="020B0604020202020204" pitchFamily="34" charset="0"/>
                <a:cs typeface="Arial" panose="020B0604020202020204" pitchFamily="34" charset="0"/>
              </a:rPr>
              <a:t>clock </a:t>
            </a:r>
            <a:r>
              <a:rPr lang="en-CA" sz="3200" dirty="0">
                <a:latin typeface="Arial" panose="020B0604020202020204" pitchFamily="34" charset="0"/>
                <a:cs typeface="Arial" panose="020B0604020202020204" pitchFamily="34" charset="0"/>
              </a:rPr>
              <a:t>and can be used to measure time events.</a:t>
            </a:r>
          </a:p>
        </p:txBody>
      </p:sp>
      <p:sp>
        <p:nvSpPr>
          <p:cNvPr id="3" name="Slide Number Placeholder 2"/>
          <p:cNvSpPr>
            <a:spLocks noGrp="1"/>
          </p:cNvSpPr>
          <p:nvPr>
            <p:ph type="sldNum" sz="quarter" idx="12"/>
          </p:nvPr>
        </p:nvSpPr>
        <p:spPr/>
        <p:txBody>
          <a:bodyPr/>
          <a:lstStyle/>
          <a:p>
            <a:fld id="{5D99DD2A-B520-4620-9B43-64B657BA2D42}" type="slidenum">
              <a:rPr lang="en-US" noProof="0" smtClean="0"/>
              <a:t>3</a:t>
            </a:fld>
            <a:endParaRPr lang="en-US" noProof="0" dirty="0"/>
          </a:p>
        </p:txBody>
      </p:sp>
      <p:sp>
        <p:nvSpPr>
          <p:cNvPr id="6" name="Date Placeholder 5"/>
          <p:cNvSpPr>
            <a:spLocks noGrp="1"/>
          </p:cNvSpPr>
          <p:nvPr>
            <p:ph type="dt" sz="half" idx="10"/>
          </p:nvPr>
        </p:nvSpPr>
        <p:spPr/>
        <p:txBody>
          <a:bodyPr/>
          <a:lstStyle/>
          <a:p>
            <a:fld id="{3A1A81EE-970C-4152-91EC-202FE056CDE5}" type="datetime3">
              <a:rPr lang="en-US" noProof="0" smtClean="0"/>
              <a:t>15 June 2026</a:t>
            </a:fld>
            <a:endParaRPr lang="en-US" noProof="0" dirty="0"/>
          </a:p>
        </p:txBody>
      </p:sp>
      <p:sp>
        <p:nvSpPr>
          <p:cNvPr id="7" name="Footer Placeholder 6"/>
          <p:cNvSpPr>
            <a:spLocks noGrp="1"/>
          </p:cNvSpPr>
          <p:nvPr>
            <p:ph type="ftr" sz="quarter" idx="11"/>
          </p:nvPr>
        </p:nvSpPr>
        <p:spPr/>
        <p:txBody>
          <a:bodyPr/>
          <a:lstStyle/>
          <a:p>
            <a:r>
              <a:rPr lang="en-US" noProof="0"/>
              <a:t>Course Teacher: Prof. Dr. Engr. Muhibul Haque Bhuyan</a:t>
            </a:r>
            <a:endParaRPr lang="en-US" noProof="0" dirty="0"/>
          </a:p>
        </p:txBody>
      </p:sp>
      <p:sp>
        <p:nvSpPr>
          <p:cNvPr id="11" name="Title 1">
            <a:extLst>
              <a:ext uri="{FF2B5EF4-FFF2-40B4-BE49-F238E27FC236}">
                <a16:creationId xmlns:a16="http://schemas.microsoft.com/office/drawing/2014/main" id="{DFF32E04-E3CE-4175-B0D3-33D69BCB059A}"/>
              </a:ext>
            </a:extLst>
          </p:cNvPr>
          <p:cNvSpPr>
            <a:spLocks noGrp="1"/>
          </p:cNvSpPr>
          <p:nvPr>
            <p:ph type="title"/>
          </p:nvPr>
        </p:nvSpPr>
        <p:spPr>
          <a:xfrm>
            <a:off x="286839" y="112198"/>
            <a:ext cx="10921092" cy="716492"/>
          </a:xfrm>
        </p:spPr>
        <p:txBody>
          <a:bodyPr/>
          <a:lstStyle/>
          <a:p>
            <a:pPr algn="just"/>
            <a:r>
              <a:rPr lang="en-US" sz="4000" b="1" cap="none" dirty="0"/>
              <a:t>What is a Timer?</a:t>
            </a:r>
            <a:endParaRPr lang="en-US" b="1" cap="none" dirty="0"/>
          </a:p>
        </p:txBody>
      </p:sp>
      <p:graphicFrame>
        <p:nvGraphicFramePr>
          <p:cNvPr id="2" name="Table 1">
            <a:extLst>
              <a:ext uri="{FF2B5EF4-FFF2-40B4-BE49-F238E27FC236}">
                <a16:creationId xmlns:a16="http://schemas.microsoft.com/office/drawing/2014/main" id="{DF921991-0603-E951-97F4-99AA7B074DC4}"/>
              </a:ext>
            </a:extLst>
          </p:cNvPr>
          <p:cNvGraphicFramePr>
            <a:graphicFrameLocks noGrp="1"/>
          </p:cNvGraphicFramePr>
          <p:nvPr>
            <p:extLst>
              <p:ext uri="{D42A27DB-BD31-4B8C-83A1-F6EECF244321}">
                <p14:modId xmlns:p14="http://schemas.microsoft.com/office/powerpoint/2010/main" val="1547635020"/>
              </p:ext>
            </p:extLst>
          </p:nvPr>
        </p:nvGraphicFramePr>
        <p:xfrm>
          <a:off x="508088" y="1860454"/>
          <a:ext cx="10972800" cy="4663440"/>
        </p:xfrm>
        <a:graphic>
          <a:graphicData uri="http://schemas.openxmlformats.org/drawingml/2006/table">
            <a:tbl>
              <a:tblPr firstRow="1" bandRow="1">
                <a:tableStyleId>{F5AB1C69-6EDB-4FF4-983F-18BD219EF322}</a:tableStyleId>
              </a:tblPr>
              <a:tblGrid>
                <a:gridCol w="1371600">
                  <a:extLst>
                    <a:ext uri="{9D8B030D-6E8A-4147-A177-3AD203B41FA5}">
                      <a16:colId xmlns:a16="http://schemas.microsoft.com/office/drawing/2014/main" val="224630616"/>
                    </a:ext>
                  </a:extLst>
                </a:gridCol>
                <a:gridCol w="1371600">
                  <a:extLst>
                    <a:ext uri="{9D8B030D-6E8A-4147-A177-3AD203B41FA5}">
                      <a16:colId xmlns:a16="http://schemas.microsoft.com/office/drawing/2014/main" val="2632348418"/>
                    </a:ext>
                  </a:extLst>
                </a:gridCol>
                <a:gridCol w="1371600">
                  <a:extLst>
                    <a:ext uri="{9D8B030D-6E8A-4147-A177-3AD203B41FA5}">
                      <a16:colId xmlns:a16="http://schemas.microsoft.com/office/drawing/2014/main" val="1890601653"/>
                    </a:ext>
                  </a:extLst>
                </a:gridCol>
                <a:gridCol w="1371600">
                  <a:extLst>
                    <a:ext uri="{9D8B030D-6E8A-4147-A177-3AD203B41FA5}">
                      <a16:colId xmlns:a16="http://schemas.microsoft.com/office/drawing/2014/main" val="1079589161"/>
                    </a:ext>
                  </a:extLst>
                </a:gridCol>
                <a:gridCol w="1371600">
                  <a:extLst>
                    <a:ext uri="{9D8B030D-6E8A-4147-A177-3AD203B41FA5}">
                      <a16:colId xmlns:a16="http://schemas.microsoft.com/office/drawing/2014/main" val="725511094"/>
                    </a:ext>
                  </a:extLst>
                </a:gridCol>
                <a:gridCol w="1371600">
                  <a:extLst>
                    <a:ext uri="{9D8B030D-6E8A-4147-A177-3AD203B41FA5}">
                      <a16:colId xmlns:a16="http://schemas.microsoft.com/office/drawing/2014/main" val="833427571"/>
                    </a:ext>
                  </a:extLst>
                </a:gridCol>
                <a:gridCol w="1371600">
                  <a:extLst>
                    <a:ext uri="{9D8B030D-6E8A-4147-A177-3AD203B41FA5}">
                      <a16:colId xmlns:a16="http://schemas.microsoft.com/office/drawing/2014/main" val="1750519138"/>
                    </a:ext>
                  </a:extLst>
                </a:gridCol>
                <a:gridCol w="1371600">
                  <a:extLst>
                    <a:ext uri="{9D8B030D-6E8A-4147-A177-3AD203B41FA5}">
                      <a16:colId xmlns:a16="http://schemas.microsoft.com/office/drawing/2014/main" val="2389327640"/>
                    </a:ext>
                  </a:extLst>
                </a:gridCol>
              </a:tblGrid>
              <a:tr h="457200">
                <a:tc>
                  <a:txBody>
                    <a:bodyPr/>
                    <a:lstStyle/>
                    <a:p>
                      <a:pPr algn="ctr"/>
                      <a:r>
                        <a:rPr lang="en-US" sz="2800" dirty="0">
                          <a:latin typeface="Times New Roman" panose="02020603050405020304" pitchFamily="18" charset="0"/>
                          <a:cs typeface="Times New Roman" panose="02020603050405020304" pitchFamily="18" charset="0"/>
                        </a:rPr>
                        <a:t>B7</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B6</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B5</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B4</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B3</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B2</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B1</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B0</a:t>
                      </a:r>
                    </a:p>
                  </a:txBody>
                  <a:tcPr anchor="ctr"/>
                </a:tc>
                <a:extLst>
                  <a:ext uri="{0D108BD9-81ED-4DB2-BD59-A6C34878D82A}">
                    <a16:rowId xmlns:a16="http://schemas.microsoft.com/office/drawing/2014/main" val="4060302785"/>
                  </a:ext>
                </a:extLst>
              </a:tr>
              <a:tr h="457200">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979587626"/>
                  </a:ext>
                </a:extLst>
              </a:tr>
              <a:tr h="457200">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267376070"/>
                  </a:ext>
                </a:extLst>
              </a:tr>
              <a:tr h="457200">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1</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419885908"/>
                  </a:ext>
                </a:extLst>
              </a:tr>
              <a:tr h="457200">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1</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1755673678"/>
                  </a:ext>
                </a:extLst>
              </a:tr>
              <a:tr h="457200">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1</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extLst>
                  <a:ext uri="{0D108BD9-81ED-4DB2-BD59-A6C34878D82A}">
                    <a16:rowId xmlns:a16="http://schemas.microsoft.com/office/drawing/2014/main" val="2493770203"/>
                  </a:ext>
                </a:extLst>
              </a:tr>
              <a:tr h="457200">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1</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0</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2380039460"/>
                  </a:ext>
                </a:extLst>
              </a:tr>
              <a:tr h="457200">
                <a:tc>
                  <a:txBody>
                    <a:bodyPr/>
                    <a:lstStyle/>
                    <a:p>
                      <a:pPr algn="ctr"/>
                      <a:r>
                        <a:rPr lang="en-US" sz="2800" dirty="0">
                          <a:latin typeface="Times New Roman" panose="02020603050405020304" pitchFamily="18" charset="0"/>
                          <a:cs typeface="Times New Roman" panose="02020603050405020304" pitchFamily="18" charset="0"/>
                        </a:rPr>
                        <a:t>.</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3534323067"/>
                  </a:ext>
                </a:extLst>
              </a:tr>
              <a:tr h="457200">
                <a:tc>
                  <a:txBody>
                    <a:bodyPr/>
                    <a:lstStyle/>
                    <a:p>
                      <a:pPr algn="ctr"/>
                      <a:r>
                        <a:rPr lang="en-US" sz="2800" dirty="0">
                          <a:latin typeface="Times New Roman" panose="02020603050405020304" pitchFamily="18" charset="0"/>
                          <a:cs typeface="Times New Roman" panose="02020603050405020304" pitchFamily="18" charset="0"/>
                        </a:rPr>
                        <a:t>1</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1</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1</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1</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1</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1</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1</a:t>
                      </a:r>
                    </a:p>
                  </a:txBody>
                  <a:tcPr anchor="ctr"/>
                </a:tc>
                <a:tc>
                  <a:txBody>
                    <a:bodyPr/>
                    <a:lstStyle/>
                    <a:p>
                      <a:pPr algn="ctr"/>
                      <a:r>
                        <a:rPr lang="en-US" sz="2800" dirty="0">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1017074643"/>
                  </a:ext>
                </a:extLst>
              </a:tr>
            </a:tbl>
          </a:graphicData>
        </a:graphic>
      </p:graphicFrame>
      <p:cxnSp>
        <p:nvCxnSpPr>
          <p:cNvPr id="8" name="Straight Arrow Connector 7">
            <a:extLst>
              <a:ext uri="{FF2B5EF4-FFF2-40B4-BE49-F238E27FC236}">
                <a16:creationId xmlns:a16="http://schemas.microsoft.com/office/drawing/2014/main" id="{DF758903-4D3A-346A-C5CB-D2B8B596D176}"/>
              </a:ext>
            </a:extLst>
          </p:cNvPr>
          <p:cNvCxnSpPr/>
          <p:nvPr/>
        </p:nvCxnSpPr>
        <p:spPr>
          <a:xfrm>
            <a:off x="11748977" y="1860454"/>
            <a:ext cx="0" cy="4686263"/>
          </a:xfrm>
          <a:prstGeom prst="straightConnector1">
            <a:avLst/>
          </a:prstGeom>
          <a:ln w="7620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29622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1BBCB-D477-1829-AC71-62D0C46FBD34}"/>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EE169094-70C2-D23D-4225-5E883716A244}"/>
              </a:ext>
            </a:extLst>
          </p:cNvPr>
          <p:cNvSpPr>
            <a:spLocks noGrp="1"/>
          </p:cNvSpPr>
          <p:nvPr>
            <p:ph type="body" sz="half" idx="2"/>
          </p:nvPr>
        </p:nvSpPr>
        <p:spPr>
          <a:xfrm>
            <a:off x="108668" y="897729"/>
            <a:ext cx="4332123" cy="5659825"/>
          </a:xfrm>
        </p:spPr>
        <p:txBody>
          <a:bodyPr>
            <a:noAutofit/>
          </a:bodyPr>
          <a:lstStyle/>
          <a:p>
            <a:pPr marL="285750" indent="-285750" algn="l">
              <a:buFont typeface="Arial" panose="020B0604020202020204" pitchFamily="34" charset="0"/>
              <a:buChar char="•"/>
            </a:pPr>
            <a:r>
              <a:rPr lang="en-CA" sz="3200" dirty="0">
                <a:latin typeface="Arial" panose="020B0604020202020204" pitchFamily="34" charset="0"/>
                <a:cs typeface="Arial" panose="020B0604020202020204" pitchFamily="34" charset="0"/>
              </a:rPr>
              <a:t>The timer can be programmed by some special registers.</a:t>
            </a:r>
          </a:p>
          <a:p>
            <a:pPr marL="285750" indent="-285750" algn="l">
              <a:buFont typeface="Arial" panose="020B0604020202020204" pitchFamily="34" charset="0"/>
              <a:buChar char="•"/>
            </a:pPr>
            <a:r>
              <a:rPr lang="en-CA" sz="3200" dirty="0">
                <a:latin typeface="Arial" panose="020B0604020202020204" pitchFamily="34" charset="0"/>
                <a:cs typeface="Arial" panose="020B0604020202020204" pitchFamily="34" charset="0"/>
              </a:rPr>
              <a:t>The controller of the Arduino is the  ATmega328, which has </a:t>
            </a:r>
            <a:r>
              <a:rPr lang="en-CA" sz="3200" b="1" dirty="0">
                <a:solidFill>
                  <a:srgbClr val="FFFF00"/>
                </a:solidFill>
                <a:latin typeface="Arial" panose="020B0604020202020204" pitchFamily="34" charset="0"/>
                <a:cs typeface="Arial" panose="020B0604020202020204" pitchFamily="34" charset="0"/>
              </a:rPr>
              <a:t>3 timers</a:t>
            </a:r>
            <a:r>
              <a:rPr lang="en-CA" sz="3200" dirty="0">
                <a:latin typeface="Arial" panose="020B0604020202020204" pitchFamily="34" charset="0"/>
                <a:cs typeface="Arial" panose="020B0604020202020204" pitchFamily="34" charset="0"/>
              </a:rPr>
              <a:t>, called </a:t>
            </a:r>
            <a:r>
              <a:rPr lang="en-CA" sz="3200" b="1" dirty="0">
                <a:solidFill>
                  <a:srgbClr val="FFFF00"/>
                </a:solidFill>
                <a:latin typeface="Arial" panose="020B0604020202020204" pitchFamily="34" charset="0"/>
                <a:cs typeface="Arial" panose="020B0604020202020204" pitchFamily="34" charset="0"/>
              </a:rPr>
              <a:t>Timer0, Timer1 and Timer2</a:t>
            </a:r>
            <a:r>
              <a:rPr lang="en-CA" sz="3200" dirty="0">
                <a:latin typeface="Arial" panose="020B0604020202020204" pitchFamily="34" charset="0"/>
                <a:cs typeface="Arial" panose="020B0604020202020204" pitchFamily="34" charset="0"/>
              </a:rPr>
              <a:t>. </a:t>
            </a:r>
          </a:p>
        </p:txBody>
      </p:sp>
      <p:sp>
        <p:nvSpPr>
          <p:cNvPr id="3" name="Slide Number Placeholder 2">
            <a:extLst>
              <a:ext uri="{FF2B5EF4-FFF2-40B4-BE49-F238E27FC236}">
                <a16:creationId xmlns:a16="http://schemas.microsoft.com/office/drawing/2014/main" id="{924AB4DC-1EEC-9765-4686-947D57F7A75D}"/>
              </a:ext>
            </a:extLst>
          </p:cNvPr>
          <p:cNvSpPr>
            <a:spLocks noGrp="1"/>
          </p:cNvSpPr>
          <p:nvPr>
            <p:ph type="sldNum" sz="quarter" idx="12"/>
          </p:nvPr>
        </p:nvSpPr>
        <p:spPr/>
        <p:txBody>
          <a:bodyPr/>
          <a:lstStyle/>
          <a:p>
            <a:fld id="{5D99DD2A-B520-4620-9B43-64B657BA2D42}" type="slidenum">
              <a:rPr lang="en-US" noProof="0" smtClean="0"/>
              <a:t>4</a:t>
            </a:fld>
            <a:endParaRPr lang="en-US" noProof="0" dirty="0"/>
          </a:p>
        </p:txBody>
      </p:sp>
      <p:sp>
        <p:nvSpPr>
          <p:cNvPr id="6" name="Date Placeholder 5">
            <a:extLst>
              <a:ext uri="{FF2B5EF4-FFF2-40B4-BE49-F238E27FC236}">
                <a16:creationId xmlns:a16="http://schemas.microsoft.com/office/drawing/2014/main" id="{FE4F2415-A0BB-8282-8BE4-C688432E2C89}"/>
              </a:ext>
            </a:extLst>
          </p:cNvPr>
          <p:cNvSpPr>
            <a:spLocks noGrp="1"/>
          </p:cNvSpPr>
          <p:nvPr>
            <p:ph type="dt" sz="half" idx="10"/>
          </p:nvPr>
        </p:nvSpPr>
        <p:spPr/>
        <p:txBody>
          <a:bodyPr/>
          <a:lstStyle/>
          <a:p>
            <a:fld id="{3A1A81EE-970C-4152-91EC-202FE056CDE5}" type="datetime3">
              <a:rPr lang="en-US" noProof="0" smtClean="0"/>
              <a:t>15 June 2026</a:t>
            </a:fld>
            <a:endParaRPr lang="en-US" noProof="0" dirty="0"/>
          </a:p>
        </p:txBody>
      </p:sp>
      <p:sp>
        <p:nvSpPr>
          <p:cNvPr id="7" name="Footer Placeholder 6">
            <a:extLst>
              <a:ext uri="{FF2B5EF4-FFF2-40B4-BE49-F238E27FC236}">
                <a16:creationId xmlns:a16="http://schemas.microsoft.com/office/drawing/2014/main" id="{1EED252E-5AEA-B839-DD36-5703CAE57E6E}"/>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11" name="Title 1">
            <a:extLst>
              <a:ext uri="{FF2B5EF4-FFF2-40B4-BE49-F238E27FC236}">
                <a16:creationId xmlns:a16="http://schemas.microsoft.com/office/drawing/2014/main" id="{25DE8B98-DC1A-C102-CC2C-92A94F51CF60}"/>
              </a:ext>
            </a:extLst>
          </p:cNvPr>
          <p:cNvSpPr>
            <a:spLocks noGrp="1"/>
          </p:cNvSpPr>
          <p:nvPr>
            <p:ph type="title"/>
          </p:nvPr>
        </p:nvSpPr>
        <p:spPr>
          <a:xfrm>
            <a:off x="286839" y="112198"/>
            <a:ext cx="10921092" cy="716492"/>
          </a:xfrm>
        </p:spPr>
        <p:txBody>
          <a:bodyPr/>
          <a:lstStyle/>
          <a:p>
            <a:pPr algn="just"/>
            <a:r>
              <a:rPr lang="en-US" sz="4000" b="1" cap="none" dirty="0"/>
              <a:t>What is a Timer?</a:t>
            </a:r>
            <a:endParaRPr lang="en-US" b="1" cap="none" dirty="0"/>
          </a:p>
        </p:txBody>
      </p:sp>
      <p:pic>
        <p:nvPicPr>
          <p:cNvPr id="12" name="Picture 4" descr="Arduino et Timer [Wiki]">
            <a:extLst>
              <a:ext uri="{FF2B5EF4-FFF2-40B4-BE49-F238E27FC236}">
                <a16:creationId xmlns:a16="http://schemas.microsoft.com/office/drawing/2014/main" id="{22173F43-9159-0C74-04B8-1226E7DA97F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02" t="2864" b="2508"/>
          <a:stretch/>
        </p:blipFill>
        <p:spPr bwMode="auto">
          <a:xfrm>
            <a:off x="4440792" y="545909"/>
            <a:ext cx="7659834" cy="6011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85136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1+#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D99DD2A-B520-4620-9B43-64B657BA2D42}" type="slidenum">
              <a:rPr lang="en-US" noProof="0" smtClean="0"/>
              <a:t>5</a:t>
            </a:fld>
            <a:endParaRPr lang="en-US" noProof="0" dirty="0"/>
          </a:p>
        </p:txBody>
      </p:sp>
      <p:pic>
        <p:nvPicPr>
          <p:cNvPr id="1028" name="Picture 4" descr="Arduino et Timer [Wiki]"/>
          <p:cNvPicPr>
            <a:picLocks noChangeAspect="1" noChangeArrowheads="1"/>
          </p:cNvPicPr>
          <p:nvPr/>
        </p:nvPicPr>
        <p:blipFill rotWithShape="1">
          <a:blip r:embed="rId3">
            <a:extLst>
              <a:ext uri="{28A0092B-C50C-407E-A947-70E740481C1C}">
                <a14:useLocalDpi xmlns:a14="http://schemas.microsoft.com/office/drawing/2010/main" val="0"/>
              </a:ext>
            </a:extLst>
          </a:blip>
          <a:srcRect l="1602" t="2864" b="2508"/>
          <a:stretch/>
        </p:blipFill>
        <p:spPr bwMode="auto">
          <a:xfrm>
            <a:off x="5865223" y="992776"/>
            <a:ext cx="6235402" cy="542108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04503" y="792122"/>
            <a:ext cx="5930538" cy="5509200"/>
          </a:xfrm>
          <a:prstGeom prst="rect">
            <a:avLst/>
          </a:prstGeom>
        </p:spPr>
        <p:txBody>
          <a:bodyPr wrap="square">
            <a:spAutoFit/>
          </a:bodyPr>
          <a:lstStyle/>
          <a:p>
            <a:pPr marL="285750" indent="-285750">
              <a:buFont typeface="Arial" panose="020B0604020202020204" pitchFamily="34" charset="0"/>
              <a:buChar char="•"/>
            </a:pPr>
            <a:r>
              <a:rPr lang="en-CA" sz="3200" dirty="0">
                <a:latin typeface="Arial" panose="020B0604020202020204" pitchFamily="34" charset="0"/>
                <a:cs typeface="Arial" panose="020B0604020202020204" pitchFamily="34" charset="0"/>
              </a:rPr>
              <a:t>Timer0 and Timer2 are 8-bit timers, whereas Timer1 is a 16-bit timer. The most important difference between 8-bit and 16-bit timers is the </a:t>
            </a:r>
            <a:r>
              <a:rPr lang="en-CA" sz="3200" b="1" dirty="0">
                <a:solidFill>
                  <a:srgbClr val="FF0000"/>
                </a:solidFill>
                <a:latin typeface="Arial" panose="020B0604020202020204" pitchFamily="34" charset="0"/>
                <a:cs typeface="Arial" panose="020B0604020202020204" pitchFamily="34" charset="0"/>
              </a:rPr>
              <a:t>timer resolution</a:t>
            </a:r>
            <a:r>
              <a:rPr lang="en-CA" sz="3200"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sz="3200" dirty="0">
                <a:latin typeface="Arial" panose="020B0604020202020204" pitchFamily="34" charset="0"/>
                <a:cs typeface="Arial" panose="020B0604020202020204" pitchFamily="34" charset="0"/>
              </a:rPr>
              <a:t>8-bit timer is capable of counting 2</a:t>
            </a:r>
            <a:r>
              <a:rPr lang="en-US" sz="3200" baseline="30000" dirty="0">
                <a:latin typeface="Arial" panose="020B0604020202020204" pitchFamily="34" charset="0"/>
                <a:cs typeface="Arial" panose="020B0604020202020204" pitchFamily="34" charset="0"/>
              </a:rPr>
              <a:t>8 </a:t>
            </a:r>
            <a:r>
              <a:rPr lang="en-US" sz="3200" dirty="0">
                <a:latin typeface="Arial" panose="020B0604020202020204" pitchFamily="34" charset="0"/>
                <a:cs typeface="Arial" panose="020B0604020202020204" pitchFamily="34" charset="0"/>
              </a:rPr>
              <a:t>= 256 steps from 0 to 255. 16-bit timer is capable of counting 2</a:t>
            </a:r>
            <a:r>
              <a:rPr lang="en-US" sz="3200" baseline="30000" dirty="0">
                <a:latin typeface="Arial" panose="020B0604020202020204" pitchFamily="34" charset="0"/>
                <a:cs typeface="Arial" panose="020B0604020202020204" pitchFamily="34" charset="0"/>
              </a:rPr>
              <a:t>16 </a:t>
            </a:r>
            <a:r>
              <a:rPr lang="en-US" sz="3200" dirty="0">
                <a:latin typeface="Arial" panose="020B0604020202020204" pitchFamily="34" charset="0"/>
                <a:cs typeface="Arial" panose="020B0604020202020204" pitchFamily="34" charset="0"/>
              </a:rPr>
              <a:t>= 65536 steps from 0 to 65535.</a:t>
            </a:r>
          </a:p>
        </p:txBody>
      </p:sp>
      <p:sp>
        <p:nvSpPr>
          <p:cNvPr id="6" name="Date Placeholder 5"/>
          <p:cNvSpPr>
            <a:spLocks noGrp="1"/>
          </p:cNvSpPr>
          <p:nvPr>
            <p:ph type="dt" sz="half" idx="10"/>
          </p:nvPr>
        </p:nvSpPr>
        <p:spPr/>
        <p:txBody>
          <a:bodyPr/>
          <a:lstStyle/>
          <a:p>
            <a:fld id="{3A1A81EE-970C-4152-91EC-202FE056CDE5}" type="datetime3">
              <a:rPr lang="en-US" noProof="0" smtClean="0"/>
              <a:t>15 June 2026</a:t>
            </a:fld>
            <a:endParaRPr lang="en-US" noProof="0" dirty="0"/>
          </a:p>
        </p:txBody>
      </p:sp>
      <p:sp>
        <p:nvSpPr>
          <p:cNvPr id="7" name="Footer Placeholder 6"/>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10" name="Title 1">
            <a:extLst>
              <a:ext uri="{FF2B5EF4-FFF2-40B4-BE49-F238E27FC236}">
                <a16:creationId xmlns:a16="http://schemas.microsoft.com/office/drawing/2014/main" id="{DFF32E04-E3CE-4175-B0D3-33D69BCB059A}"/>
              </a:ext>
            </a:extLst>
          </p:cNvPr>
          <p:cNvSpPr>
            <a:spLocks noGrp="1"/>
          </p:cNvSpPr>
          <p:nvPr>
            <p:ph type="title"/>
          </p:nvPr>
        </p:nvSpPr>
        <p:spPr>
          <a:xfrm>
            <a:off x="286839" y="112198"/>
            <a:ext cx="10921092" cy="716492"/>
          </a:xfrm>
        </p:spPr>
        <p:txBody>
          <a:bodyPr/>
          <a:lstStyle/>
          <a:p>
            <a:pPr algn="just"/>
            <a:r>
              <a:rPr lang="en-US" sz="4000" b="1" cap="none" dirty="0"/>
              <a:t>What is a Timer?</a:t>
            </a:r>
            <a:endParaRPr lang="en-US" b="1" cap="none" dirty="0"/>
          </a:p>
        </p:txBody>
      </p:sp>
      <p:sp>
        <p:nvSpPr>
          <p:cNvPr id="4" name="Right Brace 3">
            <a:extLst>
              <a:ext uri="{FF2B5EF4-FFF2-40B4-BE49-F238E27FC236}">
                <a16:creationId xmlns:a16="http://schemas.microsoft.com/office/drawing/2014/main" id="{2B831346-AEBF-D830-B5D3-A775E3ADD4CA}"/>
              </a:ext>
            </a:extLst>
          </p:cNvPr>
          <p:cNvSpPr/>
          <p:nvPr/>
        </p:nvSpPr>
        <p:spPr>
          <a:xfrm>
            <a:off x="9207795" y="3540642"/>
            <a:ext cx="297712" cy="1052623"/>
          </a:xfrm>
          <a:prstGeom prst="rightBrace">
            <a:avLst>
              <a:gd name="adj1" fmla="val 51190"/>
              <a:gd name="adj2"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extBox 4">
            <a:extLst>
              <a:ext uri="{FF2B5EF4-FFF2-40B4-BE49-F238E27FC236}">
                <a16:creationId xmlns:a16="http://schemas.microsoft.com/office/drawing/2014/main" id="{DE95A046-C5B5-799D-7DFF-D644DDAD3425}"/>
              </a:ext>
            </a:extLst>
          </p:cNvPr>
          <p:cNvSpPr txBox="1"/>
          <p:nvPr/>
        </p:nvSpPr>
        <p:spPr>
          <a:xfrm>
            <a:off x="9351123" y="3407788"/>
            <a:ext cx="1238905" cy="461665"/>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PB5-0</a:t>
            </a:r>
          </a:p>
        </p:txBody>
      </p:sp>
      <p:sp>
        <p:nvSpPr>
          <p:cNvPr id="8" name="Right Brace 7">
            <a:extLst>
              <a:ext uri="{FF2B5EF4-FFF2-40B4-BE49-F238E27FC236}">
                <a16:creationId xmlns:a16="http://schemas.microsoft.com/office/drawing/2014/main" id="{AD7BC3A2-5FCD-60AF-C9F8-1E9DA1C08FA0}"/>
              </a:ext>
            </a:extLst>
          </p:cNvPr>
          <p:cNvSpPr/>
          <p:nvPr/>
        </p:nvSpPr>
        <p:spPr>
          <a:xfrm>
            <a:off x="9207795" y="4785168"/>
            <a:ext cx="297712" cy="1360450"/>
          </a:xfrm>
          <a:prstGeom prst="rightBrace">
            <a:avLst>
              <a:gd name="adj1" fmla="val 51190"/>
              <a:gd name="adj2"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 name="TextBox 8">
            <a:extLst>
              <a:ext uri="{FF2B5EF4-FFF2-40B4-BE49-F238E27FC236}">
                <a16:creationId xmlns:a16="http://schemas.microsoft.com/office/drawing/2014/main" id="{747552D4-6CCE-CD58-4CC1-023863678B2A}"/>
              </a:ext>
            </a:extLst>
          </p:cNvPr>
          <p:cNvSpPr txBox="1"/>
          <p:nvPr/>
        </p:nvSpPr>
        <p:spPr>
          <a:xfrm>
            <a:off x="9351123" y="5634391"/>
            <a:ext cx="1366495" cy="461665"/>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PD7-0</a:t>
            </a:r>
          </a:p>
        </p:txBody>
      </p:sp>
    </p:spTree>
    <p:extLst>
      <p:ext uri="{BB962C8B-B14F-4D97-AF65-F5344CB8AC3E}">
        <p14:creationId xmlns:p14="http://schemas.microsoft.com/office/powerpoint/2010/main" val="4082223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anim calcmode="lin" valueType="num">
                                      <p:cBhvr additive="base">
                                        <p:cTn id="11" dur="500" fill="hold"/>
                                        <p:tgtEl>
                                          <p:spTgt spid="1028"/>
                                        </p:tgtEl>
                                        <p:attrNameLst>
                                          <p:attrName>ppt_x</p:attrName>
                                        </p:attrNameLst>
                                      </p:cBhvr>
                                      <p:tavLst>
                                        <p:tav tm="0">
                                          <p:val>
                                            <p:strVal val="1+#ppt_w/2"/>
                                          </p:val>
                                        </p:tav>
                                        <p:tav tm="100000">
                                          <p:val>
                                            <p:strVal val="#ppt_x"/>
                                          </p:val>
                                        </p:tav>
                                      </p:tavLst>
                                    </p:anim>
                                    <p:anim calcmode="lin" valueType="num">
                                      <p:cBhvr additive="base">
                                        <p:cTn id="12" dur="500" fill="hold"/>
                                        <p:tgtEl>
                                          <p:spTgt spid="1028"/>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1+#ppt_w/2"/>
                                          </p:val>
                                        </p:tav>
                                        <p:tav tm="100000">
                                          <p:val>
                                            <p:strVal val="#ppt_x"/>
                                          </p:val>
                                        </p:tav>
                                      </p:tavLst>
                                    </p:anim>
                                    <p:anim calcmode="lin" valueType="num">
                                      <p:cBhvr additive="base">
                                        <p:cTn id="18" dur="500" fill="hold"/>
                                        <p:tgtEl>
                                          <p:spTgt spid="4"/>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1+#ppt_w/2"/>
                                          </p:val>
                                        </p:tav>
                                        <p:tav tm="100000">
                                          <p:val>
                                            <p:strVal val="#ppt_x"/>
                                          </p:val>
                                        </p:tav>
                                      </p:tavLst>
                                    </p:anim>
                                    <p:anim calcmode="lin" valueType="num">
                                      <p:cBhvr additive="base">
                                        <p:cTn id="2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1+#ppt_w/2"/>
                                          </p:val>
                                        </p:tav>
                                        <p:tav tm="100000">
                                          <p:val>
                                            <p:strVal val="#ppt_x"/>
                                          </p:val>
                                        </p:tav>
                                      </p:tavLst>
                                    </p:anim>
                                    <p:anim calcmode="lin" valueType="num">
                                      <p:cBhvr additive="base">
                                        <p:cTn id="28" dur="500" fill="hold"/>
                                        <p:tgtEl>
                                          <p:spTgt spid="8"/>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1+#ppt_w/2"/>
                                          </p:val>
                                        </p:tav>
                                        <p:tav tm="100000">
                                          <p:val>
                                            <p:strVal val="#ppt_x"/>
                                          </p:val>
                                        </p:tav>
                                      </p:tavLst>
                                    </p:anim>
                                    <p:anim calcmode="lin" valueType="num">
                                      <p:cBhvr additive="base">
                                        <p:cTn id="32"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8" grpId="0" animBg="1"/>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17021" y="52250"/>
            <a:ext cx="7158990" cy="611989"/>
          </a:xfrm>
        </p:spPr>
        <p:txBody>
          <a:bodyPr/>
          <a:lstStyle/>
          <a:p>
            <a:pPr algn="just"/>
            <a:r>
              <a:rPr lang="en-US" sz="4000" b="1" cap="none" dirty="0"/>
              <a:t>Usefulness of Timer :</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17021" y="650987"/>
            <a:ext cx="11966122" cy="5984755"/>
          </a:xfrm>
        </p:spPr>
        <p:txBody>
          <a:bodyPr>
            <a:noAutofit/>
          </a:bodyPr>
          <a:lstStyle/>
          <a:p>
            <a:pPr marL="342900" indent="-342900" algn="l">
              <a:lnSpc>
                <a:spcPct val="90000"/>
              </a:lnSpc>
              <a:spcAft>
                <a:spcPts val="0"/>
              </a:spcAft>
              <a:buFont typeface="Arial" panose="020B0604020202020204" pitchFamily="34" charset="0"/>
              <a:buChar char="•"/>
            </a:pPr>
            <a:r>
              <a:rPr lang="en-US" sz="3600" dirty="0">
                <a:latin typeface="Arial" panose="020B0604020202020204" pitchFamily="34" charset="0"/>
                <a:cs typeface="Arial" panose="020B0604020202020204" pitchFamily="34" charset="0"/>
              </a:rPr>
              <a:t>Timer is an important concept in the field of electronics. Every electronic component of a sequential logic circuit works on a time base to keep all the work synchronized. </a:t>
            </a:r>
          </a:p>
          <a:p>
            <a:pPr marL="342900" indent="-342900" algn="l">
              <a:lnSpc>
                <a:spcPct val="90000"/>
              </a:lnSpc>
              <a:spcAft>
                <a:spcPts val="0"/>
              </a:spcAft>
              <a:buFont typeface="Arial" panose="020B0604020202020204" pitchFamily="34" charset="0"/>
              <a:buChar char="•"/>
            </a:pPr>
            <a:r>
              <a:rPr lang="en-US" sz="3600" dirty="0">
                <a:latin typeface="Arial" panose="020B0604020202020204" pitchFamily="34" charset="0"/>
                <a:cs typeface="Arial" panose="020B0604020202020204" pitchFamily="34" charset="0"/>
              </a:rPr>
              <a:t>An </a:t>
            </a:r>
            <a:r>
              <a:rPr lang="en-US" sz="3600" b="1" dirty="0">
                <a:solidFill>
                  <a:srgbClr val="FF0000"/>
                </a:solidFill>
                <a:latin typeface="Arial" panose="020B0604020202020204" pitchFamily="34" charset="0"/>
                <a:cs typeface="Arial" panose="020B0604020202020204" pitchFamily="34" charset="0"/>
              </a:rPr>
              <a:t>advantage</a:t>
            </a:r>
            <a:r>
              <a:rPr lang="en-US" sz="3600" dirty="0">
                <a:latin typeface="Arial" panose="020B0604020202020204" pitchFamily="34" charset="0"/>
                <a:cs typeface="Arial" panose="020B0604020202020204" pitchFamily="34" charset="0"/>
              </a:rPr>
              <a:t> of the </a:t>
            </a:r>
            <a:r>
              <a:rPr lang="en-US" sz="3600" b="1" dirty="0">
                <a:solidFill>
                  <a:srgbClr val="FF0000"/>
                </a:solidFill>
                <a:latin typeface="Arial" panose="020B0604020202020204" pitchFamily="34" charset="0"/>
                <a:cs typeface="Arial" panose="020B0604020202020204" pitchFamily="34" charset="0"/>
              </a:rPr>
              <a:t>timer</a:t>
            </a:r>
            <a:r>
              <a:rPr lang="en-US" sz="3600" dirty="0">
                <a:latin typeface="Arial" panose="020B0604020202020204" pitchFamily="34" charset="0"/>
                <a:cs typeface="Arial" panose="020B0604020202020204" pitchFamily="34" charset="0"/>
              </a:rPr>
              <a:t> is that it is totally </a:t>
            </a:r>
            <a:r>
              <a:rPr lang="en-US" sz="3600" b="1" dirty="0">
                <a:solidFill>
                  <a:srgbClr val="FF0000"/>
                </a:solidFill>
                <a:latin typeface="Arial" panose="020B0604020202020204" pitchFamily="34" charset="0"/>
                <a:cs typeface="Arial" panose="020B0604020202020204" pitchFamily="34" charset="0"/>
              </a:rPr>
              <a:t>independent of the CPU</a:t>
            </a:r>
            <a:r>
              <a:rPr lang="en-US" sz="3600" dirty="0">
                <a:latin typeface="Arial" panose="020B0604020202020204" pitchFamily="34" charset="0"/>
                <a:cs typeface="Arial" panose="020B0604020202020204" pitchFamily="34" charset="0"/>
              </a:rPr>
              <a:t>. Thus, it runs parallel to the CPU and there is no CPU’s intervention, which makes the timer quite accurate. </a:t>
            </a:r>
          </a:p>
          <a:p>
            <a:pPr marL="342900" indent="-342900" algn="l">
              <a:lnSpc>
                <a:spcPct val="90000"/>
              </a:lnSpc>
              <a:spcAft>
                <a:spcPts val="0"/>
              </a:spcAft>
              <a:buFont typeface="Arial" panose="020B0604020202020204" pitchFamily="34" charset="0"/>
              <a:buChar char="•"/>
            </a:pPr>
            <a:r>
              <a:rPr lang="en-US" sz="3600" dirty="0">
                <a:latin typeface="Arial" panose="020B0604020202020204" pitchFamily="34" charset="0"/>
                <a:cs typeface="Arial" panose="020B0604020202020204" pitchFamily="34" charset="0"/>
              </a:rPr>
              <a:t>This is why </a:t>
            </a:r>
            <a:r>
              <a:rPr lang="en-US" sz="3600" b="1" dirty="0">
                <a:solidFill>
                  <a:srgbClr val="FF0000"/>
                </a:solidFill>
                <a:latin typeface="Arial" panose="020B0604020202020204" pitchFamily="34" charset="0"/>
                <a:cs typeface="Arial" panose="020B0604020202020204" pitchFamily="34" charset="0"/>
              </a:rPr>
              <a:t>using a timer is preferred for long delays </a:t>
            </a:r>
            <a:r>
              <a:rPr lang="en-US" sz="3600" dirty="0">
                <a:latin typeface="Arial" panose="020B0604020202020204" pitchFamily="34" charset="0"/>
                <a:cs typeface="Arial" panose="020B0604020202020204" pitchFamily="34" charset="0"/>
              </a:rPr>
              <a:t>instead of simply using the </a:t>
            </a:r>
            <a:r>
              <a:rPr lang="en-US" sz="3600" b="1" dirty="0">
                <a:solidFill>
                  <a:srgbClr val="FF0000"/>
                </a:solidFill>
                <a:latin typeface="Arial" panose="020B0604020202020204" pitchFamily="34" charset="0"/>
                <a:cs typeface="Arial" panose="020B0604020202020204" pitchFamily="34" charset="0"/>
              </a:rPr>
              <a:t>delay() function</a:t>
            </a:r>
            <a:r>
              <a:rPr lang="en-US" sz="3600" dirty="0">
                <a:latin typeface="Arial" panose="020B0604020202020204" pitchFamily="34" charset="0"/>
                <a:cs typeface="Arial" panose="020B0604020202020204" pitchFamily="34" charset="0"/>
              </a:rPr>
              <a:t>. The </a:t>
            </a:r>
            <a:r>
              <a:rPr lang="en-US" sz="3600" b="1" dirty="0">
                <a:solidFill>
                  <a:srgbClr val="FF0000"/>
                </a:solidFill>
                <a:latin typeface="Arial" panose="020B0604020202020204" pitchFamily="34" charset="0"/>
                <a:cs typeface="Arial" panose="020B0604020202020204" pitchFamily="34" charset="0"/>
              </a:rPr>
              <a:t>drawback of delay() </a:t>
            </a:r>
            <a:r>
              <a:rPr lang="en-US" sz="3600" dirty="0">
                <a:latin typeface="Arial" panose="020B0604020202020204" pitchFamily="34" charset="0"/>
                <a:cs typeface="Arial" panose="020B0604020202020204" pitchFamily="34" charset="0"/>
              </a:rPr>
              <a:t>is that your loop gets halted, and functions above and below the delay() are not being executed during this interval.</a:t>
            </a:r>
            <a:endParaRPr lang="en-CA" sz="3600" dirty="0">
              <a:latin typeface="Arial" panose="020B0604020202020204" pitchFamily="34" charset="0"/>
              <a:cs typeface="Arial" panose="020B0604020202020204" pitchFamily="34" charset="0"/>
            </a:endParaRPr>
          </a:p>
          <a:p>
            <a:pPr algn="l">
              <a:lnSpc>
                <a:spcPct val="90000"/>
              </a:lnSpc>
              <a:spcAft>
                <a:spcPts val="0"/>
              </a:spcAft>
            </a:pPr>
            <a:endParaRPr lang="en-US" sz="3600" dirty="0">
              <a:latin typeface="Arial" panose="020B0604020202020204" pitchFamily="34" charset="0"/>
              <a:cs typeface="Arial" panose="020B0604020202020204" pitchFamily="34" charset="0"/>
            </a:endParaRPr>
          </a:p>
          <a:p>
            <a:pPr marL="231775" indent="-231775" algn="l">
              <a:lnSpc>
                <a:spcPct val="90000"/>
              </a:lnSpc>
              <a:spcAft>
                <a:spcPts val="0"/>
              </a:spcAft>
            </a:pPr>
            <a:endParaRPr lang="en-US" sz="36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6</a:t>
            </a:fld>
            <a:endParaRPr lang="en-US" noProof="0" dirty="0"/>
          </a:p>
        </p:txBody>
      </p:sp>
      <p:sp>
        <p:nvSpPr>
          <p:cNvPr id="5" name="Date Placeholder 4"/>
          <p:cNvSpPr>
            <a:spLocks noGrp="1"/>
          </p:cNvSpPr>
          <p:nvPr>
            <p:ph type="dt" sz="half" idx="10"/>
          </p:nvPr>
        </p:nvSpPr>
        <p:spPr/>
        <p:txBody>
          <a:bodyPr/>
          <a:lstStyle/>
          <a:p>
            <a:fld id="{865E008D-CEE4-4803-8078-5C778F308983}" type="datetime3">
              <a:rPr lang="en-US" noProof="0" smtClean="0"/>
              <a:t>15 June 2026</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Tree>
    <p:extLst>
      <p:ext uri="{BB962C8B-B14F-4D97-AF65-F5344CB8AC3E}">
        <p14:creationId xmlns:p14="http://schemas.microsoft.com/office/powerpoint/2010/main" val="7444808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17021" y="52250"/>
            <a:ext cx="7158990" cy="611989"/>
          </a:xfrm>
        </p:spPr>
        <p:txBody>
          <a:bodyPr/>
          <a:lstStyle/>
          <a:p>
            <a:pPr algn="just"/>
            <a:r>
              <a:rPr lang="en-US" sz="4000" b="1" cap="none" dirty="0"/>
              <a:t>Usefulness of Timer :</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30084" y="796834"/>
            <a:ext cx="11913870" cy="5723757"/>
          </a:xfrm>
        </p:spPr>
        <p:txBody>
          <a:bodyPr>
            <a:noAutofit/>
          </a:bodyPr>
          <a:lstStyle/>
          <a:p>
            <a:pPr marL="342900" indent="-342900" algn="l">
              <a:lnSpc>
                <a:spcPct val="90000"/>
              </a:lnSpc>
              <a:spcAft>
                <a:spcPts val="0"/>
              </a:spcAft>
              <a:buFont typeface="Arial" panose="020B0604020202020204" pitchFamily="34" charset="0"/>
              <a:buChar char="•"/>
            </a:pPr>
            <a:r>
              <a:rPr lang="en-US" sz="3600" dirty="0">
                <a:latin typeface="Arial" panose="020B0604020202020204" pitchFamily="34" charset="0"/>
                <a:cs typeface="Arial" panose="020B0604020202020204" pitchFamily="34" charset="0"/>
              </a:rPr>
              <a:t>A timer approach is a little </a:t>
            </a:r>
            <a:r>
              <a:rPr lang="en-US" sz="3600" b="1" dirty="0">
                <a:solidFill>
                  <a:srgbClr val="FF0000"/>
                </a:solidFill>
                <a:latin typeface="Arial" panose="020B0604020202020204" pitchFamily="34" charset="0"/>
                <a:cs typeface="Arial" panose="020B0604020202020204" pitchFamily="34" charset="0"/>
              </a:rPr>
              <a:t>harder to implement </a:t>
            </a:r>
            <a:r>
              <a:rPr lang="en-US" sz="3600" dirty="0">
                <a:latin typeface="Arial" panose="020B0604020202020204" pitchFamily="34" charset="0"/>
                <a:cs typeface="Arial" panose="020B0604020202020204" pitchFamily="34" charset="0"/>
              </a:rPr>
              <a:t>but the </a:t>
            </a:r>
            <a:r>
              <a:rPr lang="en-US" sz="3600" b="1" dirty="0">
                <a:solidFill>
                  <a:srgbClr val="FF0000"/>
                </a:solidFill>
                <a:latin typeface="Arial" panose="020B0604020202020204" pitchFamily="34" charset="0"/>
                <a:cs typeface="Arial" panose="020B0604020202020204" pitchFamily="34" charset="0"/>
              </a:rPr>
              <a:t>main loop keeps executing </a:t>
            </a:r>
            <a:r>
              <a:rPr lang="en-US" sz="3600" dirty="0">
                <a:latin typeface="Arial" panose="020B0604020202020204" pitchFamily="34" charset="0"/>
                <a:cs typeface="Arial" panose="020B0604020202020204" pitchFamily="34" charset="0"/>
              </a:rPr>
              <a:t>and only </a:t>
            </a:r>
            <a:r>
              <a:rPr lang="en-US" sz="3600" b="1" dirty="0">
                <a:solidFill>
                  <a:srgbClr val="FFFF00"/>
                </a:solidFill>
                <a:latin typeface="Arial" panose="020B0604020202020204" pitchFamily="34" charset="0"/>
                <a:cs typeface="Arial" panose="020B0604020202020204" pitchFamily="34" charset="0"/>
              </a:rPr>
              <a:t>excludes the code and functions which a programmer wants to exclude</a:t>
            </a:r>
            <a:r>
              <a:rPr lang="en-US" sz="3600" dirty="0">
                <a:latin typeface="Arial" panose="020B0604020202020204" pitchFamily="34" charset="0"/>
                <a:cs typeface="Arial" panose="020B0604020202020204" pitchFamily="34" charset="0"/>
              </a:rPr>
              <a:t>. </a:t>
            </a:r>
          </a:p>
          <a:p>
            <a:pPr marL="342900" indent="-342900" algn="l">
              <a:lnSpc>
                <a:spcPct val="90000"/>
              </a:lnSpc>
              <a:spcAft>
                <a:spcPts val="0"/>
              </a:spcAft>
              <a:buFont typeface="Arial" panose="020B0604020202020204" pitchFamily="34" charset="0"/>
              <a:buChar char="•"/>
            </a:pPr>
            <a:r>
              <a:rPr lang="en-US" sz="3600" dirty="0">
                <a:latin typeface="Arial" panose="020B0604020202020204" pitchFamily="34" charset="0"/>
                <a:cs typeface="Arial" panose="020B0604020202020204" pitchFamily="34" charset="0"/>
              </a:rPr>
              <a:t>If the programmer needs </a:t>
            </a:r>
            <a:r>
              <a:rPr lang="en-US" sz="3600" b="1" dirty="0">
                <a:solidFill>
                  <a:srgbClr val="FF0000"/>
                </a:solidFill>
                <a:latin typeface="Arial" panose="020B0604020202020204" pitchFamily="34" charset="0"/>
                <a:cs typeface="Arial" panose="020B0604020202020204" pitchFamily="34" charset="0"/>
              </a:rPr>
              <a:t>multiple tasks to occur </a:t>
            </a:r>
            <a:r>
              <a:rPr lang="en-US" sz="3600" dirty="0">
                <a:latin typeface="Arial" panose="020B0604020202020204" pitchFamily="34" charset="0"/>
                <a:cs typeface="Arial" panose="020B0604020202020204" pitchFamily="34" charset="0"/>
              </a:rPr>
              <a:t>at the same time or if the programmers' application requires that you constantly read/save data from inputs, </a:t>
            </a:r>
            <a:r>
              <a:rPr lang="en-US" sz="3600" b="1" dirty="0">
                <a:solidFill>
                  <a:srgbClr val="FF0000"/>
                </a:solidFill>
                <a:latin typeface="Arial" panose="020B0604020202020204" pitchFamily="34" charset="0"/>
                <a:cs typeface="Arial" panose="020B0604020202020204" pitchFamily="34" charset="0"/>
              </a:rPr>
              <a:t>use of the delay() function should be avoided</a:t>
            </a:r>
            <a:r>
              <a:rPr lang="en-US" sz="3600" dirty="0">
                <a:latin typeface="Arial" panose="020B0604020202020204" pitchFamily="34" charset="0"/>
                <a:cs typeface="Arial" panose="020B0604020202020204" pitchFamily="34" charset="0"/>
              </a:rPr>
              <a:t>.</a:t>
            </a:r>
          </a:p>
          <a:p>
            <a:pPr algn="l">
              <a:lnSpc>
                <a:spcPct val="90000"/>
              </a:lnSpc>
              <a:spcAft>
                <a:spcPts val="0"/>
              </a:spcAft>
            </a:pPr>
            <a:endParaRPr lang="en-CA" sz="3600" dirty="0">
              <a:latin typeface="Arial" panose="020B0604020202020204" pitchFamily="34" charset="0"/>
              <a:cs typeface="Arial" panose="020B0604020202020204" pitchFamily="34" charset="0"/>
            </a:endParaRPr>
          </a:p>
          <a:p>
            <a:pPr algn="l">
              <a:lnSpc>
                <a:spcPct val="90000"/>
              </a:lnSpc>
              <a:spcAft>
                <a:spcPts val="0"/>
              </a:spcAft>
            </a:pPr>
            <a:endParaRPr lang="en-US" sz="3600" dirty="0">
              <a:latin typeface="Arial" panose="020B0604020202020204" pitchFamily="34" charset="0"/>
              <a:cs typeface="Arial" panose="020B0604020202020204" pitchFamily="34" charset="0"/>
            </a:endParaRPr>
          </a:p>
          <a:p>
            <a:pPr marL="231775" indent="-231775" algn="l">
              <a:lnSpc>
                <a:spcPct val="90000"/>
              </a:lnSpc>
              <a:spcAft>
                <a:spcPts val="0"/>
              </a:spcAft>
            </a:pPr>
            <a:endParaRPr lang="en-US" sz="36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7</a:t>
            </a:fld>
            <a:endParaRPr lang="en-US" noProof="0" dirty="0"/>
          </a:p>
        </p:txBody>
      </p:sp>
      <p:sp>
        <p:nvSpPr>
          <p:cNvPr id="5" name="Date Placeholder 4"/>
          <p:cNvSpPr>
            <a:spLocks noGrp="1"/>
          </p:cNvSpPr>
          <p:nvPr>
            <p:ph type="dt" sz="half" idx="10"/>
          </p:nvPr>
        </p:nvSpPr>
        <p:spPr/>
        <p:txBody>
          <a:bodyPr/>
          <a:lstStyle/>
          <a:p>
            <a:fld id="{865E008D-CEE4-4803-8078-5C778F308983}" type="datetime3">
              <a:rPr lang="en-US" noProof="0" smtClean="0"/>
              <a:t>15 June 2026</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Tree>
    <p:extLst>
      <p:ext uri="{BB962C8B-B14F-4D97-AF65-F5344CB8AC3E}">
        <p14:creationId xmlns:p14="http://schemas.microsoft.com/office/powerpoint/2010/main" val="41888658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86839" y="73009"/>
            <a:ext cx="7158990" cy="716492"/>
          </a:xfrm>
        </p:spPr>
        <p:txBody>
          <a:bodyPr/>
          <a:lstStyle/>
          <a:p>
            <a:pPr algn="just"/>
            <a:r>
              <a:rPr lang="en-US" sz="4000" b="1" cap="none" dirty="0"/>
              <a:t>Timer Basics: Overflow</a:t>
            </a:r>
            <a:endParaRPr lang="en-US" b="1" cap="none" dirty="0"/>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21450" y="626604"/>
            <a:ext cx="11922503" cy="2573795"/>
          </a:xfrm>
        </p:spPr>
        <p:txBody>
          <a:bodyPr>
            <a:noAutofit/>
          </a:bodyPr>
          <a:lstStyle/>
          <a:p>
            <a:pPr marL="342900" indent="-342900" algn="l">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Due to this counting feature, </a:t>
            </a:r>
            <a:r>
              <a:rPr lang="en-US" sz="3200" b="1" dirty="0">
                <a:solidFill>
                  <a:srgbClr val="FF0000"/>
                </a:solidFill>
                <a:latin typeface="Arial" panose="020B0604020202020204" pitchFamily="34" charset="0"/>
                <a:cs typeface="Arial" panose="020B0604020202020204" pitchFamily="34" charset="0"/>
              </a:rPr>
              <a:t>timers are also known as counters</a:t>
            </a:r>
            <a:r>
              <a:rPr lang="en-US" sz="3200" dirty="0">
                <a:latin typeface="Arial" panose="020B0604020202020204" pitchFamily="34" charset="0"/>
                <a:cs typeface="Arial" panose="020B0604020202020204" pitchFamily="34" charset="0"/>
              </a:rPr>
              <a:t>. Once they reach their maximum possible value, the program does not stop executing and the timer count simply returns to its initial value of zero. In such a situation, we say that the timer/counter </a:t>
            </a:r>
            <a:r>
              <a:rPr lang="en-US" sz="3200" b="1" dirty="0">
                <a:solidFill>
                  <a:srgbClr val="FF0000"/>
                </a:solidFill>
                <a:latin typeface="Arial" panose="020B0604020202020204" pitchFamily="34" charset="0"/>
                <a:cs typeface="Arial" panose="020B0604020202020204" pitchFamily="34" charset="0"/>
              </a:rPr>
              <a:t>overflows</a:t>
            </a:r>
            <a:r>
              <a:rPr lang="en-US" sz="3200" b="1" dirty="0">
                <a:latin typeface="Arial" panose="020B0604020202020204" pitchFamily="34" charset="0"/>
                <a:cs typeface="Arial" panose="020B0604020202020204" pitchFamily="34" charset="0"/>
              </a:rPr>
              <a:t>.</a:t>
            </a:r>
          </a:p>
        </p:txBody>
      </p:sp>
      <p:sp>
        <p:nvSpPr>
          <p:cNvPr id="3" name="Slide Number Placeholder 2"/>
          <p:cNvSpPr>
            <a:spLocks noGrp="1"/>
          </p:cNvSpPr>
          <p:nvPr>
            <p:ph type="sldNum" sz="quarter" idx="12"/>
          </p:nvPr>
        </p:nvSpPr>
        <p:spPr/>
        <p:txBody>
          <a:bodyPr/>
          <a:lstStyle/>
          <a:p>
            <a:fld id="{5D99DD2A-B520-4620-9B43-64B657BA2D42}" type="slidenum">
              <a:rPr lang="en-US" noProof="0" smtClean="0"/>
              <a:t>8</a:t>
            </a:fld>
            <a:endParaRPr lang="en-US" noProof="0" dirty="0"/>
          </a:p>
        </p:txBody>
      </p:sp>
      <p:pic>
        <p:nvPicPr>
          <p:cNvPr id="5" name="Picture 4"/>
          <p:cNvPicPr>
            <a:picLocks noChangeAspect="1"/>
          </p:cNvPicPr>
          <p:nvPr/>
        </p:nvPicPr>
        <p:blipFill rotWithShape="1">
          <a:blip r:embed="rId3"/>
          <a:srcRect l="1081" t="7480" r="3022" b="5485"/>
          <a:stretch/>
        </p:blipFill>
        <p:spPr>
          <a:xfrm>
            <a:off x="4336867" y="3193479"/>
            <a:ext cx="7733212" cy="3392427"/>
          </a:xfrm>
          <a:prstGeom prst="rect">
            <a:avLst/>
          </a:prstGeom>
        </p:spPr>
      </p:pic>
      <p:sp>
        <p:nvSpPr>
          <p:cNvPr id="6" name="Date Placeholder 5"/>
          <p:cNvSpPr>
            <a:spLocks noGrp="1"/>
          </p:cNvSpPr>
          <p:nvPr>
            <p:ph type="dt" sz="half" idx="10"/>
          </p:nvPr>
        </p:nvSpPr>
        <p:spPr/>
        <p:txBody>
          <a:bodyPr/>
          <a:lstStyle/>
          <a:p>
            <a:fld id="{393008D9-D0F0-472B-9895-8ECF48D83D68}" type="datetime3">
              <a:rPr lang="en-US" noProof="0" smtClean="0"/>
              <a:t>15 June 2026</a:t>
            </a:fld>
            <a:endParaRPr lang="en-US" noProof="0" dirty="0"/>
          </a:p>
        </p:txBody>
      </p:sp>
      <p:sp>
        <p:nvSpPr>
          <p:cNvPr id="7" name="Footer Placeholder 6"/>
          <p:cNvSpPr>
            <a:spLocks noGrp="1"/>
          </p:cNvSpPr>
          <p:nvPr>
            <p:ph type="ftr" sz="quarter" idx="11"/>
          </p:nvPr>
        </p:nvSpPr>
        <p:spPr/>
        <p:txBody>
          <a:bodyPr/>
          <a:lstStyle/>
          <a:p>
            <a:r>
              <a:rPr lang="en-US" noProof="0"/>
              <a:t>Course Teacher: Prof. Dr. Engr. Muhibul Haque Bhuyan</a:t>
            </a:r>
            <a:endParaRPr lang="en-US" noProof="0" dirty="0"/>
          </a:p>
        </p:txBody>
      </p:sp>
      <p:sp>
        <p:nvSpPr>
          <p:cNvPr id="8" name="Rectangle 7"/>
          <p:cNvSpPr/>
          <p:nvPr/>
        </p:nvSpPr>
        <p:spPr>
          <a:xfrm>
            <a:off x="78378" y="3030582"/>
            <a:ext cx="4310741" cy="3539430"/>
          </a:xfrm>
          <a:prstGeom prst="rect">
            <a:avLst/>
          </a:prstGeom>
        </p:spPr>
        <p:txBody>
          <a:bodyPr wrap="square">
            <a:spAutoFit/>
          </a:bodyPr>
          <a:lstStyle/>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For example, Timer0 is an 8-bit timer, meaning that it can count up from zero to 2</a:t>
            </a:r>
            <a:r>
              <a:rPr lang="en-US" sz="2800" baseline="30000" dirty="0">
                <a:latin typeface="Arial" panose="020B0604020202020204" pitchFamily="34" charset="0"/>
                <a:cs typeface="Arial" panose="020B0604020202020204" pitchFamily="34" charset="0"/>
              </a:rPr>
              <a:t>8</a:t>
            </a:r>
            <a:r>
              <a:rPr lang="en-US" sz="2800" dirty="0">
                <a:latin typeface="Arial" panose="020B0604020202020204" pitchFamily="34" charset="0"/>
                <a:cs typeface="Arial" panose="020B0604020202020204" pitchFamily="34" charset="0"/>
              </a:rPr>
              <a:t>-1, or 255. Once that number is reached, the count resets back to zero and starts counting again.</a:t>
            </a:r>
          </a:p>
        </p:txBody>
      </p:sp>
    </p:spTree>
    <p:extLst>
      <p:ext uri="{BB962C8B-B14F-4D97-AF65-F5344CB8AC3E}">
        <p14:creationId xmlns:p14="http://schemas.microsoft.com/office/powerpoint/2010/main" val="161707637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6210" y="112198"/>
            <a:ext cx="7158990" cy="580133"/>
          </a:xfrm>
        </p:spPr>
        <p:txBody>
          <a:bodyPr/>
          <a:lstStyle/>
          <a:p>
            <a:pPr algn="just"/>
            <a:r>
              <a:rPr lang="en-US" sz="4000" b="1" cap="none" dirty="0"/>
              <a:t>How Timer Works?</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56210" y="692331"/>
            <a:ext cx="11913870" cy="5854386"/>
          </a:xfrm>
        </p:spPr>
        <p:txBody>
          <a:bodyPr>
            <a:noAutofit/>
          </a:bodyPr>
          <a:lstStyle/>
          <a:p>
            <a:pPr marL="285750" indent="-285750" algn="l">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Timers on the Arduino count up from zero, </a:t>
            </a:r>
            <a:r>
              <a:rPr lang="en-US" sz="3200" b="1" dirty="0">
                <a:solidFill>
                  <a:srgbClr val="FF0000"/>
                </a:solidFill>
                <a:latin typeface="Arial" panose="020B0604020202020204" pitchFamily="34" charset="0"/>
                <a:cs typeface="Arial" panose="020B0604020202020204" pitchFamily="34" charset="0"/>
              </a:rPr>
              <a:t>incrementing with every clock cycle</a:t>
            </a:r>
            <a:r>
              <a:rPr lang="en-US" sz="3200" dirty="0">
                <a:latin typeface="Arial" panose="020B0604020202020204" pitchFamily="34" charset="0"/>
                <a:cs typeface="Arial" panose="020B0604020202020204" pitchFamily="34" charset="0"/>
              </a:rPr>
              <a:t> of the oscillating crystal that drives Arduino. </a:t>
            </a:r>
          </a:p>
          <a:p>
            <a:pPr marL="285750" indent="-285750" algn="l">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If </a:t>
            </a:r>
            <a:r>
              <a:rPr lang="en-US" sz="3200" b="1" dirty="0">
                <a:solidFill>
                  <a:srgbClr val="FFFF00"/>
                </a:solidFill>
                <a:latin typeface="Arial" panose="020B0604020202020204" pitchFamily="34" charset="0"/>
                <a:cs typeface="Arial" panose="020B0604020202020204" pitchFamily="34" charset="0"/>
              </a:rPr>
              <a:t>smaller frequencies are necessary</a:t>
            </a:r>
            <a:r>
              <a:rPr lang="en-US" sz="3200" dirty="0">
                <a:latin typeface="Arial" panose="020B0604020202020204" pitchFamily="34" charset="0"/>
                <a:cs typeface="Arial" panose="020B0604020202020204" pitchFamily="34" charset="0"/>
              </a:rPr>
              <a:t>, it is possible to “divide” the clock through an approach called </a:t>
            </a:r>
            <a:r>
              <a:rPr lang="en-US" sz="3200" b="1" dirty="0">
                <a:solidFill>
                  <a:srgbClr val="FFFF00"/>
                </a:solidFill>
                <a:latin typeface="Arial" panose="020B0604020202020204" pitchFamily="34" charset="0"/>
                <a:cs typeface="Arial" panose="020B0604020202020204" pitchFamily="34" charset="0"/>
              </a:rPr>
              <a:t>pre-scaling</a:t>
            </a:r>
            <a:r>
              <a:rPr lang="en-US" sz="3200" dirty="0">
                <a:latin typeface="Arial" panose="020B0604020202020204" pitchFamily="34" charset="0"/>
                <a:cs typeface="Arial" panose="020B0604020202020204" pitchFamily="34" charset="0"/>
              </a:rPr>
              <a:t>. </a:t>
            </a:r>
          </a:p>
          <a:p>
            <a:pPr marL="285750" indent="-285750" algn="l">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How quickly timer reaches the target count depends on the </a:t>
            </a:r>
            <a:r>
              <a:rPr lang="en-US" sz="3200" b="1" dirty="0">
                <a:solidFill>
                  <a:srgbClr val="FF0000"/>
                </a:solidFill>
                <a:latin typeface="Arial" panose="020B0604020202020204" pitchFamily="34" charset="0"/>
                <a:cs typeface="Arial" panose="020B0604020202020204" pitchFamily="34" charset="0"/>
              </a:rPr>
              <a:t>clock divider</a:t>
            </a:r>
            <a:r>
              <a:rPr lang="en-US" sz="3200" dirty="0">
                <a:latin typeface="Arial" panose="020B0604020202020204" pitchFamily="34" charset="0"/>
                <a:cs typeface="Arial" panose="020B0604020202020204" pitchFamily="34" charset="0"/>
              </a:rPr>
              <a:t>. With no divider, the clock would go through 16 million cycles per second (16 MHz), and would overflow and reset this counter many times per second.</a:t>
            </a:r>
            <a:endParaRPr lang="en-CA" sz="3200" dirty="0">
              <a:latin typeface="Arial" panose="020B0604020202020204" pitchFamily="34" charset="0"/>
              <a:cs typeface="Arial" panose="020B0604020202020204" pitchFamily="34" charset="0"/>
            </a:endParaRPr>
          </a:p>
          <a:p>
            <a:pPr marL="342900" indent="-342900" algn="l">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The three timers (</a:t>
            </a:r>
            <a:r>
              <a:rPr lang="en-CA" sz="3200" dirty="0">
                <a:latin typeface="Arial" panose="020B0604020202020204" pitchFamily="34" charset="0"/>
                <a:cs typeface="Arial" panose="020B0604020202020204" pitchFamily="34" charset="0"/>
              </a:rPr>
              <a:t>called Timer0, Timer1, and Timer2)</a:t>
            </a:r>
            <a:r>
              <a:rPr lang="en-US" sz="3200" dirty="0">
                <a:latin typeface="Arial" panose="020B0604020202020204" pitchFamily="34" charset="0"/>
                <a:cs typeface="Arial" panose="020B0604020202020204" pitchFamily="34" charset="0"/>
              </a:rPr>
              <a:t> of Atmega328 can either be operated in one of these three modes, called normal mode, CTC mode, or PWM mode. </a:t>
            </a:r>
          </a:p>
          <a:p>
            <a:pPr marL="342900" indent="-342900" algn="l">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For lab experiment 3, we will operate it in normal mode (counter) using </a:t>
            </a:r>
            <a:r>
              <a:rPr lang="en-US" sz="3200" b="1" dirty="0">
                <a:solidFill>
                  <a:srgbClr val="FFFF00"/>
                </a:solidFill>
                <a:latin typeface="Arial" panose="020B0604020202020204" pitchFamily="34" charset="0"/>
                <a:cs typeface="Arial" panose="020B0604020202020204" pitchFamily="34" charset="0"/>
              </a:rPr>
              <a:t>Timer0</a:t>
            </a:r>
            <a:r>
              <a:rPr lang="en-US" sz="3200" dirty="0">
                <a:latin typeface="Arial" panose="020B0604020202020204" pitchFamily="34" charset="0"/>
                <a:cs typeface="Arial" panose="020B0604020202020204" pitchFamily="34" charset="0"/>
              </a:rPr>
              <a:t>.</a:t>
            </a:r>
          </a:p>
          <a:p>
            <a:pPr algn="l">
              <a:lnSpc>
                <a:spcPct val="90000"/>
              </a:lnSpc>
              <a:spcAft>
                <a:spcPts val="0"/>
              </a:spcAft>
            </a:pPr>
            <a:endParaRPr lang="en-US" sz="3200" dirty="0">
              <a:latin typeface="Arial" panose="020B0604020202020204" pitchFamily="34" charset="0"/>
              <a:cs typeface="Arial" panose="020B0604020202020204" pitchFamily="34" charset="0"/>
            </a:endParaRPr>
          </a:p>
          <a:p>
            <a:pPr marL="231775" indent="-231775" algn="l">
              <a:lnSpc>
                <a:spcPct val="90000"/>
              </a:lnSpc>
              <a:spcAft>
                <a:spcPts val="0"/>
              </a:spcAft>
            </a:pPr>
            <a:endParaRPr lang="en-US" sz="32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9</a:t>
            </a:fld>
            <a:endParaRPr lang="en-US" noProof="0" dirty="0"/>
          </a:p>
        </p:txBody>
      </p:sp>
      <p:sp>
        <p:nvSpPr>
          <p:cNvPr id="5" name="Date Placeholder 4"/>
          <p:cNvSpPr>
            <a:spLocks noGrp="1"/>
          </p:cNvSpPr>
          <p:nvPr>
            <p:ph type="dt" sz="half" idx="10"/>
          </p:nvPr>
        </p:nvSpPr>
        <p:spPr/>
        <p:txBody>
          <a:bodyPr/>
          <a:lstStyle/>
          <a:p>
            <a:fld id="{4972B5F0-35EA-4DCA-A566-66C1DDD9F82B}" type="datetime3">
              <a:rPr lang="en-US" noProof="0" smtClean="0"/>
              <a:t>15 June 2026</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Tree>
    <p:extLst>
      <p:ext uri="{BB962C8B-B14F-4D97-AF65-F5344CB8AC3E}">
        <p14:creationId xmlns:p14="http://schemas.microsoft.com/office/powerpoint/2010/main" val="38169999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82335" y="112198"/>
            <a:ext cx="9588681" cy="716492"/>
          </a:xfrm>
        </p:spPr>
        <p:txBody>
          <a:bodyPr/>
          <a:lstStyle/>
          <a:p>
            <a:pPr algn="just"/>
            <a:r>
              <a:rPr lang="en-US" sz="4000" b="1" cap="none" dirty="0"/>
              <a:t>Timer Basics: Registers (</a:t>
            </a:r>
            <a:r>
              <a:rPr lang="en-US" sz="4000" b="1" cap="none" dirty="0">
                <a:latin typeface="Arial" panose="020B0604020202020204" pitchFamily="34" charset="0"/>
                <a:cs typeface="Arial" panose="020B0604020202020204" pitchFamily="34" charset="0"/>
              </a:rPr>
              <a:t>Timer0</a:t>
            </a:r>
            <a:r>
              <a:rPr lang="en-US" sz="4000" b="1" cap="none" dirty="0"/>
              <a:t>)</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82335" y="828690"/>
            <a:ext cx="11861619" cy="5872556"/>
          </a:xfrm>
        </p:spPr>
        <p:txBody>
          <a:bodyPr>
            <a:noAutofit/>
          </a:bodyPr>
          <a:lstStyle/>
          <a:p>
            <a:pPr marL="342900" indent="-342900" algn="l">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The timer can be programmed by some special registers, where we can </a:t>
            </a:r>
            <a:r>
              <a:rPr lang="en-US" sz="3200" b="1" dirty="0">
                <a:solidFill>
                  <a:srgbClr val="FFFF00"/>
                </a:solidFill>
                <a:latin typeface="Arial" panose="020B0604020202020204" pitchFamily="34" charset="0"/>
                <a:cs typeface="Arial" panose="020B0604020202020204" pitchFamily="34" charset="0"/>
              </a:rPr>
              <a:t>configure the pre-scaler </a:t>
            </a:r>
            <a:r>
              <a:rPr lang="en-US" sz="3200" dirty="0">
                <a:latin typeface="Arial" panose="020B0604020202020204" pitchFamily="34" charset="0"/>
                <a:cs typeface="Arial" panose="020B0604020202020204" pitchFamily="34" charset="0"/>
              </a:rPr>
              <a:t>for the timer, or the </a:t>
            </a:r>
            <a:r>
              <a:rPr lang="en-US" sz="3200" b="1" dirty="0">
                <a:solidFill>
                  <a:srgbClr val="FFFF00"/>
                </a:solidFill>
                <a:latin typeface="Arial" panose="020B0604020202020204" pitchFamily="34" charset="0"/>
                <a:cs typeface="Arial" panose="020B0604020202020204" pitchFamily="34" charset="0"/>
              </a:rPr>
              <a:t>mode of operation </a:t>
            </a:r>
            <a:r>
              <a:rPr lang="en-US" sz="3200" dirty="0">
                <a:latin typeface="Arial" panose="020B0604020202020204" pitchFamily="34" charset="0"/>
                <a:cs typeface="Arial" panose="020B0604020202020204" pitchFamily="34" charset="0"/>
              </a:rPr>
              <a:t>and many other things necessary for proper operation. </a:t>
            </a:r>
          </a:p>
          <a:p>
            <a:pPr marL="342900" indent="-342900" algn="l">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The registers of interest for our purposes are:</a:t>
            </a:r>
          </a:p>
          <a:p>
            <a:pPr marL="800100" lvl="1" indent="-342900">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Timer/Counter Register – </a:t>
            </a:r>
            <a:r>
              <a:rPr lang="en-US" sz="3200" b="1" dirty="0">
                <a:latin typeface="Arial" panose="020B0604020202020204" pitchFamily="34" charset="0"/>
                <a:cs typeface="Arial" panose="020B0604020202020204" pitchFamily="34" charset="0"/>
              </a:rPr>
              <a:t>TCNT0</a:t>
            </a:r>
            <a:r>
              <a:rPr lang="en-US" sz="3200" dirty="0">
                <a:latin typeface="Arial" panose="020B0604020202020204" pitchFamily="34" charset="0"/>
                <a:cs typeface="Arial" panose="020B0604020202020204" pitchFamily="34" charset="0"/>
              </a:rPr>
              <a:t>: to store timer count</a:t>
            </a:r>
          </a:p>
          <a:p>
            <a:pPr marL="800100" lvl="1" indent="-342900">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Timer/Counter Control Register – </a:t>
            </a:r>
            <a:r>
              <a:rPr lang="en-US" sz="3200" b="1" dirty="0">
                <a:latin typeface="Arial" panose="020B0604020202020204" pitchFamily="34" charset="0"/>
                <a:cs typeface="Arial" panose="020B0604020202020204" pitchFamily="34" charset="0"/>
              </a:rPr>
              <a:t>TCCR0A and TCCR0B</a:t>
            </a:r>
            <a:r>
              <a:rPr lang="en-US" sz="3200" dirty="0">
                <a:latin typeface="Arial" panose="020B0604020202020204" pitchFamily="34" charset="0"/>
                <a:cs typeface="Arial" panose="020B0604020202020204" pitchFamily="34" charset="0"/>
              </a:rPr>
              <a:t>: to define operation mode and pre-scaler</a:t>
            </a:r>
          </a:p>
          <a:p>
            <a:pPr marL="800100" lvl="1" indent="-342900">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Timer/Counter Interrupt Flag Register– </a:t>
            </a:r>
            <a:r>
              <a:rPr lang="en-US" sz="3200" b="1" dirty="0">
                <a:latin typeface="Arial" panose="020B0604020202020204" pitchFamily="34" charset="0"/>
                <a:cs typeface="Arial" panose="020B0604020202020204" pitchFamily="34" charset="0"/>
              </a:rPr>
              <a:t>TIFR0</a:t>
            </a:r>
            <a:r>
              <a:rPr lang="en-US" sz="3200" dirty="0">
                <a:latin typeface="Arial" panose="020B0604020202020204" pitchFamily="34" charset="0"/>
                <a:cs typeface="Arial" panose="020B0604020202020204" pitchFamily="34" charset="0"/>
              </a:rPr>
              <a:t>: to observe if there is any overflow</a:t>
            </a:r>
          </a:p>
          <a:p>
            <a:pPr marL="800100" lvl="1" indent="-342900">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Output Compare Register - </a:t>
            </a:r>
            <a:r>
              <a:rPr lang="en-US" sz="3200" b="1" dirty="0">
                <a:latin typeface="Arial" panose="020B0604020202020204" pitchFamily="34" charset="0"/>
                <a:cs typeface="Arial" panose="020B0604020202020204" pitchFamily="34" charset="0"/>
              </a:rPr>
              <a:t>OCR0A and OCR0B</a:t>
            </a:r>
            <a:r>
              <a:rPr lang="en-US" sz="3200" dirty="0">
                <a:latin typeface="Arial" panose="020B0604020202020204" pitchFamily="34" charset="0"/>
                <a:cs typeface="Arial" panose="020B0604020202020204" pitchFamily="34" charset="0"/>
              </a:rPr>
              <a:t>: to match the timer count with some custom value (for CTC or PWM mode, not needed for normal mode)</a:t>
            </a:r>
          </a:p>
          <a:p>
            <a:pPr marL="800100" lvl="1" indent="-342900">
              <a:lnSpc>
                <a:spcPct val="90000"/>
              </a:lnSpc>
              <a:spcAft>
                <a:spcPts val="0"/>
              </a:spcAft>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algn="l">
              <a:lnSpc>
                <a:spcPct val="90000"/>
              </a:lnSpc>
              <a:spcAft>
                <a:spcPts val="0"/>
              </a:spcAft>
            </a:pPr>
            <a:endParaRPr lang="en-US" sz="3200" dirty="0">
              <a:latin typeface="Arial" panose="020B0604020202020204" pitchFamily="34" charset="0"/>
              <a:cs typeface="Arial" panose="020B0604020202020204" pitchFamily="34" charset="0"/>
            </a:endParaRPr>
          </a:p>
          <a:p>
            <a:pPr marL="231775" indent="-231775" algn="l">
              <a:lnSpc>
                <a:spcPct val="90000"/>
              </a:lnSpc>
              <a:spcAft>
                <a:spcPts val="0"/>
              </a:spcAft>
            </a:pPr>
            <a:endParaRPr lang="en-US" sz="32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10</a:t>
            </a:fld>
            <a:endParaRPr lang="en-US" noProof="0" dirty="0"/>
          </a:p>
        </p:txBody>
      </p:sp>
      <p:sp>
        <p:nvSpPr>
          <p:cNvPr id="5" name="Date Placeholder 4"/>
          <p:cNvSpPr>
            <a:spLocks noGrp="1"/>
          </p:cNvSpPr>
          <p:nvPr>
            <p:ph type="dt" sz="half" idx="10"/>
          </p:nvPr>
        </p:nvSpPr>
        <p:spPr/>
        <p:txBody>
          <a:bodyPr/>
          <a:lstStyle/>
          <a:p>
            <a:fld id="{9E5AE242-F72E-49A0-B52E-AD6827D0BC7A}" type="datetime3">
              <a:rPr lang="en-US" noProof="0" smtClean="0"/>
              <a:t>15 June 2026</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Tree>
    <p:extLst>
      <p:ext uri="{BB962C8B-B14F-4D97-AF65-F5344CB8AC3E}">
        <p14:creationId xmlns:p14="http://schemas.microsoft.com/office/powerpoint/2010/main" val="103435790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6209" y="86873"/>
            <a:ext cx="9340487" cy="716492"/>
          </a:xfrm>
        </p:spPr>
        <p:txBody>
          <a:bodyPr/>
          <a:lstStyle/>
          <a:p>
            <a:pPr algn="just"/>
            <a:r>
              <a:rPr lang="en-US" sz="4000" b="1" cap="none" dirty="0"/>
              <a:t>Timer Basics: Registers (</a:t>
            </a:r>
            <a:r>
              <a:rPr lang="en-US" sz="4000" b="1" cap="none" dirty="0">
                <a:latin typeface="Arial" panose="020B0604020202020204" pitchFamily="34" charset="0"/>
                <a:cs typeface="Arial" panose="020B0604020202020204" pitchFamily="34" charset="0"/>
              </a:rPr>
              <a:t>Timer0</a:t>
            </a:r>
            <a:r>
              <a:rPr lang="en-US" sz="4000" b="1" cap="none" dirty="0"/>
              <a:t>)</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382707" y="1203960"/>
            <a:ext cx="10285293" cy="5303520"/>
          </a:xfrm>
        </p:spPr>
        <p:txBody>
          <a:bodyPr>
            <a:noAutofit/>
          </a:bodyPr>
          <a:lstStyle/>
          <a:p>
            <a:pPr marL="800100" lvl="1" indent="-342900" algn="just">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p>
            <a:pPr marL="231775" indent="-231775" algn="just">
              <a:lnSpc>
                <a:spcPct val="110000"/>
              </a:lnSpc>
              <a:spcAft>
                <a:spcPts val="600"/>
              </a:spcAft>
            </a:pPr>
            <a:endParaRPr lang="en-US" sz="20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11</a:t>
            </a:fld>
            <a:endParaRPr lang="en-US" noProof="0" dirty="0"/>
          </a:p>
        </p:txBody>
      </p:sp>
      <p:sp>
        <p:nvSpPr>
          <p:cNvPr id="6" name="Content Placeholder 2"/>
          <p:cNvSpPr>
            <a:spLocks noGrp="1"/>
          </p:cNvSpPr>
          <p:nvPr>
            <p:ph idx="1"/>
          </p:nvPr>
        </p:nvSpPr>
        <p:spPr>
          <a:xfrm>
            <a:off x="156208" y="679269"/>
            <a:ext cx="11887745" cy="4663441"/>
          </a:xfrm>
        </p:spPr>
        <p:txBody>
          <a:bodyPr anchor="t">
            <a:noAutofit/>
          </a:bodyPr>
          <a:lstStyle/>
          <a:p>
            <a:pPr>
              <a:spcAft>
                <a:spcPts val="0"/>
              </a:spcAft>
            </a:pPr>
            <a:r>
              <a:rPr lang="en-US" sz="3200" b="1" dirty="0">
                <a:solidFill>
                  <a:srgbClr val="FF0000"/>
                </a:solidFill>
                <a:latin typeface="Arial" panose="020B0604020202020204" pitchFamily="34" charset="0"/>
                <a:cs typeface="Arial" panose="020B0604020202020204" pitchFamily="34" charset="0"/>
              </a:rPr>
              <a:t>Timer/Counter Control Register A for Timer0 </a:t>
            </a:r>
            <a:r>
              <a:rPr lang="en-US" sz="3200" dirty="0">
                <a:solidFill>
                  <a:srgbClr val="FF0000"/>
                </a:solidFill>
                <a:latin typeface="Arial" panose="020B0604020202020204" pitchFamily="34" charset="0"/>
                <a:cs typeface="Arial" panose="020B0604020202020204" pitchFamily="34" charset="0"/>
              </a:rPr>
              <a:t>– </a:t>
            </a:r>
            <a:r>
              <a:rPr lang="en-US" sz="3200" b="1" dirty="0">
                <a:solidFill>
                  <a:srgbClr val="FF0000"/>
                </a:solidFill>
                <a:latin typeface="Arial" panose="020B0604020202020204" pitchFamily="34" charset="0"/>
                <a:cs typeface="Arial" panose="020B0604020202020204" pitchFamily="34" charset="0"/>
              </a:rPr>
              <a:t>TCCR0A: </a:t>
            </a:r>
            <a:r>
              <a:rPr lang="en-US" sz="3200" dirty="0">
                <a:solidFill>
                  <a:schemeClr val="tx1"/>
                </a:solidFill>
                <a:latin typeface="Arial" panose="020B0604020202020204" pitchFamily="34" charset="0"/>
                <a:cs typeface="Arial" panose="020B0604020202020204" pitchFamily="34" charset="0"/>
              </a:rPr>
              <a:t>T</a:t>
            </a:r>
            <a:r>
              <a:rPr lang="en-US" sz="3200" dirty="0">
                <a:latin typeface="Arial" panose="020B0604020202020204" pitchFamily="34" charset="0"/>
                <a:cs typeface="Arial" panose="020B0604020202020204" pitchFamily="34" charset="0"/>
              </a:rPr>
              <a:t>he bits </a:t>
            </a:r>
            <a:r>
              <a:rPr lang="en-US" sz="3200" dirty="0">
                <a:solidFill>
                  <a:srgbClr val="FFFF00"/>
                </a:solidFill>
                <a:latin typeface="Arial" panose="020B0604020202020204" pitchFamily="34" charset="0"/>
                <a:cs typeface="Arial" panose="020B0604020202020204" pitchFamily="34" charset="0"/>
              </a:rPr>
              <a:t>WGM02 (from TCCRB), WGM01 and WGM00 </a:t>
            </a:r>
            <a:r>
              <a:rPr lang="en-US" sz="3200" dirty="0">
                <a:latin typeface="Arial" panose="020B0604020202020204" pitchFamily="34" charset="0"/>
                <a:cs typeface="Arial" panose="020B0604020202020204" pitchFamily="34" charset="0"/>
              </a:rPr>
              <a:t>decide which mode the timer will run on.</a:t>
            </a:r>
          </a:p>
          <a:p>
            <a:pPr marL="0" indent="0">
              <a:spcAft>
                <a:spcPts val="0"/>
              </a:spcAft>
              <a:buNone/>
            </a:pPr>
            <a:endParaRPr lang="en-US" sz="3200" dirty="0">
              <a:solidFill>
                <a:schemeClr val="tx1"/>
              </a:solidFill>
              <a:latin typeface="Arial" panose="020B0604020202020204" pitchFamily="34" charset="0"/>
              <a:cs typeface="Arial" panose="020B0604020202020204" pitchFamily="34" charset="0"/>
            </a:endParaRPr>
          </a:p>
          <a:p>
            <a:pPr marL="0" indent="0">
              <a:spcAft>
                <a:spcPts val="0"/>
              </a:spcAft>
              <a:buNone/>
            </a:pPr>
            <a:endParaRPr lang="en-US" sz="4800" dirty="0">
              <a:solidFill>
                <a:schemeClr val="tx1"/>
              </a:solidFill>
              <a:latin typeface="Arial" panose="020B0604020202020204" pitchFamily="34" charset="0"/>
              <a:cs typeface="Arial" panose="020B0604020202020204" pitchFamily="34" charset="0"/>
            </a:endParaRPr>
          </a:p>
          <a:p>
            <a:pPr>
              <a:spcAft>
                <a:spcPts val="0"/>
              </a:spcAft>
            </a:pPr>
            <a:r>
              <a:rPr lang="en-US" sz="3200" b="1" dirty="0">
                <a:solidFill>
                  <a:srgbClr val="FF0000"/>
                </a:solidFill>
                <a:latin typeface="Arial" panose="020B0604020202020204" pitchFamily="34" charset="0"/>
                <a:cs typeface="Arial" panose="020B0604020202020204" pitchFamily="34" charset="0"/>
              </a:rPr>
              <a:t>Timer/Counter Control Register B for Timer0 </a:t>
            </a:r>
            <a:r>
              <a:rPr lang="en-US" sz="3200" dirty="0">
                <a:solidFill>
                  <a:srgbClr val="FF0000"/>
                </a:solidFill>
                <a:latin typeface="Arial" panose="020B0604020202020204" pitchFamily="34" charset="0"/>
                <a:cs typeface="Arial" panose="020B0604020202020204" pitchFamily="34" charset="0"/>
              </a:rPr>
              <a:t>– </a:t>
            </a:r>
            <a:r>
              <a:rPr lang="en-US" sz="3200" b="1" dirty="0">
                <a:solidFill>
                  <a:srgbClr val="FF0000"/>
                </a:solidFill>
                <a:latin typeface="Arial" panose="020B0604020202020204" pitchFamily="34" charset="0"/>
                <a:cs typeface="Arial" panose="020B0604020202020204" pitchFamily="34" charset="0"/>
              </a:rPr>
              <a:t>TCCR0B:</a:t>
            </a:r>
            <a:r>
              <a:rPr lang="en-US" sz="3200" dirty="0">
                <a:solidFill>
                  <a:srgbClr val="FF0000"/>
                </a:solidFill>
                <a:latin typeface="Arial" panose="020B0604020202020204" pitchFamily="34" charset="0"/>
                <a:cs typeface="Arial" panose="020B0604020202020204" pitchFamily="34" charset="0"/>
              </a:rPr>
              <a:t> </a:t>
            </a:r>
            <a:r>
              <a:rPr lang="en-US" sz="3200" dirty="0">
                <a:latin typeface="Arial" panose="020B0604020202020204" pitchFamily="34" charset="0"/>
                <a:cs typeface="Arial" panose="020B0604020202020204" pitchFamily="34" charset="0"/>
              </a:rPr>
              <a:t>The three </a:t>
            </a:r>
            <a:r>
              <a:rPr lang="en-US" sz="3200" b="1" dirty="0">
                <a:solidFill>
                  <a:srgbClr val="FFFF00"/>
                </a:solidFill>
                <a:latin typeface="Arial" panose="020B0604020202020204" pitchFamily="34" charset="0"/>
                <a:cs typeface="Arial" panose="020B0604020202020204" pitchFamily="34" charset="0"/>
              </a:rPr>
              <a:t>Clock Select bits-</a:t>
            </a:r>
            <a:r>
              <a:rPr lang="en-US" sz="3200" b="1" dirty="0">
                <a:latin typeface="Arial" panose="020B0604020202020204" pitchFamily="34" charset="0"/>
                <a:cs typeface="Arial" panose="020B0604020202020204" pitchFamily="34" charset="0"/>
              </a:rPr>
              <a:t> </a:t>
            </a:r>
            <a:r>
              <a:rPr lang="en-US" sz="3200" b="1" dirty="0">
                <a:solidFill>
                  <a:srgbClr val="FFFF00"/>
                </a:solidFill>
                <a:latin typeface="Arial" panose="020B0604020202020204" pitchFamily="34" charset="0"/>
                <a:cs typeface="Arial" panose="020B0604020202020204" pitchFamily="34" charset="0"/>
              </a:rPr>
              <a:t>CS02, CS01, CS00 </a:t>
            </a:r>
            <a:r>
              <a:rPr lang="en-US" sz="3200" dirty="0">
                <a:latin typeface="Arial" panose="020B0604020202020204" pitchFamily="34" charset="0"/>
                <a:cs typeface="Arial" panose="020B0604020202020204" pitchFamily="34" charset="0"/>
              </a:rPr>
              <a:t>select the clock source and pre-scalar value to be used by the Timer/Counter</a:t>
            </a:r>
          </a:p>
        </p:txBody>
      </p:sp>
      <p:pic>
        <p:nvPicPr>
          <p:cNvPr id="7" name="Picture 6">
            <a:extLst>
              <a:ext uri="{FF2B5EF4-FFF2-40B4-BE49-F238E27FC236}">
                <a16:creationId xmlns:a16="http://schemas.microsoft.com/office/drawing/2014/main" id="{98C93BA3-2DEF-47DC-9D6A-26CB3E39311E}"/>
              </a:ext>
            </a:extLst>
          </p:cNvPr>
          <p:cNvPicPr>
            <a:picLocks noChangeAspect="1"/>
          </p:cNvPicPr>
          <p:nvPr/>
        </p:nvPicPr>
        <p:blipFill rotWithShape="1">
          <a:blip r:embed="rId2"/>
          <a:srcRect t="5714" b="6554"/>
          <a:stretch/>
        </p:blipFill>
        <p:spPr>
          <a:xfrm>
            <a:off x="745956" y="2194560"/>
            <a:ext cx="10501163" cy="1240971"/>
          </a:xfrm>
          <a:prstGeom prst="rect">
            <a:avLst/>
          </a:prstGeom>
        </p:spPr>
      </p:pic>
      <p:pic>
        <p:nvPicPr>
          <p:cNvPr id="8" name="Picture 7">
            <a:extLst>
              <a:ext uri="{FF2B5EF4-FFF2-40B4-BE49-F238E27FC236}">
                <a16:creationId xmlns:a16="http://schemas.microsoft.com/office/drawing/2014/main" id="{EA47A922-FE95-43B1-B54F-C731DC1014D3}"/>
              </a:ext>
            </a:extLst>
          </p:cNvPr>
          <p:cNvPicPr>
            <a:picLocks noChangeAspect="1"/>
          </p:cNvPicPr>
          <p:nvPr/>
        </p:nvPicPr>
        <p:blipFill rotWithShape="1">
          <a:blip r:embed="rId3"/>
          <a:srcRect t="9868" b="8472"/>
          <a:stretch/>
        </p:blipFill>
        <p:spPr>
          <a:xfrm>
            <a:off x="841884" y="5368835"/>
            <a:ext cx="10405235" cy="1204007"/>
          </a:xfrm>
          <a:prstGeom prst="rect">
            <a:avLst/>
          </a:prstGeom>
        </p:spPr>
      </p:pic>
      <p:sp>
        <p:nvSpPr>
          <p:cNvPr id="9" name="Date Placeholder 8"/>
          <p:cNvSpPr>
            <a:spLocks noGrp="1"/>
          </p:cNvSpPr>
          <p:nvPr>
            <p:ph type="dt" sz="half" idx="10"/>
          </p:nvPr>
        </p:nvSpPr>
        <p:spPr/>
        <p:txBody>
          <a:bodyPr/>
          <a:lstStyle/>
          <a:p>
            <a:fld id="{2913A13F-EEAB-461B-9FA1-033884FF552B}" type="datetime3">
              <a:rPr lang="en-US" noProof="0" smtClean="0"/>
              <a:t>15 June 2026</a:t>
            </a:fld>
            <a:endParaRPr lang="en-US" noProof="0" dirty="0"/>
          </a:p>
        </p:txBody>
      </p:sp>
      <p:sp>
        <p:nvSpPr>
          <p:cNvPr id="11" name="Footer Placeholder 10"/>
          <p:cNvSpPr>
            <a:spLocks noGrp="1"/>
          </p:cNvSpPr>
          <p:nvPr>
            <p:ph type="ftr" sz="quarter" idx="11"/>
          </p:nvPr>
        </p:nvSpPr>
        <p:spPr/>
        <p:txBody>
          <a:bodyPr/>
          <a:lstStyle/>
          <a:p>
            <a:r>
              <a:rPr lang="en-US" noProof="0"/>
              <a:t>Course Teacher: Prof. Dr. Engr. Muhibul Haque Bhuyan</a:t>
            </a:r>
            <a:endParaRPr lang="en-US" noProof="0" dirty="0"/>
          </a:p>
        </p:txBody>
      </p:sp>
    </p:spTree>
    <p:extLst>
      <p:ext uri="{BB962C8B-B14F-4D97-AF65-F5344CB8AC3E}">
        <p14:creationId xmlns:p14="http://schemas.microsoft.com/office/powerpoint/2010/main" val="13905597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0" y="100439"/>
            <a:ext cx="10561319" cy="716492"/>
          </a:xfrm>
        </p:spPr>
        <p:txBody>
          <a:bodyPr/>
          <a:lstStyle/>
          <a:p>
            <a:pPr algn="just"/>
            <a:r>
              <a:rPr lang="en-US" sz="4000" b="1" cap="none" dirty="0"/>
              <a:t>Timer Basics: Registers (</a:t>
            </a:r>
            <a:r>
              <a:rPr lang="en-US" sz="4000" b="1" cap="none" dirty="0">
                <a:latin typeface="Arial" panose="020B0604020202020204" pitchFamily="34" charset="0"/>
                <a:cs typeface="Arial" panose="020B0604020202020204" pitchFamily="34" charset="0"/>
              </a:rPr>
              <a:t>Timer0</a:t>
            </a:r>
            <a:r>
              <a:rPr lang="en-US" sz="4000" b="1" cap="none" dirty="0"/>
              <a:t>)</a:t>
            </a:r>
          </a:p>
        </p:txBody>
      </p:sp>
      <p:sp>
        <p:nvSpPr>
          <p:cNvPr id="3" name="Slide Number Placeholder 2"/>
          <p:cNvSpPr>
            <a:spLocks noGrp="1"/>
          </p:cNvSpPr>
          <p:nvPr>
            <p:ph type="sldNum" sz="quarter" idx="12"/>
          </p:nvPr>
        </p:nvSpPr>
        <p:spPr/>
        <p:txBody>
          <a:bodyPr/>
          <a:lstStyle/>
          <a:p>
            <a:fld id="{5D99DD2A-B520-4620-9B43-64B657BA2D42}" type="slidenum">
              <a:rPr lang="en-US" noProof="0" smtClean="0"/>
              <a:t>12</a:t>
            </a:fld>
            <a:endParaRPr lang="en-US" noProof="0" dirty="0"/>
          </a:p>
        </p:txBody>
      </p:sp>
      <p:sp>
        <p:nvSpPr>
          <p:cNvPr id="6" name="Content Placeholder 2"/>
          <p:cNvSpPr>
            <a:spLocks noGrp="1"/>
          </p:cNvSpPr>
          <p:nvPr>
            <p:ph idx="1"/>
          </p:nvPr>
        </p:nvSpPr>
        <p:spPr>
          <a:xfrm>
            <a:off x="457200" y="2249424"/>
            <a:ext cx="10104120" cy="4325112"/>
          </a:xfrm>
        </p:spPr>
        <p:txBody>
          <a:bodyPr>
            <a:normAutofit/>
          </a:bodyPr>
          <a:lstStyle/>
          <a:p>
            <a:pPr lvl="1" algn="just"/>
            <a:endParaRPr lang="en-US" sz="1800" dirty="0">
              <a:solidFill>
                <a:schemeClr val="tx1"/>
              </a:solidFill>
              <a:latin typeface="Arial" panose="020B0604020202020204" pitchFamily="34" charset="0"/>
              <a:cs typeface="Arial" panose="020B0604020202020204" pitchFamily="34" charset="0"/>
            </a:endParaRPr>
          </a:p>
          <a:p>
            <a:pPr algn="just"/>
            <a:endParaRPr lang="en-US" sz="1800" dirty="0">
              <a:latin typeface="Arial" panose="020B0604020202020204" pitchFamily="34" charset="0"/>
              <a:cs typeface="Arial" panose="020B0604020202020204" pitchFamily="34" charset="0"/>
            </a:endParaRPr>
          </a:p>
          <a:p>
            <a:pPr algn="just"/>
            <a:endParaRPr lang="en-US" sz="1800"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EF19CC15-DE0C-4EF5-A354-B04F06B37833}"/>
              </a:ext>
            </a:extLst>
          </p:cNvPr>
          <p:cNvPicPr>
            <a:picLocks noChangeAspect="1"/>
          </p:cNvPicPr>
          <p:nvPr/>
        </p:nvPicPr>
        <p:blipFill rotWithShape="1">
          <a:blip r:embed="rId2"/>
          <a:srcRect l="1295" r="1001"/>
          <a:stretch/>
        </p:blipFill>
        <p:spPr>
          <a:xfrm>
            <a:off x="122133" y="1136904"/>
            <a:ext cx="8543108" cy="5015702"/>
          </a:xfrm>
          <a:prstGeom prst="rect">
            <a:avLst/>
          </a:prstGeom>
        </p:spPr>
      </p:pic>
      <p:sp>
        <p:nvSpPr>
          <p:cNvPr id="12" name="TextBox 11">
            <a:extLst>
              <a:ext uri="{FF2B5EF4-FFF2-40B4-BE49-F238E27FC236}">
                <a16:creationId xmlns:a16="http://schemas.microsoft.com/office/drawing/2014/main" id="{F612A055-2647-4557-B53C-EF4230023B73}"/>
              </a:ext>
            </a:extLst>
          </p:cNvPr>
          <p:cNvSpPr txBox="1"/>
          <p:nvPr/>
        </p:nvSpPr>
        <p:spPr>
          <a:xfrm>
            <a:off x="9005604" y="1569928"/>
            <a:ext cx="3051414" cy="3970318"/>
          </a:xfrm>
          <a:prstGeom prst="rect">
            <a:avLst/>
          </a:prstGeom>
          <a:noFill/>
        </p:spPr>
        <p:txBody>
          <a:bodyPr wrap="square" rtlCol="0">
            <a:spAutoFit/>
          </a:bodyPr>
          <a:lstStyle/>
          <a:p>
            <a:r>
              <a:rPr lang="en-US" sz="2800" b="1" dirty="0">
                <a:solidFill>
                  <a:srgbClr val="FF0000"/>
                </a:solidFill>
                <a:latin typeface="Arial" panose="020B0604020202020204" pitchFamily="34" charset="0"/>
                <a:cs typeface="Arial" panose="020B0604020202020204" pitchFamily="34" charset="0"/>
              </a:rPr>
              <a:t>Please note that if you do not initialize this register, all the bits will remain as zero and the timer/counter will remain stopped.</a:t>
            </a:r>
            <a:endParaRPr lang="en-US" b="1" dirty="0">
              <a:solidFill>
                <a:srgbClr val="FF0000"/>
              </a:solidFill>
              <a:latin typeface="Arial Narrow" panose="020B0606020202030204" pitchFamily="34" charset="0"/>
            </a:endParaRPr>
          </a:p>
        </p:txBody>
      </p:sp>
      <p:sp>
        <p:nvSpPr>
          <p:cNvPr id="7" name="Date Placeholder 6"/>
          <p:cNvSpPr>
            <a:spLocks noGrp="1"/>
          </p:cNvSpPr>
          <p:nvPr>
            <p:ph type="dt" sz="half" idx="10"/>
          </p:nvPr>
        </p:nvSpPr>
        <p:spPr/>
        <p:txBody>
          <a:bodyPr/>
          <a:lstStyle/>
          <a:p>
            <a:fld id="{B2BDC84B-05E1-41D2-BA0C-1E85ADB3246D}" type="datetime3">
              <a:rPr lang="en-US" noProof="0" smtClean="0"/>
              <a:t>15 June 2026</a:t>
            </a:fld>
            <a:endParaRPr lang="en-US" noProof="0" dirty="0"/>
          </a:p>
        </p:txBody>
      </p:sp>
      <p:sp>
        <p:nvSpPr>
          <p:cNvPr id="8" name="Footer Placeholder 7"/>
          <p:cNvSpPr>
            <a:spLocks noGrp="1"/>
          </p:cNvSpPr>
          <p:nvPr>
            <p:ph type="ftr" sz="quarter" idx="11"/>
          </p:nvPr>
        </p:nvSpPr>
        <p:spPr/>
        <p:txBody>
          <a:bodyPr/>
          <a:lstStyle/>
          <a:p>
            <a:r>
              <a:rPr lang="en-US" noProof="0"/>
              <a:t>Course Teacher: Prof. Dr. Engr. Muhibul Haque Bhuyan</a:t>
            </a:r>
            <a:endParaRPr lang="en-US" noProof="0" dirty="0"/>
          </a:p>
        </p:txBody>
      </p:sp>
      <p:sp>
        <p:nvSpPr>
          <p:cNvPr id="4" name="Rectangle 3">
            <a:extLst>
              <a:ext uri="{FF2B5EF4-FFF2-40B4-BE49-F238E27FC236}">
                <a16:creationId xmlns:a16="http://schemas.microsoft.com/office/drawing/2014/main" id="{3E7CCDDA-9817-91D7-C518-D2870E157E13}"/>
              </a:ext>
            </a:extLst>
          </p:cNvPr>
          <p:cNvSpPr/>
          <p:nvPr/>
        </p:nvSpPr>
        <p:spPr>
          <a:xfrm>
            <a:off x="213360" y="1717251"/>
            <a:ext cx="7244080" cy="436669"/>
          </a:xfrm>
          <a:prstGeom prst="rect">
            <a:avLst/>
          </a:prstGeom>
          <a:noFill/>
          <a:ln w="73025"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eorgia"/>
              <a:ea typeface="+mn-ea"/>
              <a:cs typeface="+mn-cs"/>
            </a:endParaRPr>
          </a:p>
        </p:txBody>
      </p:sp>
    </p:spTree>
    <p:extLst>
      <p:ext uri="{BB962C8B-B14F-4D97-AF65-F5344CB8AC3E}">
        <p14:creationId xmlns:p14="http://schemas.microsoft.com/office/powerpoint/2010/main" val="30438948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heel(1)">
                                      <p:cBhvr>
                                        <p:cTn id="15"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96402" y="100439"/>
            <a:ext cx="10364917" cy="716492"/>
          </a:xfrm>
        </p:spPr>
        <p:txBody>
          <a:bodyPr/>
          <a:lstStyle/>
          <a:p>
            <a:pPr algn="just"/>
            <a:r>
              <a:rPr lang="en-US" sz="4000" b="1" cap="none" dirty="0"/>
              <a:t>Timer Basics: Registers (</a:t>
            </a:r>
            <a:r>
              <a:rPr lang="en-US" sz="4000" b="1" cap="none" dirty="0">
                <a:latin typeface="Arial" panose="020B0604020202020204" pitchFamily="34" charset="0"/>
                <a:cs typeface="Arial" panose="020B0604020202020204" pitchFamily="34" charset="0"/>
              </a:rPr>
              <a:t>Timer0</a:t>
            </a:r>
            <a:r>
              <a:rPr lang="en-US" sz="4000" b="1" cap="none" dirty="0"/>
              <a:t>)</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382707" y="1203960"/>
            <a:ext cx="10285293" cy="5303520"/>
          </a:xfrm>
        </p:spPr>
        <p:txBody>
          <a:bodyPr>
            <a:noAutofit/>
          </a:bodyPr>
          <a:lstStyle/>
          <a:p>
            <a:pPr marL="800100" lvl="1" indent="-342900" algn="just">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p>
            <a:pPr marL="231775" indent="-231775" algn="just">
              <a:lnSpc>
                <a:spcPct val="110000"/>
              </a:lnSpc>
              <a:spcAft>
                <a:spcPts val="600"/>
              </a:spcAft>
            </a:pPr>
            <a:endParaRPr lang="en-US" sz="20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13</a:t>
            </a:fld>
            <a:endParaRPr lang="en-US" noProof="0" dirty="0"/>
          </a:p>
        </p:txBody>
      </p:sp>
      <p:sp>
        <p:nvSpPr>
          <p:cNvPr id="6" name="Content Placeholder 2"/>
          <p:cNvSpPr>
            <a:spLocks noGrp="1"/>
          </p:cNvSpPr>
          <p:nvPr>
            <p:ph idx="1"/>
          </p:nvPr>
        </p:nvSpPr>
        <p:spPr>
          <a:xfrm>
            <a:off x="457200" y="2249424"/>
            <a:ext cx="10104120" cy="4325112"/>
          </a:xfrm>
        </p:spPr>
        <p:txBody>
          <a:bodyPr>
            <a:normAutofit/>
          </a:bodyPr>
          <a:lstStyle/>
          <a:p>
            <a:pPr lvl="1" algn="just"/>
            <a:endParaRPr lang="en-US" sz="1800" dirty="0">
              <a:solidFill>
                <a:schemeClr val="tx1"/>
              </a:solidFill>
              <a:latin typeface="Arial" panose="020B0604020202020204" pitchFamily="34" charset="0"/>
              <a:cs typeface="Arial" panose="020B0604020202020204" pitchFamily="34" charset="0"/>
            </a:endParaRPr>
          </a:p>
          <a:p>
            <a:pPr algn="just"/>
            <a:endParaRPr lang="en-US" sz="1800" dirty="0">
              <a:latin typeface="Arial" panose="020B0604020202020204" pitchFamily="34" charset="0"/>
              <a:cs typeface="Arial" panose="020B0604020202020204" pitchFamily="34" charset="0"/>
            </a:endParaRPr>
          </a:p>
          <a:p>
            <a:pPr algn="just"/>
            <a:endParaRPr lang="en-US" sz="1800" dirty="0">
              <a:latin typeface="Arial" panose="020B0604020202020204" pitchFamily="34" charset="0"/>
              <a:cs typeface="Arial" panose="020B0604020202020204" pitchFamily="34" charset="0"/>
            </a:endParaRPr>
          </a:p>
        </p:txBody>
      </p:sp>
      <p:sp>
        <p:nvSpPr>
          <p:cNvPr id="5" name="Rectangle 4"/>
          <p:cNvSpPr/>
          <p:nvPr/>
        </p:nvSpPr>
        <p:spPr>
          <a:xfrm>
            <a:off x="196402" y="823457"/>
            <a:ext cx="11851251" cy="3046988"/>
          </a:xfrm>
          <a:prstGeom prst="rect">
            <a:avLst/>
          </a:prstGeom>
        </p:spPr>
        <p:txBody>
          <a:bodyPr wrap="square">
            <a:spAutoFit/>
          </a:bodyPr>
          <a:lstStyle/>
          <a:p>
            <a:pPr marL="342900" indent="-342900">
              <a:buFont typeface="Arial" panose="020B0604020202020204" pitchFamily="34" charset="0"/>
              <a:buChar char="•"/>
            </a:pPr>
            <a:r>
              <a:rPr lang="en-US" sz="3200" b="1" dirty="0">
                <a:latin typeface="Arial" panose="020B0604020202020204" pitchFamily="34" charset="0"/>
                <a:cs typeface="Arial" panose="020B0604020202020204" pitchFamily="34" charset="0"/>
              </a:rPr>
              <a:t>Timer/Counter Register – TCNT0: </a:t>
            </a:r>
          </a:p>
          <a:p>
            <a:pPr marL="914400" lvl="1" indent="-457200">
              <a:buFont typeface="Wingdings" panose="05000000000000000000" pitchFamily="2" charset="2"/>
              <a:buChar char="ü"/>
            </a:pPr>
            <a:r>
              <a:rPr lang="en-US" sz="3200" dirty="0">
                <a:latin typeface="Arial" panose="020B0604020202020204" pitchFamily="34" charset="0"/>
                <a:cs typeface="Arial" panose="020B0604020202020204" pitchFamily="34" charset="0"/>
              </a:rPr>
              <a:t>This is where the 8-bit counter of the timer resides. </a:t>
            </a:r>
          </a:p>
          <a:p>
            <a:pPr marL="914400" lvl="1" indent="-457200">
              <a:buFont typeface="Wingdings" panose="05000000000000000000" pitchFamily="2" charset="2"/>
              <a:buChar char="ü"/>
            </a:pPr>
            <a:r>
              <a:rPr lang="en-US" sz="3200" dirty="0">
                <a:latin typeface="Arial" panose="020B0604020202020204" pitchFamily="34" charset="0"/>
                <a:cs typeface="Arial" panose="020B0604020202020204" pitchFamily="34" charset="0"/>
              </a:rPr>
              <a:t>The value of the counter is stored here and increases or decreases automatically. </a:t>
            </a:r>
          </a:p>
          <a:p>
            <a:pPr marL="914400" lvl="1" indent="-457200">
              <a:buFont typeface="Wingdings" panose="05000000000000000000" pitchFamily="2" charset="2"/>
              <a:buChar char="ü"/>
            </a:pPr>
            <a:r>
              <a:rPr lang="en-US" sz="3200" dirty="0">
                <a:latin typeface="Arial" panose="020B0604020202020204" pitchFamily="34" charset="0"/>
                <a:cs typeface="Arial" panose="020B0604020202020204" pitchFamily="34" charset="0"/>
              </a:rPr>
              <a:t>Data can be both read or written from this register. </a:t>
            </a:r>
          </a:p>
          <a:p>
            <a:pPr marL="914400" lvl="1" indent="-457200">
              <a:buFont typeface="Wingdings" panose="05000000000000000000" pitchFamily="2" charset="2"/>
              <a:buChar char="ü"/>
            </a:pPr>
            <a:r>
              <a:rPr lang="en-US" sz="3200" dirty="0">
                <a:latin typeface="Arial" panose="020B0604020202020204" pitchFamily="34" charset="0"/>
                <a:cs typeface="Arial" panose="020B0604020202020204" pitchFamily="34" charset="0"/>
              </a:rPr>
              <a:t>The register resets to zero after each overflow.</a:t>
            </a:r>
          </a:p>
        </p:txBody>
      </p:sp>
      <p:pic>
        <p:nvPicPr>
          <p:cNvPr id="14" name="Picture 13">
            <a:extLst>
              <a:ext uri="{FF2B5EF4-FFF2-40B4-BE49-F238E27FC236}">
                <a16:creationId xmlns:a16="http://schemas.microsoft.com/office/drawing/2014/main" id="{A7143E31-B34F-4420-A5E5-CFBAB466A022}"/>
              </a:ext>
            </a:extLst>
          </p:cNvPr>
          <p:cNvPicPr>
            <a:picLocks noChangeAspect="1"/>
          </p:cNvPicPr>
          <p:nvPr/>
        </p:nvPicPr>
        <p:blipFill>
          <a:blip r:embed="rId2"/>
          <a:stretch>
            <a:fillRect/>
          </a:stretch>
        </p:blipFill>
        <p:spPr>
          <a:xfrm>
            <a:off x="382707" y="4131809"/>
            <a:ext cx="11664946" cy="2009850"/>
          </a:xfrm>
          <a:prstGeom prst="rect">
            <a:avLst/>
          </a:prstGeom>
        </p:spPr>
      </p:pic>
      <p:sp>
        <p:nvSpPr>
          <p:cNvPr id="7" name="Date Placeholder 6"/>
          <p:cNvSpPr>
            <a:spLocks noGrp="1"/>
          </p:cNvSpPr>
          <p:nvPr>
            <p:ph type="dt" sz="half" idx="10"/>
          </p:nvPr>
        </p:nvSpPr>
        <p:spPr/>
        <p:txBody>
          <a:bodyPr/>
          <a:lstStyle/>
          <a:p>
            <a:fld id="{B2BDC84B-05E1-41D2-BA0C-1E85ADB3246D}" type="datetime3">
              <a:rPr lang="en-US" noProof="0" smtClean="0"/>
              <a:t>15 June 2026</a:t>
            </a:fld>
            <a:endParaRPr lang="en-US" noProof="0" dirty="0"/>
          </a:p>
        </p:txBody>
      </p:sp>
      <p:sp>
        <p:nvSpPr>
          <p:cNvPr id="8" name="Footer Placeholder 7"/>
          <p:cNvSpPr>
            <a:spLocks noGrp="1"/>
          </p:cNvSpPr>
          <p:nvPr>
            <p:ph type="ftr" sz="quarter" idx="11"/>
          </p:nvPr>
        </p:nvSpPr>
        <p:spPr/>
        <p:txBody>
          <a:bodyPr/>
          <a:lstStyle/>
          <a:p>
            <a:r>
              <a:rPr lang="en-US" noProof="0"/>
              <a:t>Course Teacher: Prof. Dr. Engr. Muhibul Haque Bhuyan</a:t>
            </a:r>
            <a:endParaRPr lang="en-US" noProof="0" dirty="0"/>
          </a:p>
        </p:txBody>
      </p:sp>
    </p:spTree>
    <p:extLst>
      <p:ext uri="{BB962C8B-B14F-4D97-AF65-F5344CB8AC3E}">
        <p14:creationId xmlns:p14="http://schemas.microsoft.com/office/powerpoint/2010/main" val="11291856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95398" y="129222"/>
            <a:ext cx="9969681" cy="716492"/>
          </a:xfrm>
        </p:spPr>
        <p:txBody>
          <a:bodyPr/>
          <a:lstStyle/>
          <a:p>
            <a:pPr algn="just"/>
            <a:r>
              <a:rPr lang="en-US" sz="4000" b="1" cap="none" dirty="0"/>
              <a:t>Timer Basics: Registers (</a:t>
            </a:r>
            <a:r>
              <a:rPr lang="en-US" sz="4000" b="1" cap="none" dirty="0">
                <a:latin typeface="Arial" panose="020B0604020202020204" pitchFamily="34" charset="0"/>
                <a:cs typeface="Arial" panose="020B0604020202020204" pitchFamily="34" charset="0"/>
              </a:rPr>
              <a:t>Timer0</a:t>
            </a:r>
            <a:r>
              <a:rPr lang="en-US" sz="4000" b="1" cap="none" dirty="0"/>
              <a:t>)</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95398" y="755967"/>
            <a:ext cx="11861619" cy="5303520"/>
          </a:xfrm>
        </p:spPr>
        <p:txBody>
          <a:bodyPr>
            <a:noAutofit/>
          </a:bodyPr>
          <a:lstStyle/>
          <a:p>
            <a:pPr marL="800100" lvl="1" indent="-342900" algn="just">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algn="just"/>
            <a:endParaRPr lang="en-US" sz="3200" dirty="0">
              <a:latin typeface="Arial" panose="020B0604020202020204" pitchFamily="34" charset="0"/>
              <a:cs typeface="Arial" panose="020B0604020202020204" pitchFamily="34" charset="0"/>
            </a:endParaRPr>
          </a:p>
          <a:p>
            <a:pPr marL="231775" indent="-231775" algn="just">
              <a:lnSpc>
                <a:spcPct val="110000"/>
              </a:lnSpc>
              <a:spcAft>
                <a:spcPts val="600"/>
              </a:spcAft>
            </a:pPr>
            <a:endParaRPr lang="en-US" sz="32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14</a:t>
            </a:fld>
            <a:endParaRPr lang="en-US" noProof="0" dirty="0"/>
          </a:p>
        </p:txBody>
      </p:sp>
      <p:sp>
        <p:nvSpPr>
          <p:cNvPr id="6" name="Content Placeholder 2"/>
          <p:cNvSpPr>
            <a:spLocks noGrp="1"/>
          </p:cNvSpPr>
          <p:nvPr>
            <p:ph idx="1"/>
          </p:nvPr>
        </p:nvSpPr>
        <p:spPr>
          <a:xfrm>
            <a:off x="457200" y="2249424"/>
            <a:ext cx="10104120" cy="4325112"/>
          </a:xfrm>
        </p:spPr>
        <p:txBody>
          <a:bodyPr>
            <a:normAutofit/>
          </a:bodyPr>
          <a:lstStyle/>
          <a:p>
            <a:pPr lvl="1" algn="just"/>
            <a:endParaRPr lang="en-US" sz="1800" dirty="0">
              <a:solidFill>
                <a:schemeClr val="tx1"/>
              </a:solidFill>
              <a:latin typeface="Arial" panose="020B0604020202020204" pitchFamily="34" charset="0"/>
              <a:cs typeface="Arial" panose="020B0604020202020204" pitchFamily="34" charset="0"/>
            </a:endParaRPr>
          </a:p>
          <a:p>
            <a:pPr algn="just"/>
            <a:endParaRPr lang="en-US" sz="1800" dirty="0">
              <a:latin typeface="Arial" panose="020B0604020202020204" pitchFamily="34" charset="0"/>
              <a:cs typeface="Arial" panose="020B0604020202020204" pitchFamily="34" charset="0"/>
            </a:endParaRPr>
          </a:p>
          <a:p>
            <a:pPr algn="just"/>
            <a:endParaRPr lang="en-US" sz="1800" dirty="0">
              <a:latin typeface="Arial" panose="020B0604020202020204" pitchFamily="34" charset="0"/>
              <a:cs typeface="Arial" panose="020B0604020202020204" pitchFamily="34" charset="0"/>
            </a:endParaRPr>
          </a:p>
        </p:txBody>
      </p:sp>
      <p:sp>
        <p:nvSpPr>
          <p:cNvPr id="15" name="Content Placeholder 2"/>
          <p:cNvSpPr txBox="1">
            <a:spLocks/>
          </p:cNvSpPr>
          <p:nvPr/>
        </p:nvSpPr>
        <p:spPr bwMode="white">
          <a:xfrm>
            <a:off x="91440" y="755966"/>
            <a:ext cx="11965576" cy="4729033"/>
          </a:xfrm>
          <a:prstGeom prst="rect">
            <a:avLst/>
          </a:prstGeom>
        </p:spPr>
        <p:txBody>
          <a:bodyPr vert="horz" lIns="91440" tIns="45720" rIns="91440" bIns="45720" rtlCol="0" anchor="t">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a:spcAft>
                <a:spcPts val="600"/>
              </a:spcAft>
            </a:pPr>
            <a:r>
              <a:rPr lang="en-US" sz="3200" b="1" dirty="0">
                <a:latin typeface="Arial" panose="020B0604020202020204" pitchFamily="34" charset="0"/>
                <a:cs typeface="Arial" panose="020B0604020202020204" pitchFamily="34" charset="0"/>
              </a:rPr>
              <a:t>Timer/Counter Interrupt Flag Register– TIFR0: </a:t>
            </a:r>
          </a:p>
          <a:p>
            <a:pPr lvl="1">
              <a:spcAft>
                <a:spcPts val="600"/>
              </a:spcAft>
            </a:pPr>
            <a:r>
              <a:rPr lang="en-US" sz="3000" b="1" dirty="0">
                <a:solidFill>
                  <a:srgbClr val="7030A0"/>
                </a:solidFill>
                <a:latin typeface="Arial" panose="020B0604020202020204" pitchFamily="34" charset="0"/>
                <a:cs typeface="Arial" panose="020B0604020202020204" pitchFamily="34" charset="0"/>
              </a:rPr>
              <a:t>TOV0 </a:t>
            </a:r>
            <a:r>
              <a:rPr lang="en-US" sz="3000" dirty="0">
                <a:latin typeface="Arial" panose="020B0604020202020204" pitchFamily="34" charset="0"/>
                <a:cs typeface="Arial" panose="020B0604020202020204" pitchFamily="34" charset="0"/>
              </a:rPr>
              <a:t>bit is set (one) whenever TIMER0 overflows. </a:t>
            </a:r>
          </a:p>
          <a:p>
            <a:pPr>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a:p>
            <a:pPr>
              <a:spcAft>
                <a:spcPts val="0"/>
              </a:spcAft>
            </a:pPr>
            <a:r>
              <a:rPr lang="en-US" sz="3200" b="1" dirty="0">
                <a:latin typeface="Arial" panose="020B0604020202020204" pitchFamily="34" charset="0"/>
                <a:cs typeface="Arial" panose="020B0604020202020204" pitchFamily="34" charset="0"/>
              </a:rPr>
              <a:t>Output Compare Register - OCR0A and OCR0B:</a:t>
            </a:r>
            <a:endParaRPr lang="en-US" sz="3200" dirty="0">
              <a:latin typeface="Arial" panose="020B0604020202020204" pitchFamily="34" charset="0"/>
              <a:cs typeface="Arial" panose="020B0604020202020204" pitchFamily="34" charset="0"/>
            </a:endParaRPr>
          </a:p>
          <a:p>
            <a:pPr lvl="1">
              <a:spcAft>
                <a:spcPts val="0"/>
              </a:spcAft>
            </a:pPr>
            <a:r>
              <a:rPr lang="en-US" sz="3000" dirty="0">
                <a:latin typeface="Arial" panose="020B0604020202020204" pitchFamily="34" charset="0"/>
                <a:cs typeface="Arial" panose="020B0604020202020204" pitchFamily="34" charset="0"/>
              </a:rPr>
              <a:t>Both Output Compare Registers A and B contain 8-bit values that are continuously compared with the counter value (TCNT0).</a:t>
            </a:r>
          </a:p>
          <a:p>
            <a:pPr lvl="1">
              <a:spcAft>
                <a:spcPts val="600"/>
              </a:spcAft>
            </a:pPr>
            <a:r>
              <a:rPr lang="en-US" sz="3000" b="1" dirty="0">
                <a:solidFill>
                  <a:srgbClr val="FF0000"/>
                </a:solidFill>
                <a:latin typeface="Arial" panose="020B0604020202020204" pitchFamily="34" charset="0"/>
                <a:cs typeface="Arial" panose="020B0604020202020204" pitchFamily="34" charset="0"/>
              </a:rPr>
              <a:t>The OCF0A or OCF0B bit in the TIFR register is set (one) whenever the count matches the stored value in OCR0A/B.</a:t>
            </a:r>
          </a:p>
          <a:p>
            <a:pPr>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a:p>
            <a:pPr lvl="1">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a:p>
            <a:pPr lvl="1">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p:txBody>
      </p:sp>
      <p:pic>
        <p:nvPicPr>
          <p:cNvPr id="16" name="Picture 15">
            <a:extLst>
              <a:ext uri="{FF2B5EF4-FFF2-40B4-BE49-F238E27FC236}">
                <a16:creationId xmlns:a16="http://schemas.microsoft.com/office/drawing/2014/main" id="{A31C5495-8F92-4809-A116-1C1658F4D68D}"/>
              </a:ext>
            </a:extLst>
          </p:cNvPr>
          <p:cNvPicPr>
            <a:picLocks noChangeAspect="1"/>
          </p:cNvPicPr>
          <p:nvPr/>
        </p:nvPicPr>
        <p:blipFill>
          <a:blip r:embed="rId3"/>
          <a:stretch>
            <a:fillRect/>
          </a:stretch>
        </p:blipFill>
        <p:spPr>
          <a:xfrm>
            <a:off x="853440" y="1920452"/>
            <a:ext cx="9311640" cy="1134412"/>
          </a:xfrm>
          <a:prstGeom prst="rect">
            <a:avLst/>
          </a:prstGeom>
        </p:spPr>
      </p:pic>
      <p:sp>
        <p:nvSpPr>
          <p:cNvPr id="17" name="Rectangle 16">
            <a:extLst>
              <a:ext uri="{FF2B5EF4-FFF2-40B4-BE49-F238E27FC236}">
                <a16:creationId xmlns:a16="http://schemas.microsoft.com/office/drawing/2014/main" id="{569403F5-2091-46F9-8584-17CF75922322}"/>
              </a:ext>
            </a:extLst>
          </p:cNvPr>
          <p:cNvSpPr/>
          <p:nvPr/>
        </p:nvSpPr>
        <p:spPr>
          <a:xfrm>
            <a:off x="8560396" y="1920453"/>
            <a:ext cx="640209" cy="1068500"/>
          </a:xfrm>
          <a:prstGeom prst="rect">
            <a:avLst/>
          </a:prstGeom>
          <a:noFill/>
          <a:ln w="73025" cap="flat" cmpd="sng" algn="ctr">
            <a:solidFill>
              <a:srgbClr val="A04DA3"/>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eorgia"/>
              <a:ea typeface="+mn-ea"/>
              <a:cs typeface="+mn-cs"/>
            </a:endParaRPr>
          </a:p>
        </p:txBody>
      </p:sp>
      <p:sp>
        <p:nvSpPr>
          <p:cNvPr id="18" name="Rectangle 17">
            <a:extLst>
              <a:ext uri="{FF2B5EF4-FFF2-40B4-BE49-F238E27FC236}">
                <a16:creationId xmlns:a16="http://schemas.microsoft.com/office/drawing/2014/main" id="{89400333-2249-4CA8-A8B3-DB5DDDAB207C}"/>
              </a:ext>
            </a:extLst>
          </p:cNvPr>
          <p:cNvSpPr/>
          <p:nvPr/>
        </p:nvSpPr>
        <p:spPr>
          <a:xfrm>
            <a:off x="6668460" y="1941717"/>
            <a:ext cx="806229" cy="1068501"/>
          </a:xfrm>
          <a:prstGeom prst="rect">
            <a:avLst/>
          </a:prstGeom>
          <a:noFill/>
          <a:ln w="73025" cap="flat" cmpd="sng" algn="ctr">
            <a:solidFill>
              <a:srgbClr val="0070C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eorgia"/>
              <a:ea typeface="+mn-ea"/>
              <a:cs typeface="+mn-cs"/>
            </a:endParaRPr>
          </a:p>
        </p:txBody>
      </p:sp>
      <p:pic>
        <p:nvPicPr>
          <p:cNvPr id="19" name="Picture 18">
            <a:extLst>
              <a:ext uri="{FF2B5EF4-FFF2-40B4-BE49-F238E27FC236}">
                <a16:creationId xmlns:a16="http://schemas.microsoft.com/office/drawing/2014/main" id="{2E0E42CB-49ED-4442-89CB-F030F9856445}"/>
              </a:ext>
            </a:extLst>
          </p:cNvPr>
          <p:cNvPicPr>
            <a:picLocks noChangeAspect="1"/>
          </p:cNvPicPr>
          <p:nvPr/>
        </p:nvPicPr>
        <p:blipFill rotWithShape="1">
          <a:blip r:embed="rId4"/>
          <a:srcRect t="8673" b="4720"/>
          <a:stretch/>
        </p:blipFill>
        <p:spPr>
          <a:xfrm>
            <a:off x="902338" y="5343155"/>
            <a:ext cx="11154678" cy="1188720"/>
          </a:xfrm>
          <a:prstGeom prst="rect">
            <a:avLst/>
          </a:prstGeom>
        </p:spPr>
      </p:pic>
      <p:pic>
        <p:nvPicPr>
          <p:cNvPr id="20" name="Picture 19">
            <a:extLst>
              <a:ext uri="{FF2B5EF4-FFF2-40B4-BE49-F238E27FC236}">
                <a16:creationId xmlns:a16="http://schemas.microsoft.com/office/drawing/2014/main" id="{1E8DFCF5-ECBB-4512-A3FC-67B8FB967CF5}"/>
              </a:ext>
            </a:extLst>
          </p:cNvPr>
          <p:cNvPicPr>
            <a:picLocks noChangeAspect="1"/>
          </p:cNvPicPr>
          <p:nvPr/>
        </p:nvPicPr>
        <p:blipFill rotWithShape="1">
          <a:blip r:embed="rId5"/>
          <a:srcRect l="1110" t="2016" b="11707"/>
          <a:stretch/>
        </p:blipFill>
        <p:spPr>
          <a:xfrm>
            <a:off x="902336" y="5346031"/>
            <a:ext cx="11198223" cy="1185844"/>
          </a:xfrm>
          <a:prstGeom prst="rect">
            <a:avLst/>
          </a:prstGeom>
        </p:spPr>
      </p:pic>
      <p:sp>
        <p:nvSpPr>
          <p:cNvPr id="5" name="Date Placeholder 4"/>
          <p:cNvSpPr>
            <a:spLocks noGrp="1"/>
          </p:cNvSpPr>
          <p:nvPr>
            <p:ph type="dt" sz="half" idx="10"/>
          </p:nvPr>
        </p:nvSpPr>
        <p:spPr/>
        <p:txBody>
          <a:bodyPr/>
          <a:lstStyle/>
          <a:p>
            <a:fld id="{D3D6D1CE-02CB-4038-BD80-202D67315874}" type="datetime3">
              <a:rPr lang="en-US" noProof="0" smtClean="0"/>
              <a:t>15 June 2026</a:t>
            </a:fld>
            <a:endParaRPr lang="en-US" noProof="0" dirty="0"/>
          </a:p>
        </p:txBody>
      </p:sp>
      <p:sp>
        <p:nvSpPr>
          <p:cNvPr id="7" name="Footer Placeholder 6"/>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8" name="Rectangle 7">
            <a:extLst>
              <a:ext uri="{FF2B5EF4-FFF2-40B4-BE49-F238E27FC236}">
                <a16:creationId xmlns:a16="http://schemas.microsoft.com/office/drawing/2014/main" id="{53FB3510-6593-4E79-4943-3D40F18995B3}"/>
              </a:ext>
            </a:extLst>
          </p:cNvPr>
          <p:cNvSpPr/>
          <p:nvPr/>
        </p:nvSpPr>
        <p:spPr>
          <a:xfrm>
            <a:off x="7621179" y="1953407"/>
            <a:ext cx="806229" cy="1068501"/>
          </a:xfrm>
          <a:prstGeom prst="rect">
            <a:avLst/>
          </a:prstGeom>
          <a:noFill/>
          <a:ln w="73025"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eorgia"/>
              <a:ea typeface="+mn-ea"/>
              <a:cs typeface="+mn-cs"/>
            </a:endParaRPr>
          </a:p>
        </p:txBody>
      </p:sp>
    </p:spTree>
    <p:extLst>
      <p:ext uri="{BB962C8B-B14F-4D97-AF65-F5344CB8AC3E}">
        <p14:creationId xmlns:p14="http://schemas.microsoft.com/office/powerpoint/2010/main" val="7563025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heel(1)">
                                      <p:cBhvr>
                                        <p:cTn id="11" dur="2000"/>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5">
                                            <p:txEl>
                                              <p:pRg st="5" end="5"/>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5">
                                            <p:txEl>
                                              <p:pRg st="6" end="6"/>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heel(1)">
                                      <p:cBhvr>
                                        <p:cTn id="32" dur="20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1" presetClass="entr" presetSubtype="1"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heel(1)">
                                      <p:cBhvr>
                                        <p:cTn id="41"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502" y="94781"/>
            <a:ext cx="10572205" cy="740229"/>
          </a:xfrm>
        </p:spPr>
        <p:txBody>
          <a:bodyPr>
            <a:noAutofit/>
          </a:bodyPr>
          <a:lstStyle/>
          <a:p>
            <a:r>
              <a:rPr lang="en-US" sz="4000" b="1" cap="none" dirty="0">
                <a:latin typeface="Arial" panose="020B0604020202020204" pitchFamily="34" charset="0"/>
                <a:cs typeface="Arial" panose="020B0604020202020204" pitchFamily="34" charset="0"/>
              </a:rPr>
              <a:t>Timer Basics: Registers (Timer1)</a:t>
            </a:r>
          </a:p>
        </p:txBody>
      </p:sp>
      <p:sp>
        <p:nvSpPr>
          <p:cNvPr id="3" name="Content Placeholder 2"/>
          <p:cNvSpPr>
            <a:spLocks noGrp="1"/>
          </p:cNvSpPr>
          <p:nvPr>
            <p:ph idx="1"/>
          </p:nvPr>
        </p:nvSpPr>
        <p:spPr>
          <a:xfrm>
            <a:off x="104502" y="835010"/>
            <a:ext cx="11952515" cy="3946057"/>
          </a:xfrm>
        </p:spPr>
        <p:txBody>
          <a:bodyPr>
            <a:noAutofit/>
          </a:bodyPr>
          <a:lstStyle/>
          <a:p>
            <a:pPr>
              <a:spcAft>
                <a:spcPts val="0"/>
              </a:spcAft>
            </a:pPr>
            <a:r>
              <a:rPr lang="en-US" sz="3200" dirty="0">
                <a:latin typeface="Arial" panose="020B0604020202020204" pitchFamily="34" charset="0"/>
                <a:cs typeface="Arial" panose="020B0604020202020204" pitchFamily="34" charset="0"/>
              </a:rPr>
              <a:t>Most of the registers are very similar to Timer0.</a:t>
            </a:r>
          </a:p>
          <a:p>
            <a:pPr>
              <a:spcAft>
                <a:spcPts val="0"/>
              </a:spcAft>
            </a:pPr>
            <a:r>
              <a:rPr lang="en-US" sz="3200" b="1" dirty="0">
                <a:latin typeface="Arial" panose="020B0604020202020204" pitchFamily="34" charset="0"/>
                <a:cs typeface="Arial" panose="020B0604020202020204" pitchFamily="34" charset="0"/>
              </a:rPr>
              <a:t>Timer/Counter Register – TCNT1H and TCNT1L (TCNT1):</a:t>
            </a:r>
            <a:r>
              <a:rPr lang="en-US" sz="3200" dirty="0">
                <a:latin typeface="Arial" panose="020B0604020202020204" pitchFamily="34" charset="0"/>
                <a:cs typeface="Arial" panose="020B0604020202020204" pitchFamily="34" charset="0"/>
              </a:rPr>
              <a:t> </a:t>
            </a:r>
          </a:p>
          <a:p>
            <a:pPr lvl="1">
              <a:spcAft>
                <a:spcPts val="0"/>
              </a:spcAft>
              <a:buFont typeface="Wingdings" panose="05000000000000000000" pitchFamily="2" charset="2"/>
              <a:buChar char="ü"/>
            </a:pPr>
            <a:r>
              <a:rPr lang="en-US" sz="3000" dirty="0">
                <a:latin typeface="Arial" panose="020B0604020202020204" pitchFamily="34" charset="0"/>
                <a:cs typeface="Arial" panose="020B0604020202020204" pitchFamily="34" charset="0"/>
              </a:rPr>
              <a:t> The main difference between Timer0 and Timer1 is in the timer/counter register.</a:t>
            </a:r>
            <a:endParaRPr lang="en-US" sz="3000" b="1" dirty="0">
              <a:latin typeface="Arial" panose="020B0604020202020204" pitchFamily="34" charset="0"/>
              <a:cs typeface="Arial" panose="020B0604020202020204" pitchFamily="34" charset="0"/>
            </a:endParaRPr>
          </a:p>
          <a:p>
            <a:pPr lvl="1">
              <a:spcAft>
                <a:spcPts val="0"/>
              </a:spcAft>
              <a:buFont typeface="Wingdings" panose="05000000000000000000" pitchFamily="2" charset="2"/>
              <a:buChar char="ü"/>
            </a:pPr>
            <a:r>
              <a:rPr lang="en-US" sz="3000" dirty="0">
                <a:latin typeface="Arial" panose="020B0604020202020204" pitchFamily="34" charset="0"/>
                <a:cs typeface="Arial" panose="020B0604020202020204" pitchFamily="34" charset="0"/>
              </a:rPr>
              <a:t> The two Timer/Counter I/O locations (</a:t>
            </a:r>
            <a:r>
              <a:rPr lang="en-US" sz="3000" dirty="0">
                <a:solidFill>
                  <a:srgbClr val="FFFF00"/>
                </a:solidFill>
                <a:latin typeface="Arial" panose="020B0604020202020204" pitchFamily="34" charset="0"/>
                <a:cs typeface="Arial" panose="020B0604020202020204" pitchFamily="34" charset="0"/>
              </a:rPr>
              <a:t>TCNT1H and TCNT1L, combined TCNT1 of 16-bit</a:t>
            </a:r>
            <a:r>
              <a:rPr lang="en-US" sz="3000" dirty="0">
                <a:latin typeface="Arial" panose="020B0604020202020204" pitchFamily="34" charset="0"/>
                <a:cs typeface="Arial" panose="020B0604020202020204" pitchFamily="34" charset="0"/>
              </a:rPr>
              <a:t>) give direct access, both for read and write operations, to the Timer/Counter unit </a:t>
            </a:r>
            <a:r>
              <a:rPr lang="en-US" sz="3000" b="1" dirty="0">
                <a:solidFill>
                  <a:srgbClr val="FF0000"/>
                </a:solidFill>
                <a:latin typeface="Arial" panose="020B0604020202020204" pitchFamily="34" charset="0"/>
                <a:cs typeface="Arial" panose="020B0604020202020204" pitchFamily="34" charset="0"/>
              </a:rPr>
              <a:t>16-bit counter</a:t>
            </a:r>
            <a:r>
              <a:rPr lang="en-US" sz="3000" dirty="0">
                <a:latin typeface="Arial" panose="020B0604020202020204" pitchFamily="34" charset="0"/>
                <a:cs typeface="Arial" panose="020B0604020202020204" pitchFamily="34" charset="0"/>
              </a:rPr>
              <a:t>.</a:t>
            </a:r>
          </a:p>
          <a:p>
            <a:pPr lvl="1">
              <a:spcAft>
                <a:spcPts val="0"/>
              </a:spcAft>
              <a:buFont typeface="Wingdings" panose="05000000000000000000" pitchFamily="2" charset="2"/>
              <a:buChar char="ü"/>
            </a:pPr>
            <a:r>
              <a:rPr lang="en-US" sz="3000" dirty="0">
                <a:latin typeface="Arial" panose="020B0604020202020204" pitchFamily="34" charset="0"/>
                <a:cs typeface="Arial" panose="020B0604020202020204" pitchFamily="34" charset="0"/>
              </a:rPr>
              <a:t> The register resets to zero after each overflow. </a:t>
            </a:r>
          </a:p>
        </p:txBody>
      </p:sp>
      <p:pic>
        <p:nvPicPr>
          <p:cNvPr id="4" name="Picture 3">
            <a:extLst>
              <a:ext uri="{FF2B5EF4-FFF2-40B4-BE49-F238E27FC236}">
                <a16:creationId xmlns:a16="http://schemas.microsoft.com/office/drawing/2014/main" id="{A17CDC93-23D1-46D3-B86B-99B550DFF0BD}"/>
              </a:ext>
            </a:extLst>
          </p:cNvPr>
          <p:cNvPicPr>
            <a:picLocks noChangeAspect="1"/>
          </p:cNvPicPr>
          <p:nvPr/>
        </p:nvPicPr>
        <p:blipFill rotWithShape="1">
          <a:blip r:embed="rId3"/>
          <a:srcRect t="3265" b="5550"/>
          <a:stretch/>
        </p:blipFill>
        <p:spPr>
          <a:xfrm>
            <a:off x="509451" y="4781068"/>
            <a:ext cx="11377749" cy="1791728"/>
          </a:xfrm>
          <a:prstGeom prst="rect">
            <a:avLst/>
          </a:prstGeom>
        </p:spPr>
      </p:pic>
      <p:sp>
        <p:nvSpPr>
          <p:cNvPr id="6" name="Date Placeholder 5"/>
          <p:cNvSpPr>
            <a:spLocks noGrp="1"/>
          </p:cNvSpPr>
          <p:nvPr>
            <p:ph type="dt" sz="half" idx="10"/>
          </p:nvPr>
        </p:nvSpPr>
        <p:spPr/>
        <p:txBody>
          <a:bodyPr/>
          <a:lstStyle/>
          <a:p>
            <a:fld id="{17D1F163-9643-41E4-B842-57D26361CE78}" type="datetime3">
              <a:rPr lang="en-US" noProof="0" smtClean="0"/>
              <a:t>15 June 2026</a:t>
            </a:fld>
            <a:endParaRPr lang="en-US" noProof="0" dirty="0"/>
          </a:p>
        </p:txBody>
      </p:sp>
      <p:sp>
        <p:nvSpPr>
          <p:cNvPr id="7" name="Footer Placeholder 6"/>
          <p:cNvSpPr>
            <a:spLocks noGrp="1"/>
          </p:cNvSpPr>
          <p:nvPr>
            <p:ph type="ftr" sz="quarter" idx="11"/>
          </p:nvPr>
        </p:nvSpPr>
        <p:spPr/>
        <p:txBody>
          <a:bodyPr/>
          <a:lstStyle/>
          <a:p>
            <a:r>
              <a:rPr lang="en-US" noProof="0"/>
              <a:t>Course Teacher: Prof. Dr. Engr. Muhibul Haque Bhuyan</a:t>
            </a:r>
            <a:endParaRPr lang="en-US" noProof="0" dirty="0"/>
          </a:p>
        </p:txBody>
      </p:sp>
      <p:sp>
        <p:nvSpPr>
          <p:cNvPr id="8" name="Slide Number Placeholder 7"/>
          <p:cNvSpPr>
            <a:spLocks noGrp="1"/>
          </p:cNvSpPr>
          <p:nvPr>
            <p:ph type="sldNum" sz="quarter" idx="12"/>
          </p:nvPr>
        </p:nvSpPr>
        <p:spPr/>
        <p:txBody>
          <a:bodyPr/>
          <a:lstStyle/>
          <a:p>
            <a:fld id="{5D99DD2A-B520-4620-9B43-64B657BA2D42}" type="slidenum">
              <a:rPr lang="en-US" noProof="0" smtClean="0"/>
              <a:t>15</a:t>
            </a:fld>
            <a:endParaRPr lang="en-US" noProof="0" dirty="0"/>
          </a:p>
        </p:txBody>
      </p:sp>
    </p:spTree>
    <p:extLst>
      <p:ext uri="{BB962C8B-B14F-4D97-AF65-F5344CB8AC3E}">
        <p14:creationId xmlns:p14="http://schemas.microsoft.com/office/powerpoint/2010/main" val="234772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502" y="94781"/>
            <a:ext cx="10572205" cy="740229"/>
          </a:xfrm>
        </p:spPr>
        <p:txBody>
          <a:bodyPr>
            <a:noAutofit/>
          </a:bodyPr>
          <a:lstStyle/>
          <a:p>
            <a:r>
              <a:rPr lang="en-US" sz="4000" b="1" cap="none" dirty="0">
                <a:latin typeface="Arial" panose="020B0604020202020204" pitchFamily="34" charset="0"/>
                <a:cs typeface="Arial" panose="020B0604020202020204" pitchFamily="34" charset="0"/>
              </a:rPr>
              <a:t>Timer Basics: Registers (Timer1)</a:t>
            </a:r>
          </a:p>
        </p:txBody>
      </p:sp>
      <p:sp>
        <p:nvSpPr>
          <p:cNvPr id="3" name="Content Placeholder 2"/>
          <p:cNvSpPr>
            <a:spLocks noGrp="1"/>
          </p:cNvSpPr>
          <p:nvPr>
            <p:ph idx="1"/>
          </p:nvPr>
        </p:nvSpPr>
        <p:spPr>
          <a:xfrm>
            <a:off x="104502" y="835010"/>
            <a:ext cx="11952515" cy="5711707"/>
          </a:xfrm>
        </p:spPr>
        <p:txBody>
          <a:bodyPr>
            <a:noAutofit/>
          </a:bodyPr>
          <a:lstStyle/>
          <a:p>
            <a:pPr>
              <a:lnSpc>
                <a:spcPct val="90000"/>
              </a:lnSpc>
              <a:spcAft>
                <a:spcPts val="0"/>
              </a:spcAft>
            </a:pPr>
            <a:r>
              <a:rPr lang="en-US" sz="3600" dirty="0">
                <a:latin typeface="Arial" panose="020B0604020202020204" pitchFamily="34" charset="0"/>
                <a:cs typeface="Arial" panose="020B0604020202020204" pitchFamily="34" charset="0"/>
              </a:rPr>
              <a:t>Most of the registers are very similar to Timer0. TCCR1A, TCCR1B, and TIFR1 registers are of 8-bits, but they have some extra bits.</a:t>
            </a:r>
          </a:p>
          <a:p>
            <a:pPr>
              <a:lnSpc>
                <a:spcPct val="90000"/>
              </a:lnSpc>
              <a:spcAft>
                <a:spcPts val="0"/>
              </a:spcAft>
            </a:pPr>
            <a:r>
              <a:rPr lang="en-US" sz="3600" dirty="0">
                <a:latin typeface="Arial" panose="020B0604020202020204" pitchFamily="34" charset="0"/>
                <a:cs typeface="Arial" panose="020B0604020202020204" pitchFamily="34" charset="0"/>
              </a:rPr>
              <a:t>The other differences include</a:t>
            </a:r>
          </a:p>
          <a:p>
            <a:pPr marL="1097280" lvl="2" indent="-457200">
              <a:spcAft>
                <a:spcPts val="0"/>
              </a:spcAft>
              <a:buFont typeface="Wingdings" panose="05000000000000000000" pitchFamily="2" charset="2"/>
              <a:buChar char="ü"/>
            </a:pPr>
            <a:r>
              <a:rPr lang="en-US" sz="3200" dirty="0">
                <a:latin typeface="Arial" panose="020B0604020202020204" pitchFamily="34" charset="0"/>
                <a:cs typeface="Arial" panose="020B0604020202020204" pitchFamily="34" charset="0"/>
              </a:rPr>
              <a:t>Like the Timer/Counter Register (TCNT1 </a:t>
            </a:r>
            <a:r>
              <a:rPr lang="en-US" sz="3200" dirty="0">
                <a:latin typeface="Arial" panose="020B0604020202020204" pitchFamily="34" charset="0"/>
                <a:cs typeface="Arial" panose="020B0604020202020204" pitchFamily="34" charset="0"/>
                <a:sym typeface="Symbol" panose="05050102010706020507" pitchFamily="18" charset="2"/>
              </a:rPr>
              <a:t> </a:t>
            </a:r>
            <a:r>
              <a:rPr lang="en-US" sz="3200" dirty="0">
                <a:latin typeface="Arial" panose="020B0604020202020204" pitchFamily="34" charset="0"/>
                <a:cs typeface="Arial" panose="020B0604020202020204" pitchFamily="34" charset="0"/>
              </a:rPr>
              <a:t>TCNT1H:TCNT1L), the output compare registers (</a:t>
            </a:r>
            <a:r>
              <a:rPr lang="en-US" sz="3200" b="1" dirty="0">
                <a:solidFill>
                  <a:srgbClr val="FF0000"/>
                </a:solidFill>
                <a:latin typeface="Arial" panose="020B0604020202020204" pitchFamily="34" charset="0"/>
                <a:cs typeface="Arial" panose="020B0604020202020204" pitchFamily="34" charset="0"/>
              </a:rPr>
              <a:t>OCR1A  and OCR1B</a:t>
            </a:r>
            <a:r>
              <a:rPr lang="en-US" sz="3200" dirty="0">
                <a:latin typeface="Arial" panose="020B0604020202020204" pitchFamily="34" charset="0"/>
                <a:cs typeface="Arial" panose="020B0604020202020204" pitchFamily="34" charset="0"/>
              </a:rPr>
              <a:t>) are also </a:t>
            </a:r>
            <a:r>
              <a:rPr lang="en-US" sz="3200" b="1" dirty="0">
                <a:solidFill>
                  <a:srgbClr val="FF0000"/>
                </a:solidFill>
                <a:latin typeface="Arial" panose="020B0604020202020204" pitchFamily="34" charset="0"/>
                <a:cs typeface="Arial" panose="020B0604020202020204" pitchFamily="34" charset="0"/>
              </a:rPr>
              <a:t>16 bit </a:t>
            </a:r>
            <a:r>
              <a:rPr lang="en-US" sz="3200" dirty="0">
                <a:latin typeface="Arial" panose="020B0604020202020204" pitchFamily="34" charset="0"/>
                <a:cs typeface="Arial" panose="020B0604020202020204" pitchFamily="34" charset="0"/>
              </a:rPr>
              <a:t>and made up from two 8-bit registers, i.e., OCR1A </a:t>
            </a:r>
            <a:r>
              <a:rPr lang="en-US" sz="3200" dirty="0">
                <a:latin typeface="Arial" panose="020B0604020202020204" pitchFamily="34" charset="0"/>
                <a:cs typeface="Arial" panose="020B0604020202020204" pitchFamily="34" charset="0"/>
                <a:sym typeface="Symbol" panose="05050102010706020507" pitchFamily="18" charset="2"/>
              </a:rPr>
              <a:t> </a:t>
            </a:r>
            <a:r>
              <a:rPr lang="en-US" sz="3200" dirty="0">
                <a:latin typeface="Arial" panose="020B0604020202020204" pitchFamily="34" charset="0"/>
                <a:cs typeface="Arial" panose="020B0604020202020204" pitchFamily="34" charset="0"/>
              </a:rPr>
              <a:t>OCR1AH:OCR1AL and OCR1B </a:t>
            </a:r>
            <a:r>
              <a:rPr lang="en-US" sz="3200" dirty="0">
                <a:latin typeface="Arial" panose="020B0604020202020204" pitchFamily="34" charset="0"/>
                <a:cs typeface="Arial" panose="020B0604020202020204" pitchFamily="34" charset="0"/>
                <a:sym typeface="Symbol" panose="05050102010706020507" pitchFamily="18" charset="2"/>
              </a:rPr>
              <a:t> </a:t>
            </a:r>
            <a:r>
              <a:rPr lang="en-US" sz="3200" dirty="0">
                <a:latin typeface="Arial" panose="020B0604020202020204" pitchFamily="34" charset="0"/>
                <a:cs typeface="Arial" panose="020B0604020202020204" pitchFamily="34" charset="0"/>
              </a:rPr>
              <a:t>OCR1BH:OCR1BL.</a:t>
            </a:r>
          </a:p>
          <a:p>
            <a:pPr marL="1097280" lvl="2" indent="-457200">
              <a:spcAft>
                <a:spcPts val="0"/>
              </a:spcAft>
              <a:buFont typeface="Wingdings" panose="05000000000000000000" pitchFamily="2" charset="2"/>
              <a:buChar char="ü"/>
            </a:pPr>
            <a:r>
              <a:rPr lang="en-US" sz="3200" dirty="0">
                <a:latin typeface="Arial" panose="020B0604020202020204" pitchFamily="34" charset="0"/>
                <a:cs typeface="Arial" panose="020B0604020202020204" pitchFamily="34" charset="0"/>
              </a:rPr>
              <a:t>There is an extra Input Capture bit in TIFR1 Register.</a:t>
            </a:r>
          </a:p>
          <a:p>
            <a:pPr marL="1097280" lvl="2" indent="-457200">
              <a:spcAft>
                <a:spcPts val="0"/>
              </a:spcAft>
              <a:buFont typeface="Wingdings" panose="05000000000000000000" pitchFamily="2" charset="2"/>
              <a:buChar char="ü"/>
            </a:pPr>
            <a:r>
              <a:rPr lang="en-US" sz="3200" dirty="0">
                <a:latin typeface="Arial" panose="020B0604020202020204" pitchFamily="34" charset="0"/>
                <a:cs typeface="Arial" panose="020B0604020202020204" pitchFamily="34" charset="0"/>
              </a:rPr>
              <a:t>There are several extra modes Timer1 can run on.</a:t>
            </a:r>
          </a:p>
          <a:p>
            <a:pPr>
              <a:lnSpc>
                <a:spcPct val="90000"/>
              </a:lnSpc>
              <a:spcAft>
                <a:spcPts val="0"/>
              </a:spcAft>
            </a:pPr>
            <a:endParaRPr lang="en-US" sz="3200" dirty="0">
              <a:latin typeface="Arial" panose="020B0604020202020204" pitchFamily="34" charset="0"/>
              <a:cs typeface="Arial" panose="020B0604020202020204" pitchFamily="34" charset="0"/>
            </a:endParaRPr>
          </a:p>
        </p:txBody>
      </p:sp>
      <p:sp>
        <p:nvSpPr>
          <p:cNvPr id="6" name="Date Placeholder 5"/>
          <p:cNvSpPr>
            <a:spLocks noGrp="1"/>
          </p:cNvSpPr>
          <p:nvPr>
            <p:ph type="dt" sz="half" idx="10"/>
          </p:nvPr>
        </p:nvSpPr>
        <p:spPr/>
        <p:txBody>
          <a:bodyPr/>
          <a:lstStyle/>
          <a:p>
            <a:fld id="{17D1F163-9643-41E4-B842-57D26361CE78}" type="datetime3">
              <a:rPr lang="en-US" noProof="0" smtClean="0"/>
              <a:t>15 June 2026</a:t>
            </a:fld>
            <a:endParaRPr lang="en-US" noProof="0" dirty="0"/>
          </a:p>
        </p:txBody>
      </p:sp>
      <p:sp>
        <p:nvSpPr>
          <p:cNvPr id="7" name="Footer Placeholder 6"/>
          <p:cNvSpPr>
            <a:spLocks noGrp="1"/>
          </p:cNvSpPr>
          <p:nvPr>
            <p:ph type="ftr" sz="quarter" idx="11"/>
          </p:nvPr>
        </p:nvSpPr>
        <p:spPr/>
        <p:txBody>
          <a:bodyPr/>
          <a:lstStyle/>
          <a:p>
            <a:r>
              <a:rPr lang="en-US" noProof="0"/>
              <a:t>Course Teacher: Prof. Dr. Engr. Muhibul Haque Bhuyan</a:t>
            </a:r>
            <a:endParaRPr lang="en-US" noProof="0" dirty="0"/>
          </a:p>
        </p:txBody>
      </p:sp>
      <p:sp>
        <p:nvSpPr>
          <p:cNvPr id="8" name="Slide Number Placeholder 7"/>
          <p:cNvSpPr>
            <a:spLocks noGrp="1"/>
          </p:cNvSpPr>
          <p:nvPr>
            <p:ph type="sldNum" sz="quarter" idx="12"/>
          </p:nvPr>
        </p:nvSpPr>
        <p:spPr/>
        <p:txBody>
          <a:bodyPr/>
          <a:lstStyle/>
          <a:p>
            <a:fld id="{5D99DD2A-B520-4620-9B43-64B657BA2D42}" type="slidenum">
              <a:rPr lang="en-US" noProof="0" smtClean="0"/>
              <a:t>16</a:t>
            </a:fld>
            <a:endParaRPr lang="en-US" noProof="0" dirty="0"/>
          </a:p>
        </p:txBody>
      </p:sp>
    </p:spTree>
    <p:extLst>
      <p:ext uri="{BB962C8B-B14F-4D97-AF65-F5344CB8AC3E}">
        <p14:creationId xmlns:p14="http://schemas.microsoft.com/office/powerpoint/2010/main" val="2334267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286" y="217714"/>
            <a:ext cx="10840914" cy="879566"/>
          </a:xfrm>
        </p:spPr>
        <p:txBody>
          <a:bodyPr>
            <a:normAutofit/>
          </a:bodyPr>
          <a:lstStyle/>
          <a:p>
            <a:r>
              <a:rPr lang="en-US" sz="4000" b="1" cap="none" dirty="0"/>
              <a:t>Timer Basics: Terminology</a:t>
            </a:r>
          </a:p>
        </p:txBody>
      </p:sp>
      <p:sp>
        <p:nvSpPr>
          <p:cNvPr id="3" name="Content Placeholder 2"/>
          <p:cNvSpPr>
            <a:spLocks noGrp="1"/>
          </p:cNvSpPr>
          <p:nvPr>
            <p:ph idx="1"/>
          </p:nvPr>
        </p:nvSpPr>
        <p:spPr>
          <a:xfrm>
            <a:off x="163285" y="968263"/>
            <a:ext cx="11893731" cy="5563165"/>
          </a:xfrm>
        </p:spPr>
        <p:txBody>
          <a:bodyPr>
            <a:noAutofit/>
          </a:bodyPr>
          <a:lstStyle/>
          <a:p>
            <a:pPr>
              <a:lnSpc>
                <a:spcPct val="90000"/>
              </a:lnSpc>
              <a:spcAft>
                <a:spcPts val="0"/>
              </a:spcAft>
            </a:pPr>
            <a:r>
              <a:rPr lang="en-US" sz="3600" dirty="0">
                <a:latin typeface="Arial" panose="020B0604020202020204" pitchFamily="34" charset="0"/>
                <a:cs typeface="Arial" panose="020B0604020202020204" pitchFamily="34" charset="0"/>
              </a:rPr>
              <a:t>Definitions of some commonly used terms in Timer:</a:t>
            </a:r>
          </a:p>
          <a:p>
            <a:pPr>
              <a:lnSpc>
                <a:spcPct val="90000"/>
              </a:lnSpc>
              <a:spcAft>
                <a:spcPts val="0"/>
              </a:spcAft>
            </a:pPr>
            <a:r>
              <a:rPr lang="en-US" sz="3600" b="1" u="sng" dirty="0">
                <a:latin typeface="Arial" panose="020B0604020202020204" pitchFamily="34" charset="0"/>
                <a:cs typeface="Arial" panose="020B0604020202020204" pitchFamily="34" charset="0"/>
              </a:rPr>
              <a:t>BOTTOM:</a:t>
            </a:r>
            <a:r>
              <a:rPr lang="en-US" sz="3600" b="1" dirty="0">
                <a:latin typeface="Arial" panose="020B0604020202020204" pitchFamily="34" charset="0"/>
                <a:cs typeface="Arial" panose="020B0604020202020204" pitchFamily="34" charset="0"/>
              </a:rPr>
              <a:t> </a:t>
            </a:r>
            <a:r>
              <a:rPr lang="en-US" sz="3600" dirty="0">
                <a:latin typeface="Arial" panose="020B0604020202020204" pitchFamily="34" charset="0"/>
                <a:cs typeface="Arial" panose="020B0604020202020204" pitchFamily="34" charset="0"/>
              </a:rPr>
              <a:t>The counter reaches the BOTTOM when it becomes 0x00.</a:t>
            </a:r>
          </a:p>
          <a:p>
            <a:pPr>
              <a:lnSpc>
                <a:spcPct val="90000"/>
              </a:lnSpc>
              <a:spcAft>
                <a:spcPts val="0"/>
              </a:spcAft>
            </a:pPr>
            <a:r>
              <a:rPr lang="en-US" sz="3600" b="1" u="sng" dirty="0">
                <a:latin typeface="Arial" panose="020B0604020202020204" pitchFamily="34" charset="0"/>
                <a:cs typeface="Arial" panose="020B0604020202020204" pitchFamily="34" charset="0"/>
              </a:rPr>
              <a:t>MAX:</a:t>
            </a:r>
            <a:r>
              <a:rPr lang="en-US" sz="3600" dirty="0">
                <a:latin typeface="Arial" panose="020B0604020202020204" pitchFamily="34" charset="0"/>
                <a:cs typeface="Arial" panose="020B0604020202020204" pitchFamily="34" charset="0"/>
              </a:rPr>
              <a:t> The counter reaches its maximum when it becomes 0xFF (decimal 255) in Timer0 and 0xFFFF (decimal 65535) in Timer1.</a:t>
            </a:r>
          </a:p>
          <a:p>
            <a:pPr>
              <a:lnSpc>
                <a:spcPct val="90000"/>
              </a:lnSpc>
              <a:spcAft>
                <a:spcPts val="0"/>
              </a:spcAft>
            </a:pPr>
            <a:r>
              <a:rPr lang="en-US" sz="3600" b="1" u="sng" dirty="0">
                <a:latin typeface="Arial" panose="020B0604020202020204" pitchFamily="34" charset="0"/>
                <a:cs typeface="Arial" panose="020B0604020202020204" pitchFamily="34" charset="0"/>
              </a:rPr>
              <a:t>TOP:</a:t>
            </a:r>
            <a:r>
              <a:rPr lang="en-US" sz="3600" dirty="0">
                <a:latin typeface="Arial" panose="020B0604020202020204" pitchFamily="34" charset="0"/>
                <a:cs typeface="Arial" panose="020B0604020202020204" pitchFamily="34" charset="0"/>
              </a:rPr>
              <a:t> The counter reaches the TOP when it becomes equal to the highest value in the count sequence. The TOP value can be assigned to be the fixed value (MAX) or the value stored in the </a:t>
            </a:r>
            <a:r>
              <a:rPr lang="en-US" sz="3600" dirty="0" err="1">
                <a:latin typeface="Arial" panose="020B0604020202020204" pitchFamily="34" charset="0"/>
                <a:cs typeface="Arial" panose="020B0604020202020204" pitchFamily="34" charset="0"/>
              </a:rPr>
              <a:t>OCRnA</a:t>
            </a:r>
            <a:r>
              <a:rPr lang="en-US" sz="3600" dirty="0">
                <a:latin typeface="Arial" panose="020B0604020202020204" pitchFamily="34" charset="0"/>
                <a:cs typeface="Arial" panose="020B0604020202020204" pitchFamily="34" charset="0"/>
              </a:rPr>
              <a:t> or </a:t>
            </a:r>
            <a:r>
              <a:rPr lang="en-US" sz="3600" dirty="0" err="1">
                <a:latin typeface="Arial" panose="020B0604020202020204" pitchFamily="34" charset="0"/>
                <a:cs typeface="Arial" panose="020B0604020202020204" pitchFamily="34" charset="0"/>
              </a:rPr>
              <a:t>OCRnB</a:t>
            </a:r>
            <a:r>
              <a:rPr lang="en-US" sz="3600" dirty="0">
                <a:latin typeface="Arial" panose="020B0604020202020204" pitchFamily="34" charset="0"/>
                <a:cs typeface="Arial" panose="020B0604020202020204" pitchFamily="34" charset="0"/>
              </a:rPr>
              <a:t> Register. The assignment is dependent on the mode of operation.</a:t>
            </a:r>
          </a:p>
        </p:txBody>
      </p:sp>
      <p:sp>
        <p:nvSpPr>
          <p:cNvPr id="5" name="Date Placeholder 4"/>
          <p:cNvSpPr>
            <a:spLocks noGrp="1"/>
          </p:cNvSpPr>
          <p:nvPr>
            <p:ph type="dt" sz="half" idx="10"/>
          </p:nvPr>
        </p:nvSpPr>
        <p:spPr/>
        <p:txBody>
          <a:bodyPr/>
          <a:lstStyle/>
          <a:p>
            <a:fld id="{23A4DEE5-95D6-4F39-A2A2-987774CF761A}" type="datetime3">
              <a:rPr lang="en-US" noProof="0" smtClean="0"/>
              <a:t>15 June 2026</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p:cNvSpPr>
            <a:spLocks noGrp="1"/>
          </p:cNvSpPr>
          <p:nvPr>
            <p:ph type="sldNum" sz="quarter" idx="12"/>
          </p:nvPr>
        </p:nvSpPr>
        <p:spPr/>
        <p:txBody>
          <a:bodyPr/>
          <a:lstStyle/>
          <a:p>
            <a:fld id="{5D99DD2A-B520-4620-9B43-64B657BA2D42}" type="slidenum">
              <a:rPr lang="en-US" noProof="0" smtClean="0"/>
              <a:t>17</a:t>
            </a:fld>
            <a:endParaRPr lang="en-US" noProof="0" dirty="0"/>
          </a:p>
        </p:txBody>
      </p:sp>
    </p:spTree>
    <p:extLst>
      <p:ext uri="{BB962C8B-B14F-4D97-AF65-F5344CB8AC3E}">
        <p14:creationId xmlns:p14="http://schemas.microsoft.com/office/powerpoint/2010/main" val="2179229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538" y="187235"/>
            <a:ext cx="10840914" cy="775063"/>
          </a:xfrm>
        </p:spPr>
        <p:txBody>
          <a:bodyPr>
            <a:normAutofit/>
          </a:bodyPr>
          <a:lstStyle/>
          <a:p>
            <a:r>
              <a:rPr lang="en-US" sz="4000" b="1" cap="none" dirty="0"/>
              <a:t>Timer Modes: Normal Mode</a:t>
            </a:r>
          </a:p>
        </p:txBody>
      </p:sp>
      <p:sp>
        <p:nvSpPr>
          <p:cNvPr id="3" name="Content Placeholder 2"/>
          <p:cNvSpPr>
            <a:spLocks noGrp="1"/>
          </p:cNvSpPr>
          <p:nvPr>
            <p:ph idx="1"/>
          </p:nvPr>
        </p:nvSpPr>
        <p:spPr>
          <a:xfrm>
            <a:off x="215538" y="962297"/>
            <a:ext cx="11854542" cy="4876799"/>
          </a:xfrm>
        </p:spPr>
        <p:txBody>
          <a:bodyPr>
            <a:noAutofit/>
          </a:bodyPr>
          <a:lstStyle/>
          <a:p>
            <a:r>
              <a:rPr lang="en-US" sz="3600" dirty="0">
                <a:latin typeface="Arial" panose="020B0604020202020204" pitchFamily="34" charset="0"/>
                <a:cs typeface="Arial" panose="020B0604020202020204" pitchFamily="34" charset="0"/>
              </a:rPr>
              <a:t>The simplest mode of operation is the Normal mode. In this mode, the counting direction is always </a:t>
            </a:r>
            <a:r>
              <a:rPr lang="en-US" sz="3600" b="1" dirty="0">
                <a:solidFill>
                  <a:srgbClr val="FFFF00"/>
                </a:solidFill>
                <a:latin typeface="Arial" panose="020B0604020202020204" pitchFamily="34" charset="0"/>
                <a:cs typeface="Arial" panose="020B0604020202020204" pitchFamily="34" charset="0"/>
              </a:rPr>
              <a:t>up (incrementing)</a:t>
            </a:r>
            <a:r>
              <a:rPr lang="en-US" sz="3600" dirty="0">
                <a:latin typeface="Arial" panose="020B0604020202020204" pitchFamily="34" charset="0"/>
                <a:cs typeface="Arial" panose="020B0604020202020204" pitchFamily="34" charset="0"/>
              </a:rPr>
              <a:t>, and no counter clear is performed. </a:t>
            </a:r>
          </a:p>
          <a:p>
            <a:r>
              <a:rPr lang="en-US" sz="3600" dirty="0">
                <a:latin typeface="Arial" panose="020B0604020202020204" pitchFamily="34" charset="0"/>
                <a:cs typeface="Arial" panose="020B0604020202020204" pitchFamily="34" charset="0"/>
              </a:rPr>
              <a:t>The counter simply overflows when it passes its maximum value and then restarts from zero. </a:t>
            </a:r>
          </a:p>
          <a:p>
            <a:r>
              <a:rPr lang="en-US" sz="3600" dirty="0">
                <a:latin typeface="Arial" panose="020B0604020202020204" pitchFamily="34" charset="0"/>
                <a:cs typeface="Arial" panose="020B0604020202020204" pitchFamily="34" charset="0"/>
              </a:rPr>
              <a:t>In normal mode of operation, the Timer/Counter Overflow Flag (TOV0) will be set in the same timer clock cycle as the TCNT0 becomes zero.</a:t>
            </a:r>
            <a:endParaRPr lang="en-US" sz="3600" dirty="0">
              <a:highlight>
                <a:srgbClr val="FFFF00"/>
              </a:highlight>
              <a:latin typeface="Arial" panose="020B0604020202020204" pitchFamily="34" charset="0"/>
              <a:cs typeface="Arial" panose="020B0604020202020204" pitchFamily="34" charset="0"/>
            </a:endParaRPr>
          </a:p>
        </p:txBody>
      </p:sp>
      <p:sp>
        <p:nvSpPr>
          <p:cNvPr id="5" name="Date Placeholder 4"/>
          <p:cNvSpPr>
            <a:spLocks noGrp="1"/>
          </p:cNvSpPr>
          <p:nvPr>
            <p:ph type="dt" sz="half" idx="10"/>
          </p:nvPr>
        </p:nvSpPr>
        <p:spPr/>
        <p:txBody>
          <a:bodyPr/>
          <a:lstStyle/>
          <a:p>
            <a:fld id="{B1420D75-042E-4130-B71F-7E75E18FAEAC}" type="datetime3">
              <a:rPr lang="en-US" noProof="0" smtClean="0"/>
              <a:t>15 June 2026</a:t>
            </a:fld>
            <a:endParaRPr lang="en-US" noProof="0" dirty="0"/>
          </a:p>
        </p:txBody>
      </p:sp>
      <p:sp>
        <p:nvSpPr>
          <p:cNvPr id="8" name="Footer Placeholder 7"/>
          <p:cNvSpPr>
            <a:spLocks noGrp="1"/>
          </p:cNvSpPr>
          <p:nvPr>
            <p:ph type="ftr" sz="quarter" idx="11"/>
          </p:nvPr>
        </p:nvSpPr>
        <p:spPr/>
        <p:txBody>
          <a:bodyPr/>
          <a:lstStyle/>
          <a:p>
            <a:r>
              <a:rPr lang="en-US" noProof="0"/>
              <a:t>Course Teacher: Prof. Dr. Engr. Muhibul Haque Bhuyan</a:t>
            </a:r>
            <a:endParaRPr lang="en-US" noProof="0" dirty="0"/>
          </a:p>
        </p:txBody>
      </p:sp>
      <p:sp>
        <p:nvSpPr>
          <p:cNvPr id="9" name="Slide Number Placeholder 8"/>
          <p:cNvSpPr>
            <a:spLocks noGrp="1"/>
          </p:cNvSpPr>
          <p:nvPr>
            <p:ph type="sldNum" sz="quarter" idx="12"/>
          </p:nvPr>
        </p:nvSpPr>
        <p:spPr/>
        <p:txBody>
          <a:bodyPr/>
          <a:lstStyle/>
          <a:p>
            <a:fld id="{5D99DD2A-B520-4620-9B43-64B657BA2D42}" type="slidenum">
              <a:rPr lang="en-US" noProof="0" smtClean="0"/>
              <a:t>18</a:t>
            </a:fld>
            <a:endParaRPr lang="en-US" noProof="0" dirty="0"/>
          </a:p>
        </p:txBody>
      </p:sp>
    </p:spTree>
    <p:extLst>
      <p:ext uri="{BB962C8B-B14F-4D97-AF65-F5344CB8AC3E}">
        <p14:creationId xmlns:p14="http://schemas.microsoft.com/office/powerpoint/2010/main" val="41781979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0778" y="1036868"/>
            <a:ext cx="11852365" cy="3970318"/>
          </a:xfrm>
          <a:prstGeom prst="rect">
            <a:avLst/>
          </a:prstGeom>
        </p:spPr>
        <p:txBody>
          <a:bodyPr wrap="square">
            <a:spAutoFit/>
          </a:bodyPr>
          <a:lstStyle/>
          <a:p>
            <a:pPr marL="285750" indent="-285750">
              <a:buFont typeface="Arial" panose="020B0604020202020204" pitchFamily="34" charset="0"/>
              <a:buChar char="•"/>
            </a:pPr>
            <a:r>
              <a:rPr lang="en-US" sz="3600" dirty="0">
                <a:latin typeface="Arial" panose="020B0604020202020204" pitchFamily="34" charset="0"/>
                <a:cs typeface="Arial" panose="020B0604020202020204" pitchFamily="34" charset="0"/>
              </a:rPr>
              <a:t>In </a:t>
            </a:r>
            <a:r>
              <a:rPr lang="en-US" sz="3600" b="1" dirty="0">
                <a:latin typeface="Arial" panose="020B0604020202020204" pitchFamily="34" charset="0"/>
                <a:cs typeface="Arial" panose="020B0604020202020204" pitchFamily="34" charset="0"/>
              </a:rPr>
              <a:t>Clear Timer on Compare or CTC mode</a:t>
            </a:r>
            <a:r>
              <a:rPr lang="en-US" sz="3600" dirty="0">
                <a:latin typeface="Arial" panose="020B0604020202020204" pitchFamily="34" charset="0"/>
                <a:cs typeface="Arial" panose="020B0604020202020204" pitchFamily="34" charset="0"/>
              </a:rPr>
              <a:t>, the counter is cleared to zero when the counter value (TCNT0) matches either a value stored in OCR0A register. </a:t>
            </a:r>
          </a:p>
          <a:p>
            <a:pPr marL="285750" indent="-285750">
              <a:buFont typeface="Arial" panose="020B0604020202020204" pitchFamily="34" charset="0"/>
              <a:buChar char="•"/>
            </a:pPr>
            <a:r>
              <a:rPr lang="en-US" sz="3600" dirty="0">
                <a:latin typeface="Arial" panose="020B0604020202020204" pitchFamily="34" charset="0"/>
                <a:cs typeface="Arial" panose="020B0604020202020204" pitchFamily="34" charset="0"/>
              </a:rPr>
              <a:t>When the desired value is reached, a flag in a status register is set to ‘1’. </a:t>
            </a:r>
          </a:p>
          <a:p>
            <a:pPr marL="285750" indent="-285750">
              <a:buFont typeface="Arial" panose="020B0604020202020204" pitchFamily="34" charset="0"/>
              <a:buChar char="•"/>
            </a:pPr>
            <a:r>
              <a:rPr lang="en-US" sz="3600" dirty="0">
                <a:latin typeface="Arial" panose="020B0604020202020204" pitchFamily="34" charset="0"/>
                <a:cs typeface="Arial" panose="020B0604020202020204" pitchFamily="34" charset="0"/>
              </a:rPr>
              <a:t>This method can be more efficient than </a:t>
            </a:r>
            <a:r>
              <a:rPr lang="en-US" sz="3600" dirty="0">
                <a:solidFill>
                  <a:srgbClr val="FFFF00"/>
                </a:solidFill>
                <a:latin typeface="Arial" panose="020B0604020202020204" pitchFamily="34" charset="0"/>
                <a:cs typeface="Arial" panose="020B0604020202020204" pitchFamily="34" charset="0"/>
              </a:rPr>
              <a:t>comparing bytes to detect a match </a:t>
            </a:r>
            <a:r>
              <a:rPr lang="en-US" sz="3600" dirty="0">
                <a:latin typeface="Arial" panose="020B0604020202020204" pitchFamily="34" charset="0"/>
                <a:cs typeface="Arial" panose="020B0604020202020204" pitchFamily="34" charset="0"/>
              </a:rPr>
              <a:t>as </a:t>
            </a:r>
            <a:r>
              <a:rPr lang="en-US" sz="3600" dirty="0">
                <a:solidFill>
                  <a:schemeClr val="accent1"/>
                </a:solidFill>
                <a:latin typeface="Arial" panose="020B0604020202020204" pitchFamily="34" charset="0"/>
                <a:cs typeface="Arial" panose="020B0604020202020204" pitchFamily="34" charset="0"/>
              </a:rPr>
              <a:t>checking a single flag is simpler</a:t>
            </a:r>
            <a:r>
              <a:rPr lang="en-US" sz="3600" dirty="0">
                <a:latin typeface="Arial" panose="020B0604020202020204" pitchFamily="34" charset="0"/>
                <a:cs typeface="Arial" panose="020B0604020202020204" pitchFamily="34" charset="0"/>
              </a:rPr>
              <a:t>.</a:t>
            </a:r>
          </a:p>
        </p:txBody>
      </p:sp>
      <p:sp>
        <p:nvSpPr>
          <p:cNvPr id="6" name="Title 1"/>
          <p:cNvSpPr txBox="1">
            <a:spLocks/>
          </p:cNvSpPr>
          <p:nvPr/>
        </p:nvSpPr>
        <p:spPr bwMode="white">
          <a:xfrm>
            <a:off x="230777" y="222068"/>
            <a:ext cx="11852365" cy="814800"/>
          </a:xfrm>
          <a:prstGeom prst="rect">
            <a:avLst/>
          </a:prstGeom>
          <a:effectLst/>
        </p:spPr>
        <p:txBody>
          <a:bodyPr vert="horz" lIns="91440" tIns="45720" rIns="91440" bIns="45720" rtlCol="0" anchor="ctr" anchorCtr="0">
            <a:normAutofit/>
          </a:bodyPr>
          <a:lstStyle>
            <a:lvl1pPr algn="l" defTabSz="457200" rtl="0" eaLnBrk="1" latinLnBrk="0" hangingPunct="1">
              <a:spcBef>
                <a:spcPct val="0"/>
              </a:spcBef>
              <a:buNone/>
              <a:defRPr sz="30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cap="none" dirty="0"/>
              <a:t>Timer Modes: </a:t>
            </a:r>
            <a:r>
              <a:rPr lang="en-US" sz="4000" b="1" cap="none" dirty="0">
                <a:latin typeface="Arial" panose="020B0604020202020204" pitchFamily="34" charset="0"/>
                <a:cs typeface="Arial" panose="020B0604020202020204" pitchFamily="34" charset="0"/>
              </a:rPr>
              <a:t>Clear Timer on Compare,</a:t>
            </a:r>
            <a:r>
              <a:rPr lang="en-US" sz="4000" b="1" dirty="0">
                <a:latin typeface="Arial" panose="020B0604020202020204" pitchFamily="34" charset="0"/>
                <a:cs typeface="Arial" panose="020B0604020202020204" pitchFamily="34" charset="0"/>
              </a:rPr>
              <a:t> </a:t>
            </a:r>
            <a:r>
              <a:rPr lang="en-US" sz="4000" b="1" dirty="0"/>
              <a:t>CTC </a:t>
            </a:r>
            <a:r>
              <a:rPr lang="en-US" sz="4000" b="1" cap="none" dirty="0"/>
              <a:t>Mode</a:t>
            </a:r>
          </a:p>
        </p:txBody>
      </p:sp>
      <p:sp>
        <p:nvSpPr>
          <p:cNvPr id="9" name="Date Placeholder 8"/>
          <p:cNvSpPr>
            <a:spLocks noGrp="1"/>
          </p:cNvSpPr>
          <p:nvPr>
            <p:ph type="dt" sz="half" idx="10"/>
          </p:nvPr>
        </p:nvSpPr>
        <p:spPr/>
        <p:txBody>
          <a:bodyPr/>
          <a:lstStyle/>
          <a:p>
            <a:fld id="{66042BDC-57D8-4040-ABCB-95F135AD940D}" type="datetime3">
              <a:rPr lang="en-US" noProof="0" smtClean="0"/>
              <a:t>15 June 2026</a:t>
            </a:fld>
            <a:endParaRPr lang="en-US" noProof="0" dirty="0"/>
          </a:p>
        </p:txBody>
      </p:sp>
      <p:sp>
        <p:nvSpPr>
          <p:cNvPr id="10" name="Footer Placeholder 9"/>
          <p:cNvSpPr>
            <a:spLocks noGrp="1"/>
          </p:cNvSpPr>
          <p:nvPr>
            <p:ph type="ftr" sz="quarter" idx="11"/>
          </p:nvPr>
        </p:nvSpPr>
        <p:spPr/>
        <p:txBody>
          <a:bodyPr/>
          <a:lstStyle/>
          <a:p>
            <a:r>
              <a:rPr lang="en-US" noProof="0"/>
              <a:t>Course Teacher: Prof. Dr. Engr. Muhibul Haque Bhuyan</a:t>
            </a:r>
            <a:endParaRPr lang="en-US" noProof="0" dirty="0"/>
          </a:p>
        </p:txBody>
      </p:sp>
      <p:sp>
        <p:nvSpPr>
          <p:cNvPr id="11" name="Slide Number Placeholder 10"/>
          <p:cNvSpPr>
            <a:spLocks noGrp="1"/>
          </p:cNvSpPr>
          <p:nvPr>
            <p:ph type="sldNum" sz="quarter" idx="12"/>
          </p:nvPr>
        </p:nvSpPr>
        <p:spPr/>
        <p:txBody>
          <a:bodyPr/>
          <a:lstStyle/>
          <a:p>
            <a:fld id="{5D99DD2A-B520-4620-9B43-64B657BA2D42}" type="slidenum">
              <a:rPr lang="en-US" noProof="0" smtClean="0"/>
              <a:t>19</a:t>
            </a:fld>
            <a:endParaRPr lang="en-US" noProof="0" dirty="0"/>
          </a:p>
        </p:txBody>
      </p:sp>
    </p:spTree>
    <p:extLst>
      <p:ext uri="{BB962C8B-B14F-4D97-AF65-F5344CB8AC3E}">
        <p14:creationId xmlns:p14="http://schemas.microsoft.com/office/powerpoint/2010/main" val="26991466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F968B-0938-4E6E-ADDD-EF8D0F853F22}"/>
              </a:ext>
            </a:extLst>
          </p:cNvPr>
          <p:cNvSpPr>
            <a:spLocks noGrp="1"/>
          </p:cNvSpPr>
          <p:nvPr>
            <p:ph type="title"/>
          </p:nvPr>
        </p:nvSpPr>
        <p:spPr>
          <a:xfrm>
            <a:off x="2254486" y="2645225"/>
            <a:ext cx="8229600" cy="1066800"/>
          </a:xfrm>
        </p:spPr>
        <p:txBody>
          <a:bodyPr/>
          <a:lstStyle/>
          <a:p>
            <a:pPr algn="ctr"/>
            <a:endParaRPr lang="en-US"/>
          </a:p>
        </p:txBody>
      </p:sp>
      <p:sp>
        <p:nvSpPr>
          <p:cNvPr id="3" name="Content Placeholder 2">
            <a:extLst>
              <a:ext uri="{FF2B5EF4-FFF2-40B4-BE49-F238E27FC236}">
                <a16:creationId xmlns:a16="http://schemas.microsoft.com/office/drawing/2014/main" id="{973FE424-6A42-48DC-87B0-E63C56E4C836}"/>
              </a:ext>
            </a:extLst>
          </p:cNvPr>
          <p:cNvSpPr>
            <a:spLocks noGrp="1"/>
          </p:cNvSpPr>
          <p:nvPr>
            <p:ph idx="1"/>
          </p:nvPr>
        </p:nvSpPr>
        <p:spPr>
          <a:xfrm>
            <a:off x="685801" y="1543026"/>
            <a:ext cx="10840914" cy="3921600"/>
          </a:xfrm>
        </p:spPr>
        <p:txBody>
          <a:bodyPr>
            <a:normAutofit fontScale="77500" lnSpcReduction="20000"/>
          </a:bodyPr>
          <a:lstStyle/>
          <a:p>
            <a:endParaRPr lang="en-US" dirty="0"/>
          </a:p>
          <a:p>
            <a:endParaRPr lang="en-US" dirty="0"/>
          </a:p>
          <a:p>
            <a:endParaRPr lang="en-US" dirty="0"/>
          </a:p>
          <a:p>
            <a:pPr marL="109728" indent="0">
              <a:buNone/>
            </a:pPr>
            <a:endParaRPr lang="en-US" dirty="0"/>
          </a:p>
          <a:p>
            <a:pPr marL="109728" indent="0">
              <a:buNone/>
            </a:pPr>
            <a:endParaRPr lang="en-US" dirty="0"/>
          </a:p>
          <a:p>
            <a:pPr marL="109728" indent="0">
              <a:buNone/>
            </a:pPr>
            <a:endParaRPr lang="en-US" dirty="0"/>
          </a:p>
          <a:p>
            <a:pPr marL="109728" indent="0">
              <a:buNone/>
            </a:pPr>
            <a:endParaRPr lang="en-US" dirty="0"/>
          </a:p>
          <a:p>
            <a:r>
              <a:rPr lang="en-US" sz="1200" dirty="0">
                <a:solidFill>
                  <a:srgbClr val="FF0000"/>
                </a:solidFill>
              </a:rPr>
              <a:t>Red: signals entering/exiting a block</a:t>
            </a:r>
          </a:p>
          <a:p>
            <a:r>
              <a:rPr lang="en-US" sz="1200" dirty="0">
                <a:solidFill>
                  <a:srgbClr val="00B050"/>
                </a:solidFill>
              </a:rPr>
              <a:t>Green: description of a block</a:t>
            </a:r>
          </a:p>
          <a:p>
            <a:endParaRPr lang="en-US" dirty="0"/>
          </a:p>
          <a:p>
            <a:endParaRPr lang="en-US" dirty="0"/>
          </a:p>
          <a:p>
            <a:r>
              <a:rPr lang="en-CA" dirty="0"/>
              <a:t>Red: signals entering/exiting a block</a:t>
            </a:r>
          </a:p>
          <a:p>
            <a:r>
              <a:rPr lang="en-CA" dirty="0"/>
              <a:t>Green: description of a block</a:t>
            </a:r>
          </a:p>
          <a:p>
            <a:endParaRPr lang="en-US" dirty="0"/>
          </a:p>
        </p:txBody>
      </p:sp>
      <p:pic>
        <p:nvPicPr>
          <p:cNvPr id="5" name="Picture 4">
            <a:extLst>
              <a:ext uri="{FF2B5EF4-FFF2-40B4-BE49-F238E27FC236}">
                <a16:creationId xmlns:a16="http://schemas.microsoft.com/office/drawing/2014/main" id="{5ABC626E-7B2F-49C9-8A0F-F593F047BB93}"/>
              </a:ext>
            </a:extLst>
          </p:cNvPr>
          <p:cNvPicPr>
            <a:picLocks noChangeAspect="1"/>
          </p:cNvPicPr>
          <p:nvPr/>
        </p:nvPicPr>
        <p:blipFill rotWithShape="1">
          <a:blip r:embed="rId2"/>
          <a:srcRect l="9362" t="1" b="61537"/>
          <a:stretch/>
        </p:blipFill>
        <p:spPr>
          <a:xfrm>
            <a:off x="665286" y="1103632"/>
            <a:ext cx="11427914" cy="5358127"/>
          </a:xfrm>
          <a:prstGeom prst="rect">
            <a:avLst/>
          </a:prstGeom>
        </p:spPr>
      </p:pic>
      <p:sp>
        <p:nvSpPr>
          <p:cNvPr id="8" name="TextBox 7">
            <a:extLst>
              <a:ext uri="{FF2B5EF4-FFF2-40B4-BE49-F238E27FC236}">
                <a16:creationId xmlns:a16="http://schemas.microsoft.com/office/drawing/2014/main" id="{FEA074F2-CC26-44CC-A56A-0D000E2E73C1}"/>
              </a:ext>
            </a:extLst>
          </p:cNvPr>
          <p:cNvSpPr txBox="1"/>
          <p:nvPr/>
        </p:nvSpPr>
        <p:spPr>
          <a:xfrm>
            <a:off x="10496923" y="3731000"/>
            <a:ext cx="1683563" cy="646331"/>
          </a:xfrm>
          <a:prstGeom prst="rect">
            <a:avLst/>
          </a:prstGeom>
          <a:noFill/>
        </p:spPr>
        <p:txBody>
          <a:bodyPr wrap="square" rtlCol="0">
            <a:spAutoFit/>
          </a:bodyPr>
          <a:lstStyle/>
          <a:p>
            <a:pPr algn="ctr"/>
            <a:r>
              <a:rPr lang="en-US" b="1" dirty="0">
                <a:solidFill>
                  <a:srgbClr val="FF0000"/>
                </a:solidFill>
              </a:rPr>
              <a:t>0a. External clock source</a:t>
            </a:r>
          </a:p>
        </p:txBody>
      </p:sp>
      <p:sp>
        <p:nvSpPr>
          <p:cNvPr id="9" name="TextBox 8">
            <a:extLst>
              <a:ext uri="{FF2B5EF4-FFF2-40B4-BE49-F238E27FC236}">
                <a16:creationId xmlns:a16="http://schemas.microsoft.com/office/drawing/2014/main" id="{E9A5064B-B6A2-43E6-AC44-009D02406417}"/>
              </a:ext>
            </a:extLst>
          </p:cNvPr>
          <p:cNvSpPr txBox="1"/>
          <p:nvPr/>
        </p:nvSpPr>
        <p:spPr>
          <a:xfrm>
            <a:off x="7828595" y="4885105"/>
            <a:ext cx="2684764" cy="646331"/>
          </a:xfrm>
          <a:prstGeom prst="rect">
            <a:avLst/>
          </a:prstGeom>
          <a:noFill/>
        </p:spPr>
        <p:txBody>
          <a:bodyPr wrap="square" rtlCol="0">
            <a:spAutoFit/>
          </a:bodyPr>
          <a:lstStyle/>
          <a:p>
            <a:pPr algn="ctr"/>
            <a:r>
              <a:rPr lang="en-US" b="1" dirty="0">
                <a:solidFill>
                  <a:srgbClr val="FF0000"/>
                </a:solidFill>
              </a:rPr>
              <a:t>0b. System clock (may or may not be pre scaled)</a:t>
            </a:r>
          </a:p>
        </p:txBody>
      </p:sp>
      <p:sp>
        <p:nvSpPr>
          <p:cNvPr id="10" name="TextBox 9">
            <a:extLst>
              <a:ext uri="{FF2B5EF4-FFF2-40B4-BE49-F238E27FC236}">
                <a16:creationId xmlns:a16="http://schemas.microsoft.com/office/drawing/2014/main" id="{F1971E3E-C4BB-453D-A783-2D022C3EBEE7}"/>
              </a:ext>
            </a:extLst>
          </p:cNvPr>
          <p:cNvSpPr txBox="1"/>
          <p:nvPr/>
        </p:nvSpPr>
        <p:spPr>
          <a:xfrm>
            <a:off x="6035708" y="2766312"/>
            <a:ext cx="844474" cy="738664"/>
          </a:xfrm>
          <a:prstGeom prst="rect">
            <a:avLst/>
          </a:prstGeom>
          <a:noFill/>
        </p:spPr>
        <p:txBody>
          <a:bodyPr wrap="square" rtlCol="0">
            <a:spAutoFit/>
          </a:bodyPr>
          <a:lstStyle/>
          <a:p>
            <a:pPr algn="ctr"/>
            <a:r>
              <a:rPr lang="en-US" sz="1200" b="1" dirty="0">
                <a:solidFill>
                  <a:srgbClr val="FF0000"/>
                </a:solidFill>
              </a:rPr>
              <a:t>1</a:t>
            </a:r>
            <a:r>
              <a:rPr lang="en-US" sz="1400" b="1" dirty="0">
                <a:solidFill>
                  <a:srgbClr val="FF0000"/>
                </a:solidFill>
              </a:rPr>
              <a:t>. Timer clock is chosen</a:t>
            </a:r>
          </a:p>
        </p:txBody>
      </p:sp>
      <p:sp>
        <p:nvSpPr>
          <p:cNvPr id="11" name="TextBox 10">
            <a:extLst>
              <a:ext uri="{FF2B5EF4-FFF2-40B4-BE49-F238E27FC236}">
                <a16:creationId xmlns:a16="http://schemas.microsoft.com/office/drawing/2014/main" id="{DC810692-8041-478B-8875-9360D3D73AA7}"/>
              </a:ext>
            </a:extLst>
          </p:cNvPr>
          <p:cNvSpPr txBox="1"/>
          <p:nvPr/>
        </p:nvSpPr>
        <p:spPr>
          <a:xfrm>
            <a:off x="1095431" y="1032513"/>
            <a:ext cx="2511506" cy="830997"/>
          </a:xfrm>
          <a:prstGeom prst="rect">
            <a:avLst/>
          </a:prstGeom>
          <a:noFill/>
        </p:spPr>
        <p:txBody>
          <a:bodyPr wrap="square" rtlCol="0">
            <a:spAutoFit/>
          </a:bodyPr>
          <a:lstStyle/>
          <a:p>
            <a:pPr algn="ctr"/>
            <a:r>
              <a:rPr lang="en-US" sz="1600" b="1" dirty="0">
                <a:solidFill>
                  <a:srgbClr val="FF0000"/>
                </a:solidFill>
              </a:rPr>
              <a:t>2a. Every clock period, signals the Timer to increment/decrement</a:t>
            </a:r>
          </a:p>
        </p:txBody>
      </p:sp>
      <p:sp>
        <p:nvSpPr>
          <p:cNvPr id="12" name="TextBox 11">
            <a:extLst>
              <a:ext uri="{FF2B5EF4-FFF2-40B4-BE49-F238E27FC236}">
                <a16:creationId xmlns:a16="http://schemas.microsoft.com/office/drawing/2014/main" id="{6013A82E-408C-40F7-A427-A567069D5639}"/>
              </a:ext>
            </a:extLst>
          </p:cNvPr>
          <p:cNvSpPr txBox="1"/>
          <p:nvPr/>
        </p:nvSpPr>
        <p:spPr>
          <a:xfrm>
            <a:off x="2683775" y="2736070"/>
            <a:ext cx="1495403" cy="1077218"/>
          </a:xfrm>
          <a:prstGeom prst="rect">
            <a:avLst/>
          </a:prstGeom>
          <a:noFill/>
        </p:spPr>
        <p:txBody>
          <a:bodyPr wrap="square" rtlCol="0">
            <a:spAutoFit/>
          </a:bodyPr>
          <a:lstStyle/>
          <a:p>
            <a:pPr algn="ctr"/>
            <a:r>
              <a:rPr lang="en-US" sz="1600" b="1" dirty="0">
                <a:solidFill>
                  <a:srgbClr val="FF0000"/>
                </a:solidFill>
              </a:rPr>
              <a:t>2c. Chooses between increment and decrement</a:t>
            </a:r>
          </a:p>
        </p:txBody>
      </p:sp>
      <p:sp>
        <p:nvSpPr>
          <p:cNvPr id="13" name="TextBox 12">
            <a:extLst>
              <a:ext uri="{FF2B5EF4-FFF2-40B4-BE49-F238E27FC236}">
                <a16:creationId xmlns:a16="http://schemas.microsoft.com/office/drawing/2014/main" id="{FE04C3FE-49F9-4150-BC19-88A0FF7C7634}"/>
              </a:ext>
            </a:extLst>
          </p:cNvPr>
          <p:cNvSpPr txBox="1"/>
          <p:nvPr/>
        </p:nvSpPr>
        <p:spPr>
          <a:xfrm>
            <a:off x="260938" y="2505598"/>
            <a:ext cx="1371599" cy="1200329"/>
          </a:xfrm>
          <a:prstGeom prst="rect">
            <a:avLst/>
          </a:prstGeom>
          <a:noFill/>
        </p:spPr>
        <p:txBody>
          <a:bodyPr wrap="square" rtlCol="0">
            <a:spAutoFit/>
          </a:bodyPr>
          <a:lstStyle/>
          <a:p>
            <a:pPr algn="ctr"/>
            <a:r>
              <a:rPr lang="en-US" b="1" dirty="0">
                <a:solidFill>
                  <a:srgbClr val="FF0000"/>
                </a:solidFill>
              </a:rPr>
              <a:t>2b. Sets the timer’s count to zero</a:t>
            </a:r>
          </a:p>
        </p:txBody>
      </p:sp>
      <p:sp>
        <p:nvSpPr>
          <p:cNvPr id="14" name="Arrow: Right 13">
            <a:extLst>
              <a:ext uri="{FF2B5EF4-FFF2-40B4-BE49-F238E27FC236}">
                <a16:creationId xmlns:a16="http://schemas.microsoft.com/office/drawing/2014/main" id="{782083A3-6EF7-4B9D-9B5D-A35152657A47}"/>
              </a:ext>
            </a:extLst>
          </p:cNvPr>
          <p:cNvSpPr/>
          <p:nvPr/>
        </p:nvSpPr>
        <p:spPr>
          <a:xfrm>
            <a:off x="372227" y="5391052"/>
            <a:ext cx="541891" cy="198501"/>
          </a:xfrm>
          <a:prstGeom prst="rightArrow">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15" name="TextBox 14">
            <a:extLst>
              <a:ext uri="{FF2B5EF4-FFF2-40B4-BE49-F238E27FC236}">
                <a16:creationId xmlns:a16="http://schemas.microsoft.com/office/drawing/2014/main" id="{CFFCEB4D-02EB-407C-8766-DB4F0F08218A}"/>
              </a:ext>
            </a:extLst>
          </p:cNvPr>
          <p:cNvSpPr txBox="1"/>
          <p:nvPr/>
        </p:nvSpPr>
        <p:spPr>
          <a:xfrm>
            <a:off x="128199" y="4050198"/>
            <a:ext cx="967232" cy="1323439"/>
          </a:xfrm>
          <a:prstGeom prst="rect">
            <a:avLst/>
          </a:prstGeom>
          <a:noFill/>
        </p:spPr>
        <p:txBody>
          <a:bodyPr wrap="square" rtlCol="0">
            <a:spAutoFit/>
          </a:bodyPr>
          <a:lstStyle/>
          <a:p>
            <a:pPr algn="ctr"/>
            <a:r>
              <a:rPr lang="en-US" sz="1600" b="1" dirty="0">
                <a:solidFill>
                  <a:srgbClr val="00B050"/>
                </a:solidFill>
              </a:rPr>
              <a:t>Contains the current timer count</a:t>
            </a:r>
          </a:p>
        </p:txBody>
      </p:sp>
      <p:sp>
        <p:nvSpPr>
          <p:cNvPr id="16" name="Arrow: Right 15">
            <a:extLst>
              <a:ext uri="{FF2B5EF4-FFF2-40B4-BE49-F238E27FC236}">
                <a16:creationId xmlns:a16="http://schemas.microsoft.com/office/drawing/2014/main" id="{A3A64492-A504-4BB5-97E7-51ACD943EE29}"/>
              </a:ext>
            </a:extLst>
          </p:cNvPr>
          <p:cNvSpPr/>
          <p:nvPr/>
        </p:nvSpPr>
        <p:spPr>
          <a:xfrm>
            <a:off x="1566775" y="2688611"/>
            <a:ext cx="687711" cy="228459"/>
          </a:xfrm>
          <a:prstGeom prst="rightArrow">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19" name="Title 1">
            <a:extLst>
              <a:ext uri="{FF2B5EF4-FFF2-40B4-BE49-F238E27FC236}">
                <a16:creationId xmlns:a16="http://schemas.microsoft.com/office/drawing/2014/main" id="{CDA3DA3C-501B-4D0E-852E-DD3092B7150A}"/>
              </a:ext>
            </a:extLst>
          </p:cNvPr>
          <p:cNvSpPr txBox="1">
            <a:spLocks/>
          </p:cNvSpPr>
          <p:nvPr/>
        </p:nvSpPr>
        <p:spPr>
          <a:xfrm>
            <a:off x="128199" y="135418"/>
            <a:ext cx="8229600" cy="763558"/>
          </a:xfrm>
          <a:prstGeom prst="rect">
            <a:avLst/>
          </a:prstGeom>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US" sz="4400" b="1" dirty="0"/>
              <a:t>Counter Unit</a:t>
            </a:r>
          </a:p>
        </p:txBody>
      </p:sp>
      <p:sp>
        <p:nvSpPr>
          <p:cNvPr id="20" name="TextBox 19">
            <a:extLst>
              <a:ext uri="{FF2B5EF4-FFF2-40B4-BE49-F238E27FC236}">
                <a16:creationId xmlns:a16="http://schemas.microsoft.com/office/drawing/2014/main" id="{615C7AA5-51A9-47E8-980E-5E94939B3E87}"/>
              </a:ext>
            </a:extLst>
          </p:cNvPr>
          <p:cNvSpPr txBox="1"/>
          <p:nvPr/>
        </p:nvSpPr>
        <p:spPr>
          <a:xfrm>
            <a:off x="6578529" y="1071933"/>
            <a:ext cx="3924670" cy="523220"/>
          </a:xfrm>
          <a:prstGeom prst="rect">
            <a:avLst/>
          </a:prstGeom>
          <a:noFill/>
        </p:spPr>
        <p:txBody>
          <a:bodyPr wrap="square" rtlCol="0">
            <a:spAutoFit/>
          </a:bodyPr>
          <a:lstStyle/>
          <a:p>
            <a:pPr algn="ctr"/>
            <a:r>
              <a:rPr lang="en-US" sz="1400" b="1" dirty="0">
                <a:solidFill>
                  <a:srgbClr val="FF0000"/>
                </a:solidFill>
              </a:rPr>
              <a:t>3c. Timer/Counter overflow flag set when timer overflows (goes beyond maximum value)</a:t>
            </a:r>
          </a:p>
        </p:txBody>
      </p:sp>
      <p:sp>
        <p:nvSpPr>
          <p:cNvPr id="4" name="Rectangle 3"/>
          <p:cNvSpPr/>
          <p:nvPr/>
        </p:nvSpPr>
        <p:spPr>
          <a:xfrm>
            <a:off x="5485426" y="4156159"/>
            <a:ext cx="1767720" cy="1156185"/>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solidFill>
                  <a:srgbClr val="FF0000"/>
                </a:solidFill>
              </a:rPr>
              <a:t>3b. Signals that timer count has reached minimum</a:t>
            </a:r>
          </a:p>
        </p:txBody>
      </p:sp>
      <p:sp>
        <p:nvSpPr>
          <p:cNvPr id="23" name="Rectangle 22"/>
          <p:cNvSpPr/>
          <p:nvPr/>
        </p:nvSpPr>
        <p:spPr>
          <a:xfrm>
            <a:off x="3646853" y="4050198"/>
            <a:ext cx="1985554" cy="1200329"/>
          </a:xfrm>
          <a:prstGeom prst="rect">
            <a:avLst/>
          </a:prstGeom>
          <a:noFill/>
        </p:spPr>
        <p:txBody>
          <a:bodyPr wrap="square">
            <a:spAutoFit/>
          </a:bodyPr>
          <a:lstStyle/>
          <a:p>
            <a:pPr algn="ctr"/>
            <a:r>
              <a:rPr lang="en-US" b="1" dirty="0">
                <a:solidFill>
                  <a:srgbClr val="FF0000"/>
                </a:solidFill>
              </a:rPr>
              <a:t>3a. Signals that timer count has reached maximum</a:t>
            </a:r>
          </a:p>
        </p:txBody>
      </p:sp>
      <p:sp>
        <p:nvSpPr>
          <p:cNvPr id="25" name="Rectangle 24"/>
          <p:cNvSpPr/>
          <p:nvPr/>
        </p:nvSpPr>
        <p:spPr>
          <a:xfrm>
            <a:off x="7383500" y="157585"/>
            <a:ext cx="4694207" cy="769441"/>
          </a:xfrm>
          <a:prstGeom prst="rect">
            <a:avLst/>
          </a:prstGeom>
          <a:solidFill>
            <a:schemeClr val="tx1"/>
          </a:solidFill>
        </p:spPr>
        <p:txBody>
          <a:bodyPr wrap="square">
            <a:spAutoFit/>
          </a:bodyPr>
          <a:lstStyle/>
          <a:p>
            <a:r>
              <a:rPr lang="en-US" sz="2200" b="1" dirty="0">
                <a:solidFill>
                  <a:srgbClr val="FF0000"/>
                </a:solidFill>
              </a:rPr>
              <a:t>Red: signals entering/exiting a block</a:t>
            </a:r>
          </a:p>
          <a:p>
            <a:r>
              <a:rPr lang="en-US" sz="2200" b="1" dirty="0">
                <a:solidFill>
                  <a:srgbClr val="00B050"/>
                </a:solidFill>
              </a:rPr>
              <a:t>Green: description of a block</a:t>
            </a:r>
          </a:p>
        </p:txBody>
      </p:sp>
      <p:sp>
        <p:nvSpPr>
          <p:cNvPr id="6" name="Date Placeholder 5"/>
          <p:cNvSpPr>
            <a:spLocks noGrp="1"/>
          </p:cNvSpPr>
          <p:nvPr>
            <p:ph type="dt" sz="half" idx="10"/>
          </p:nvPr>
        </p:nvSpPr>
        <p:spPr/>
        <p:txBody>
          <a:bodyPr/>
          <a:lstStyle/>
          <a:p>
            <a:fld id="{001D50A4-86B9-4668-8FA9-5714D99D5217}" type="datetime3">
              <a:rPr lang="en-US" noProof="0" smtClean="0"/>
              <a:t>15 June 2026</a:t>
            </a:fld>
            <a:endParaRPr lang="en-US" noProof="0" dirty="0"/>
          </a:p>
        </p:txBody>
      </p:sp>
      <p:sp>
        <p:nvSpPr>
          <p:cNvPr id="7" name="Footer Placeholder 6"/>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17" name="Slide Number Placeholder 16"/>
          <p:cNvSpPr>
            <a:spLocks noGrp="1"/>
          </p:cNvSpPr>
          <p:nvPr>
            <p:ph type="sldNum" sz="quarter" idx="12"/>
          </p:nvPr>
        </p:nvSpPr>
        <p:spPr/>
        <p:txBody>
          <a:bodyPr/>
          <a:lstStyle/>
          <a:p>
            <a:fld id="{5D99DD2A-B520-4620-9B43-64B657BA2D42}" type="slidenum">
              <a:rPr lang="en-US" noProof="0" smtClean="0"/>
              <a:t>20</a:t>
            </a:fld>
            <a:endParaRPr lang="en-US" noProof="0" dirty="0"/>
          </a:p>
        </p:txBody>
      </p:sp>
      <p:sp>
        <p:nvSpPr>
          <p:cNvPr id="24" name="TextBox 23">
            <a:extLst>
              <a:ext uri="{FF2B5EF4-FFF2-40B4-BE49-F238E27FC236}">
                <a16:creationId xmlns:a16="http://schemas.microsoft.com/office/drawing/2014/main" id="{DC810692-8041-478B-8875-9360D3D73AA7}"/>
              </a:ext>
            </a:extLst>
          </p:cNvPr>
          <p:cNvSpPr txBox="1"/>
          <p:nvPr/>
        </p:nvSpPr>
        <p:spPr>
          <a:xfrm>
            <a:off x="7383500" y="5746758"/>
            <a:ext cx="2511506" cy="338554"/>
          </a:xfrm>
          <a:prstGeom prst="rect">
            <a:avLst/>
          </a:prstGeom>
          <a:solidFill>
            <a:schemeClr val="tx1"/>
          </a:solidFill>
        </p:spPr>
        <p:txBody>
          <a:bodyPr wrap="square" rtlCol="0">
            <a:spAutoFit/>
          </a:bodyPr>
          <a:lstStyle/>
          <a:p>
            <a:pPr algn="ctr"/>
            <a:endParaRPr lang="en-US" sz="1600" b="1" dirty="0">
              <a:solidFill>
                <a:srgbClr val="FF0000"/>
              </a:solidFill>
            </a:endParaRPr>
          </a:p>
        </p:txBody>
      </p:sp>
    </p:spTree>
    <p:extLst>
      <p:ext uri="{BB962C8B-B14F-4D97-AF65-F5344CB8AC3E}">
        <p14:creationId xmlns:p14="http://schemas.microsoft.com/office/powerpoint/2010/main" val="4279088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0-#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0-#ppt_w/2"/>
                                          </p:val>
                                        </p:tav>
                                        <p:tav tm="100000">
                                          <p:val>
                                            <p:strVal val="#ppt_x"/>
                                          </p:val>
                                        </p:tav>
                                      </p:tavLst>
                                    </p:anim>
                                    <p:anim calcmode="lin" valueType="num">
                                      <p:cBhvr additive="base">
                                        <p:cTn id="3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animBg="1"/>
      <p:bldP spid="12" grpId="0"/>
      <p:bldP spid="13" grpId="0"/>
      <p:bldP spid="14" grpId="0" animBg="1"/>
      <p:bldP spid="15" grpId="0"/>
      <p:bldP spid="16" grpId="0" animBg="1"/>
      <p:bldP spid="20" grpId="0" animBg="1"/>
      <p:bldP spid="4" grpId="0"/>
      <p:bldP spid="23" grpId="0"/>
      <p:bldP spid="2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F968B-0938-4E6E-ADDD-EF8D0F853F22}"/>
              </a:ext>
            </a:extLst>
          </p:cNvPr>
          <p:cNvSpPr>
            <a:spLocks noGrp="1"/>
          </p:cNvSpPr>
          <p:nvPr>
            <p:ph type="title"/>
          </p:nvPr>
        </p:nvSpPr>
        <p:spPr>
          <a:xfrm>
            <a:off x="1983481" y="1662215"/>
            <a:ext cx="8229600" cy="1066800"/>
          </a:xfrm>
        </p:spPr>
        <p:txBody>
          <a:bodyPr/>
          <a:lstStyle/>
          <a:p>
            <a:endParaRPr lang="en-US"/>
          </a:p>
        </p:txBody>
      </p:sp>
      <p:pic>
        <p:nvPicPr>
          <p:cNvPr id="5" name="Picture 4">
            <a:extLst>
              <a:ext uri="{FF2B5EF4-FFF2-40B4-BE49-F238E27FC236}">
                <a16:creationId xmlns:a16="http://schemas.microsoft.com/office/drawing/2014/main" id="{5ABC626E-7B2F-49C9-8A0F-F593F047BB93}"/>
              </a:ext>
            </a:extLst>
          </p:cNvPr>
          <p:cNvPicPr>
            <a:picLocks noChangeAspect="1"/>
          </p:cNvPicPr>
          <p:nvPr/>
        </p:nvPicPr>
        <p:blipFill rotWithShape="1">
          <a:blip r:embed="rId2"/>
          <a:srcRect t="11411" b="22222"/>
          <a:stretch/>
        </p:blipFill>
        <p:spPr>
          <a:xfrm>
            <a:off x="1092674" y="600892"/>
            <a:ext cx="9537743" cy="5261582"/>
          </a:xfrm>
          <a:prstGeom prst="rect">
            <a:avLst/>
          </a:prstGeom>
        </p:spPr>
      </p:pic>
      <p:sp>
        <p:nvSpPr>
          <p:cNvPr id="6" name="Rectangle 5">
            <a:extLst>
              <a:ext uri="{FF2B5EF4-FFF2-40B4-BE49-F238E27FC236}">
                <a16:creationId xmlns:a16="http://schemas.microsoft.com/office/drawing/2014/main" id="{59E7D1B8-5058-4A73-A3DB-F46E8008BF11}"/>
              </a:ext>
            </a:extLst>
          </p:cNvPr>
          <p:cNvSpPr/>
          <p:nvPr/>
        </p:nvSpPr>
        <p:spPr>
          <a:xfrm>
            <a:off x="6925840" y="1283878"/>
            <a:ext cx="3532936" cy="86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E5A0DD0-6E8B-4725-A8BD-151D88DFFC31}"/>
              </a:ext>
            </a:extLst>
          </p:cNvPr>
          <p:cNvSpPr txBox="1"/>
          <p:nvPr/>
        </p:nvSpPr>
        <p:spPr>
          <a:xfrm>
            <a:off x="2218042" y="2565560"/>
            <a:ext cx="967232" cy="400110"/>
          </a:xfrm>
          <a:prstGeom prst="rect">
            <a:avLst/>
          </a:prstGeom>
          <a:noFill/>
        </p:spPr>
        <p:txBody>
          <a:bodyPr wrap="square" rtlCol="0">
            <a:spAutoFit/>
          </a:bodyPr>
          <a:lstStyle/>
          <a:p>
            <a:pPr algn="ctr"/>
            <a:r>
              <a:rPr lang="en-US" sz="1000" b="1" dirty="0">
                <a:solidFill>
                  <a:srgbClr val="FF0000"/>
                </a:solidFill>
              </a:rPr>
              <a:t>1. Current timer count</a:t>
            </a:r>
          </a:p>
        </p:txBody>
      </p:sp>
      <p:sp>
        <p:nvSpPr>
          <p:cNvPr id="8" name="Arrow: Right 7">
            <a:extLst>
              <a:ext uri="{FF2B5EF4-FFF2-40B4-BE49-F238E27FC236}">
                <a16:creationId xmlns:a16="http://schemas.microsoft.com/office/drawing/2014/main" id="{EB6636C3-8CFB-469D-8FEF-CC9ACFB127C2}"/>
              </a:ext>
            </a:extLst>
          </p:cNvPr>
          <p:cNvSpPr/>
          <p:nvPr/>
        </p:nvSpPr>
        <p:spPr>
          <a:xfrm>
            <a:off x="2368070" y="4898963"/>
            <a:ext cx="541891" cy="198501"/>
          </a:xfrm>
          <a:prstGeom prst="rightArrow">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9" name="TextBox 8">
            <a:extLst>
              <a:ext uri="{FF2B5EF4-FFF2-40B4-BE49-F238E27FC236}">
                <a16:creationId xmlns:a16="http://schemas.microsoft.com/office/drawing/2014/main" id="{7143605A-D052-432F-A8E5-04B42777EC2B}"/>
              </a:ext>
            </a:extLst>
          </p:cNvPr>
          <p:cNvSpPr txBox="1"/>
          <p:nvPr/>
        </p:nvSpPr>
        <p:spPr>
          <a:xfrm>
            <a:off x="1191874" y="4855890"/>
            <a:ext cx="1229075" cy="276999"/>
          </a:xfrm>
          <a:prstGeom prst="rect">
            <a:avLst/>
          </a:prstGeom>
          <a:noFill/>
        </p:spPr>
        <p:txBody>
          <a:bodyPr wrap="square" rtlCol="0">
            <a:spAutoFit/>
          </a:bodyPr>
          <a:lstStyle/>
          <a:p>
            <a:pPr algn="r"/>
            <a:r>
              <a:rPr lang="en-US" sz="1200" b="1" dirty="0">
                <a:solidFill>
                  <a:srgbClr val="00B050"/>
                </a:solidFill>
              </a:rPr>
              <a:t>Comparator</a:t>
            </a:r>
          </a:p>
        </p:txBody>
      </p:sp>
      <p:sp>
        <p:nvSpPr>
          <p:cNvPr id="11" name="TextBox 10">
            <a:extLst>
              <a:ext uri="{FF2B5EF4-FFF2-40B4-BE49-F238E27FC236}">
                <a16:creationId xmlns:a16="http://schemas.microsoft.com/office/drawing/2014/main" id="{0FCB5ED5-D558-4F9E-8E49-8F123B1AEA13}"/>
              </a:ext>
            </a:extLst>
          </p:cNvPr>
          <p:cNvSpPr txBox="1"/>
          <p:nvPr/>
        </p:nvSpPr>
        <p:spPr>
          <a:xfrm>
            <a:off x="1105246" y="3145758"/>
            <a:ext cx="1243457" cy="261610"/>
          </a:xfrm>
          <a:prstGeom prst="rect">
            <a:avLst/>
          </a:prstGeom>
          <a:noFill/>
        </p:spPr>
        <p:txBody>
          <a:bodyPr wrap="square" rtlCol="0">
            <a:spAutoFit/>
          </a:bodyPr>
          <a:lstStyle/>
          <a:p>
            <a:pPr algn="r"/>
            <a:r>
              <a:rPr lang="en-US" sz="1100" b="1" dirty="0">
                <a:solidFill>
                  <a:srgbClr val="00B050"/>
                </a:solidFill>
              </a:rPr>
              <a:t>Comparator</a:t>
            </a:r>
          </a:p>
        </p:txBody>
      </p:sp>
      <p:sp>
        <p:nvSpPr>
          <p:cNvPr id="10" name="Arrow: Right 9">
            <a:extLst>
              <a:ext uri="{FF2B5EF4-FFF2-40B4-BE49-F238E27FC236}">
                <a16:creationId xmlns:a16="http://schemas.microsoft.com/office/drawing/2014/main" id="{03293053-30C3-4E70-94BA-84005E7BBBCE}"/>
              </a:ext>
            </a:extLst>
          </p:cNvPr>
          <p:cNvSpPr/>
          <p:nvPr/>
        </p:nvSpPr>
        <p:spPr>
          <a:xfrm>
            <a:off x="2318223" y="3188885"/>
            <a:ext cx="541891" cy="198501"/>
          </a:xfrm>
          <a:prstGeom prst="rightArrow">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12" name="Arrow: Right 11">
            <a:extLst>
              <a:ext uri="{FF2B5EF4-FFF2-40B4-BE49-F238E27FC236}">
                <a16:creationId xmlns:a16="http://schemas.microsoft.com/office/drawing/2014/main" id="{BBA0D035-30DE-40E9-9481-E0502F0FF3F2}"/>
              </a:ext>
            </a:extLst>
          </p:cNvPr>
          <p:cNvSpPr/>
          <p:nvPr/>
        </p:nvSpPr>
        <p:spPr>
          <a:xfrm rot="20191622">
            <a:off x="4540931" y="2309002"/>
            <a:ext cx="541891" cy="198501"/>
          </a:xfrm>
          <a:prstGeom prst="rightArrow">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13" name="TextBox 12">
            <a:extLst>
              <a:ext uri="{FF2B5EF4-FFF2-40B4-BE49-F238E27FC236}">
                <a16:creationId xmlns:a16="http://schemas.microsoft.com/office/drawing/2014/main" id="{D612E8A3-6347-44D3-BC87-12804AE71626}"/>
              </a:ext>
            </a:extLst>
          </p:cNvPr>
          <p:cNvSpPr txBox="1"/>
          <p:nvPr/>
        </p:nvSpPr>
        <p:spPr>
          <a:xfrm>
            <a:off x="3335611" y="2434798"/>
            <a:ext cx="1328075" cy="276999"/>
          </a:xfrm>
          <a:prstGeom prst="rect">
            <a:avLst/>
          </a:prstGeom>
          <a:noFill/>
        </p:spPr>
        <p:txBody>
          <a:bodyPr wrap="square" rtlCol="0">
            <a:spAutoFit/>
          </a:bodyPr>
          <a:lstStyle/>
          <a:p>
            <a:pPr algn="ctr"/>
            <a:r>
              <a:rPr lang="en-US" sz="1200" b="1" dirty="0">
                <a:solidFill>
                  <a:srgbClr val="00B050"/>
                </a:solidFill>
              </a:rPr>
              <a:t>Comparator</a:t>
            </a:r>
          </a:p>
        </p:txBody>
      </p:sp>
      <p:sp>
        <p:nvSpPr>
          <p:cNvPr id="14" name="Arrow: Right 13">
            <a:extLst>
              <a:ext uri="{FF2B5EF4-FFF2-40B4-BE49-F238E27FC236}">
                <a16:creationId xmlns:a16="http://schemas.microsoft.com/office/drawing/2014/main" id="{54C21D37-C56F-4BA4-BCA2-71EEC8F3168F}"/>
              </a:ext>
            </a:extLst>
          </p:cNvPr>
          <p:cNvSpPr/>
          <p:nvPr/>
        </p:nvSpPr>
        <p:spPr>
          <a:xfrm rot="9201305">
            <a:off x="6787410" y="1967588"/>
            <a:ext cx="578558" cy="305377"/>
          </a:xfrm>
          <a:prstGeom prst="rightArrow">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15" name="TextBox 14">
            <a:extLst>
              <a:ext uri="{FF2B5EF4-FFF2-40B4-BE49-F238E27FC236}">
                <a16:creationId xmlns:a16="http://schemas.microsoft.com/office/drawing/2014/main" id="{8BDABE65-8CC2-4FB7-8B84-DF794439E085}"/>
              </a:ext>
            </a:extLst>
          </p:cNvPr>
          <p:cNvSpPr txBox="1"/>
          <p:nvPr/>
        </p:nvSpPr>
        <p:spPr>
          <a:xfrm>
            <a:off x="7279098" y="1782751"/>
            <a:ext cx="2700232" cy="338554"/>
          </a:xfrm>
          <a:prstGeom prst="rect">
            <a:avLst/>
          </a:prstGeom>
          <a:noFill/>
        </p:spPr>
        <p:txBody>
          <a:bodyPr wrap="square" rtlCol="0">
            <a:spAutoFit/>
          </a:bodyPr>
          <a:lstStyle/>
          <a:p>
            <a:pPr algn="ctr"/>
            <a:r>
              <a:rPr lang="en-US" sz="1600" b="1" dirty="0">
                <a:solidFill>
                  <a:srgbClr val="00B050"/>
                </a:solidFill>
              </a:rPr>
              <a:t>Comparator (checks if zero)</a:t>
            </a:r>
          </a:p>
        </p:txBody>
      </p:sp>
      <p:sp>
        <p:nvSpPr>
          <p:cNvPr id="16" name="TextBox 15">
            <a:extLst>
              <a:ext uri="{FF2B5EF4-FFF2-40B4-BE49-F238E27FC236}">
                <a16:creationId xmlns:a16="http://schemas.microsoft.com/office/drawing/2014/main" id="{DA792924-BA7B-496A-B3D8-5A6003F7CC4B}"/>
              </a:ext>
            </a:extLst>
          </p:cNvPr>
          <p:cNvSpPr txBox="1"/>
          <p:nvPr/>
        </p:nvSpPr>
        <p:spPr>
          <a:xfrm>
            <a:off x="3124452" y="4069316"/>
            <a:ext cx="1308639" cy="400110"/>
          </a:xfrm>
          <a:prstGeom prst="rect">
            <a:avLst/>
          </a:prstGeom>
          <a:noFill/>
        </p:spPr>
        <p:txBody>
          <a:bodyPr wrap="square" rtlCol="0">
            <a:spAutoFit/>
          </a:bodyPr>
          <a:lstStyle/>
          <a:p>
            <a:pPr algn="ctr"/>
            <a:r>
              <a:rPr lang="en-US" sz="1000" b="1" dirty="0">
                <a:solidFill>
                  <a:srgbClr val="FF0000"/>
                </a:solidFill>
              </a:rPr>
              <a:t>2a. Count stored in </a:t>
            </a:r>
            <a:r>
              <a:rPr lang="en-US" sz="1000" b="1" dirty="0" err="1">
                <a:solidFill>
                  <a:srgbClr val="FF0000"/>
                </a:solidFill>
              </a:rPr>
              <a:t>OCRnA</a:t>
            </a:r>
            <a:endParaRPr lang="en-US" sz="1000" b="1" dirty="0">
              <a:solidFill>
                <a:srgbClr val="FF0000"/>
              </a:solidFill>
            </a:endParaRPr>
          </a:p>
        </p:txBody>
      </p:sp>
      <p:sp>
        <p:nvSpPr>
          <p:cNvPr id="17" name="TextBox 16">
            <a:extLst>
              <a:ext uri="{FF2B5EF4-FFF2-40B4-BE49-F238E27FC236}">
                <a16:creationId xmlns:a16="http://schemas.microsoft.com/office/drawing/2014/main" id="{BD5BDFB6-F1C5-409E-A484-14910A491839}"/>
              </a:ext>
            </a:extLst>
          </p:cNvPr>
          <p:cNvSpPr txBox="1"/>
          <p:nvPr/>
        </p:nvSpPr>
        <p:spPr>
          <a:xfrm>
            <a:off x="3201652" y="5117384"/>
            <a:ext cx="1390723" cy="400110"/>
          </a:xfrm>
          <a:prstGeom prst="rect">
            <a:avLst/>
          </a:prstGeom>
          <a:noFill/>
        </p:spPr>
        <p:txBody>
          <a:bodyPr wrap="square" rtlCol="0">
            <a:spAutoFit/>
          </a:bodyPr>
          <a:lstStyle/>
          <a:p>
            <a:pPr algn="ctr"/>
            <a:r>
              <a:rPr lang="en-US" sz="1000" b="1" dirty="0">
                <a:solidFill>
                  <a:srgbClr val="FF0000"/>
                </a:solidFill>
              </a:rPr>
              <a:t>2b. Count stored in </a:t>
            </a:r>
            <a:r>
              <a:rPr lang="en-US" sz="1000" b="1" dirty="0" err="1">
                <a:solidFill>
                  <a:srgbClr val="FF0000"/>
                </a:solidFill>
              </a:rPr>
              <a:t>OCRnB</a:t>
            </a:r>
            <a:endParaRPr lang="en-US" sz="1000" b="1" dirty="0">
              <a:solidFill>
                <a:srgbClr val="FF0000"/>
              </a:solidFill>
            </a:endParaRPr>
          </a:p>
        </p:txBody>
      </p:sp>
      <p:sp>
        <p:nvSpPr>
          <p:cNvPr id="18" name="TextBox 17">
            <a:extLst>
              <a:ext uri="{FF2B5EF4-FFF2-40B4-BE49-F238E27FC236}">
                <a16:creationId xmlns:a16="http://schemas.microsoft.com/office/drawing/2014/main" id="{C095DF05-E6E6-4AE8-A475-4266DDA3BBE7}"/>
              </a:ext>
            </a:extLst>
          </p:cNvPr>
          <p:cNvSpPr txBox="1"/>
          <p:nvPr/>
        </p:nvSpPr>
        <p:spPr>
          <a:xfrm>
            <a:off x="4615065" y="4024416"/>
            <a:ext cx="969736" cy="553998"/>
          </a:xfrm>
          <a:prstGeom prst="rect">
            <a:avLst/>
          </a:prstGeom>
          <a:noFill/>
        </p:spPr>
        <p:txBody>
          <a:bodyPr wrap="square" rtlCol="0">
            <a:spAutoFit/>
          </a:bodyPr>
          <a:lstStyle/>
          <a:p>
            <a:pPr algn="ctr"/>
            <a:r>
              <a:rPr lang="en-US" sz="1000" b="1" dirty="0">
                <a:solidFill>
                  <a:srgbClr val="FF0000"/>
                </a:solidFill>
              </a:rPr>
              <a:t>4. Count stored in </a:t>
            </a:r>
            <a:r>
              <a:rPr lang="en-US" sz="1000" b="1" dirty="0" err="1">
                <a:solidFill>
                  <a:srgbClr val="FF0000"/>
                </a:solidFill>
              </a:rPr>
              <a:t>OCRnA</a:t>
            </a:r>
            <a:endParaRPr lang="en-US" sz="1000" b="1" dirty="0">
              <a:solidFill>
                <a:srgbClr val="FF0000"/>
              </a:solidFill>
            </a:endParaRPr>
          </a:p>
        </p:txBody>
      </p:sp>
      <p:sp>
        <p:nvSpPr>
          <p:cNvPr id="19" name="TextBox 18">
            <a:extLst>
              <a:ext uri="{FF2B5EF4-FFF2-40B4-BE49-F238E27FC236}">
                <a16:creationId xmlns:a16="http://schemas.microsoft.com/office/drawing/2014/main" id="{988ACB99-542E-4812-AEBC-5B281C1582B4}"/>
              </a:ext>
            </a:extLst>
          </p:cNvPr>
          <p:cNvSpPr txBox="1"/>
          <p:nvPr/>
        </p:nvSpPr>
        <p:spPr>
          <a:xfrm>
            <a:off x="4553215" y="5051653"/>
            <a:ext cx="2372627" cy="246221"/>
          </a:xfrm>
          <a:prstGeom prst="rect">
            <a:avLst/>
          </a:prstGeom>
          <a:noFill/>
        </p:spPr>
        <p:txBody>
          <a:bodyPr wrap="square" rtlCol="0">
            <a:spAutoFit/>
          </a:bodyPr>
          <a:lstStyle/>
          <a:p>
            <a:pPr algn="ctr"/>
            <a:r>
              <a:rPr lang="en-US" sz="1000" b="1" dirty="0">
                <a:solidFill>
                  <a:srgbClr val="FF0000"/>
                </a:solidFill>
              </a:rPr>
              <a:t>3b. Sends signal if  inputs equal</a:t>
            </a:r>
          </a:p>
        </p:txBody>
      </p:sp>
      <p:sp>
        <p:nvSpPr>
          <p:cNvPr id="20" name="TextBox 19">
            <a:extLst>
              <a:ext uri="{FF2B5EF4-FFF2-40B4-BE49-F238E27FC236}">
                <a16:creationId xmlns:a16="http://schemas.microsoft.com/office/drawing/2014/main" id="{B4F1E773-3699-4292-85CB-CC4F56481BBC}"/>
              </a:ext>
            </a:extLst>
          </p:cNvPr>
          <p:cNvSpPr txBox="1"/>
          <p:nvPr/>
        </p:nvSpPr>
        <p:spPr>
          <a:xfrm>
            <a:off x="4098847" y="3427136"/>
            <a:ext cx="967232" cy="507831"/>
          </a:xfrm>
          <a:prstGeom prst="rect">
            <a:avLst/>
          </a:prstGeom>
          <a:noFill/>
        </p:spPr>
        <p:txBody>
          <a:bodyPr wrap="square" rtlCol="0">
            <a:spAutoFit/>
          </a:bodyPr>
          <a:lstStyle/>
          <a:p>
            <a:pPr algn="ctr"/>
            <a:r>
              <a:rPr lang="en-US" sz="900" b="1" dirty="0">
                <a:solidFill>
                  <a:srgbClr val="FF0000"/>
                </a:solidFill>
              </a:rPr>
              <a:t>3a. Sends signal if  inputs equal</a:t>
            </a:r>
          </a:p>
        </p:txBody>
      </p:sp>
      <p:sp>
        <p:nvSpPr>
          <p:cNvPr id="21" name="TextBox 20">
            <a:extLst>
              <a:ext uri="{FF2B5EF4-FFF2-40B4-BE49-F238E27FC236}">
                <a16:creationId xmlns:a16="http://schemas.microsoft.com/office/drawing/2014/main" id="{E231F422-CBF3-4354-9D49-BBE1A82C48E7}"/>
              </a:ext>
            </a:extLst>
          </p:cNvPr>
          <p:cNvSpPr txBox="1"/>
          <p:nvPr/>
        </p:nvSpPr>
        <p:spPr>
          <a:xfrm>
            <a:off x="3897014" y="1409856"/>
            <a:ext cx="2094552" cy="400110"/>
          </a:xfrm>
          <a:prstGeom prst="rect">
            <a:avLst/>
          </a:prstGeom>
          <a:noFill/>
        </p:spPr>
        <p:txBody>
          <a:bodyPr wrap="square" rtlCol="0">
            <a:spAutoFit/>
          </a:bodyPr>
          <a:lstStyle/>
          <a:p>
            <a:pPr algn="ctr"/>
            <a:r>
              <a:rPr lang="en-US" sz="1000" b="1" dirty="0">
                <a:solidFill>
                  <a:srgbClr val="FF0000"/>
                </a:solidFill>
              </a:rPr>
              <a:t>6a. Signals that timer count has reached maximum</a:t>
            </a:r>
          </a:p>
        </p:txBody>
      </p:sp>
      <p:sp>
        <p:nvSpPr>
          <p:cNvPr id="22" name="TextBox 21">
            <a:extLst>
              <a:ext uri="{FF2B5EF4-FFF2-40B4-BE49-F238E27FC236}">
                <a16:creationId xmlns:a16="http://schemas.microsoft.com/office/drawing/2014/main" id="{38CEC1D1-DC97-48DD-A5DA-39973AA20B88}"/>
              </a:ext>
            </a:extLst>
          </p:cNvPr>
          <p:cNvSpPr txBox="1"/>
          <p:nvPr/>
        </p:nvSpPr>
        <p:spPr>
          <a:xfrm>
            <a:off x="5878565" y="1429833"/>
            <a:ext cx="2094552" cy="400110"/>
          </a:xfrm>
          <a:prstGeom prst="rect">
            <a:avLst/>
          </a:prstGeom>
          <a:noFill/>
        </p:spPr>
        <p:txBody>
          <a:bodyPr wrap="square" rtlCol="0">
            <a:spAutoFit/>
          </a:bodyPr>
          <a:lstStyle/>
          <a:p>
            <a:pPr algn="ctr"/>
            <a:r>
              <a:rPr lang="en-US" sz="1000" b="1" dirty="0">
                <a:solidFill>
                  <a:srgbClr val="FF0000"/>
                </a:solidFill>
              </a:rPr>
              <a:t>6b. Signals that timer count has reached minimum</a:t>
            </a:r>
          </a:p>
        </p:txBody>
      </p:sp>
      <p:sp>
        <p:nvSpPr>
          <p:cNvPr id="23" name="Content Placeholder 2">
            <a:extLst>
              <a:ext uri="{FF2B5EF4-FFF2-40B4-BE49-F238E27FC236}">
                <a16:creationId xmlns:a16="http://schemas.microsoft.com/office/drawing/2014/main" id="{1C2ED4E3-8A07-468D-8490-81BBA17D9854}"/>
              </a:ext>
            </a:extLst>
          </p:cNvPr>
          <p:cNvSpPr txBox="1">
            <a:spLocks/>
          </p:cNvSpPr>
          <p:nvPr/>
        </p:nvSpPr>
        <p:spPr>
          <a:xfrm>
            <a:off x="3372918" y="5960126"/>
            <a:ext cx="5575139" cy="851273"/>
          </a:xfrm>
          <a:prstGeom prst="rect">
            <a:avLst/>
          </a:prstGeom>
          <a:solidFill>
            <a:schemeClr val="tx1"/>
          </a:solidFill>
        </p:spPr>
        <p:txBody>
          <a:bodyPr vert="horz">
            <a:normAutofit lnSpcReduction="10000"/>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r>
              <a:rPr lang="en-US" sz="1600" dirty="0">
                <a:solidFill>
                  <a:srgbClr val="FF0000"/>
                </a:solidFill>
              </a:rPr>
              <a:t>Red: signals entering/exiting a block  (Normal mode)</a:t>
            </a:r>
          </a:p>
          <a:p>
            <a:r>
              <a:rPr lang="en-US" sz="1600" dirty="0">
                <a:solidFill>
                  <a:srgbClr val="0070C0"/>
                </a:solidFill>
              </a:rPr>
              <a:t>Blue: signals entering/exiting a block  (CTC/PWM mode)</a:t>
            </a:r>
          </a:p>
          <a:p>
            <a:r>
              <a:rPr lang="en-US" sz="1600" dirty="0">
                <a:solidFill>
                  <a:srgbClr val="00B050"/>
                </a:solidFill>
              </a:rPr>
              <a:t>Green: description of a block</a:t>
            </a:r>
            <a:endParaRPr lang="en-US" sz="3600" dirty="0">
              <a:solidFill>
                <a:srgbClr val="00B050"/>
              </a:solidFill>
            </a:endParaRPr>
          </a:p>
        </p:txBody>
      </p:sp>
      <p:sp>
        <p:nvSpPr>
          <p:cNvPr id="4" name="Oval 3">
            <a:extLst>
              <a:ext uri="{FF2B5EF4-FFF2-40B4-BE49-F238E27FC236}">
                <a16:creationId xmlns:a16="http://schemas.microsoft.com/office/drawing/2014/main" id="{7619CF0E-B564-42E2-9D85-E65C031E3584}"/>
              </a:ext>
            </a:extLst>
          </p:cNvPr>
          <p:cNvSpPr/>
          <p:nvPr/>
        </p:nvSpPr>
        <p:spPr>
          <a:xfrm>
            <a:off x="5525186" y="4019465"/>
            <a:ext cx="1004248" cy="75648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27072DF3-8B45-4A3A-9D5D-28E3C17449B1}"/>
              </a:ext>
            </a:extLst>
          </p:cNvPr>
          <p:cNvSpPr txBox="1"/>
          <p:nvPr/>
        </p:nvSpPr>
        <p:spPr>
          <a:xfrm>
            <a:off x="3602001" y="4629262"/>
            <a:ext cx="967232" cy="400110"/>
          </a:xfrm>
          <a:prstGeom prst="rect">
            <a:avLst/>
          </a:prstGeom>
          <a:noFill/>
        </p:spPr>
        <p:txBody>
          <a:bodyPr wrap="square" rtlCol="0">
            <a:spAutoFit/>
          </a:bodyPr>
          <a:lstStyle/>
          <a:p>
            <a:pPr algn="ctr"/>
            <a:r>
              <a:rPr lang="en-US" sz="1000" b="1" dirty="0">
                <a:solidFill>
                  <a:srgbClr val="FF0000"/>
                </a:solidFill>
              </a:rPr>
              <a:t>1. Current timer count</a:t>
            </a:r>
          </a:p>
        </p:txBody>
      </p:sp>
      <p:sp>
        <p:nvSpPr>
          <p:cNvPr id="27" name="TextBox 26">
            <a:extLst>
              <a:ext uri="{FF2B5EF4-FFF2-40B4-BE49-F238E27FC236}">
                <a16:creationId xmlns:a16="http://schemas.microsoft.com/office/drawing/2014/main" id="{712529CC-9BDF-462D-96CC-9AC01F62A22B}"/>
              </a:ext>
            </a:extLst>
          </p:cNvPr>
          <p:cNvSpPr txBox="1"/>
          <p:nvPr/>
        </p:nvSpPr>
        <p:spPr>
          <a:xfrm>
            <a:off x="6477001" y="2502670"/>
            <a:ext cx="967232" cy="400110"/>
          </a:xfrm>
          <a:prstGeom prst="rect">
            <a:avLst/>
          </a:prstGeom>
          <a:noFill/>
        </p:spPr>
        <p:txBody>
          <a:bodyPr wrap="square" rtlCol="0">
            <a:spAutoFit/>
          </a:bodyPr>
          <a:lstStyle/>
          <a:p>
            <a:pPr algn="ctr"/>
            <a:r>
              <a:rPr lang="en-US" sz="1000" b="1" dirty="0">
                <a:solidFill>
                  <a:srgbClr val="FF0000"/>
                </a:solidFill>
              </a:rPr>
              <a:t>1. Current timer count</a:t>
            </a:r>
          </a:p>
        </p:txBody>
      </p:sp>
      <p:sp>
        <p:nvSpPr>
          <p:cNvPr id="28" name="TextBox 27">
            <a:extLst>
              <a:ext uri="{FF2B5EF4-FFF2-40B4-BE49-F238E27FC236}">
                <a16:creationId xmlns:a16="http://schemas.microsoft.com/office/drawing/2014/main" id="{D50C6D5D-9C38-4CEB-B157-E7D8A17F34B2}"/>
              </a:ext>
            </a:extLst>
          </p:cNvPr>
          <p:cNvSpPr txBox="1"/>
          <p:nvPr/>
        </p:nvSpPr>
        <p:spPr>
          <a:xfrm>
            <a:off x="4919703" y="2902780"/>
            <a:ext cx="1496573" cy="400110"/>
          </a:xfrm>
          <a:prstGeom prst="rect">
            <a:avLst/>
          </a:prstGeom>
          <a:solidFill>
            <a:schemeClr val="tx1"/>
          </a:solidFill>
        </p:spPr>
        <p:txBody>
          <a:bodyPr wrap="square" rtlCol="0">
            <a:spAutoFit/>
          </a:bodyPr>
          <a:lstStyle/>
          <a:p>
            <a:pPr algn="ctr"/>
            <a:r>
              <a:rPr lang="en-US" sz="1000" b="1" dirty="0">
                <a:solidFill>
                  <a:srgbClr val="FF0000"/>
                </a:solidFill>
              </a:rPr>
              <a:t>5. Maximum timer value chosen</a:t>
            </a:r>
          </a:p>
        </p:txBody>
      </p:sp>
      <p:sp>
        <p:nvSpPr>
          <p:cNvPr id="31" name="TextBox 30">
            <a:extLst>
              <a:ext uri="{FF2B5EF4-FFF2-40B4-BE49-F238E27FC236}">
                <a16:creationId xmlns:a16="http://schemas.microsoft.com/office/drawing/2014/main" id="{59E96F88-B542-4035-A40D-5EF560853027}"/>
              </a:ext>
            </a:extLst>
          </p:cNvPr>
          <p:cNvSpPr txBox="1"/>
          <p:nvPr/>
        </p:nvSpPr>
        <p:spPr>
          <a:xfrm>
            <a:off x="8536938" y="5174763"/>
            <a:ext cx="1403214" cy="553998"/>
          </a:xfrm>
          <a:prstGeom prst="rect">
            <a:avLst/>
          </a:prstGeom>
          <a:noFill/>
        </p:spPr>
        <p:txBody>
          <a:bodyPr wrap="square" rtlCol="0">
            <a:spAutoFit/>
          </a:bodyPr>
          <a:lstStyle/>
          <a:p>
            <a:pPr algn="ctr"/>
            <a:r>
              <a:rPr lang="en-US" sz="1000" b="1" dirty="0">
                <a:solidFill>
                  <a:srgbClr val="0070C0"/>
                </a:solidFill>
              </a:rPr>
              <a:t>8b. generate a </a:t>
            </a:r>
          </a:p>
          <a:p>
            <a:pPr algn="ctr"/>
            <a:r>
              <a:rPr lang="en-US" sz="1000" b="1" dirty="0">
                <a:solidFill>
                  <a:srgbClr val="0070C0"/>
                </a:solidFill>
              </a:rPr>
              <a:t>PWM or variable frequency output</a:t>
            </a:r>
          </a:p>
        </p:txBody>
      </p:sp>
      <p:sp>
        <p:nvSpPr>
          <p:cNvPr id="32" name="TextBox 31">
            <a:extLst>
              <a:ext uri="{FF2B5EF4-FFF2-40B4-BE49-F238E27FC236}">
                <a16:creationId xmlns:a16="http://schemas.microsoft.com/office/drawing/2014/main" id="{49BB9AD4-2083-4A8D-80D2-14F8F10ACB78}"/>
              </a:ext>
            </a:extLst>
          </p:cNvPr>
          <p:cNvSpPr txBox="1"/>
          <p:nvPr/>
        </p:nvSpPr>
        <p:spPr>
          <a:xfrm>
            <a:off x="8536938" y="3515318"/>
            <a:ext cx="1503352" cy="553998"/>
          </a:xfrm>
          <a:prstGeom prst="rect">
            <a:avLst/>
          </a:prstGeom>
          <a:noFill/>
        </p:spPr>
        <p:txBody>
          <a:bodyPr wrap="square" rtlCol="0">
            <a:spAutoFit/>
          </a:bodyPr>
          <a:lstStyle/>
          <a:p>
            <a:pPr algn="ctr"/>
            <a:r>
              <a:rPr lang="en-US" sz="1000" b="1" dirty="0">
                <a:solidFill>
                  <a:srgbClr val="0070C0"/>
                </a:solidFill>
              </a:rPr>
              <a:t>8a. generate a </a:t>
            </a:r>
          </a:p>
          <a:p>
            <a:pPr algn="ctr"/>
            <a:r>
              <a:rPr lang="en-US" sz="1000" b="1" dirty="0">
                <a:solidFill>
                  <a:srgbClr val="0070C0"/>
                </a:solidFill>
              </a:rPr>
              <a:t>PWM or variable frequency output</a:t>
            </a:r>
          </a:p>
        </p:txBody>
      </p:sp>
      <p:sp>
        <p:nvSpPr>
          <p:cNvPr id="33" name="Title 1">
            <a:extLst>
              <a:ext uri="{FF2B5EF4-FFF2-40B4-BE49-F238E27FC236}">
                <a16:creationId xmlns:a16="http://schemas.microsoft.com/office/drawing/2014/main" id="{C019C2CA-3F1C-4496-A7B0-B5A8BBD4CB91}"/>
              </a:ext>
            </a:extLst>
          </p:cNvPr>
          <p:cNvSpPr txBox="1">
            <a:spLocks/>
          </p:cNvSpPr>
          <p:nvPr/>
        </p:nvSpPr>
        <p:spPr>
          <a:xfrm>
            <a:off x="81404" y="50979"/>
            <a:ext cx="8229600" cy="541651"/>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US" b="1" dirty="0"/>
              <a:t>Output Compare Unit</a:t>
            </a:r>
          </a:p>
        </p:txBody>
      </p:sp>
      <p:sp>
        <p:nvSpPr>
          <p:cNvPr id="36" name="TextBox 35">
            <a:extLst>
              <a:ext uri="{FF2B5EF4-FFF2-40B4-BE49-F238E27FC236}">
                <a16:creationId xmlns:a16="http://schemas.microsoft.com/office/drawing/2014/main" id="{48D4587A-C3B1-4CF6-B8C0-581D6DF61125}"/>
              </a:ext>
            </a:extLst>
          </p:cNvPr>
          <p:cNvSpPr txBox="1"/>
          <p:nvPr/>
        </p:nvSpPr>
        <p:spPr>
          <a:xfrm>
            <a:off x="7635762" y="2405144"/>
            <a:ext cx="858897" cy="307777"/>
          </a:xfrm>
          <a:prstGeom prst="rect">
            <a:avLst/>
          </a:prstGeom>
          <a:solidFill>
            <a:schemeClr val="tx1"/>
          </a:solidFill>
        </p:spPr>
        <p:txBody>
          <a:bodyPr wrap="square" rtlCol="0">
            <a:spAutoFit/>
          </a:bodyPr>
          <a:lstStyle/>
          <a:p>
            <a:r>
              <a:rPr lang="en-US" sz="1400" b="1" dirty="0" err="1">
                <a:solidFill>
                  <a:schemeClr val="bg1"/>
                </a:solidFill>
                <a:latin typeface="Arial" panose="020B0604020202020204" pitchFamily="34" charset="0"/>
                <a:cs typeface="Arial" panose="020B0604020202020204" pitchFamily="34" charset="0"/>
              </a:rPr>
              <a:t>OCFnA</a:t>
            </a:r>
            <a:endParaRPr lang="en-US" sz="1400" b="1" dirty="0">
              <a:solidFill>
                <a:schemeClr val="bg1"/>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DA301541-C3BF-4366-8EB4-08078367EAB3}"/>
              </a:ext>
            </a:extLst>
          </p:cNvPr>
          <p:cNvSpPr txBox="1"/>
          <p:nvPr/>
        </p:nvSpPr>
        <p:spPr>
          <a:xfrm>
            <a:off x="7646632" y="4106219"/>
            <a:ext cx="921190" cy="307777"/>
          </a:xfrm>
          <a:prstGeom prst="rect">
            <a:avLst/>
          </a:prstGeom>
          <a:solidFill>
            <a:schemeClr val="tx1"/>
          </a:solidFill>
        </p:spPr>
        <p:txBody>
          <a:bodyPr wrap="square" rtlCol="0">
            <a:spAutoFit/>
          </a:bodyPr>
          <a:lstStyle/>
          <a:p>
            <a:r>
              <a:rPr lang="en-US" sz="1400" b="1" dirty="0" err="1">
                <a:solidFill>
                  <a:schemeClr val="bg1"/>
                </a:solidFill>
                <a:latin typeface="Arial" panose="020B0604020202020204" pitchFamily="34" charset="0"/>
                <a:cs typeface="Arial" panose="020B0604020202020204" pitchFamily="34" charset="0"/>
              </a:rPr>
              <a:t>OCFnB</a:t>
            </a:r>
            <a:endParaRPr lang="en-US" sz="1400" b="1" dirty="0">
              <a:solidFill>
                <a:schemeClr val="bg1"/>
              </a:solidFill>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CB772EE6-0512-4FE2-B2E4-9253FDD0C039}"/>
              </a:ext>
            </a:extLst>
          </p:cNvPr>
          <p:cNvSpPr txBox="1"/>
          <p:nvPr/>
        </p:nvSpPr>
        <p:spPr>
          <a:xfrm>
            <a:off x="8268647" y="2502670"/>
            <a:ext cx="2166685" cy="400110"/>
          </a:xfrm>
          <a:prstGeom prst="rect">
            <a:avLst/>
          </a:prstGeom>
          <a:noFill/>
        </p:spPr>
        <p:txBody>
          <a:bodyPr wrap="square" rtlCol="0">
            <a:spAutoFit/>
          </a:bodyPr>
          <a:lstStyle/>
          <a:p>
            <a:pPr algn="ctr"/>
            <a:r>
              <a:rPr lang="en-US" sz="1000" b="1" dirty="0">
                <a:solidFill>
                  <a:srgbClr val="0070C0"/>
                </a:solidFill>
              </a:rPr>
              <a:t>7a. Output compare flag set, interrupt generated if enabled</a:t>
            </a:r>
          </a:p>
        </p:txBody>
      </p:sp>
      <p:sp>
        <p:nvSpPr>
          <p:cNvPr id="39" name="TextBox 38">
            <a:extLst>
              <a:ext uri="{FF2B5EF4-FFF2-40B4-BE49-F238E27FC236}">
                <a16:creationId xmlns:a16="http://schemas.microsoft.com/office/drawing/2014/main" id="{C18AAE98-176D-45DA-9A95-628FCDF03D79}"/>
              </a:ext>
            </a:extLst>
          </p:cNvPr>
          <p:cNvSpPr txBox="1"/>
          <p:nvPr/>
        </p:nvSpPr>
        <p:spPr>
          <a:xfrm>
            <a:off x="8509932" y="4128951"/>
            <a:ext cx="2120485" cy="400110"/>
          </a:xfrm>
          <a:prstGeom prst="rect">
            <a:avLst/>
          </a:prstGeom>
          <a:solidFill>
            <a:schemeClr val="tx1"/>
          </a:solidFill>
        </p:spPr>
        <p:txBody>
          <a:bodyPr wrap="square" rtlCol="0">
            <a:spAutoFit/>
          </a:bodyPr>
          <a:lstStyle/>
          <a:p>
            <a:pPr algn="ctr"/>
            <a:r>
              <a:rPr lang="en-US" sz="1000" b="1" dirty="0">
                <a:solidFill>
                  <a:srgbClr val="0070C0"/>
                </a:solidFill>
              </a:rPr>
              <a:t>7b. Output compare flag set, interrupt generated if enabled</a:t>
            </a:r>
          </a:p>
        </p:txBody>
      </p:sp>
      <p:sp>
        <p:nvSpPr>
          <p:cNvPr id="24" name="Date Placeholder 23"/>
          <p:cNvSpPr>
            <a:spLocks noGrp="1"/>
          </p:cNvSpPr>
          <p:nvPr>
            <p:ph type="dt" sz="half" idx="10"/>
          </p:nvPr>
        </p:nvSpPr>
        <p:spPr/>
        <p:txBody>
          <a:bodyPr/>
          <a:lstStyle/>
          <a:p>
            <a:fld id="{04F32E36-7DB9-4902-9AEF-F9E3B0B0E110}" type="datetime3">
              <a:rPr lang="en-US" noProof="0" smtClean="0"/>
              <a:t>15 June 2026</a:t>
            </a:fld>
            <a:endParaRPr lang="en-US" noProof="0" dirty="0"/>
          </a:p>
        </p:txBody>
      </p:sp>
      <p:sp>
        <p:nvSpPr>
          <p:cNvPr id="25" name="Footer Placeholder 24"/>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29" name="Slide Number Placeholder 28"/>
          <p:cNvSpPr>
            <a:spLocks noGrp="1"/>
          </p:cNvSpPr>
          <p:nvPr>
            <p:ph type="sldNum" sz="quarter" idx="12"/>
          </p:nvPr>
        </p:nvSpPr>
        <p:spPr/>
        <p:txBody>
          <a:bodyPr/>
          <a:lstStyle/>
          <a:p>
            <a:fld id="{5D99DD2A-B520-4620-9B43-64B657BA2D42}" type="slidenum">
              <a:rPr lang="en-US" noProof="0" smtClean="0"/>
              <a:t>21</a:t>
            </a:fld>
            <a:endParaRPr lang="en-US" noProof="0" dirty="0"/>
          </a:p>
        </p:txBody>
      </p:sp>
    </p:spTree>
    <p:extLst>
      <p:ext uri="{BB962C8B-B14F-4D97-AF65-F5344CB8AC3E}">
        <p14:creationId xmlns:p14="http://schemas.microsoft.com/office/powerpoint/2010/main" val="513519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500" fill="hold"/>
                                        <p:tgtEl>
                                          <p:spTgt spid="15"/>
                                        </p:tgtEl>
                                        <p:attrNameLst>
                                          <p:attrName>ppt_x</p:attrName>
                                        </p:attrNameLst>
                                      </p:cBhvr>
                                      <p:tavLst>
                                        <p:tav tm="0">
                                          <p:val>
                                            <p:strVal val="#ppt_x"/>
                                          </p:val>
                                        </p:tav>
                                        <p:tav tm="100000">
                                          <p:val>
                                            <p:strVal val="#ppt_x"/>
                                          </p:val>
                                        </p:tav>
                                      </p:tavLst>
                                    </p:anim>
                                    <p:anim calcmode="lin" valueType="num">
                                      <p:cBhvr additive="base">
                                        <p:cTn id="42" dur="500" fill="hold"/>
                                        <p:tgtEl>
                                          <p:spTgt spid="15"/>
                                        </p:tgtEl>
                                        <p:attrNameLst>
                                          <p:attrName>ppt_y</p:attrName>
                                        </p:attrNameLst>
                                      </p:cBhvr>
                                      <p:tavLst>
                                        <p:tav tm="0">
                                          <p:val>
                                            <p:strVal val="1+#ppt_h/2"/>
                                          </p:val>
                                        </p:tav>
                                        <p:tav tm="100000">
                                          <p:val>
                                            <p:strVal val="#ppt_y"/>
                                          </p:val>
                                        </p:tav>
                                      </p:tavLst>
                                    </p:anim>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p:bldP spid="11" grpId="0"/>
      <p:bldP spid="10" grpId="0" animBg="1"/>
      <p:bldP spid="12" grpId="0" animBg="1"/>
      <p:bldP spid="13" grpId="0"/>
      <p:bldP spid="14" grpId="0" animBg="1"/>
      <p:bldP spid="15" grpId="0"/>
      <p:bldP spid="16" grpId="0"/>
      <p:bldP spid="17" grpId="0"/>
      <p:bldP spid="18" grpId="0"/>
      <p:bldP spid="19" grpId="0"/>
      <p:bldP spid="20" grpId="0"/>
      <p:bldP spid="21" grpId="0"/>
      <p:bldP spid="22" grpId="0"/>
      <p:bldP spid="4" grpId="0" animBg="1"/>
      <p:bldP spid="26" grpId="0"/>
      <p:bldP spid="27" grpId="0"/>
      <p:bldP spid="28" grpId="0" animBg="1"/>
      <p:bldP spid="31" grpId="0"/>
      <p:bldP spid="32" grpId="0"/>
      <p:bldP spid="38" grpId="0"/>
      <p:bldP spid="3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D8CC707-4254-43DD-B291-256BE319B367}" type="datetime3">
              <a:rPr lang="en-US" noProof="0" smtClean="0"/>
              <a:t>15 June 2026</a:t>
            </a:fld>
            <a:endParaRPr lang="en-US" noProof="0" dirty="0"/>
          </a:p>
        </p:txBody>
      </p:sp>
      <p:sp>
        <p:nvSpPr>
          <p:cNvPr id="9" name="Footer Placeholder 8"/>
          <p:cNvSpPr>
            <a:spLocks noGrp="1"/>
          </p:cNvSpPr>
          <p:nvPr>
            <p:ph type="ftr" sz="quarter" idx="11"/>
          </p:nvPr>
        </p:nvSpPr>
        <p:spPr/>
        <p:txBody>
          <a:bodyPr/>
          <a:lstStyle/>
          <a:p>
            <a:r>
              <a:rPr lang="en-US" noProof="0"/>
              <a:t>Course Teacher: Prof. Dr. Engr. Muhibul Haque Bhuyan</a:t>
            </a:r>
            <a:endParaRPr lang="en-US" noProof="0" dirty="0"/>
          </a:p>
        </p:txBody>
      </p:sp>
      <p:sp>
        <p:nvSpPr>
          <p:cNvPr id="10" name="Slide Number Placeholder 9"/>
          <p:cNvSpPr>
            <a:spLocks noGrp="1"/>
          </p:cNvSpPr>
          <p:nvPr>
            <p:ph type="sldNum" sz="quarter" idx="12"/>
          </p:nvPr>
        </p:nvSpPr>
        <p:spPr/>
        <p:txBody>
          <a:bodyPr/>
          <a:lstStyle/>
          <a:p>
            <a:fld id="{5D99DD2A-B520-4620-9B43-64B657BA2D42}" type="slidenum">
              <a:rPr lang="en-US" noProof="0" smtClean="0"/>
              <a:t>22</a:t>
            </a:fld>
            <a:endParaRPr lang="en-US" noProof="0" dirty="0"/>
          </a:p>
        </p:txBody>
      </p:sp>
      <p:pic>
        <p:nvPicPr>
          <p:cNvPr id="3" name="Picture 2">
            <a:extLst>
              <a:ext uri="{FF2B5EF4-FFF2-40B4-BE49-F238E27FC236}">
                <a16:creationId xmlns:a16="http://schemas.microsoft.com/office/drawing/2014/main" id="{DCD35B4F-4980-D63E-2B54-75D484212ABA}"/>
              </a:ext>
            </a:extLst>
          </p:cNvPr>
          <p:cNvPicPr>
            <a:picLocks noChangeAspect="1"/>
          </p:cNvPicPr>
          <p:nvPr/>
        </p:nvPicPr>
        <p:blipFill rotWithShape="1">
          <a:blip r:embed="rId2"/>
          <a:srcRect l="813" t="1143" b="762"/>
          <a:stretch/>
        </p:blipFill>
        <p:spPr>
          <a:xfrm>
            <a:off x="2946400" y="78376"/>
            <a:ext cx="8906226" cy="6727373"/>
          </a:xfrm>
          <a:prstGeom prst="rect">
            <a:avLst/>
          </a:prstGeom>
        </p:spPr>
      </p:pic>
      <p:sp>
        <p:nvSpPr>
          <p:cNvPr id="12" name="TextBox 11">
            <a:extLst>
              <a:ext uri="{FF2B5EF4-FFF2-40B4-BE49-F238E27FC236}">
                <a16:creationId xmlns:a16="http://schemas.microsoft.com/office/drawing/2014/main" id="{33F9A810-4E48-BE3F-DAA9-18875BBB5181}"/>
              </a:ext>
            </a:extLst>
          </p:cNvPr>
          <p:cNvSpPr txBox="1"/>
          <p:nvPr/>
        </p:nvSpPr>
        <p:spPr>
          <a:xfrm>
            <a:off x="8300720" y="4805435"/>
            <a:ext cx="3393439" cy="923330"/>
          </a:xfrm>
          <a:prstGeom prst="rect">
            <a:avLst/>
          </a:prstGeom>
          <a:noFill/>
        </p:spPr>
        <p:txBody>
          <a:bodyPr wrap="square" rtlCol="0">
            <a:spAutoFit/>
          </a:bodyPr>
          <a:lstStyle/>
          <a:p>
            <a:pPr algn="ctr"/>
            <a:r>
              <a:rPr lang="en-US" b="1" dirty="0">
                <a:solidFill>
                  <a:srgbClr val="00B050"/>
                </a:solidFill>
              </a:rPr>
              <a:t>decides which mode the timer will run on and decides the pre-scaler for the timer clock</a:t>
            </a:r>
          </a:p>
        </p:txBody>
      </p:sp>
      <p:sp>
        <p:nvSpPr>
          <p:cNvPr id="5" name="Title 1">
            <a:extLst>
              <a:ext uri="{FF2B5EF4-FFF2-40B4-BE49-F238E27FC236}">
                <a16:creationId xmlns:a16="http://schemas.microsoft.com/office/drawing/2014/main" id="{E01891F4-A337-5914-A22E-36930644C67D}"/>
              </a:ext>
            </a:extLst>
          </p:cNvPr>
          <p:cNvSpPr txBox="1">
            <a:spLocks/>
          </p:cNvSpPr>
          <p:nvPr/>
        </p:nvSpPr>
        <p:spPr>
          <a:xfrm>
            <a:off x="81404" y="50979"/>
            <a:ext cx="8229600" cy="541651"/>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US" b="1" dirty="0"/>
              <a:t>Control Unit</a:t>
            </a:r>
          </a:p>
        </p:txBody>
      </p:sp>
      <p:sp>
        <p:nvSpPr>
          <p:cNvPr id="6" name="Arrow: Right 5">
            <a:extLst>
              <a:ext uri="{FF2B5EF4-FFF2-40B4-BE49-F238E27FC236}">
                <a16:creationId xmlns:a16="http://schemas.microsoft.com/office/drawing/2014/main" id="{E7078B9F-52AE-5F57-8456-DFE9D0AD33E6}"/>
              </a:ext>
            </a:extLst>
          </p:cNvPr>
          <p:cNvSpPr/>
          <p:nvPr/>
        </p:nvSpPr>
        <p:spPr>
          <a:xfrm rot="9883805">
            <a:off x="5330683" y="5337601"/>
            <a:ext cx="3146071" cy="242240"/>
          </a:xfrm>
          <a:prstGeom prst="rightArrow">
            <a:avLst>
              <a:gd name="adj1" fmla="val 70115"/>
              <a:gd name="adj2" fmla="val 50000"/>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7" name="Arrow: Right 6">
            <a:extLst>
              <a:ext uri="{FF2B5EF4-FFF2-40B4-BE49-F238E27FC236}">
                <a16:creationId xmlns:a16="http://schemas.microsoft.com/office/drawing/2014/main" id="{64045363-C46A-797C-A2F2-FE7B8F2A7559}"/>
              </a:ext>
            </a:extLst>
          </p:cNvPr>
          <p:cNvSpPr/>
          <p:nvPr/>
        </p:nvSpPr>
        <p:spPr>
          <a:xfrm rot="7981993">
            <a:off x="7933338" y="5483773"/>
            <a:ext cx="613660" cy="379096"/>
          </a:xfrm>
          <a:prstGeom prst="rightArrow">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10735188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6"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87406" y="72952"/>
            <a:ext cx="10473338" cy="645503"/>
          </a:xfrm>
        </p:spPr>
        <p:txBody>
          <a:bodyPr>
            <a:noAutofit/>
          </a:bodyPr>
          <a:lstStyle/>
          <a:p>
            <a:r>
              <a:rPr lang="en-US" sz="4000" b="1" cap="none" dirty="0"/>
              <a:t>Timer for Delay: Calculating Count</a:t>
            </a:r>
          </a:p>
        </p:txBody>
      </p:sp>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187406" y="718455"/>
            <a:ext cx="11882674" cy="3255583"/>
          </a:xfrm>
        </p:spPr>
        <p:txBody>
          <a:bodyPr>
            <a:noAutofit/>
          </a:bodyPr>
          <a:lstStyle/>
          <a:p>
            <a:pPr marL="182880" indent="-182880">
              <a:spcAft>
                <a:spcPts val="0"/>
              </a:spcAft>
            </a:pPr>
            <a:r>
              <a:rPr lang="en-US" sz="3200" dirty="0">
                <a:latin typeface="Times New Roman" panose="02020603050405020304" pitchFamily="18" charset="0"/>
                <a:cs typeface="Times New Roman" panose="02020603050405020304" pitchFamily="18" charset="0"/>
              </a:rPr>
              <a:t>Timer needs a clock pulse for each transition from one number to the next, so we want to establish a formula relating the necessary timer counts for a specific delay with the timer clock period/frequency.</a:t>
            </a:r>
          </a:p>
          <a:p>
            <a:pPr marL="182880" indent="-182880">
              <a:spcAft>
                <a:spcPts val="0"/>
              </a:spcAft>
            </a:pPr>
            <a:r>
              <a:rPr lang="en-US" sz="3200" dirty="0">
                <a:latin typeface="Times New Roman" panose="02020603050405020304" pitchFamily="18" charset="0"/>
                <a:cs typeface="Times New Roman" panose="02020603050405020304" pitchFamily="18" charset="0"/>
              </a:rPr>
              <a:t>For F_CPU, </a:t>
            </a:r>
            <a:r>
              <a:rPr lang="en-US" sz="3200" i="1" dirty="0">
                <a:latin typeface="Times New Roman" panose="02020603050405020304" pitchFamily="18" charset="0"/>
                <a:cs typeface="Times New Roman" panose="02020603050405020304" pitchFamily="18" charset="0"/>
              </a:rPr>
              <a:t>f</a:t>
            </a:r>
            <a:r>
              <a:rPr lang="en-US" sz="3200" dirty="0">
                <a:latin typeface="Times New Roman" panose="02020603050405020304" pitchFamily="18" charset="0"/>
                <a:cs typeface="Times New Roman" panose="02020603050405020304" pitchFamily="18" charset="0"/>
              </a:rPr>
              <a:t> = 16 MHz, the system clock period, </a:t>
            </a:r>
            <a:r>
              <a:rPr lang="en-US" sz="3200" i="1" dirty="0">
                <a:latin typeface="Times New Roman" panose="02020603050405020304" pitchFamily="18" charset="0"/>
                <a:cs typeface="Times New Roman" panose="02020603050405020304" pitchFamily="18" charset="0"/>
              </a:rPr>
              <a:t>T</a:t>
            </a:r>
            <a:r>
              <a:rPr lang="en-US" sz="3200" dirty="0">
                <a:latin typeface="Times New Roman" panose="02020603050405020304" pitchFamily="18" charset="0"/>
                <a:cs typeface="Times New Roman" panose="02020603050405020304" pitchFamily="18" charset="0"/>
              </a:rPr>
              <a:t> = 1/16MHz = 62.5 ns</a:t>
            </a:r>
            <a:r>
              <a:rPr lang="en-US" sz="3200" baseline="30000" dirty="0">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So, if the timer clock is the same as the system clock, it takes only </a:t>
            </a:r>
            <a:r>
              <a:rPr lang="en-US" sz="3200" b="1" dirty="0">
                <a:latin typeface="Times New Roman" panose="02020603050405020304" pitchFamily="18" charset="0"/>
                <a:cs typeface="Times New Roman" panose="02020603050405020304" pitchFamily="18" charset="0"/>
              </a:rPr>
              <a:t>62.5 ns </a:t>
            </a:r>
            <a:r>
              <a:rPr lang="en-US" sz="3200" dirty="0">
                <a:latin typeface="Times New Roman" panose="02020603050405020304" pitchFamily="18" charset="0"/>
                <a:cs typeface="Times New Roman" panose="02020603050405020304" pitchFamily="18" charset="0"/>
              </a:rPr>
              <a:t>for every transition (0 to 1, 1 to 2, etc.).</a:t>
            </a:r>
          </a:p>
        </p:txBody>
      </p:sp>
      <p:grpSp>
        <p:nvGrpSpPr>
          <p:cNvPr id="21" name="Group 20"/>
          <p:cNvGrpSpPr/>
          <p:nvPr/>
        </p:nvGrpSpPr>
        <p:grpSpPr>
          <a:xfrm>
            <a:off x="670560" y="3728720"/>
            <a:ext cx="7827658" cy="2807857"/>
            <a:chOff x="2697248" y="3674201"/>
            <a:chExt cx="5867632" cy="1423374"/>
          </a:xfrm>
        </p:grpSpPr>
        <p:pic>
          <p:nvPicPr>
            <p:cNvPr id="4" name="Picture 3">
              <a:extLst>
                <a:ext uri="{FF2B5EF4-FFF2-40B4-BE49-F238E27FC236}">
                  <a16:creationId xmlns:a16="http://schemas.microsoft.com/office/drawing/2014/main" id="{88DF7F1C-53D1-4EE9-89DB-EDE9638D4196}"/>
                </a:ext>
              </a:extLst>
            </p:cNvPr>
            <p:cNvPicPr>
              <a:picLocks noChangeAspect="1"/>
            </p:cNvPicPr>
            <p:nvPr/>
          </p:nvPicPr>
          <p:blipFill rotWithShape="1">
            <a:blip r:embed="rId2"/>
            <a:srcRect t="22857" b="4762"/>
            <a:stretch/>
          </p:blipFill>
          <p:spPr>
            <a:xfrm>
              <a:off x="2702006" y="4186362"/>
              <a:ext cx="5862874" cy="640716"/>
            </a:xfrm>
            <a:prstGeom prst="rect">
              <a:avLst/>
            </a:prstGeom>
          </p:spPr>
        </p:pic>
        <p:cxnSp>
          <p:nvCxnSpPr>
            <p:cNvPr id="5" name="Straight Arrow Connector 4">
              <a:extLst>
                <a:ext uri="{FF2B5EF4-FFF2-40B4-BE49-F238E27FC236}">
                  <a16:creationId xmlns:a16="http://schemas.microsoft.com/office/drawing/2014/main" id="{258DA021-D4D8-4BD6-B206-9D0068DD7D4F}"/>
                </a:ext>
              </a:extLst>
            </p:cNvPr>
            <p:cNvCxnSpPr/>
            <p:nvPr/>
          </p:nvCxnSpPr>
          <p:spPr>
            <a:xfrm>
              <a:off x="2716933" y="4870940"/>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4A7C5011-000B-4CAD-B135-AA5B9D140969}"/>
                </a:ext>
              </a:extLst>
            </p:cNvPr>
            <p:cNvCxnSpPr/>
            <p:nvPr/>
          </p:nvCxnSpPr>
          <p:spPr>
            <a:xfrm>
              <a:off x="4240933" y="4870940"/>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D192C244-AB0D-4647-9A61-8638556EF304}"/>
                </a:ext>
              </a:extLst>
            </p:cNvPr>
            <p:cNvCxnSpPr/>
            <p:nvPr/>
          </p:nvCxnSpPr>
          <p:spPr>
            <a:xfrm>
              <a:off x="5764937" y="4870940"/>
              <a:ext cx="1663475"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37F7480-8A0A-4885-9898-95CD98FEE06E}"/>
                </a:ext>
              </a:extLst>
            </p:cNvPr>
            <p:cNvSpPr txBox="1"/>
            <p:nvPr/>
          </p:nvSpPr>
          <p:spPr>
            <a:xfrm>
              <a:off x="5943600" y="4535178"/>
              <a:ext cx="914400" cy="291899"/>
            </a:xfrm>
            <a:prstGeom prst="rect">
              <a:avLst/>
            </a:prstGeom>
            <a:noFill/>
          </p:spPr>
          <p:txBody>
            <a:bodyPr wrap="square" rtlCol="0">
              <a:spAutoFit/>
            </a:bodyPr>
            <a:lstStyle/>
            <a:p>
              <a:endParaRPr lang="en-US" sz="1600" dirty="0"/>
            </a:p>
          </p:txBody>
        </p:sp>
        <p:sp>
          <p:nvSpPr>
            <p:cNvPr id="9" name="TextBox 8">
              <a:extLst>
                <a:ext uri="{FF2B5EF4-FFF2-40B4-BE49-F238E27FC236}">
                  <a16:creationId xmlns:a16="http://schemas.microsoft.com/office/drawing/2014/main" id="{2168D4FD-9280-4595-937B-BB78B615B4EA}"/>
                </a:ext>
              </a:extLst>
            </p:cNvPr>
            <p:cNvSpPr txBox="1"/>
            <p:nvPr/>
          </p:nvSpPr>
          <p:spPr>
            <a:xfrm>
              <a:off x="2783182" y="4896344"/>
              <a:ext cx="1524000"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Count = 0</a:t>
              </a:r>
            </a:p>
          </p:txBody>
        </p:sp>
        <p:sp>
          <p:nvSpPr>
            <p:cNvPr id="10" name="TextBox 9">
              <a:extLst>
                <a:ext uri="{FF2B5EF4-FFF2-40B4-BE49-F238E27FC236}">
                  <a16:creationId xmlns:a16="http://schemas.microsoft.com/office/drawing/2014/main" id="{5BF446A3-AF98-49DE-854F-D62DF56143A1}"/>
                </a:ext>
              </a:extLst>
            </p:cNvPr>
            <p:cNvSpPr txBox="1"/>
            <p:nvPr/>
          </p:nvSpPr>
          <p:spPr>
            <a:xfrm>
              <a:off x="4327477" y="4882555"/>
              <a:ext cx="1314450"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Count = 1</a:t>
              </a:r>
            </a:p>
          </p:txBody>
        </p:sp>
        <p:sp>
          <p:nvSpPr>
            <p:cNvPr id="11" name="TextBox 10">
              <a:extLst>
                <a:ext uri="{FF2B5EF4-FFF2-40B4-BE49-F238E27FC236}">
                  <a16:creationId xmlns:a16="http://schemas.microsoft.com/office/drawing/2014/main" id="{6B013079-6FEA-4C54-952B-B5542E36DAE8}"/>
                </a:ext>
              </a:extLst>
            </p:cNvPr>
            <p:cNvSpPr txBox="1"/>
            <p:nvPr/>
          </p:nvSpPr>
          <p:spPr>
            <a:xfrm>
              <a:off x="5710506" y="4882557"/>
              <a:ext cx="1446711"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Count = 2</a:t>
              </a:r>
            </a:p>
          </p:txBody>
        </p:sp>
        <p:cxnSp>
          <p:nvCxnSpPr>
            <p:cNvPr id="12" name="Straight Arrow Connector 11">
              <a:extLst>
                <a:ext uri="{FF2B5EF4-FFF2-40B4-BE49-F238E27FC236}">
                  <a16:creationId xmlns:a16="http://schemas.microsoft.com/office/drawing/2014/main" id="{AA579015-91E6-44AF-AD2C-9EA4960C1FD0}"/>
                </a:ext>
              </a:extLst>
            </p:cNvPr>
            <p:cNvCxnSpPr/>
            <p:nvPr/>
          </p:nvCxnSpPr>
          <p:spPr>
            <a:xfrm>
              <a:off x="2697248" y="3994783"/>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8722F52-A8DA-42B7-8DC1-B1771E27BC30}"/>
                </a:ext>
              </a:extLst>
            </p:cNvPr>
            <p:cNvCxnSpPr/>
            <p:nvPr/>
          </p:nvCxnSpPr>
          <p:spPr>
            <a:xfrm>
              <a:off x="4221248" y="3994783"/>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FFD4FDA-37E0-4462-9299-C2EF1612E896}"/>
                </a:ext>
              </a:extLst>
            </p:cNvPr>
            <p:cNvCxnSpPr/>
            <p:nvPr/>
          </p:nvCxnSpPr>
          <p:spPr>
            <a:xfrm>
              <a:off x="5745250" y="3994783"/>
              <a:ext cx="168316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1049D89-7DFF-44F3-9576-5F95F12AA72A}"/>
                </a:ext>
              </a:extLst>
            </p:cNvPr>
            <p:cNvSpPr txBox="1"/>
            <p:nvPr/>
          </p:nvSpPr>
          <p:spPr>
            <a:xfrm>
              <a:off x="2783596" y="4008129"/>
              <a:ext cx="1524000"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62.5 ns</a:t>
              </a:r>
            </a:p>
          </p:txBody>
        </p:sp>
        <p:sp>
          <p:nvSpPr>
            <p:cNvPr id="16" name="TextBox 15">
              <a:extLst>
                <a:ext uri="{FF2B5EF4-FFF2-40B4-BE49-F238E27FC236}">
                  <a16:creationId xmlns:a16="http://schemas.microsoft.com/office/drawing/2014/main" id="{88723E2E-2E38-4090-9D82-7491344B1A76}"/>
                </a:ext>
              </a:extLst>
            </p:cNvPr>
            <p:cNvSpPr txBox="1"/>
            <p:nvPr/>
          </p:nvSpPr>
          <p:spPr>
            <a:xfrm>
              <a:off x="4383795" y="3985130"/>
              <a:ext cx="1314450"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62.5 ns</a:t>
              </a:r>
            </a:p>
          </p:txBody>
        </p:sp>
        <p:sp>
          <p:nvSpPr>
            <p:cNvPr id="17" name="TextBox 16">
              <a:extLst>
                <a:ext uri="{FF2B5EF4-FFF2-40B4-BE49-F238E27FC236}">
                  <a16:creationId xmlns:a16="http://schemas.microsoft.com/office/drawing/2014/main" id="{D27B0AB2-35BC-4E8D-9278-87C52392139F}"/>
                </a:ext>
              </a:extLst>
            </p:cNvPr>
            <p:cNvSpPr txBox="1"/>
            <p:nvPr/>
          </p:nvSpPr>
          <p:spPr>
            <a:xfrm>
              <a:off x="5907799" y="3985130"/>
              <a:ext cx="1446711"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62.5 ns</a:t>
              </a:r>
            </a:p>
          </p:txBody>
        </p:sp>
        <p:cxnSp>
          <p:nvCxnSpPr>
            <p:cNvPr id="18" name="Straight Arrow Connector 17">
              <a:extLst>
                <a:ext uri="{FF2B5EF4-FFF2-40B4-BE49-F238E27FC236}">
                  <a16:creationId xmlns:a16="http://schemas.microsoft.com/office/drawing/2014/main" id="{6ADAB7DA-00CC-4265-A9FE-D4D24BC5329A}"/>
                </a:ext>
              </a:extLst>
            </p:cNvPr>
            <p:cNvCxnSpPr>
              <a:cxnSpLocks/>
            </p:cNvCxnSpPr>
            <p:nvPr/>
          </p:nvCxnSpPr>
          <p:spPr>
            <a:xfrm>
              <a:off x="2697248" y="3873565"/>
              <a:ext cx="473116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EC641EA-DA17-46F4-A8BB-5E00BBC2ADAE}"/>
                </a:ext>
              </a:extLst>
            </p:cNvPr>
            <p:cNvSpPr txBox="1"/>
            <p:nvPr/>
          </p:nvSpPr>
          <p:spPr>
            <a:xfrm>
              <a:off x="4302206" y="3674201"/>
              <a:ext cx="1260394"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187.5 ns</a:t>
              </a:r>
            </a:p>
          </p:txBody>
        </p:sp>
      </p:grpSp>
      <p:sp>
        <p:nvSpPr>
          <p:cNvPr id="22" name="Date Placeholder 21"/>
          <p:cNvSpPr>
            <a:spLocks noGrp="1"/>
          </p:cNvSpPr>
          <p:nvPr>
            <p:ph type="dt" sz="half" idx="10"/>
          </p:nvPr>
        </p:nvSpPr>
        <p:spPr/>
        <p:txBody>
          <a:bodyPr/>
          <a:lstStyle/>
          <a:p>
            <a:fld id="{8F776C22-D020-4789-AAB1-BF72CF3816E6}" type="datetime3">
              <a:rPr lang="en-US" noProof="0" smtClean="0"/>
              <a:t>15 June 2026</a:t>
            </a:fld>
            <a:endParaRPr lang="en-US" noProof="0" dirty="0"/>
          </a:p>
        </p:txBody>
      </p:sp>
      <p:sp>
        <p:nvSpPr>
          <p:cNvPr id="23" name="Footer Placeholder 22"/>
          <p:cNvSpPr>
            <a:spLocks noGrp="1"/>
          </p:cNvSpPr>
          <p:nvPr>
            <p:ph type="ftr" sz="quarter" idx="11"/>
          </p:nvPr>
        </p:nvSpPr>
        <p:spPr/>
        <p:txBody>
          <a:bodyPr/>
          <a:lstStyle/>
          <a:p>
            <a:r>
              <a:rPr lang="en-US" noProof="0"/>
              <a:t>Course Teacher: Prof. Dr. Engr. Muhibul Haque Bhuyan</a:t>
            </a:r>
            <a:endParaRPr lang="en-US" noProof="0" dirty="0"/>
          </a:p>
        </p:txBody>
      </p:sp>
      <p:sp>
        <p:nvSpPr>
          <p:cNvPr id="24" name="Slide Number Placeholder 23"/>
          <p:cNvSpPr>
            <a:spLocks noGrp="1"/>
          </p:cNvSpPr>
          <p:nvPr>
            <p:ph type="sldNum" sz="quarter" idx="12"/>
          </p:nvPr>
        </p:nvSpPr>
        <p:spPr/>
        <p:txBody>
          <a:bodyPr/>
          <a:lstStyle/>
          <a:p>
            <a:fld id="{5D99DD2A-B520-4620-9B43-64B657BA2D42}" type="slidenum">
              <a:rPr lang="en-US" noProof="0" smtClean="0"/>
              <a:t>23</a:t>
            </a:fld>
            <a:endParaRPr lang="en-US" noProof="0"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2BE605C-2D4B-A8DC-54F7-EAC0B83F19E3}"/>
                  </a:ext>
                </a:extLst>
              </p:cNvPr>
              <p:cNvSpPr txBox="1"/>
              <p:nvPr/>
            </p:nvSpPr>
            <p:spPr>
              <a:xfrm>
                <a:off x="8986499" y="4145983"/>
                <a:ext cx="1591446" cy="113794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600" b="1" i="1" baseline="30000" smtClean="0">
                          <a:solidFill>
                            <a:srgbClr val="FF0000"/>
                          </a:solidFill>
                          <a:latin typeface="Cambria Math" panose="02040503050406030204" pitchFamily="18" charset="0"/>
                        </a:rPr>
                        <m:t>∗</m:t>
                      </m:r>
                      <m:r>
                        <a:rPr lang="en-US" sz="3600" b="1" i="1" smtClean="0">
                          <a:solidFill>
                            <a:srgbClr val="FF0000"/>
                          </a:solidFill>
                          <a:latin typeface="Cambria Math" panose="02040503050406030204" pitchFamily="18" charset="0"/>
                        </a:rPr>
                        <m:t>𝑻</m:t>
                      </m:r>
                      <m:r>
                        <a:rPr lang="en-US" sz="3600" b="1" i="1" smtClean="0">
                          <a:solidFill>
                            <a:srgbClr val="FF0000"/>
                          </a:solidFill>
                          <a:latin typeface="Cambria Math" panose="02040503050406030204" pitchFamily="18" charset="0"/>
                        </a:rPr>
                        <m:t>=</m:t>
                      </m:r>
                      <m:f>
                        <m:fPr>
                          <m:ctrlPr>
                            <a:rPr lang="en-US" sz="3600" b="1" i="1" smtClean="0">
                              <a:solidFill>
                                <a:srgbClr val="FF0000"/>
                              </a:solidFill>
                              <a:latin typeface="Cambria Math" panose="02040503050406030204" pitchFamily="18" charset="0"/>
                            </a:rPr>
                          </m:ctrlPr>
                        </m:fPr>
                        <m:num>
                          <m:r>
                            <a:rPr lang="en-US" sz="3600" b="1" i="1" smtClean="0">
                              <a:solidFill>
                                <a:srgbClr val="FF0000"/>
                              </a:solidFill>
                              <a:latin typeface="Cambria Math" panose="02040503050406030204" pitchFamily="18" charset="0"/>
                            </a:rPr>
                            <m:t>𝟏</m:t>
                          </m:r>
                        </m:num>
                        <m:den>
                          <m:r>
                            <a:rPr lang="en-US" sz="3600" b="1" i="1" smtClean="0">
                              <a:solidFill>
                                <a:srgbClr val="FF0000"/>
                              </a:solidFill>
                              <a:latin typeface="Cambria Math" panose="02040503050406030204" pitchFamily="18" charset="0"/>
                            </a:rPr>
                            <m:t>𝒇</m:t>
                          </m:r>
                        </m:den>
                      </m:f>
                    </m:oMath>
                  </m:oMathPara>
                </a14:m>
                <a:endParaRPr lang="en-US" sz="3600" b="1" dirty="0">
                  <a:solidFill>
                    <a:srgbClr val="FF0000"/>
                  </a:solidFill>
                </a:endParaRPr>
              </a:p>
            </p:txBody>
          </p:sp>
        </mc:Choice>
        <mc:Fallback xmlns="">
          <p:sp>
            <p:nvSpPr>
              <p:cNvPr id="20" name="TextBox 19">
                <a:extLst>
                  <a:ext uri="{FF2B5EF4-FFF2-40B4-BE49-F238E27FC236}">
                    <a16:creationId xmlns:a16="http://schemas.microsoft.com/office/drawing/2014/main" id="{92BE605C-2D4B-A8DC-54F7-EAC0B83F19E3}"/>
                  </a:ext>
                </a:extLst>
              </p:cNvPr>
              <p:cNvSpPr txBox="1">
                <a:spLocks noRot="1" noChangeAspect="1" noMove="1" noResize="1" noEditPoints="1" noAdjustHandles="1" noChangeArrowheads="1" noChangeShapeType="1" noTextEdit="1"/>
              </p:cNvSpPr>
              <p:nvPr/>
            </p:nvSpPr>
            <p:spPr>
              <a:xfrm>
                <a:off x="8986499" y="4145983"/>
                <a:ext cx="1591446" cy="113794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213768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arn(inVertical)">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87406" y="125204"/>
            <a:ext cx="10473338" cy="645503"/>
          </a:xfrm>
        </p:spPr>
        <p:txBody>
          <a:bodyPr>
            <a:noAutofit/>
          </a:bodyPr>
          <a:lstStyle/>
          <a:p>
            <a:r>
              <a:rPr lang="en-US" sz="4000" b="1" cap="none" dirty="0"/>
              <a:t>Timer for Delay: Calculating Count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116890" y="798535"/>
                <a:ext cx="11900182" cy="3595499"/>
              </a:xfrm>
            </p:spPr>
            <p:txBody>
              <a:bodyPr>
                <a:noAutofit/>
              </a:bodyPr>
              <a:lstStyle/>
              <a:p>
                <a:pPr marL="457200" indent="-457200">
                  <a:lnSpc>
                    <a:spcPct val="90000"/>
                  </a:lnSpc>
                  <a:spcAft>
                    <a:spcPts val="0"/>
                  </a:spcAft>
                </a:pPr>
                <a:r>
                  <a:rPr lang="en-US" sz="3600" dirty="0">
                    <a:latin typeface="Arial" panose="020B0604020202020204" pitchFamily="34" charset="0"/>
                    <a:cs typeface="Arial" panose="020B0604020202020204" pitchFamily="34" charset="0"/>
                  </a:rPr>
                  <a:t>We can see that 3 time periods are needed to count from 0 to 2, so timer count = (number of time periods needed to reach the count) -1.</a:t>
                </a:r>
              </a:p>
              <a:p>
                <a:pPr marL="457200" indent="-457200">
                  <a:lnSpc>
                    <a:spcPct val="90000"/>
                  </a:lnSpc>
                  <a:spcAft>
                    <a:spcPts val="0"/>
                  </a:spcAft>
                </a:pPr>
                <a:r>
                  <a:rPr lang="en-US" sz="3600" dirty="0">
                    <a:latin typeface="Arial" panose="020B0604020202020204" pitchFamily="34" charset="0"/>
                    <a:cs typeface="Arial" panose="020B0604020202020204" pitchFamily="34" charset="0"/>
                  </a:rPr>
                  <a:t>That is, to get a delay of 187.5 ns, we need 3 time periods lasting 62.5 ns, i.e., 62.5 ns x 3 = 187.5 ns</a:t>
                </a:r>
              </a:p>
              <a:p>
                <a:pPr marL="457200" indent="-457200">
                  <a:lnSpc>
                    <a:spcPct val="90000"/>
                  </a:lnSpc>
                  <a:spcAft>
                    <a:spcPts val="0"/>
                  </a:spcAft>
                </a:pPr>
                <a:r>
                  <a:rPr lang="en-US" sz="3600" dirty="0">
                    <a:latin typeface="Arial" panose="020B0604020202020204" pitchFamily="34" charset="0"/>
                    <a:cs typeface="Arial" panose="020B0604020202020204" pitchFamily="34" charset="0"/>
                  </a:rPr>
                  <a:t>So, </a:t>
                </a:r>
                <a14:m>
                  <m:oMath xmlns:m="http://schemas.openxmlformats.org/officeDocument/2006/math">
                    <m:r>
                      <m:rPr>
                        <m:nor/>
                      </m:rPr>
                      <a:rPr lang="en-US" sz="3600" dirty="0" smtClean="0">
                        <a:latin typeface="Cambria Math" panose="02040503050406030204" pitchFamily="18" charset="0"/>
                        <a:cs typeface="Arial" panose="020B0604020202020204" pitchFamily="34" charset="0"/>
                      </a:rPr>
                      <m:t>N</m:t>
                    </m:r>
                    <m:r>
                      <m:rPr>
                        <m:nor/>
                      </m:rPr>
                      <a:rPr lang="en-US" sz="3600" dirty="0">
                        <a:latin typeface="Arial" panose="020B0604020202020204" pitchFamily="34" charset="0"/>
                        <a:cs typeface="Arial" panose="020B0604020202020204" pitchFamily="34" charset="0"/>
                      </a:rPr>
                      <m:t>umber</m:t>
                    </m:r>
                    <m:r>
                      <m:rPr>
                        <m:nor/>
                      </m:rPr>
                      <a:rPr lang="en-US" sz="3600" dirty="0">
                        <a:latin typeface="Arial" panose="020B0604020202020204" pitchFamily="34" charset="0"/>
                        <a:cs typeface="Arial" panose="020B0604020202020204" pitchFamily="34" charset="0"/>
                      </a:rPr>
                      <m:t> </m:t>
                    </m:r>
                    <m:r>
                      <m:rPr>
                        <m:nor/>
                      </m:rPr>
                      <a:rPr lang="en-US" sz="3600" dirty="0">
                        <a:latin typeface="Arial" panose="020B0604020202020204" pitchFamily="34" charset="0"/>
                        <a:cs typeface="Arial" panose="020B0604020202020204" pitchFamily="34" charset="0"/>
                      </a:rPr>
                      <m:t>of</m:t>
                    </m:r>
                    <m:r>
                      <m:rPr>
                        <m:nor/>
                      </m:rPr>
                      <a:rPr lang="en-US" sz="3600" dirty="0">
                        <a:latin typeface="Arial" panose="020B0604020202020204" pitchFamily="34" charset="0"/>
                        <a:cs typeface="Arial" panose="020B0604020202020204" pitchFamily="34" charset="0"/>
                      </a:rPr>
                      <m:t> </m:t>
                    </m:r>
                    <m:r>
                      <m:rPr>
                        <m:nor/>
                      </m:rPr>
                      <a:rPr lang="en-US" sz="3600" dirty="0">
                        <a:latin typeface="Arial" panose="020B0604020202020204" pitchFamily="34" charset="0"/>
                        <a:cs typeface="Arial" panose="020B0604020202020204" pitchFamily="34" charset="0"/>
                      </a:rPr>
                      <m:t>periods</m:t>
                    </m:r>
                    <m:r>
                      <m:rPr>
                        <m:nor/>
                      </m:rPr>
                      <a:rPr lang="en-US" sz="3600" dirty="0">
                        <a:latin typeface="Arial" panose="020B0604020202020204" pitchFamily="34" charset="0"/>
                        <a:cs typeface="Arial" panose="020B0604020202020204" pitchFamily="34" charset="0"/>
                      </a:rPr>
                      <m:t> </m:t>
                    </m:r>
                    <m:r>
                      <m:rPr>
                        <m:nor/>
                      </m:rPr>
                      <a:rPr lang="en-US" sz="3600" dirty="0">
                        <a:latin typeface="Arial" panose="020B0604020202020204" pitchFamily="34" charset="0"/>
                        <a:cs typeface="Arial" panose="020B0604020202020204" pitchFamily="34" charset="0"/>
                      </a:rPr>
                      <m:t>needed</m:t>
                    </m:r>
                    <m:r>
                      <a:rPr lang="en-US" sz="3600" b="0" i="0" smtClean="0">
                        <a:latin typeface="Cambria Math" panose="02040503050406030204" pitchFamily="18" charset="0"/>
                        <a:cs typeface="Arial" panose="020B0604020202020204" pitchFamily="34" charset="0"/>
                      </a:rPr>
                      <m:t>=</m:t>
                    </m:r>
                    <m:f>
                      <m:fPr>
                        <m:ctrlPr>
                          <a:rPr lang="en-US" sz="3600" i="1" smtClean="0">
                            <a:latin typeface="Cambria Math" panose="02040503050406030204" pitchFamily="18" charset="0"/>
                            <a:cs typeface="Arial" panose="020B0604020202020204" pitchFamily="34" charset="0"/>
                          </a:rPr>
                        </m:ctrlPr>
                      </m:fPr>
                      <m:num>
                        <m:r>
                          <m:rPr>
                            <m:nor/>
                          </m:rPr>
                          <a:rPr lang="en-US" sz="3600" dirty="0">
                            <a:latin typeface="Arial" panose="020B0604020202020204" pitchFamily="34" charset="0"/>
                            <a:cs typeface="Arial" panose="020B0604020202020204" pitchFamily="34" charset="0"/>
                          </a:rPr>
                          <m:t> </m:t>
                        </m:r>
                        <m:r>
                          <m:rPr>
                            <m:nor/>
                          </m:rPr>
                          <a:rPr lang="en-US" sz="3600" dirty="0">
                            <a:latin typeface="Arial" panose="020B0604020202020204" pitchFamily="34" charset="0"/>
                            <a:cs typeface="Arial" panose="020B0604020202020204" pitchFamily="34" charset="0"/>
                          </a:rPr>
                          <m:t>Required</m:t>
                        </m:r>
                        <m:r>
                          <m:rPr>
                            <m:nor/>
                          </m:rPr>
                          <a:rPr lang="en-US" sz="3600" dirty="0">
                            <a:latin typeface="Arial" panose="020B0604020202020204" pitchFamily="34" charset="0"/>
                            <a:cs typeface="Arial" panose="020B0604020202020204" pitchFamily="34" charset="0"/>
                          </a:rPr>
                          <m:t> </m:t>
                        </m:r>
                        <m:r>
                          <m:rPr>
                            <m:nor/>
                          </m:rPr>
                          <a:rPr lang="en-US" sz="3600" dirty="0">
                            <a:latin typeface="Arial" panose="020B0604020202020204" pitchFamily="34" charset="0"/>
                            <a:cs typeface="Arial" panose="020B0604020202020204" pitchFamily="34" charset="0"/>
                          </a:rPr>
                          <m:t>delay</m:t>
                        </m:r>
                      </m:num>
                      <m:den>
                        <m:r>
                          <m:rPr>
                            <m:nor/>
                          </m:rPr>
                          <a:rPr lang="en-US" sz="3600" dirty="0">
                            <a:latin typeface="Arial" panose="020B0604020202020204" pitchFamily="34" charset="0"/>
                            <a:cs typeface="Arial" panose="020B0604020202020204" pitchFamily="34" charset="0"/>
                          </a:rPr>
                          <m:t>Timer</m:t>
                        </m:r>
                        <m:r>
                          <m:rPr>
                            <m:nor/>
                          </m:rPr>
                          <a:rPr lang="en-US" sz="3600" dirty="0">
                            <a:latin typeface="Arial" panose="020B0604020202020204" pitchFamily="34" charset="0"/>
                            <a:cs typeface="Arial" panose="020B0604020202020204" pitchFamily="34" charset="0"/>
                          </a:rPr>
                          <m:t> </m:t>
                        </m:r>
                        <m:r>
                          <m:rPr>
                            <m:nor/>
                          </m:rPr>
                          <a:rPr lang="en-US" sz="3600" dirty="0">
                            <a:latin typeface="Arial" panose="020B0604020202020204" pitchFamily="34" charset="0"/>
                            <a:cs typeface="Arial" panose="020B0604020202020204" pitchFamily="34" charset="0"/>
                          </a:rPr>
                          <m:t>clock</m:t>
                        </m:r>
                        <m:r>
                          <m:rPr>
                            <m:nor/>
                          </m:rPr>
                          <a:rPr lang="en-US" sz="3600" dirty="0">
                            <a:latin typeface="Arial" panose="020B0604020202020204" pitchFamily="34" charset="0"/>
                            <a:cs typeface="Arial" panose="020B0604020202020204" pitchFamily="34" charset="0"/>
                          </a:rPr>
                          <m:t> </m:t>
                        </m:r>
                        <m:r>
                          <m:rPr>
                            <m:nor/>
                          </m:rPr>
                          <a:rPr lang="en-US" sz="3600" dirty="0">
                            <a:latin typeface="Arial" panose="020B0604020202020204" pitchFamily="34" charset="0"/>
                            <a:cs typeface="Arial" panose="020B0604020202020204" pitchFamily="34" charset="0"/>
                          </a:rPr>
                          <m:t>period</m:t>
                        </m:r>
                      </m:den>
                    </m:f>
                  </m:oMath>
                </a14:m>
                <a:r>
                  <a:rPr lang="en-US" sz="3600" dirty="0">
                    <a:latin typeface="Arial" panose="020B0604020202020204" pitchFamily="34" charset="0"/>
                    <a:cs typeface="Arial" panose="020B0604020202020204" pitchFamily="34" charset="0"/>
                  </a:rPr>
                  <a:t>.</a:t>
                </a:r>
              </a:p>
              <a:p>
                <a:pPr marL="457200" indent="-457200">
                  <a:lnSpc>
                    <a:spcPct val="90000"/>
                  </a:lnSpc>
                  <a:spcAft>
                    <a:spcPts val="0"/>
                  </a:spcAft>
                </a:pPr>
                <a:endParaRPr lang="en-US" sz="32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0D9E720B-8D07-47AD-BE90-72CC40DA7CE8}"/>
                  </a:ext>
                </a:extLst>
              </p:cNvPr>
              <p:cNvSpPr>
                <a:spLocks noGrp="1" noRot="1" noChangeAspect="1" noMove="1" noResize="1" noEditPoints="1" noAdjustHandles="1" noChangeArrowheads="1" noChangeShapeType="1" noTextEdit="1"/>
              </p:cNvSpPr>
              <p:nvPr>
                <p:ph idx="1"/>
              </p:nvPr>
            </p:nvSpPr>
            <p:spPr>
              <a:xfrm>
                <a:off x="116890" y="798535"/>
                <a:ext cx="11900182" cy="3595499"/>
              </a:xfrm>
              <a:blipFill>
                <a:blip r:embed="rId2"/>
                <a:stretch>
                  <a:fillRect l="-1383" t="-4237"/>
                </a:stretch>
              </a:blipFill>
            </p:spPr>
            <p:txBody>
              <a:bodyPr/>
              <a:lstStyle/>
              <a:p>
                <a:r>
                  <a:rPr lang="en-US">
                    <a:noFill/>
                  </a:rPr>
                  <a:t> </a:t>
                </a:r>
              </a:p>
            </p:txBody>
          </p:sp>
        </mc:Fallback>
      </mc:AlternateContent>
      <p:sp>
        <p:nvSpPr>
          <p:cNvPr id="22" name="Date Placeholder 21"/>
          <p:cNvSpPr>
            <a:spLocks noGrp="1"/>
          </p:cNvSpPr>
          <p:nvPr>
            <p:ph type="dt" sz="half" idx="10"/>
          </p:nvPr>
        </p:nvSpPr>
        <p:spPr/>
        <p:txBody>
          <a:bodyPr/>
          <a:lstStyle/>
          <a:p>
            <a:fld id="{8F776C22-D020-4789-AAB1-BF72CF3816E6}" type="datetime3">
              <a:rPr lang="en-US" noProof="0" smtClean="0"/>
              <a:t>15 June 2026</a:t>
            </a:fld>
            <a:endParaRPr lang="en-US" noProof="0" dirty="0"/>
          </a:p>
        </p:txBody>
      </p:sp>
      <p:sp>
        <p:nvSpPr>
          <p:cNvPr id="23" name="Footer Placeholder 22"/>
          <p:cNvSpPr>
            <a:spLocks noGrp="1"/>
          </p:cNvSpPr>
          <p:nvPr>
            <p:ph type="ftr" sz="quarter" idx="11"/>
          </p:nvPr>
        </p:nvSpPr>
        <p:spPr/>
        <p:txBody>
          <a:bodyPr/>
          <a:lstStyle/>
          <a:p>
            <a:r>
              <a:rPr lang="en-US" noProof="0"/>
              <a:t>Course Teacher: Prof. Dr. Engr. Muhibul Haque Bhuyan</a:t>
            </a:r>
            <a:endParaRPr lang="en-US" noProof="0" dirty="0"/>
          </a:p>
        </p:txBody>
      </p:sp>
      <p:sp>
        <p:nvSpPr>
          <p:cNvPr id="24" name="Slide Number Placeholder 23"/>
          <p:cNvSpPr>
            <a:spLocks noGrp="1"/>
          </p:cNvSpPr>
          <p:nvPr>
            <p:ph type="sldNum" sz="quarter" idx="12"/>
          </p:nvPr>
        </p:nvSpPr>
        <p:spPr/>
        <p:txBody>
          <a:bodyPr/>
          <a:lstStyle/>
          <a:p>
            <a:fld id="{5D99DD2A-B520-4620-9B43-64B657BA2D42}" type="slidenum">
              <a:rPr lang="en-US" noProof="0" smtClean="0"/>
              <a:t>24</a:t>
            </a:fld>
            <a:endParaRPr lang="en-US" noProof="0" dirty="0"/>
          </a:p>
        </p:txBody>
      </p:sp>
      <p:grpSp>
        <p:nvGrpSpPr>
          <p:cNvPr id="4" name="Group 3">
            <a:extLst>
              <a:ext uri="{FF2B5EF4-FFF2-40B4-BE49-F238E27FC236}">
                <a16:creationId xmlns:a16="http://schemas.microsoft.com/office/drawing/2014/main" id="{69FA655F-1B77-5293-3114-BDDF4D2A284C}"/>
              </a:ext>
            </a:extLst>
          </p:cNvPr>
          <p:cNvGrpSpPr/>
          <p:nvPr/>
        </p:nvGrpSpPr>
        <p:grpSpPr>
          <a:xfrm>
            <a:off x="2682240" y="4145279"/>
            <a:ext cx="6827520" cy="2401438"/>
            <a:chOff x="2697248" y="3674201"/>
            <a:chExt cx="5867632" cy="1416884"/>
          </a:xfrm>
        </p:grpSpPr>
        <p:pic>
          <p:nvPicPr>
            <p:cNvPr id="5" name="Picture 4">
              <a:extLst>
                <a:ext uri="{FF2B5EF4-FFF2-40B4-BE49-F238E27FC236}">
                  <a16:creationId xmlns:a16="http://schemas.microsoft.com/office/drawing/2014/main" id="{BABFCC0D-7002-A5A5-C3C2-FFA67991F05C}"/>
                </a:ext>
              </a:extLst>
            </p:cNvPr>
            <p:cNvPicPr>
              <a:picLocks noChangeAspect="1"/>
            </p:cNvPicPr>
            <p:nvPr/>
          </p:nvPicPr>
          <p:blipFill rotWithShape="1">
            <a:blip r:embed="rId3"/>
            <a:srcRect t="22857" b="4762"/>
            <a:stretch/>
          </p:blipFill>
          <p:spPr>
            <a:xfrm>
              <a:off x="2702006" y="4254366"/>
              <a:ext cx="5862874" cy="587254"/>
            </a:xfrm>
            <a:prstGeom prst="rect">
              <a:avLst/>
            </a:prstGeom>
          </p:spPr>
        </p:pic>
        <p:cxnSp>
          <p:nvCxnSpPr>
            <p:cNvPr id="6" name="Straight Arrow Connector 5">
              <a:extLst>
                <a:ext uri="{FF2B5EF4-FFF2-40B4-BE49-F238E27FC236}">
                  <a16:creationId xmlns:a16="http://schemas.microsoft.com/office/drawing/2014/main" id="{C62901DF-6B84-F1CF-77FF-69E07E015BE7}"/>
                </a:ext>
              </a:extLst>
            </p:cNvPr>
            <p:cNvCxnSpPr/>
            <p:nvPr/>
          </p:nvCxnSpPr>
          <p:spPr>
            <a:xfrm>
              <a:off x="2716933" y="4870940"/>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328181A-866C-6631-73BB-1CEB6C0DAD37}"/>
                </a:ext>
              </a:extLst>
            </p:cNvPr>
            <p:cNvCxnSpPr/>
            <p:nvPr/>
          </p:nvCxnSpPr>
          <p:spPr>
            <a:xfrm>
              <a:off x="4240933" y="4870940"/>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826FE8F-7F1B-D7AA-BBF9-DD18FDF310D9}"/>
                </a:ext>
              </a:extLst>
            </p:cNvPr>
            <p:cNvCxnSpPr/>
            <p:nvPr/>
          </p:nvCxnSpPr>
          <p:spPr>
            <a:xfrm>
              <a:off x="5764937" y="4870940"/>
              <a:ext cx="1663475"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82C1096-FBF1-4327-5990-E7B7967767BD}"/>
                </a:ext>
              </a:extLst>
            </p:cNvPr>
            <p:cNvSpPr txBox="1"/>
            <p:nvPr/>
          </p:nvSpPr>
          <p:spPr>
            <a:xfrm>
              <a:off x="5943600" y="4535178"/>
              <a:ext cx="914400" cy="194741"/>
            </a:xfrm>
            <a:prstGeom prst="rect">
              <a:avLst/>
            </a:prstGeom>
            <a:noFill/>
          </p:spPr>
          <p:txBody>
            <a:bodyPr wrap="square" rtlCol="0">
              <a:spAutoFit/>
            </a:bodyPr>
            <a:lstStyle/>
            <a:p>
              <a:endParaRPr lang="en-US" sz="1813" dirty="0"/>
            </a:p>
          </p:txBody>
        </p:sp>
        <p:sp>
          <p:nvSpPr>
            <p:cNvPr id="10" name="TextBox 9">
              <a:extLst>
                <a:ext uri="{FF2B5EF4-FFF2-40B4-BE49-F238E27FC236}">
                  <a16:creationId xmlns:a16="http://schemas.microsoft.com/office/drawing/2014/main" id="{6F2098A9-2152-AB46-938E-CCA337699D13}"/>
                </a:ext>
              </a:extLst>
            </p:cNvPr>
            <p:cNvSpPr txBox="1"/>
            <p:nvPr/>
          </p:nvSpPr>
          <p:spPr>
            <a:xfrm>
              <a:off x="2783182" y="4896344"/>
              <a:ext cx="1524000" cy="194741"/>
            </a:xfrm>
            <a:prstGeom prst="rect">
              <a:avLst/>
            </a:prstGeom>
            <a:noFill/>
          </p:spPr>
          <p:txBody>
            <a:bodyPr wrap="square" rtlCol="0">
              <a:spAutoFit/>
            </a:bodyPr>
            <a:lstStyle/>
            <a:p>
              <a:pPr algn="ctr"/>
              <a:r>
                <a:rPr lang="en-US" sz="1813" b="1" dirty="0">
                  <a:latin typeface="Arial" panose="020B0604020202020204" pitchFamily="34" charset="0"/>
                  <a:cs typeface="Arial" panose="020B0604020202020204" pitchFamily="34" charset="0"/>
                </a:rPr>
                <a:t>Count = 0</a:t>
              </a:r>
            </a:p>
          </p:txBody>
        </p:sp>
        <p:sp>
          <p:nvSpPr>
            <p:cNvPr id="11" name="TextBox 10">
              <a:extLst>
                <a:ext uri="{FF2B5EF4-FFF2-40B4-BE49-F238E27FC236}">
                  <a16:creationId xmlns:a16="http://schemas.microsoft.com/office/drawing/2014/main" id="{877E38D8-AB19-DBBD-29F6-47461C744305}"/>
                </a:ext>
              </a:extLst>
            </p:cNvPr>
            <p:cNvSpPr txBox="1"/>
            <p:nvPr/>
          </p:nvSpPr>
          <p:spPr>
            <a:xfrm>
              <a:off x="4327477" y="4882555"/>
              <a:ext cx="1314450" cy="194741"/>
            </a:xfrm>
            <a:prstGeom prst="rect">
              <a:avLst/>
            </a:prstGeom>
            <a:noFill/>
          </p:spPr>
          <p:txBody>
            <a:bodyPr wrap="square" rtlCol="0">
              <a:spAutoFit/>
            </a:bodyPr>
            <a:lstStyle/>
            <a:p>
              <a:pPr algn="ctr"/>
              <a:r>
                <a:rPr lang="en-US" sz="1813" b="1" dirty="0">
                  <a:latin typeface="Arial" panose="020B0604020202020204" pitchFamily="34" charset="0"/>
                  <a:cs typeface="Arial" panose="020B0604020202020204" pitchFamily="34" charset="0"/>
                </a:rPr>
                <a:t>Count = 1</a:t>
              </a:r>
            </a:p>
          </p:txBody>
        </p:sp>
        <p:sp>
          <p:nvSpPr>
            <p:cNvPr id="12" name="TextBox 11">
              <a:extLst>
                <a:ext uri="{FF2B5EF4-FFF2-40B4-BE49-F238E27FC236}">
                  <a16:creationId xmlns:a16="http://schemas.microsoft.com/office/drawing/2014/main" id="{A6D99E40-75E7-E87B-5F6C-A58C001D95BF}"/>
                </a:ext>
              </a:extLst>
            </p:cNvPr>
            <p:cNvSpPr txBox="1"/>
            <p:nvPr/>
          </p:nvSpPr>
          <p:spPr>
            <a:xfrm>
              <a:off x="5710506" y="4882557"/>
              <a:ext cx="1446711" cy="194741"/>
            </a:xfrm>
            <a:prstGeom prst="rect">
              <a:avLst/>
            </a:prstGeom>
            <a:noFill/>
          </p:spPr>
          <p:txBody>
            <a:bodyPr wrap="square" rtlCol="0">
              <a:spAutoFit/>
            </a:bodyPr>
            <a:lstStyle/>
            <a:p>
              <a:pPr algn="ctr"/>
              <a:r>
                <a:rPr lang="en-US" sz="1813" b="1" dirty="0">
                  <a:latin typeface="Arial" panose="020B0604020202020204" pitchFamily="34" charset="0"/>
                  <a:cs typeface="Arial" panose="020B0604020202020204" pitchFamily="34" charset="0"/>
                </a:rPr>
                <a:t>Count = 2</a:t>
              </a:r>
            </a:p>
          </p:txBody>
        </p:sp>
        <p:cxnSp>
          <p:nvCxnSpPr>
            <p:cNvPr id="13" name="Straight Arrow Connector 12">
              <a:extLst>
                <a:ext uri="{FF2B5EF4-FFF2-40B4-BE49-F238E27FC236}">
                  <a16:creationId xmlns:a16="http://schemas.microsoft.com/office/drawing/2014/main" id="{6B79A6A1-67BA-24B9-7189-2F5A78C77BB8}"/>
                </a:ext>
              </a:extLst>
            </p:cNvPr>
            <p:cNvCxnSpPr/>
            <p:nvPr/>
          </p:nvCxnSpPr>
          <p:spPr>
            <a:xfrm>
              <a:off x="2697248" y="3994783"/>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540F4B6-E414-63EB-6399-46B05CB52F1F}"/>
                </a:ext>
              </a:extLst>
            </p:cNvPr>
            <p:cNvCxnSpPr/>
            <p:nvPr/>
          </p:nvCxnSpPr>
          <p:spPr>
            <a:xfrm>
              <a:off x="4221248" y="3994783"/>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BBF9653-B16B-02CC-B04C-5DFEF3A8689F}"/>
                </a:ext>
              </a:extLst>
            </p:cNvPr>
            <p:cNvCxnSpPr/>
            <p:nvPr/>
          </p:nvCxnSpPr>
          <p:spPr>
            <a:xfrm>
              <a:off x="5745250" y="3994783"/>
              <a:ext cx="168316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697DAB0-4D7C-03A8-6A1F-9A1AB22D1413}"/>
                </a:ext>
              </a:extLst>
            </p:cNvPr>
            <p:cNvSpPr txBox="1"/>
            <p:nvPr/>
          </p:nvSpPr>
          <p:spPr>
            <a:xfrm>
              <a:off x="2783596" y="4053277"/>
              <a:ext cx="1524000" cy="194741"/>
            </a:xfrm>
            <a:prstGeom prst="rect">
              <a:avLst/>
            </a:prstGeom>
            <a:noFill/>
          </p:spPr>
          <p:txBody>
            <a:bodyPr wrap="square" rtlCol="0">
              <a:spAutoFit/>
            </a:bodyPr>
            <a:lstStyle/>
            <a:p>
              <a:pPr algn="ctr"/>
              <a:r>
                <a:rPr lang="en-US" sz="1813" b="1" dirty="0">
                  <a:latin typeface="Arial" panose="020B0604020202020204" pitchFamily="34" charset="0"/>
                  <a:cs typeface="Arial" panose="020B0604020202020204" pitchFamily="34" charset="0"/>
                </a:rPr>
                <a:t>62.5 ns</a:t>
              </a:r>
            </a:p>
          </p:txBody>
        </p:sp>
        <p:sp>
          <p:nvSpPr>
            <p:cNvPr id="17" name="TextBox 16">
              <a:extLst>
                <a:ext uri="{FF2B5EF4-FFF2-40B4-BE49-F238E27FC236}">
                  <a16:creationId xmlns:a16="http://schemas.microsoft.com/office/drawing/2014/main" id="{AA45BACF-394B-42B9-5637-8F1677B59CD1}"/>
                </a:ext>
              </a:extLst>
            </p:cNvPr>
            <p:cNvSpPr txBox="1"/>
            <p:nvPr/>
          </p:nvSpPr>
          <p:spPr>
            <a:xfrm>
              <a:off x="4383795" y="3985130"/>
              <a:ext cx="1314450" cy="194741"/>
            </a:xfrm>
            <a:prstGeom prst="rect">
              <a:avLst/>
            </a:prstGeom>
            <a:noFill/>
          </p:spPr>
          <p:txBody>
            <a:bodyPr wrap="square" rtlCol="0">
              <a:spAutoFit/>
            </a:bodyPr>
            <a:lstStyle/>
            <a:p>
              <a:pPr algn="ctr"/>
              <a:r>
                <a:rPr lang="en-US" sz="1813" b="1" dirty="0">
                  <a:latin typeface="Arial" panose="020B0604020202020204" pitchFamily="34" charset="0"/>
                  <a:cs typeface="Arial" panose="020B0604020202020204" pitchFamily="34" charset="0"/>
                </a:rPr>
                <a:t>62.5 ns</a:t>
              </a:r>
            </a:p>
          </p:txBody>
        </p:sp>
        <p:sp>
          <p:nvSpPr>
            <p:cNvPr id="18" name="TextBox 17">
              <a:extLst>
                <a:ext uri="{FF2B5EF4-FFF2-40B4-BE49-F238E27FC236}">
                  <a16:creationId xmlns:a16="http://schemas.microsoft.com/office/drawing/2014/main" id="{0BF175DD-16E6-4E88-9D2C-1D6343822DA4}"/>
                </a:ext>
              </a:extLst>
            </p:cNvPr>
            <p:cNvSpPr txBox="1"/>
            <p:nvPr/>
          </p:nvSpPr>
          <p:spPr>
            <a:xfrm>
              <a:off x="5907799" y="3985130"/>
              <a:ext cx="1446711" cy="194741"/>
            </a:xfrm>
            <a:prstGeom prst="rect">
              <a:avLst/>
            </a:prstGeom>
            <a:noFill/>
          </p:spPr>
          <p:txBody>
            <a:bodyPr wrap="square" rtlCol="0">
              <a:spAutoFit/>
            </a:bodyPr>
            <a:lstStyle/>
            <a:p>
              <a:pPr algn="ctr"/>
              <a:r>
                <a:rPr lang="en-US" sz="1813" b="1" dirty="0">
                  <a:latin typeface="Arial" panose="020B0604020202020204" pitchFamily="34" charset="0"/>
                  <a:cs typeface="Arial" panose="020B0604020202020204" pitchFamily="34" charset="0"/>
                </a:rPr>
                <a:t>62.5 ns</a:t>
              </a:r>
            </a:p>
          </p:txBody>
        </p:sp>
        <p:cxnSp>
          <p:nvCxnSpPr>
            <p:cNvPr id="19" name="Straight Arrow Connector 18">
              <a:extLst>
                <a:ext uri="{FF2B5EF4-FFF2-40B4-BE49-F238E27FC236}">
                  <a16:creationId xmlns:a16="http://schemas.microsoft.com/office/drawing/2014/main" id="{1CF6DFCF-A214-0807-EF93-CE2FE7AFE3E5}"/>
                </a:ext>
              </a:extLst>
            </p:cNvPr>
            <p:cNvCxnSpPr>
              <a:cxnSpLocks/>
            </p:cNvCxnSpPr>
            <p:nvPr/>
          </p:nvCxnSpPr>
          <p:spPr>
            <a:xfrm>
              <a:off x="2697248" y="3873565"/>
              <a:ext cx="473116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2BE4E3F-F465-D242-BB34-ACD3648983DE}"/>
                </a:ext>
              </a:extLst>
            </p:cNvPr>
            <p:cNvSpPr txBox="1"/>
            <p:nvPr/>
          </p:nvSpPr>
          <p:spPr>
            <a:xfrm>
              <a:off x="4302206" y="3674201"/>
              <a:ext cx="1260394" cy="194741"/>
            </a:xfrm>
            <a:prstGeom prst="rect">
              <a:avLst/>
            </a:prstGeom>
            <a:noFill/>
          </p:spPr>
          <p:txBody>
            <a:bodyPr wrap="square" rtlCol="0">
              <a:spAutoFit/>
            </a:bodyPr>
            <a:lstStyle/>
            <a:p>
              <a:pPr algn="ctr"/>
              <a:r>
                <a:rPr lang="en-US" sz="1813" b="1" dirty="0">
                  <a:latin typeface="Arial" panose="020B0604020202020204" pitchFamily="34" charset="0"/>
                  <a:cs typeface="Arial" panose="020B0604020202020204" pitchFamily="34" charset="0"/>
                </a:rPr>
                <a:t>187.5 ns</a:t>
              </a:r>
            </a:p>
          </p:txBody>
        </p:sp>
      </p:grpSp>
    </p:spTree>
    <p:extLst>
      <p:ext uri="{BB962C8B-B14F-4D97-AF65-F5344CB8AC3E}">
        <p14:creationId xmlns:p14="http://schemas.microsoft.com/office/powerpoint/2010/main" val="28318202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24097" y="137160"/>
            <a:ext cx="10339251" cy="907869"/>
          </a:xfrm>
        </p:spPr>
        <p:txBody>
          <a:bodyPr>
            <a:noAutofit/>
          </a:bodyPr>
          <a:lstStyle/>
          <a:p>
            <a:r>
              <a:rPr lang="en-US" sz="4000" b="1" cap="none" dirty="0"/>
              <a:t>Timer for Delay: Calculating Count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124097" y="917044"/>
                <a:ext cx="11959046" cy="5629673"/>
              </a:xfrm>
            </p:spPr>
            <p:txBody>
              <a:bodyPr>
                <a:noAutofit/>
              </a:bodyPr>
              <a:lstStyle/>
              <a:p>
                <a:pPr>
                  <a:lnSpc>
                    <a:spcPct val="90000"/>
                  </a:lnSpc>
                  <a:spcAft>
                    <a:spcPts val="0"/>
                  </a:spcAft>
                </a:pPr>
                <a:r>
                  <a:rPr lang="en-US" sz="3600" dirty="0">
                    <a:latin typeface="Arial" panose="020B0604020202020204" pitchFamily="34" charset="0"/>
                    <a:cs typeface="Arial" panose="020B0604020202020204" pitchFamily="34" charset="0"/>
                  </a:rPr>
                  <a:t>Suppose, we need a delay of 1 </a:t>
                </a:r>
                <a:r>
                  <a:rPr lang="en-US" sz="3600" dirty="0" err="1">
                    <a:latin typeface="Arial" panose="020B0604020202020204" pitchFamily="34" charset="0"/>
                    <a:cs typeface="Arial" panose="020B0604020202020204" pitchFamily="34" charset="0"/>
                  </a:rPr>
                  <a:t>ms.</a:t>
                </a:r>
                <a:r>
                  <a:rPr lang="en-US" sz="3600" dirty="0">
                    <a:latin typeface="Arial" panose="020B0604020202020204" pitchFamily="34" charset="0"/>
                    <a:cs typeface="Arial" panose="020B0604020202020204" pitchFamily="34" charset="0"/>
                  </a:rPr>
                  <a:t> To get an idea of how long it takes, let’s calculate the timer count from the following formula:</a:t>
                </a:r>
              </a:p>
              <a:p>
                <a:pPr marL="0" indent="0">
                  <a:lnSpc>
                    <a:spcPct val="90000"/>
                  </a:lnSpc>
                  <a:spcAft>
                    <a:spcPts val="0"/>
                  </a:spcAft>
                  <a:buNone/>
                </a:pPr>
                <a:br>
                  <a:rPr lang="en-US" sz="3600" dirty="0">
                    <a:latin typeface="Arial" panose="020B0604020202020204" pitchFamily="34" charset="0"/>
                    <a:cs typeface="Arial" panose="020B0604020202020204" pitchFamily="34" charset="0"/>
                  </a:rPr>
                </a:br>
                <a14:m>
                  <m:oMathPara xmlns:m="http://schemas.openxmlformats.org/officeDocument/2006/math">
                    <m:oMathParaPr>
                      <m:jc m:val="centerGroup"/>
                    </m:oMathParaPr>
                    <m:oMath xmlns:m="http://schemas.openxmlformats.org/officeDocument/2006/math">
                      <m:r>
                        <a:rPr lang="en-US" sz="3600" i="1">
                          <a:latin typeface="Cambria Math" panose="02040503050406030204" pitchFamily="18" charset="0"/>
                          <a:cs typeface="Arial" panose="020B0604020202020204" pitchFamily="34" charset="0"/>
                        </a:rPr>
                        <m:t>𝑇𝑖𝑚𝑒𝑟</m:t>
                      </m:r>
                      <m:r>
                        <a:rPr lang="en-US" sz="3600" i="1">
                          <a:latin typeface="Cambria Math" panose="02040503050406030204" pitchFamily="18" charset="0"/>
                          <a:cs typeface="Arial" panose="020B0604020202020204" pitchFamily="34" charset="0"/>
                        </a:rPr>
                        <m:t> </m:t>
                      </m:r>
                      <m:r>
                        <a:rPr lang="en-US" sz="3600" i="1">
                          <a:latin typeface="Cambria Math" panose="02040503050406030204" pitchFamily="18" charset="0"/>
                          <a:cs typeface="Arial" panose="020B0604020202020204" pitchFamily="34" charset="0"/>
                        </a:rPr>
                        <m:t>𝑐𝑜𝑢𝑛𝑡</m:t>
                      </m:r>
                      <m:r>
                        <a:rPr lang="en-US" sz="3600" i="1">
                          <a:latin typeface="Cambria Math" panose="02040503050406030204" pitchFamily="18" charset="0"/>
                          <a:cs typeface="Arial" panose="020B0604020202020204" pitchFamily="34" charset="0"/>
                        </a:rPr>
                        <m:t>=</m:t>
                      </m:r>
                      <m:f>
                        <m:fPr>
                          <m:ctrlPr>
                            <a:rPr lang="en-US" sz="3600" i="1">
                              <a:latin typeface="Cambria Math" panose="02040503050406030204" pitchFamily="18" charset="0"/>
                              <a:cs typeface="Arial" panose="020B0604020202020204" pitchFamily="34" charset="0"/>
                            </a:rPr>
                          </m:ctrlPr>
                        </m:fPr>
                        <m:num>
                          <m:r>
                            <a:rPr lang="en-US" sz="3600" i="1">
                              <a:latin typeface="Cambria Math" panose="02040503050406030204" pitchFamily="18" charset="0"/>
                              <a:cs typeface="Arial" panose="020B0604020202020204" pitchFamily="34" charset="0"/>
                            </a:rPr>
                            <m:t>𝑅𝑒𝑞𝑢𝑖𝑟𝑒𝑑</m:t>
                          </m:r>
                          <m:r>
                            <a:rPr lang="en-US" sz="3600" i="1">
                              <a:latin typeface="Cambria Math" panose="02040503050406030204" pitchFamily="18" charset="0"/>
                              <a:cs typeface="Arial" panose="020B0604020202020204" pitchFamily="34" charset="0"/>
                            </a:rPr>
                            <m:t> </m:t>
                          </m:r>
                          <m:r>
                            <a:rPr lang="en-US" sz="3600" i="1">
                              <a:latin typeface="Cambria Math" panose="02040503050406030204" pitchFamily="18" charset="0"/>
                              <a:cs typeface="Arial" panose="020B0604020202020204" pitchFamily="34" charset="0"/>
                            </a:rPr>
                            <m:t>𝑑𝑒𝑙𝑎𝑦</m:t>
                          </m:r>
                        </m:num>
                        <m:den>
                          <m:r>
                            <a:rPr lang="en-US" sz="3600" i="1">
                              <a:latin typeface="Cambria Math" panose="02040503050406030204" pitchFamily="18" charset="0"/>
                              <a:cs typeface="Arial" panose="020B0604020202020204" pitchFamily="34" charset="0"/>
                            </a:rPr>
                            <m:t>𝑇𝑖𝑚𝑒𝑟</m:t>
                          </m:r>
                          <m:r>
                            <a:rPr lang="en-US" sz="3600" i="1">
                              <a:latin typeface="Cambria Math" panose="02040503050406030204" pitchFamily="18" charset="0"/>
                              <a:cs typeface="Arial" panose="020B0604020202020204" pitchFamily="34" charset="0"/>
                            </a:rPr>
                            <m:t> </m:t>
                          </m:r>
                          <m:r>
                            <a:rPr lang="en-US" sz="3600" i="1">
                              <a:latin typeface="Cambria Math" panose="02040503050406030204" pitchFamily="18" charset="0"/>
                              <a:cs typeface="Arial" panose="020B0604020202020204" pitchFamily="34" charset="0"/>
                            </a:rPr>
                            <m:t>𝑐𝑙𝑜𝑐𝑘</m:t>
                          </m:r>
                          <m:r>
                            <a:rPr lang="en-US" sz="3600" i="1">
                              <a:latin typeface="Cambria Math" panose="02040503050406030204" pitchFamily="18" charset="0"/>
                              <a:cs typeface="Arial" panose="020B0604020202020204" pitchFamily="34" charset="0"/>
                            </a:rPr>
                            <m:t> </m:t>
                          </m:r>
                          <m:r>
                            <a:rPr lang="en-US" sz="3600" i="1">
                              <a:latin typeface="Cambria Math" panose="02040503050406030204" pitchFamily="18" charset="0"/>
                              <a:cs typeface="Arial" panose="020B0604020202020204" pitchFamily="34" charset="0"/>
                            </a:rPr>
                            <m:t>𝑝𝑒𝑟𝑖𝑜𝑑</m:t>
                          </m:r>
                        </m:den>
                      </m:f>
                      <m:r>
                        <a:rPr lang="en-US" sz="3600" i="1">
                          <a:latin typeface="Cambria Math" panose="02040503050406030204" pitchFamily="18" charset="0"/>
                          <a:cs typeface="Arial" panose="020B0604020202020204" pitchFamily="34" charset="0"/>
                        </a:rPr>
                        <m:t>−1</m:t>
                      </m:r>
                    </m:oMath>
                  </m:oMathPara>
                </a14:m>
                <a:br>
                  <a:rPr lang="en-US" sz="3600" dirty="0">
                    <a:latin typeface="Arial" panose="020B0604020202020204" pitchFamily="34" charset="0"/>
                    <a:cs typeface="Arial" panose="020B0604020202020204" pitchFamily="34" charset="0"/>
                  </a:rPr>
                </a:br>
                <a:br>
                  <a:rPr lang="en-US" sz="3600" dirty="0">
                    <a:latin typeface="Arial" panose="020B0604020202020204" pitchFamily="34" charset="0"/>
                    <a:cs typeface="Arial" panose="020B0604020202020204" pitchFamily="34" charset="0"/>
                  </a:rPr>
                </a:br>
                <a:r>
                  <a:rPr lang="en-US" sz="3600" dirty="0">
                    <a:latin typeface="Arial" panose="020B0604020202020204" pitchFamily="34" charset="0"/>
                    <a:cs typeface="Arial" panose="020B0604020202020204" pitchFamily="34" charset="0"/>
                  </a:rPr>
                  <a:t>Here, required delay = 1 </a:t>
                </a:r>
                <a:r>
                  <a:rPr lang="en-US" sz="3600" dirty="0" err="1">
                    <a:latin typeface="Arial" panose="020B0604020202020204" pitchFamily="34" charset="0"/>
                    <a:cs typeface="Arial" panose="020B0604020202020204" pitchFamily="34" charset="0"/>
                  </a:rPr>
                  <a:t>ms</a:t>
                </a:r>
                <a:r>
                  <a:rPr lang="en-US" sz="3600" dirty="0">
                    <a:latin typeface="Arial" panose="020B0604020202020204" pitchFamily="34" charset="0"/>
                    <a:cs typeface="Arial" panose="020B0604020202020204" pitchFamily="34" charset="0"/>
                  </a:rPr>
                  <a:t> and timer clock period = 62.5 ns, so Timer Count = (1000000ns/62.5ns) – 1 = 15,999. </a:t>
                </a:r>
              </a:p>
              <a:p>
                <a:pPr>
                  <a:lnSpc>
                    <a:spcPct val="90000"/>
                  </a:lnSpc>
                  <a:spcAft>
                    <a:spcPts val="0"/>
                  </a:spcAft>
                </a:pPr>
                <a:r>
                  <a:rPr lang="en-US" sz="3600" dirty="0">
                    <a:latin typeface="Arial" panose="020B0604020202020204" pitchFamily="34" charset="0"/>
                    <a:cs typeface="Arial" panose="020B0604020202020204" pitchFamily="34" charset="0"/>
                  </a:rPr>
                  <a:t>So, the clock needs to </a:t>
                </a:r>
                <a:r>
                  <a:rPr lang="en-US" sz="3600" b="1" dirty="0">
                    <a:solidFill>
                      <a:srgbClr val="FF0000"/>
                    </a:solidFill>
                    <a:latin typeface="Arial" panose="020B0604020202020204" pitchFamily="34" charset="0"/>
                    <a:cs typeface="Arial" panose="020B0604020202020204" pitchFamily="34" charset="0"/>
                  </a:rPr>
                  <a:t>tick 15,999 times </a:t>
                </a:r>
                <a:r>
                  <a:rPr lang="en-US" sz="3600" dirty="0">
                    <a:latin typeface="Arial" panose="020B0604020202020204" pitchFamily="34" charset="0"/>
                    <a:cs typeface="Arial" panose="020B0604020202020204" pitchFamily="34" charset="0"/>
                  </a:rPr>
                  <a:t>to give a delay of only 1 </a:t>
                </a:r>
                <a:r>
                  <a:rPr lang="en-US" sz="3600" dirty="0" err="1">
                    <a:latin typeface="Arial" panose="020B0604020202020204" pitchFamily="34" charset="0"/>
                    <a:cs typeface="Arial" panose="020B0604020202020204" pitchFamily="34" charset="0"/>
                  </a:rPr>
                  <a:t>ms.</a:t>
                </a:r>
                <a:endParaRPr lang="en-US" sz="36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0D9E720B-8D07-47AD-BE90-72CC40DA7CE8}"/>
                  </a:ext>
                </a:extLst>
              </p:cNvPr>
              <p:cNvSpPr>
                <a:spLocks noGrp="1" noRot="1" noChangeAspect="1" noMove="1" noResize="1" noEditPoints="1" noAdjustHandles="1" noChangeArrowheads="1" noChangeShapeType="1" noTextEdit="1"/>
              </p:cNvSpPr>
              <p:nvPr>
                <p:ph idx="1"/>
              </p:nvPr>
            </p:nvSpPr>
            <p:spPr>
              <a:xfrm>
                <a:off x="124097" y="917044"/>
                <a:ext cx="11959046" cy="5629673"/>
              </a:xfrm>
              <a:blipFill>
                <a:blip r:embed="rId2"/>
                <a:stretch>
                  <a:fillRect l="-1529" t="-2597" r="-1631" b="-2706"/>
                </a:stretch>
              </a:blipFill>
            </p:spPr>
            <p:txBody>
              <a:bodyPr/>
              <a:lstStyle/>
              <a:p>
                <a:r>
                  <a:rPr lang="en-US">
                    <a:noFill/>
                  </a:rPr>
                  <a:t> </a:t>
                </a:r>
              </a:p>
            </p:txBody>
          </p:sp>
        </mc:Fallback>
      </mc:AlternateContent>
      <p:sp>
        <p:nvSpPr>
          <p:cNvPr id="5" name="Date Placeholder 4"/>
          <p:cNvSpPr>
            <a:spLocks noGrp="1"/>
          </p:cNvSpPr>
          <p:nvPr>
            <p:ph type="dt" sz="half" idx="10"/>
          </p:nvPr>
        </p:nvSpPr>
        <p:spPr/>
        <p:txBody>
          <a:bodyPr/>
          <a:lstStyle/>
          <a:p>
            <a:fld id="{7319BAC7-F53C-4980-AA16-DE8C19FC01F9}" type="datetime3">
              <a:rPr lang="en-US" noProof="0" smtClean="0"/>
              <a:t>15 June 2026</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p:cNvSpPr>
            <a:spLocks noGrp="1"/>
          </p:cNvSpPr>
          <p:nvPr>
            <p:ph type="sldNum" sz="quarter" idx="12"/>
          </p:nvPr>
        </p:nvSpPr>
        <p:spPr/>
        <p:txBody>
          <a:bodyPr/>
          <a:lstStyle/>
          <a:p>
            <a:fld id="{5D99DD2A-B520-4620-9B43-64B657BA2D42}" type="slidenum">
              <a:rPr lang="en-US" noProof="0" smtClean="0"/>
              <a:t>25</a:t>
            </a:fld>
            <a:endParaRPr lang="en-US" noProof="0" dirty="0"/>
          </a:p>
        </p:txBody>
      </p:sp>
    </p:spTree>
    <p:extLst>
      <p:ext uri="{BB962C8B-B14F-4D97-AF65-F5344CB8AC3E}">
        <p14:creationId xmlns:p14="http://schemas.microsoft.com/office/powerpoint/2010/main" val="181896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24097" y="137160"/>
            <a:ext cx="10339251" cy="907869"/>
          </a:xfrm>
        </p:spPr>
        <p:txBody>
          <a:bodyPr>
            <a:noAutofit/>
          </a:bodyPr>
          <a:lstStyle/>
          <a:p>
            <a:r>
              <a:rPr lang="en-US" sz="4000" b="1" cap="none" dirty="0"/>
              <a:t>Timer for Delay: Calculating Count</a:t>
            </a:r>
          </a:p>
        </p:txBody>
      </p:sp>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274319" y="1045029"/>
            <a:ext cx="11673841" cy="5199018"/>
          </a:xfrm>
        </p:spPr>
        <p:txBody>
          <a:bodyPr>
            <a:noAutofit/>
          </a:bodyPr>
          <a:lstStyle/>
          <a:p>
            <a:pPr>
              <a:lnSpc>
                <a:spcPct val="90000"/>
              </a:lnSpc>
              <a:spcAft>
                <a:spcPts val="0"/>
              </a:spcAft>
            </a:pPr>
            <a:r>
              <a:rPr lang="en-US" sz="3600" dirty="0">
                <a:latin typeface="Arial" panose="020B0604020202020204" pitchFamily="34" charset="0"/>
                <a:cs typeface="Arial" panose="020B0604020202020204" pitchFamily="34" charset="0"/>
              </a:rPr>
              <a:t>Maximum possible delay for </a:t>
            </a:r>
            <a:r>
              <a:rPr lang="en-US" sz="3600" b="1" dirty="0">
                <a:latin typeface="Arial" panose="020B0604020202020204" pitchFamily="34" charset="0"/>
                <a:cs typeface="Arial" panose="020B0604020202020204" pitchFamily="34" charset="0"/>
              </a:rPr>
              <a:t>Timer0 </a:t>
            </a:r>
            <a:r>
              <a:rPr lang="en-US" sz="3600" dirty="0">
                <a:latin typeface="Arial" panose="020B0604020202020204" pitchFamily="34" charset="0"/>
                <a:cs typeface="Arial" panose="020B0604020202020204" pitchFamily="34" charset="0"/>
              </a:rPr>
              <a:t>(which is an 8-bit timer) at 16 MHz: 62.5 ns × 256 = </a:t>
            </a:r>
            <a:r>
              <a:rPr lang="en-US" sz="3600" b="1" dirty="0">
                <a:solidFill>
                  <a:srgbClr val="FF0000"/>
                </a:solidFill>
                <a:latin typeface="Arial" panose="020B0604020202020204" pitchFamily="34" charset="0"/>
                <a:cs typeface="Arial" panose="020B0604020202020204" pitchFamily="34" charset="0"/>
              </a:rPr>
              <a:t>16 </a:t>
            </a:r>
            <a:r>
              <a:rPr lang="el-GR" sz="3600" b="1" dirty="0">
                <a:solidFill>
                  <a:srgbClr val="FF0000"/>
                </a:solidFill>
                <a:latin typeface="Arial" panose="020B0604020202020204" pitchFamily="34" charset="0"/>
                <a:cs typeface="Arial" panose="020B0604020202020204" pitchFamily="34" charset="0"/>
              </a:rPr>
              <a:t>μ</a:t>
            </a:r>
            <a:r>
              <a:rPr lang="en-US" sz="3600" b="1" dirty="0">
                <a:solidFill>
                  <a:srgbClr val="FF0000"/>
                </a:solidFill>
                <a:latin typeface="Arial" panose="020B0604020202020204" pitchFamily="34" charset="0"/>
                <a:cs typeface="Arial" panose="020B0604020202020204" pitchFamily="34" charset="0"/>
              </a:rPr>
              <a:t>s</a:t>
            </a:r>
          </a:p>
          <a:p>
            <a:pPr>
              <a:lnSpc>
                <a:spcPct val="90000"/>
              </a:lnSpc>
              <a:spcAft>
                <a:spcPts val="0"/>
              </a:spcAft>
            </a:pPr>
            <a:r>
              <a:rPr lang="en-US" sz="3600" dirty="0">
                <a:latin typeface="Arial" panose="020B0604020202020204" pitchFamily="34" charset="0"/>
                <a:cs typeface="Arial" panose="020B0604020202020204" pitchFamily="34" charset="0"/>
              </a:rPr>
              <a:t>Maximum possible delay for </a:t>
            </a:r>
            <a:r>
              <a:rPr lang="en-US" sz="3600" b="1" dirty="0">
                <a:latin typeface="Arial" panose="020B0604020202020204" pitchFamily="34" charset="0"/>
                <a:cs typeface="Arial" panose="020B0604020202020204" pitchFamily="34" charset="0"/>
              </a:rPr>
              <a:t>Timer1 </a:t>
            </a:r>
            <a:r>
              <a:rPr lang="en-US" sz="3600" dirty="0">
                <a:latin typeface="Arial" panose="020B0604020202020204" pitchFamily="34" charset="0"/>
                <a:cs typeface="Arial" panose="020B0604020202020204" pitchFamily="34" charset="0"/>
              </a:rPr>
              <a:t>(which is a 16-bit timer) at 16 MHz: 62.5 ns × 65,536 = </a:t>
            </a:r>
            <a:r>
              <a:rPr lang="en-US" sz="3600" b="1" dirty="0">
                <a:solidFill>
                  <a:srgbClr val="FF0000"/>
                </a:solidFill>
                <a:latin typeface="Arial" panose="020B0604020202020204" pitchFamily="34" charset="0"/>
                <a:cs typeface="Arial" panose="020B0604020202020204" pitchFamily="34" charset="0"/>
              </a:rPr>
              <a:t>4.096 </a:t>
            </a:r>
            <a:r>
              <a:rPr lang="en-US" sz="3600" b="1" dirty="0" err="1">
                <a:solidFill>
                  <a:srgbClr val="FF0000"/>
                </a:solidFill>
                <a:latin typeface="Arial" panose="020B0604020202020204" pitchFamily="34" charset="0"/>
                <a:cs typeface="Arial" panose="020B0604020202020204" pitchFamily="34" charset="0"/>
              </a:rPr>
              <a:t>ms</a:t>
            </a:r>
            <a:endParaRPr lang="en-US" sz="3600" b="1" dirty="0">
              <a:solidFill>
                <a:srgbClr val="FF0000"/>
              </a:solidFill>
              <a:latin typeface="Arial" panose="020B0604020202020204" pitchFamily="34" charset="0"/>
              <a:cs typeface="Arial" panose="020B0604020202020204" pitchFamily="34" charset="0"/>
            </a:endParaRPr>
          </a:p>
          <a:p>
            <a:pPr>
              <a:lnSpc>
                <a:spcPct val="90000"/>
              </a:lnSpc>
              <a:spcAft>
                <a:spcPts val="0"/>
              </a:spcAft>
            </a:pPr>
            <a:r>
              <a:rPr lang="en-US" sz="3600" dirty="0">
                <a:latin typeface="Arial" panose="020B0604020202020204" pitchFamily="34" charset="0"/>
                <a:cs typeface="Arial" panose="020B0604020202020204" pitchFamily="34" charset="0"/>
              </a:rPr>
              <a:t>If we plan to get delays</a:t>
            </a:r>
            <a:r>
              <a:rPr lang="en-US" sz="3600" b="1" dirty="0">
                <a:latin typeface="Arial" panose="020B0604020202020204" pitchFamily="34" charset="0"/>
                <a:cs typeface="Arial" panose="020B0604020202020204" pitchFamily="34" charset="0"/>
              </a:rPr>
              <a:t> </a:t>
            </a:r>
            <a:r>
              <a:rPr lang="en-US" sz="3600" dirty="0">
                <a:latin typeface="Arial" panose="020B0604020202020204" pitchFamily="34" charset="0"/>
                <a:cs typeface="Arial" panose="020B0604020202020204" pitchFamily="34" charset="0"/>
              </a:rPr>
              <a:t>simply by directly counting at system frequency, it is difficult to use an 8-bit timer (as it has an upper limit of 255, after which it overflows, and resets the count to zero). Even with a 16-bit timer (which can count to 65,535), </a:t>
            </a:r>
            <a:r>
              <a:rPr lang="en-US" sz="3600" b="1" dirty="0">
                <a:solidFill>
                  <a:srgbClr val="FF0000"/>
                </a:solidFill>
                <a:latin typeface="Arial" panose="020B0604020202020204" pitchFamily="34" charset="0"/>
                <a:cs typeface="Arial" panose="020B0604020202020204" pitchFamily="34" charset="0"/>
              </a:rPr>
              <a:t>it is not possible to get longer delays</a:t>
            </a:r>
            <a:r>
              <a:rPr lang="en-US" sz="3600" dirty="0">
                <a:latin typeface="Arial" panose="020B0604020202020204" pitchFamily="34" charset="0"/>
                <a:cs typeface="Arial" panose="020B0604020202020204" pitchFamily="34" charset="0"/>
              </a:rPr>
              <a:t>.</a:t>
            </a:r>
          </a:p>
        </p:txBody>
      </p:sp>
      <p:sp>
        <p:nvSpPr>
          <p:cNvPr id="4" name="Date Placeholder 3"/>
          <p:cNvSpPr>
            <a:spLocks noGrp="1"/>
          </p:cNvSpPr>
          <p:nvPr>
            <p:ph type="dt" sz="half" idx="10"/>
          </p:nvPr>
        </p:nvSpPr>
        <p:spPr/>
        <p:txBody>
          <a:bodyPr/>
          <a:lstStyle/>
          <a:p>
            <a:fld id="{B7D408EC-555B-49CC-A9BB-1963F76AC88E}" type="datetime3">
              <a:rPr lang="en-US" noProof="0" smtClean="0"/>
              <a:t>15 June 2026</a:t>
            </a:fld>
            <a:endParaRPr lang="en-US" noProof="0" dirty="0"/>
          </a:p>
        </p:txBody>
      </p:sp>
      <p:sp>
        <p:nvSpPr>
          <p:cNvPr id="5" name="Footer Placeholder 4"/>
          <p:cNvSpPr>
            <a:spLocks noGrp="1"/>
          </p:cNvSpPr>
          <p:nvPr>
            <p:ph type="ftr" sz="quarter" idx="11"/>
          </p:nvPr>
        </p:nvSpPr>
        <p:spPr/>
        <p:txBody>
          <a:bodyPr/>
          <a:lstStyle/>
          <a:p>
            <a:r>
              <a:rPr lang="en-US" noProof="0"/>
              <a:t>Course Teacher: Prof. Dr. Engr. Muhibul Haque Bhuyan</a:t>
            </a:r>
            <a:endParaRPr lang="en-US" noProof="0" dirty="0"/>
          </a:p>
        </p:txBody>
      </p:sp>
      <p:sp>
        <p:nvSpPr>
          <p:cNvPr id="6" name="Slide Number Placeholder 5"/>
          <p:cNvSpPr>
            <a:spLocks noGrp="1"/>
          </p:cNvSpPr>
          <p:nvPr>
            <p:ph type="sldNum" sz="quarter" idx="12"/>
          </p:nvPr>
        </p:nvSpPr>
        <p:spPr/>
        <p:txBody>
          <a:bodyPr/>
          <a:lstStyle/>
          <a:p>
            <a:fld id="{5D99DD2A-B520-4620-9B43-64B657BA2D42}" type="slidenum">
              <a:rPr lang="en-US" noProof="0" smtClean="0"/>
              <a:t>26</a:t>
            </a:fld>
            <a:endParaRPr lang="en-US" noProof="0" dirty="0"/>
          </a:p>
        </p:txBody>
      </p:sp>
    </p:spTree>
    <p:extLst>
      <p:ext uri="{BB962C8B-B14F-4D97-AF65-F5344CB8AC3E}">
        <p14:creationId xmlns:p14="http://schemas.microsoft.com/office/powerpoint/2010/main" val="2904529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41514" y="87809"/>
            <a:ext cx="10519230" cy="1066800"/>
          </a:xfrm>
        </p:spPr>
        <p:txBody>
          <a:bodyPr>
            <a:noAutofit/>
          </a:bodyPr>
          <a:lstStyle/>
          <a:p>
            <a:r>
              <a:rPr lang="en-US" sz="4000" b="1" cap="none" dirty="0"/>
              <a:t>Timer for Delay: Calculating Count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241663" y="917045"/>
                <a:ext cx="11789228" cy="3204382"/>
              </a:xfrm>
            </p:spPr>
            <p:txBody>
              <a:bodyPr>
                <a:noAutofit/>
              </a:bodyPr>
              <a:lstStyle/>
              <a:p>
                <a:pPr>
                  <a:lnSpc>
                    <a:spcPct val="90000"/>
                  </a:lnSpc>
                  <a:spcAft>
                    <a:spcPts val="0"/>
                  </a:spcAft>
                </a:pPr>
                <a:r>
                  <a:rPr lang="en-US" sz="3200" dirty="0">
                    <a:latin typeface="Arial" panose="020B0604020202020204" pitchFamily="34" charset="0"/>
                    <a:cs typeface="Arial" panose="020B0604020202020204" pitchFamily="34" charset="0"/>
                  </a:rPr>
                  <a:t>To stay in the safe side, we use the highest available </a:t>
                </a:r>
                <a:r>
                  <a:rPr lang="en-US" sz="3200" b="1" dirty="0">
                    <a:solidFill>
                      <a:srgbClr val="FF0000"/>
                    </a:solidFill>
                    <a:latin typeface="Arial" panose="020B0604020202020204" pitchFamily="34" charset="0"/>
                    <a:cs typeface="Arial" panose="020B0604020202020204" pitchFamily="34" charset="0"/>
                  </a:rPr>
                  <a:t>pre-scalar</a:t>
                </a:r>
                <a:r>
                  <a:rPr lang="en-US" sz="3200" dirty="0">
                    <a:latin typeface="Arial" panose="020B0604020202020204" pitchFamily="34" charset="0"/>
                    <a:cs typeface="Arial" panose="020B0604020202020204" pitchFamily="34" charset="0"/>
                  </a:rPr>
                  <a:t> and reduce timer clock frequency to 16MHz/1024 = 15625 Hz, with a </a:t>
                </a:r>
                <a:r>
                  <a:rPr lang="en-US" sz="3200" b="1" dirty="0">
                    <a:solidFill>
                      <a:srgbClr val="FF0000"/>
                    </a:solidFill>
                    <a:latin typeface="Arial" panose="020B0604020202020204" pitchFamily="34" charset="0"/>
                    <a:cs typeface="Arial" panose="020B0604020202020204" pitchFamily="34" charset="0"/>
                  </a:rPr>
                  <a:t>new timer clock period </a:t>
                </a:r>
                <a:r>
                  <a:rPr lang="en-US" sz="3200" b="1" dirty="0">
                    <a:latin typeface="Arial" panose="020B0604020202020204" pitchFamily="34" charset="0"/>
                    <a:cs typeface="Arial" panose="020B0604020202020204" pitchFamily="34" charset="0"/>
                  </a:rPr>
                  <a:t>(= System clock period × pre-scalar) = 62.5ns×1024 = </a:t>
                </a:r>
                <a:r>
                  <a:rPr lang="en-US" sz="3200" dirty="0">
                    <a:latin typeface="Arial" panose="020B0604020202020204" pitchFamily="34" charset="0"/>
                    <a:cs typeface="Arial" panose="020B0604020202020204" pitchFamily="34" charset="0"/>
                  </a:rPr>
                  <a:t> </a:t>
                </a:r>
                <a:r>
                  <a:rPr lang="en-US" sz="3200" b="1" dirty="0">
                    <a:solidFill>
                      <a:srgbClr val="FF0000"/>
                    </a:solidFill>
                    <a:latin typeface="Arial" panose="020B0604020202020204" pitchFamily="34" charset="0"/>
                    <a:cs typeface="Arial" panose="020B0604020202020204" pitchFamily="34" charset="0"/>
                  </a:rPr>
                  <a:t>64 </a:t>
                </a:r>
                <a:r>
                  <a:rPr lang="el-GR" sz="3200" b="1" dirty="0">
                    <a:solidFill>
                      <a:srgbClr val="FF0000"/>
                    </a:solidFill>
                    <a:latin typeface="Arial" panose="020B0604020202020204" pitchFamily="34" charset="0"/>
                    <a:cs typeface="Arial" panose="020B0604020202020204" pitchFamily="34" charset="0"/>
                  </a:rPr>
                  <a:t>μ</a:t>
                </a:r>
                <a:r>
                  <a:rPr lang="en-US" sz="3200" b="1" dirty="0">
                    <a:solidFill>
                      <a:srgbClr val="FF0000"/>
                    </a:solidFill>
                    <a:latin typeface="Arial" panose="020B0604020202020204" pitchFamily="34" charset="0"/>
                    <a:cs typeface="Arial" panose="020B0604020202020204" pitchFamily="34" charset="0"/>
                  </a:rPr>
                  <a:t>s</a:t>
                </a:r>
                <a:r>
                  <a:rPr lang="en-US" sz="3200" dirty="0">
                    <a:latin typeface="Arial" panose="020B0604020202020204" pitchFamily="34" charset="0"/>
                    <a:cs typeface="Arial" panose="020B0604020202020204" pitchFamily="34" charset="0"/>
                  </a:rPr>
                  <a:t>. Now, the needed timer count = (1ms/64</a:t>
                </a:r>
                <a:r>
                  <a:rPr lang="el-GR" sz="3200" dirty="0">
                    <a:latin typeface="Arial" panose="020B0604020202020204" pitchFamily="34" charset="0"/>
                    <a:cs typeface="Arial" panose="020B0604020202020204" pitchFamily="34" charset="0"/>
                  </a:rPr>
                  <a:t>μ</a:t>
                </a:r>
                <a:r>
                  <a:rPr lang="en-US" sz="3200" dirty="0">
                    <a:latin typeface="Arial" panose="020B0604020202020204" pitchFamily="34" charset="0"/>
                    <a:cs typeface="Arial" panose="020B0604020202020204" pitchFamily="34" charset="0"/>
                  </a:rPr>
                  <a:t>s) – 1 = 14.625. Now that </a:t>
                </a:r>
                <a:r>
                  <a:rPr lang="en-US" sz="3200" b="1" dirty="0">
                    <a:latin typeface="Arial" panose="020B0604020202020204" pitchFamily="34" charset="0"/>
                    <a:cs typeface="Arial" panose="020B0604020202020204" pitchFamily="34" charset="0"/>
                  </a:rPr>
                  <a:t>Timer clock frequency, </a:t>
                </a:r>
                <a:r>
                  <a:rPr lang="en-US" sz="3200" b="1" i="1" dirty="0">
                    <a:latin typeface="Arial" panose="020B0604020202020204" pitchFamily="34" charset="0"/>
                    <a:cs typeface="Arial" panose="020B0604020202020204" pitchFamily="34" charset="0"/>
                  </a:rPr>
                  <a:t>f</a:t>
                </a:r>
                <a:r>
                  <a:rPr lang="en-US" sz="3200" b="1" i="1" baseline="-25000" dirty="0">
                    <a:latin typeface="Arial" panose="020B0604020202020204" pitchFamily="34" charset="0"/>
                    <a:cs typeface="Arial" panose="020B0604020202020204" pitchFamily="34" charset="0"/>
                  </a:rPr>
                  <a:t>t</a:t>
                </a:r>
                <a:r>
                  <a:rPr lang="en-US" sz="3200" b="1" dirty="0">
                    <a:latin typeface="Arial" panose="020B0604020202020204" pitchFamily="34" charset="0"/>
                    <a:cs typeface="Arial" panose="020B0604020202020204" pitchFamily="34" charset="0"/>
                  </a:rPr>
                  <a:t> = System clock frequency, </a:t>
                </a:r>
                <a:r>
                  <a:rPr lang="en-US" sz="3200" b="1" i="1" dirty="0">
                    <a:latin typeface="Arial" panose="020B0604020202020204" pitchFamily="34" charset="0"/>
                    <a:cs typeface="Arial" panose="020B0604020202020204" pitchFamily="34" charset="0"/>
                  </a:rPr>
                  <a:t>f</a:t>
                </a:r>
                <a:r>
                  <a:rPr lang="en-US" sz="3200" b="1" dirty="0">
                    <a:latin typeface="Arial" panose="020B0604020202020204" pitchFamily="34" charset="0"/>
                    <a:cs typeface="Arial" panose="020B0604020202020204" pitchFamily="34" charset="0"/>
                  </a:rPr>
                  <a:t>/pre-scalar, </a:t>
                </a:r>
                <a:r>
                  <a:rPr lang="en-US" sz="3200" b="1" i="1" dirty="0" err="1">
                    <a:latin typeface="Arial" panose="020B0604020202020204" pitchFamily="34" charset="0"/>
                    <a:cs typeface="Arial" panose="020B0604020202020204" pitchFamily="34" charset="0"/>
                  </a:rPr>
                  <a:t>ps</a:t>
                </a:r>
                <a:r>
                  <a:rPr lang="en-US" sz="3200" dirty="0">
                    <a:latin typeface="Arial" panose="020B0604020202020204" pitchFamily="34" charset="0"/>
                    <a:cs typeface="Arial" panose="020B0604020202020204" pitchFamily="34" charset="0"/>
                  </a:rPr>
                  <a:t>, we can update the equation </a:t>
                </a:r>
              </a:p>
              <a:p>
                <a:pPr marL="914400" lvl="2" indent="0">
                  <a:lnSpc>
                    <a:spcPct val="90000"/>
                  </a:lnSpc>
                  <a:spcAft>
                    <a:spcPts val="0"/>
                  </a:spcAft>
                  <a:buNone/>
                </a:pPr>
                <a14:m>
                  <m:oMathPara xmlns:m="http://schemas.openxmlformats.org/officeDocument/2006/math">
                    <m:oMathParaPr>
                      <m:jc m:val="left"/>
                    </m:oMathParaPr>
                    <m:oMath xmlns:m="http://schemas.openxmlformats.org/officeDocument/2006/math">
                      <m:r>
                        <a:rPr lang="en-US" sz="2800" i="1">
                          <a:latin typeface="Cambria Math" panose="02040503050406030204" pitchFamily="18" charset="0"/>
                          <a:cs typeface="Arial" panose="020B0604020202020204" pitchFamily="34" charset="0"/>
                        </a:rPr>
                        <m:t>𝑇𝑖𝑚𝑒𝑟</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𝑐𝑜𝑢𝑛𝑡</m:t>
                      </m:r>
                      <m:r>
                        <a:rPr lang="en-US" sz="2800" i="1">
                          <a:latin typeface="Cambria Math" panose="02040503050406030204" pitchFamily="18" charset="0"/>
                          <a:cs typeface="Arial" panose="020B0604020202020204" pitchFamily="34" charset="0"/>
                        </a:rPr>
                        <m:t>=</m:t>
                      </m:r>
                      <m:f>
                        <m:fPr>
                          <m:ctrlPr>
                            <a:rPr lang="en-US" sz="2800" i="1">
                              <a:latin typeface="Cambria Math" panose="02040503050406030204" pitchFamily="18" charset="0"/>
                              <a:cs typeface="Arial" panose="020B0604020202020204" pitchFamily="34" charset="0"/>
                            </a:rPr>
                          </m:ctrlPr>
                        </m:fPr>
                        <m:num>
                          <m:r>
                            <a:rPr lang="en-US" sz="2800" i="1">
                              <a:latin typeface="Cambria Math" panose="02040503050406030204" pitchFamily="18" charset="0"/>
                              <a:cs typeface="Arial" panose="020B0604020202020204" pitchFamily="34" charset="0"/>
                            </a:rPr>
                            <m:t>𝑅𝑒𝑞𝑢𝑖𝑟𝑒𝑑</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𝑑𝑒𝑙𝑎𝑦</m:t>
                          </m:r>
                        </m:num>
                        <m:den>
                          <m:r>
                            <a:rPr lang="en-US" sz="2800" i="1">
                              <a:latin typeface="Cambria Math" panose="02040503050406030204" pitchFamily="18" charset="0"/>
                              <a:cs typeface="Arial" panose="020B0604020202020204" pitchFamily="34" charset="0"/>
                            </a:rPr>
                            <m:t>𝑇𝑖𝑚𝑒𝑟</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𝑐𝑙𝑜𝑐𝑘</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𝑝𝑒𝑟𝑖𝑜𝑑</m:t>
                          </m:r>
                          <m:r>
                            <a:rPr lang="en-US" sz="2800" b="0" i="1" smtClean="0">
                              <a:latin typeface="Cambria Math" panose="02040503050406030204" pitchFamily="18" charset="0"/>
                              <a:cs typeface="Arial" panose="020B0604020202020204" pitchFamily="34" charset="0"/>
                            </a:rPr>
                            <m:t>, </m:t>
                          </m:r>
                          <m:sSub>
                            <m:sSubPr>
                              <m:ctrlPr>
                                <a:rPr lang="en-US" sz="2800" b="0" i="1" smtClean="0">
                                  <a:latin typeface="Cambria Math" panose="02040503050406030204" pitchFamily="18" charset="0"/>
                                  <a:cs typeface="Arial" panose="020B0604020202020204" pitchFamily="34" charset="0"/>
                                </a:rPr>
                              </m:ctrlPr>
                            </m:sSubPr>
                            <m:e>
                              <m:r>
                                <a:rPr lang="en-US" sz="2800" b="0" i="1" smtClean="0">
                                  <a:latin typeface="Cambria Math" panose="02040503050406030204" pitchFamily="18" charset="0"/>
                                  <a:cs typeface="Arial" panose="020B0604020202020204" pitchFamily="34" charset="0"/>
                                </a:rPr>
                                <m:t>𝑇</m:t>
                              </m:r>
                            </m:e>
                            <m:sub>
                              <m:r>
                                <a:rPr lang="en-US" sz="2800" b="0" i="1" smtClean="0">
                                  <a:latin typeface="Cambria Math" panose="02040503050406030204" pitchFamily="18" charset="0"/>
                                  <a:cs typeface="Arial" panose="020B0604020202020204" pitchFamily="34" charset="0"/>
                                </a:rPr>
                                <m:t>𝑡</m:t>
                              </m:r>
                            </m:sub>
                          </m:sSub>
                        </m:den>
                      </m:f>
                      <m:r>
                        <a:rPr lang="en-US" sz="2800" i="1">
                          <a:latin typeface="Cambria Math" panose="02040503050406030204" pitchFamily="18" charset="0"/>
                          <a:cs typeface="Arial" panose="020B0604020202020204" pitchFamily="34" charset="0"/>
                        </a:rPr>
                        <m:t>−1</m:t>
                      </m:r>
                    </m:oMath>
                  </m:oMathPara>
                </a14:m>
                <a:br>
                  <a:rPr lang="en-US" sz="28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a:p>
                <a:pPr marL="457200" lvl="1" indent="0">
                  <a:lnSpc>
                    <a:spcPct val="90000"/>
                  </a:lnSpc>
                  <a:spcAft>
                    <a:spcPts val="0"/>
                  </a:spcAft>
                  <a:buNone/>
                </a:pPr>
                <a:r>
                  <a:rPr lang="en-US" sz="3000" dirty="0">
                    <a:latin typeface="Arial" panose="020B0604020202020204" pitchFamily="34" charset="0"/>
                    <a:cs typeface="Arial" panose="020B0604020202020204" pitchFamily="34" charset="0"/>
                  </a:rPr>
                  <a:t>to</a:t>
                </a:r>
              </a:p>
              <a:p>
                <a:pPr marL="457200" lvl="1" indent="0">
                  <a:lnSpc>
                    <a:spcPct val="90000"/>
                  </a:lnSpc>
                  <a:spcAft>
                    <a:spcPts val="0"/>
                  </a:spcAft>
                  <a:buNone/>
                </a:pPr>
                <a:endParaRPr lang="en-US" sz="1400" dirty="0">
                  <a:latin typeface="Arial" panose="020B0604020202020204" pitchFamily="34" charset="0"/>
                  <a:cs typeface="Arial" panose="020B0604020202020204" pitchFamily="34" charset="0"/>
                </a:endParaRPr>
              </a:p>
              <a:p>
                <a:pPr marL="0" indent="0">
                  <a:lnSpc>
                    <a:spcPct val="90000"/>
                  </a:lnSpc>
                  <a:spcAft>
                    <a:spcPts val="0"/>
                  </a:spcAft>
                  <a:buNone/>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cs typeface="Arial" panose="020B0604020202020204" pitchFamily="34" charset="0"/>
                        </a:rPr>
                        <m:t>𝑇𝑖𝑚𝑒𝑟</m:t>
                      </m:r>
                      <m:r>
                        <a:rPr lang="en-US" sz="3200" i="1">
                          <a:latin typeface="Cambria Math" panose="02040503050406030204" pitchFamily="18" charset="0"/>
                          <a:cs typeface="Arial" panose="020B0604020202020204" pitchFamily="34" charset="0"/>
                        </a:rPr>
                        <m:t> </m:t>
                      </m:r>
                      <m:r>
                        <a:rPr lang="en-US" sz="3200" i="1">
                          <a:latin typeface="Cambria Math" panose="02040503050406030204" pitchFamily="18" charset="0"/>
                          <a:cs typeface="Arial" panose="020B0604020202020204" pitchFamily="34" charset="0"/>
                        </a:rPr>
                        <m:t>𝑐𝑜𝑢𝑛𝑡</m:t>
                      </m:r>
                      <m:r>
                        <a:rPr lang="en-US" sz="3200" i="1">
                          <a:latin typeface="Cambria Math" panose="02040503050406030204" pitchFamily="18" charset="0"/>
                          <a:cs typeface="Arial" panose="020B0604020202020204" pitchFamily="34" charset="0"/>
                        </a:rPr>
                        <m:t>=</m:t>
                      </m:r>
                      <m:f>
                        <m:fPr>
                          <m:ctrlPr>
                            <a:rPr lang="en-US" sz="3200" i="1">
                              <a:latin typeface="Cambria Math" panose="02040503050406030204" pitchFamily="18" charset="0"/>
                              <a:cs typeface="Arial" panose="020B0604020202020204" pitchFamily="34" charset="0"/>
                            </a:rPr>
                          </m:ctrlPr>
                        </m:fPr>
                        <m:num>
                          <m:r>
                            <a:rPr lang="en-US" sz="3200" i="1">
                              <a:latin typeface="Cambria Math" panose="02040503050406030204" pitchFamily="18" charset="0"/>
                              <a:cs typeface="Arial" panose="020B0604020202020204" pitchFamily="34" charset="0"/>
                            </a:rPr>
                            <m:t>𝑅𝑒𝑞𝑢𝑖𝑟𝑒𝑑</m:t>
                          </m:r>
                          <m:r>
                            <a:rPr lang="en-US" sz="3200" i="1">
                              <a:latin typeface="Cambria Math" panose="02040503050406030204" pitchFamily="18" charset="0"/>
                              <a:cs typeface="Arial" panose="020B0604020202020204" pitchFamily="34" charset="0"/>
                            </a:rPr>
                            <m:t> </m:t>
                          </m:r>
                          <m:r>
                            <a:rPr lang="en-US" sz="3200" i="1">
                              <a:latin typeface="Cambria Math" panose="02040503050406030204" pitchFamily="18" charset="0"/>
                              <a:cs typeface="Arial" panose="020B0604020202020204" pitchFamily="34" charset="0"/>
                            </a:rPr>
                            <m:t>𝑑𝑒𝑙𝑎𝑦</m:t>
                          </m:r>
                        </m:num>
                        <m:den>
                          <m:r>
                            <a:rPr lang="en-US" sz="3200" i="1">
                              <a:latin typeface="Cambria Math" panose="02040503050406030204" pitchFamily="18" charset="0"/>
                              <a:cs typeface="Arial" panose="020B0604020202020204" pitchFamily="34" charset="0"/>
                            </a:rPr>
                            <m:t>𝑝𝑟𝑒𝑠𝑐𝑎𝑙𝑎𝑟</m:t>
                          </m:r>
                          <m:r>
                            <a:rPr lang="en-US" sz="3200" b="0" i="1" smtClean="0">
                              <a:latin typeface="Cambria Math" panose="02040503050406030204" pitchFamily="18" charset="0"/>
                              <a:cs typeface="Arial" panose="020B0604020202020204" pitchFamily="34" charset="0"/>
                            </a:rPr>
                            <m:t> (</m:t>
                          </m:r>
                          <m:r>
                            <a:rPr lang="en-US" sz="3200" b="0" i="1" smtClean="0">
                              <a:latin typeface="Cambria Math" panose="02040503050406030204" pitchFamily="18" charset="0"/>
                              <a:cs typeface="Arial" panose="020B0604020202020204" pitchFamily="34" charset="0"/>
                            </a:rPr>
                            <m:t>𝑝𝑠</m:t>
                          </m:r>
                          <m:r>
                            <a:rPr lang="en-US" sz="3200" b="0" i="1" smtClean="0">
                              <a:latin typeface="Cambria Math" panose="02040503050406030204" pitchFamily="18" charset="0"/>
                              <a:cs typeface="Arial" panose="020B0604020202020204" pitchFamily="34" charset="0"/>
                            </a:rPr>
                            <m:t>)×</m:t>
                          </m:r>
                          <m:r>
                            <a:rPr lang="en-US" sz="3200" b="0" i="1" smtClean="0">
                              <a:latin typeface="Cambria Math" panose="02040503050406030204" pitchFamily="18" charset="0"/>
                              <a:ea typeface="Cambria Math" panose="02040503050406030204" pitchFamily="18" charset="0"/>
                              <a:cs typeface="Arial" panose="020B0604020202020204" pitchFamily="34" charset="0"/>
                            </a:rPr>
                            <m:t>𝑇</m:t>
                          </m:r>
                        </m:den>
                      </m:f>
                      <m:r>
                        <a:rPr lang="en-US" sz="3200" i="1">
                          <a:latin typeface="Cambria Math" panose="02040503050406030204" pitchFamily="18" charset="0"/>
                          <a:cs typeface="Arial" panose="020B0604020202020204" pitchFamily="34" charset="0"/>
                        </a:rPr>
                        <m:t>−1</m:t>
                      </m:r>
                    </m:oMath>
                  </m:oMathPara>
                </a14:m>
                <a:endParaRPr lang="en-US" sz="32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0D9E720B-8D07-47AD-BE90-72CC40DA7CE8}"/>
                  </a:ext>
                </a:extLst>
              </p:cNvPr>
              <p:cNvSpPr>
                <a:spLocks noGrp="1" noRot="1" noChangeAspect="1" noMove="1" noResize="1" noEditPoints="1" noAdjustHandles="1" noChangeArrowheads="1" noChangeShapeType="1" noTextEdit="1"/>
              </p:cNvSpPr>
              <p:nvPr>
                <p:ph idx="1"/>
              </p:nvPr>
            </p:nvSpPr>
            <p:spPr>
              <a:xfrm>
                <a:off x="241663" y="917045"/>
                <a:ext cx="11789228" cy="3204382"/>
              </a:xfrm>
              <a:blipFill>
                <a:blip r:embed="rId2"/>
                <a:stretch>
                  <a:fillRect l="-1189" t="-3992" b="-70342"/>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FEB8F2CC-3F9C-466B-A777-259BD2B9B758}"/>
              </a:ext>
            </a:extLst>
          </p:cNvPr>
          <p:cNvSpPr/>
          <p:nvPr/>
        </p:nvSpPr>
        <p:spPr>
          <a:xfrm>
            <a:off x="369025" y="5291908"/>
            <a:ext cx="11661866" cy="1269323"/>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Date Placeholder 5"/>
          <p:cNvSpPr>
            <a:spLocks noGrp="1"/>
          </p:cNvSpPr>
          <p:nvPr>
            <p:ph type="dt" sz="half" idx="10"/>
          </p:nvPr>
        </p:nvSpPr>
        <p:spPr/>
        <p:txBody>
          <a:bodyPr/>
          <a:lstStyle/>
          <a:p>
            <a:fld id="{F23E5688-9CE7-4E0B-BF09-90284E673E57}" type="datetime3">
              <a:rPr lang="en-US" noProof="0" smtClean="0"/>
              <a:t>15 June 2026</a:t>
            </a:fld>
            <a:endParaRPr lang="en-US" noProof="0" dirty="0"/>
          </a:p>
        </p:txBody>
      </p:sp>
      <p:sp>
        <p:nvSpPr>
          <p:cNvPr id="7" name="Footer Placeholder 6"/>
          <p:cNvSpPr>
            <a:spLocks noGrp="1"/>
          </p:cNvSpPr>
          <p:nvPr>
            <p:ph type="ftr" sz="quarter" idx="11"/>
          </p:nvPr>
        </p:nvSpPr>
        <p:spPr/>
        <p:txBody>
          <a:bodyPr/>
          <a:lstStyle/>
          <a:p>
            <a:r>
              <a:rPr lang="en-US" noProof="0" dirty="0"/>
              <a:t>Course Teacher: Prof. Dr. Engr. </a:t>
            </a:r>
            <a:r>
              <a:rPr lang="en-US" noProof="0" dirty="0" err="1"/>
              <a:t>Muhibul</a:t>
            </a:r>
            <a:r>
              <a:rPr lang="en-US" noProof="0" dirty="0"/>
              <a:t> </a:t>
            </a:r>
            <a:r>
              <a:rPr lang="en-US" noProof="0" dirty="0" err="1"/>
              <a:t>Haque</a:t>
            </a:r>
            <a:r>
              <a:rPr lang="en-US" noProof="0" dirty="0"/>
              <a:t> </a:t>
            </a:r>
            <a:r>
              <a:rPr lang="en-US" noProof="0" dirty="0" err="1"/>
              <a:t>Bhuyan</a:t>
            </a:r>
            <a:endParaRPr lang="en-US" noProof="0" dirty="0"/>
          </a:p>
        </p:txBody>
      </p:sp>
      <p:sp>
        <p:nvSpPr>
          <p:cNvPr id="8" name="Slide Number Placeholder 7"/>
          <p:cNvSpPr>
            <a:spLocks noGrp="1"/>
          </p:cNvSpPr>
          <p:nvPr>
            <p:ph type="sldNum" sz="quarter" idx="12"/>
          </p:nvPr>
        </p:nvSpPr>
        <p:spPr/>
        <p:txBody>
          <a:bodyPr/>
          <a:lstStyle/>
          <a:p>
            <a:fld id="{5D99DD2A-B520-4620-9B43-64B657BA2D42}" type="slidenum">
              <a:rPr lang="en-US" noProof="0" smtClean="0"/>
              <a:t>27</a:t>
            </a:fld>
            <a:endParaRPr lang="en-US" noProof="0"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B29AC7A-BC47-2202-D3B2-F8B88D992889}"/>
                  </a:ext>
                </a:extLst>
              </p:cNvPr>
              <p:cNvSpPr txBox="1"/>
              <p:nvPr/>
            </p:nvSpPr>
            <p:spPr>
              <a:xfrm>
                <a:off x="8024061" y="3734345"/>
                <a:ext cx="4006830" cy="1244828"/>
              </a:xfrm>
              <a:prstGeom prst="rect">
                <a:avLst/>
              </a:prstGeom>
              <a:noFill/>
            </p:spPr>
            <p:txBody>
              <a:bodyPr wrap="square" lIns="0" tIns="0" rIns="0" bIns="0" rtlCol="0">
                <a:spAutoFit/>
              </a:bodyPr>
              <a:lstStyle/>
              <a:p>
                <a:pPr/>
                <a14:m>
                  <m:oMathPara xmlns:m="http://schemas.openxmlformats.org/officeDocument/2006/math">
                    <m:oMathParaPr>
                      <m:jc m:val="right"/>
                    </m:oMathParaPr>
                    <m:oMath xmlns:m="http://schemas.openxmlformats.org/officeDocument/2006/math">
                      <m:sSub>
                        <m:sSubPr>
                          <m:ctrlPr>
                            <a:rPr lang="en-US" sz="2800" b="1" i="1" smtClean="0">
                              <a:solidFill>
                                <a:srgbClr val="FF0000"/>
                              </a:solidFill>
                              <a:latin typeface="Cambria Math" panose="02040503050406030204" pitchFamily="18" charset="0"/>
                            </a:rPr>
                          </m:ctrlPr>
                        </m:sSubPr>
                        <m:e>
                          <m:r>
                            <a:rPr lang="en-US" sz="2800" b="1" i="1" smtClean="0">
                              <a:solidFill>
                                <a:srgbClr val="FF0000"/>
                              </a:solidFill>
                              <a:latin typeface="Cambria Math" panose="02040503050406030204" pitchFamily="18" charset="0"/>
                            </a:rPr>
                            <m:t>𝑻</m:t>
                          </m:r>
                        </m:e>
                        <m:sub>
                          <m:r>
                            <a:rPr lang="en-US" sz="2800" b="1" i="1" smtClean="0">
                              <a:solidFill>
                                <a:srgbClr val="FF0000"/>
                              </a:solidFill>
                              <a:latin typeface="Cambria Math" panose="02040503050406030204" pitchFamily="18" charset="0"/>
                            </a:rPr>
                            <m:t>𝒕</m:t>
                          </m:r>
                        </m:sub>
                      </m:sSub>
                      <m:r>
                        <a:rPr lang="en-US" sz="2800" b="1" i="1" smtClean="0">
                          <a:solidFill>
                            <a:srgbClr val="FF0000"/>
                          </a:solidFill>
                          <a:latin typeface="Cambria Math" panose="02040503050406030204" pitchFamily="18" charset="0"/>
                        </a:rPr>
                        <m:t>=</m:t>
                      </m:r>
                      <m:f>
                        <m:fPr>
                          <m:ctrlPr>
                            <a:rPr lang="en-US" sz="2800" b="1" i="1" smtClean="0">
                              <a:solidFill>
                                <a:srgbClr val="FF0000"/>
                              </a:solidFill>
                              <a:latin typeface="Cambria Math" panose="02040503050406030204" pitchFamily="18" charset="0"/>
                            </a:rPr>
                          </m:ctrlPr>
                        </m:fPr>
                        <m:num>
                          <m:r>
                            <a:rPr lang="en-US" sz="2800" b="1" i="1" smtClean="0">
                              <a:solidFill>
                                <a:srgbClr val="FF0000"/>
                              </a:solidFill>
                              <a:latin typeface="Cambria Math" panose="02040503050406030204" pitchFamily="18" charset="0"/>
                            </a:rPr>
                            <m:t>𝟏</m:t>
                          </m:r>
                        </m:num>
                        <m:den>
                          <m:f>
                            <m:fPr>
                              <m:ctrlPr>
                                <a:rPr lang="en-US" sz="2800" b="1" i="1" smtClean="0">
                                  <a:solidFill>
                                    <a:srgbClr val="FF0000"/>
                                  </a:solidFill>
                                  <a:latin typeface="Cambria Math" panose="02040503050406030204" pitchFamily="18" charset="0"/>
                                </a:rPr>
                              </m:ctrlPr>
                            </m:fPr>
                            <m:num>
                              <m:r>
                                <a:rPr lang="en-US" sz="2800" b="1" i="1" smtClean="0">
                                  <a:solidFill>
                                    <a:srgbClr val="FF0000"/>
                                  </a:solidFill>
                                  <a:latin typeface="Cambria Math" panose="02040503050406030204" pitchFamily="18" charset="0"/>
                                </a:rPr>
                                <m:t>𝒇</m:t>
                              </m:r>
                            </m:num>
                            <m:den>
                              <m:r>
                                <a:rPr lang="en-US" sz="2800" b="1" i="1" smtClean="0">
                                  <a:solidFill>
                                    <a:srgbClr val="FF0000"/>
                                  </a:solidFill>
                                  <a:latin typeface="Cambria Math" panose="02040503050406030204" pitchFamily="18" charset="0"/>
                                </a:rPr>
                                <m:t>𝒑𝒔</m:t>
                              </m:r>
                            </m:den>
                          </m:f>
                        </m:den>
                      </m:f>
                      <m:r>
                        <a:rPr lang="en-US" sz="2800" b="1" i="1" smtClean="0">
                          <a:solidFill>
                            <a:srgbClr val="FF0000"/>
                          </a:solidFill>
                          <a:latin typeface="Cambria Math" panose="02040503050406030204" pitchFamily="18" charset="0"/>
                        </a:rPr>
                        <m:t>=</m:t>
                      </m:r>
                      <m:f>
                        <m:fPr>
                          <m:ctrlPr>
                            <a:rPr lang="en-US" sz="2800" b="1" i="1" smtClean="0">
                              <a:solidFill>
                                <a:srgbClr val="FF0000"/>
                              </a:solidFill>
                              <a:latin typeface="Cambria Math" panose="02040503050406030204" pitchFamily="18" charset="0"/>
                            </a:rPr>
                          </m:ctrlPr>
                        </m:fPr>
                        <m:num>
                          <m:r>
                            <a:rPr lang="en-US" sz="2800" b="1" i="1" smtClean="0">
                              <a:solidFill>
                                <a:srgbClr val="FF0000"/>
                              </a:solidFill>
                              <a:latin typeface="Cambria Math" panose="02040503050406030204" pitchFamily="18" charset="0"/>
                            </a:rPr>
                            <m:t>𝒑𝒔</m:t>
                          </m:r>
                        </m:num>
                        <m:den>
                          <m:r>
                            <a:rPr lang="en-US" sz="2800" b="1" i="1" smtClean="0">
                              <a:solidFill>
                                <a:srgbClr val="FF0000"/>
                              </a:solidFill>
                              <a:latin typeface="Cambria Math" panose="02040503050406030204" pitchFamily="18" charset="0"/>
                            </a:rPr>
                            <m:t>𝒇</m:t>
                          </m:r>
                        </m:den>
                      </m:f>
                      <m:r>
                        <a:rPr lang="en-US" sz="2800" b="1" i="1">
                          <a:solidFill>
                            <a:srgbClr val="FF0000"/>
                          </a:solidFill>
                          <a:latin typeface="Cambria Math" panose="02040503050406030204" pitchFamily="18" charset="0"/>
                        </a:rPr>
                        <m:t>=</m:t>
                      </m:r>
                      <m:r>
                        <a:rPr lang="en-US" sz="2800" b="1" i="1" smtClean="0">
                          <a:solidFill>
                            <a:srgbClr val="FF0000"/>
                          </a:solidFill>
                          <a:latin typeface="Cambria Math" panose="02040503050406030204" pitchFamily="18" charset="0"/>
                        </a:rPr>
                        <m:t>𝒑𝒔</m:t>
                      </m:r>
                      <m:r>
                        <a:rPr lang="en-US" sz="2800" b="1" i="1" smtClean="0">
                          <a:solidFill>
                            <a:srgbClr val="FF0000"/>
                          </a:solidFill>
                          <a:latin typeface="Cambria Math" panose="02040503050406030204" pitchFamily="18" charset="0"/>
                          <a:ea typeface="Cambria Math" panose="02040503050406030204" pitchFamily="18" charset="0"/>
                        </a:rPr>
                        <m:t>×</m:t>
                      </m:r>
                      <m:r>
                        <a:rPr lang="en-US" sz="2800" b="1" i="1" smtClean="0">
                          <a:solidFill>
                            <a:srgbClr val="FF0000"/>
                          </a:solidFill>
                          <a:latin typeface="Cambria Math" panose="02040503050406030204" pitchFamily="18" charset="0"/>
                          <a:ea typeface="Cambria Math" panose="02040503050406030204" pitchFamily="18" charset="0"/>
                        </a:rPr>
                        <m:t>𝑻</m:t>
                      </m:r>
                    </m:oMath>
                  </m:oMathPara>
                </a14:m>
                <a:endParaRPr lang="en-US" sz="2800" b="1" dirty="0">
                  <a:solidFill>
                    <a:srgbClr val="FF0000"/>
                  </a:solidFill>
                </a:endParaRPr>
              </a:p>
            </p:txBody>
          </p:sp>
        </mc:Choice>
        <mc:Fallback xmlns="">
          <p:sp>
            <p:nvSpPr>
              <p:cNvPr id="5" name="TextBox 4">
                <a:extLst>
                  <a:ext uri="{FF2B5EF4-FFF2-40B4-BE49-F238E27FC236}">
                    <a16:creationId xmlns:a16="http://schemas.microsoft.com/office/drawing/2014/main" id="{0B29AC7A-BC47-2202-D3B2-F8B88D992889}"/>
                  </a:ext>
                </a:extLst>
              </p:cNvPr>
              <p:cNvSpPr txBox="1">
                <a:spLocks noRot="1" noChangeAspect="1" noMove="1" noResize="1" noEditPoints="1" noAdjustHandles="1" noChangeArrowheads="1" noChangeShapeType="1" noTextEdit="1"/>
              </p:cNvSpPr>
              <p:nvPr/>
            </p:nvSpPr>
            <p:spPr>
              <a:xfrm>
                <a:off x="8024061" y="3734345"/>
                <a:ext cx="4006830" cy="1244828"/>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99392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1+#ppt_w/2"/>
                                          </p:val>
                                        </p:tav>
                                        <p:tav tm="100000">
                                          <p:val>
                                            <p:strVal val="#ppt_x"/>
                                          </p:val>
                                        </p:tav>
                                      </p:tavLst>
                                    </p:anim>
                                    <p:anim calcmode="lin" valueType="num">
                                      <p:cBhvr additive="base">
                                        <p:cTn id="2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heel(1)">
                                      <p:cBhvr>
                                        <p:cTn id="29"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41514" y="87809"/>
            <a:ext cx="10519230" cy="1066800"/>
          </a:xfrm>
        </p:spPr>
        <p:txBody>
          <a:bodyPr>
            <a:noAutofit/>
          </a:bodyPr>
          <a:lstStyle/>
          <a:p>
            <a:r>
              <a:rPr lang="en-US" sz="4000" b="1" cap="none" dirty="0"/>
              <a:t>Timer for Delay: Calculating Count</a:t>
            </a:r>
          </a:p>
        </p:txBody>
      </p:sp>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241663" y="1058091"/>
            <a:ext cx="11789228" cy="3396343"/>
          </a:xfrm>
        </p:spPr>
        <p:txBody>
          <a:bodyPr>
            <a:noAutofit/>
          </a:bodyPr>
          <a:lstStyle/>
          <a:p>
            <a:pPr>
              <a:lnSpc>
                <a:spcPct val="90000"/>
              </a:lnSpc>
              <a:spcAft>
                <a:spcPts val="0"/>
              </a:spcAft>
            </a:pPr>
            <a:r>
              <a:rPr lang="en-US" sz="3600" dirty="0">
                <a:latin typeface="Arial" panose="020B0604020202020204" pitchFamily="34" charset="0"/>
                <a:cs typeface="Arial" panose="020B0604020202020204" pitchFamily="34" charset="0"/>
              </a:rPr>
              <a:t>Maximum possible delay for </a:t>
            </a:r>
            <a:r>
              <a:rPr lang="en-US" sz="3600" b="1" dirty="0">
                <a:latin typeface="Arial" panose="020B0604020202020204" pitchFamily="34" charset="0"/>
                <a:cs typeface="Arial" panose="020B0604020202020204" pitchFamily="34" charset="0"/>
              </a:rPr>
              <a:t>Timer0 </a:t>
            </a:r>
            <a:r>
              <a:rPr lang="en-US" sz="3600" dirty="0">
                <a:latin typeface="Arial" panose="020B0604020202020204" pitchFamily="34" charset="0"/>
                <a:cs typeface="Arial" panose="020B0604020202020204" pitchFamily="34" charset="0"/>
              </a:rPr>
              <a:t>at 15625 Hz: 64 </a:t>
            </a:r>
            <a:r>
              <a:rPr lang="el-GR" sz="3600" dirty="0">
                <a:latin typeface="Arial" panose="020B0604020202020204" pitchFamily="34" charset="0"/>
                <a:cs typeface="Arial" panose="020B0604020202020204" pitchFamily="34" charset="0"/>
              </a:rPr>
              <a:t>μ</a:t>
            </a:r>
            <a:r>
              <a:rPr lang="en-US" sz="3600" dirty="0">
                <a:latin typeface="Arial" panose="020B0604020202020204" pitchFamily="34" charset="0"/>
                <a:cs typeface="Arial" panose="020B0604020202020204" pitchFamily="34" charset="0"/>
              </a:rPr>
              <a:t>s × 256 = </a:t>
            </a:r>
            <a:r>
              <a:rPr lang="en-US" sz="3600" b="1" dirty="0">
                <a:latin typeface="Arial" panose="020B0604020202020204" pitchFamily="34" charset="0"/>
                <a:cs typeface="Arial" panose="020B0604020202020204" pitchFamily="34" charset="0"/>
              </a:rPr>
              <a:t>16.384 </a:t>
            </a:r>
            <a:r>
              <a:rPr lang="en-US" sz="3600" b="1" dirty="0" err="1">
                <a:latin typeface="Arial" panose="020B0604020202020204" pitchFamily="34" charset="0"/>
                <a:cs typeface="Arial" panose="020B0604020202020204" pitchFamily="34" charset="0"/>
              </a:rPr>
              <a:t>ms</a:t>
            </a:r>
            <a:endParaRPr lang="en-US" sz="3600" b="1" dirty="0">
              <a:latin typeface="Arial" panose="020B0604020202020204" pitchFamily="34" charset="0"/>
              <a:cs typeface="Arial" panose="020B0604020202020204" pitchFamily="34" charset="0"/>
            </a:endParaRPr>
          </a:p>
          <a:p>
            <a:pPr>
              <a:lnSpc>
                <a:spcPct val="90000"/>
              </a:lnSpc>
              <a:spcAft>
                <a:spcPts val="0"/>
              </a:spcAft>
            </a:pPr>
            <a:r>
              <a:rPr lang="en-US" sz="3600" dirty="0">
                <a:latin typeface="Arial" panose="020B0604020202020204" pitchFamily="34" charset="0"/>
                <a:cs typeface="Arial" panose="020B0604020202020204" pitchFamily="34" charset="0"/>
              </a:rPr>
              <a:t>Maximum possible delay for </a:t>
            </a:r>
            <a:r>
              <a:rPr lang="en-US" sz="3600" b="1" dirty="0">
                <a:latin typeface="Arial" panose="020B0604020202020204" pitchFamily="34" charset="0"/>
                <a:cs typeface="Arial" panose="020B0604020202020204" pitchFamily="34" charset="0"/>
              </a:rPr>
              <a:t>Timer1 </a:t>
            </a:r>
            <a:r>
              <a:rPr lang="en-US" sz="3600" dirty="0">
                <a:latin typeface="Arial" panose="020B0604020202020204" pitchFamily="34" charset="0"/>
                <a:cs typeface="Arial" panose="020B0604020202020204" pitchFamily="34" charset="0"/>
              </a:rPr>
              <a:t>at 15625 Hz: 64 </a:t>
            </a:r>
            <a:r>
              <a:rPr lang="el-GR" sz="3600" dirty="0">
                <a:latin typeface="Arial" panose="020B0604020202020204" pitchFamily="34" charset="0"/>
                <a:cs typeface="Arial" panose="020B0604020202020204" pitchFamily="34" charset="0"/>
              </a:rPr>
              <a:t>μ</a:t>
            </a:r>
            <a:r>
              <a:rPr lang="en-US" sz="3600" dirty="0">
                <a:latin typeface="Arial" panose="020B0604020202020204" pitchFamily="34" charset="0"/>
                <a:cs typeface="Arial" panose="020B0604020202020204" pitchFamily="34" charset="0"/>
              </a:rPr>
              <a:t>s × 65536 = </a:t>
            </a:r>
            <a:r>
              <a:rPr lang="en-US" sz="3600" b="1" dirty="0">
                <a:latin typeface="Arial" panose="020B0604020202020204" pitchFamily="34" charset="0"/>
                <a:cs typeface="Arial" panose="020B0604020202020204" pitchFamily="34" charset="0"/>
              </a:rPr>
              <a:t>4.194304 s</a:t>
            </a:r>
          </a:p>
          <a:p>
            <a:pPr>
              <a:lnSpc>
                <a:spcPct val="90000"/>
              </a:lnSpc>
              <a:spcAft>
                <a:spcPts val="0"/>
              </a:spcAft>
            </a:pPr>
            <a:r>
              <a:rPr lang="en-US" sz="3600" dirty="0">
                <a:latin typeface="Arial" panose="020B0604020202020204" pitchFamily="34" charset="0"/>
                <a:cs typeface="Arial" panose="020B0604020202020204" pitchFamily="34" charset="0"/>
              </a:rPr>
              <a:t>To get longer delays, we will use Timer1, and for delays longer than 4 s, nested if statements can be used.</a:t>
            </a:r>
          </a:p>
        </p:txBody>
      </p:sp>
      <p:sp>
        <p:nvSpPr>
          <p:cNvPr id="5" name="Date Placeholder 4"/>
          <p:cNvSpPr>
            <a:spLocks noGrp="1"/>
          </p:cNvSpPr>
          <p:nvPr>
            <p:ph type="dt" sz="half" idx="10"/>
          </p:nvPr>
        </p:nvSpPr>
        <p:spPr/>
        <p:txBody>
          <a:bodyPr/>
          <a:lstStyle/>
          <a:p>
            <a:fld id="{BE87D0B8-FDE1-4C2A-AFC3-FFBBF7E9CA04}" type="datetime3">
              <a:rPr lang="en-US" noProof="0" smtClean="0"/>
              <a:t>15 June 2026</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p:cNvSpPr>
            <a:spLocks noGrp="1"/>
          </p:cNvSpPr>
          <p:nvPr>
            <p:ph type="sldNum" sz="quarter" idx="12"/>
          </p:nvPr>
        </p:nvSpPr>
        <p:spPr/>
        <p:txBody>
          <a:bodyPr/>
          <a:lstStyle/>
          <a:p>
            <a:fld id="{5D99DD2A-B520-4620-9B43-64B657BA2D42}" type="slidenum">
              <a:rPr lang="en-US" noProof="0" smtClean="0"/>
              <a:t>28</a:t>
            </a:fld>
            <a:endParaRPr lang="en-US" noProof="0" dirty="0"/>
          </a:p>
        </p:txBody>
      </p:sp>
    </p:spTree>
    <p:extLst>
      <p:ext uri="{BB962C8B-B14F-4D97-AF65-F5344CB8AC3E}">
        <p14:creationId xmlns:p14="http://schemas.microsoft.com/office/powerpoint/2010/main" val="583139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31885" y="74474"/>
            <a:ext cx="10840914" cy="530160"/>
          </a:xfrm>
        </p:spPr>
        <p:txBody>
          <a:bodyPr>
            <a:noAutofit/>
          </a:bodyPr>
          <a:lstStyle/>
          <a:p>
            <a:r>
              <a:rPr lang="en-US" sz="3600" b="1" cap="none" dirty="0"/>
              <a:t>Problem Statement </a:t>
            </a:r>
            <a:r>
              <a:rPr lang="en-US" sz="3600" b="1" cap="none" dirty="0">
                <a:latin typeface="Arial" panose="020B0604020202020204" pitchFamily="34" charset="0"/>
                <a:cs typeface="Arial" panose="020B0604020202020204" pitchFamily="34" charset="0"/>
              </a:rPr>
              <a:t>1</a:t>
            </a:r>
            <a:endParaRPr lang="en-US" sz="3600" b="1" cap="none" dirty="0"/>
          </a:p>
        </p:txBody>
      </p:sp>
      <p:pic>
        <p:nvPicPr>
          <p:cNvPr id="7" name="Picture 6">
            <a:extLst>
              <a:ext uri="{FF2B5EF4-FFF2-40B4-BE49-F238E27FC236}">
                <a16:creationId xmlns:a16="http://schemas.microsoft.com/office/drawing/2014/main" id="{0D2FC713-1636-4C6E-A006-3BD5521B02A1}"/>
              </a:ext>
            </a:extLst>
          </p:cNvPr>
          <p:cNvPicPr>
            <a:picLocks noChangeAspect="1"/>
          </p:cNvPicPr>
          <p:nvPr/>
        </p:nvPicPr>
        <p:blipFill>
          <a:blip r:embed="rId2"/>
          <a:stretch>
            <a:fillRect/>
          </a:stretch>
        </p:blipFill>
        <p:spPr>
          <a:xfrm>
            <a:off x="328744" y="1988141"/>
            <a:ext cx="6577149" cy="4795837"/>
          </a:xfrm>
          <a:prstGeom prst="rect">
            <a:avLst/>
          </a:prstGeom>
        </p:spPr>
      </p:pic>
      <p:sp>
        <p:nvSpPr>
          <p:cNvPr id="8" name="Arrow: Right 7">
            <a:extLst>
              <a:ext uri="{FF2B5EF4-FFF2-40B4-BE49-F238E27FC236}">
                <a16:creationId xmlns:a16="http://schemas.microsoft.com/office/drawing/2014/main" id="{ED9C7BFE-3095-4195-B95F-696270878F8E}"/>
              </a:ext>
            </a:extLst>
          </p:cNvPr>
          <p:cNvSpPr/>
          <p:nvPr/>
        </p:nvSpPr>
        <p:spPr>
          <a:xfrm rot="21270516">
            <a:off x="2423187" y="4323270"/>
            <a:ext cx="1622653" cy="311438"/>
          </a:xfrm>
          <a:prstGeom prst="rightArrow">
            <a:avLst>
              <a:gd name="adj1" fmla="val 50000"/>
              <a:gd name="adj2" fmla="val 8350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22CBD7D-29C4-4F5C-AC68-7B626B4F5363}"/>
              </a:ext>
            </a:extLst>
          </p:cNvPr>
          <p:cNvSpPr txBox="1"/>
          <p:nvPr/>
        </p:nvSpPr>
        <p:spPr>
          <a:xfrm>
            <a:off x="4050160" y="4329017"/>
            <a:ext cx="4648200" cy="307777"/>
          </a:xfrm>
          <a:prstGeom prst="rect">
            <a:avLst/>
          </a:prstGeom>
          <a:solidFill>
            <a:schemeClr val="tx1"/>
          </a:solidFill>
        </p:spPr>
        <p:txBody>
          <a:bodyPr wrap="square" rtlCol="0">
            <a:spAutoFit/>
          </a:bodyPr>
          <a:lstStyle/>
          <a:p>
            <a:r>
              <a:rPr lang="en-US" sz="1400" b="1" dirty="0">
                <a:solidFill>
                  <a:srgbClr val="0070C0"/>
                </a:solidFill>
                <a:latin typeface="Arial" panose="020B0604020202020204" pitchFamily="34" charset="0"/>
                <a:cs typeface="Arial" panose="020B0604020202020204" pitchFamily="34" charset="0"/>
              </a:rPr>
              <a:t>WGM01 and WGM00 are set to zero for normal mode</a:t>
            </a:r>
            <a:endParaRPr lang="en-US" sz="1400" b="1" dirty="0">
              <a:solidFill>
                <a:srgbClr val="0070C0"/>
              </a:solidFill>
            </a:endParaRPr>
          </a:p>
        </p:txBody>
      </p:sp>
      <p:sp>
        <p:nvSpPr>
          <p:cNvPr id="11" name="TextBox 10">
            <a:extLst>
              <a:ext uri="{FF2B5EF4-FFF2-40B4-BE49-F238E27FC236}">
                <a16:creationId xmlns:a16="http://schemas.microsoft.com/office/drawing/2014/main" id="{BAF89D3E-C4E0-4D35-BC80-60867291C67B}"/>
              </a:ext>
            </a:extLst>
          </p:cNvPr>
          <p:cNvSpPr txBox="1"/>
          <p:nvPr/>
        </p:nvSpPr>
        <p:spPr>
          <a:xfrm>
            <a:off x="6794605" y="4949456"/>
            <a:ext cx="2445530" cy="954107"/>
          </a:xfrm>
          <a:prstGeom prst="rect">
            <a:avLst/>
          </a:prstGeom>
          <a:solidFill>
            <a:schemeClr val="tx1"/>
          </a:solidFill>
        </p:spPr>
        <p:txBody>
          <a:bodyPr wrap="square" rtlCol="0">
            <a:spAutoFit/>
          </a:bodyPr>
          <a:lstStyle/>
          <a:p>
            <a:r>
              <a:rPr lang="en-US" sz="1400" b="1" dirty="0">
                <a:solidFill>
                  <a:srgbClr val="0070C0"/>
                </a:solidFill>
                <a:latin typeface="Arial" panose="020B0604020202020204" pitchFamily="34" charset="0"/>
                <a:cs typeface="Arial" panose="020B0604020202020204" pitchFamily="34" charset="0"/>
              </a:rPr>
              <a:t>WGM02 is set to zero for normal mode; CS02, CS01, CS00 are set to 1, 0, 1 for a pre-scalar of 1024</a:t>
            </a:r>
            <a:endParaRPr lang="en-US" sz="1400" b="1" dirty="0">
              <a:solidFill>
                <a:srgbClr val="0070C0"/>
              </a:solidFill>
            </a:endParaRPr>
          </a:p>
        </p:txBody>
      </p:sp>
      <p:sp>
        <p:nvSpPr>
          <p:cNvPr id="12" name="Arrow: Right 11">
            <a:extLst>
              <a:ext uri="{FF2B5EF4-FFF2-40B4-BE49-F238E27FC236}">
                <a16:creationId xmlns:a16="http://schemas.microsoft.com/office/drawing/2014/main" id="{39D8F8DB-C6C0-4983-BB40-BE0ADA6DD2C8}"/>
              </a:ext>
            </a:extLst>
          </p:cNvPr>
          <p:cNvSpPr/>
          <p:nvPr/>
        </p:nvSpPr>
        <p:spPr>
          <a:xfrm>
            <a:off x="6869036" y="6025350"/>
            <a:ext cx="1573402" cy="511939"/>
          </a:xfrm>
          <a:prstGeom prst="rightArrow">
            <a:avLst>
              <a:gd name="adj1" fmla="val 37539"/>
              <a:gd name="adj2" fmla="val 50000"/>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686E1B0F-275E-492A-8B77-01916C7C6325}"/>
              </a:ext>
            </a:extLst>
          </p:cNvPr>
          <p:cNvSpPr txBox="1"/>
          <p:nvPr/>
        </p:nvSpPr>
        <p:spPr>
          <a:xfrm>
            <a:off x="8551024" y="6094749"/>
            <a:ext cx="2213366" cy="307777"/>
          </a:xfrm>
          <a:prstGeom prst="rect">
            <a:avLst/>
          </a:prstGeom>
          <a:solidFill>
            <a:schemeClr val="tx1"/>
          </a:solidFill>
        </p:spPr>
        <p:txBody>
          <a:bodyPr wrap="square" rtlCol="0">
            <a:spAutoFit/>
          </a:bodyPr>
          <a:lstStyle/>
          <a:p>
            <a:r>
              <a:rPr lang="en-US" sz="1400" b="1" dirty="0">
                <a:solidFill>
                  <a:srgbClr val="0070C0"/>
                </a:solidFill>
                <a:latin typeface="Arial" panose="020B0604020202020204" pitchFamily="34" charset="0"/>
                <a:cs typeface="Arial" panose="020B0604020202020204" pitchFamily="34" charset="0"/>
              </a:rPr>
              <a:t>Make the LED blink</a:t>
            </a:r>
            <a:endParaRPr lang="en-US" sz="1400" b="1" dirty="0">
              <a:solidFill>
                <a:srgbClr val="0070C0"/>
              </a:solidFill>
            </a:endParaRPr>
          </a:p>
        </p:txBody>
      </p:sp>
      <p:sp>
        <p:nvSpPr>
          <p:cNvPr id="9" name="Arrow: Right 8">
            <a:extLst>
              <a:ext uri="{FF2B5EF4-FFF2-40B4-BE49-F238E27FC236}">
                <a16:creationId xmlns:a16="http://schemas.microsoft.com/office/drawing/2014/main" id="{769F2BB9-812D-4BC1-9427-6DB14ACF2297}"/>
              </a:ext>
            </a:extLst>
          </p:cNvPr>
          <p:cNvSpPr/>
          <p:nvPr/>
        </p:nvSpPr>
        <p:spPr>
          <a:xfrm rot="214822">
            <a:off x="2202636" y="4946617"/>
            <a:ext cx="4577076" cy="230616"/>
          </a:xfrm>
          <a:prstGeom prst="righ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131885" y="455474"/>
            <a:ext cx="11925131" cy="1569660"/>
          </a:xfrm>
          <a:prstGeom prst="rect">
            <a:avLst/>
          </a:prstGeom>
        </p:spPr>
        <p:txBody>
          <a:bodyPr wrap="square">
            <a:spAutoFit/>
          </a:bodyPr>
          <a:lstStyle/>
          <a:p>
            <a:r>
              <a:rPr lang="en-US" sz="2400" b="1" dirty="0">
                <a:latin typeface="Arial" panose="020B0604020202020204" pitchFamily="34" charset="0"/>
                <a:cs typeface="Arial" panose="020B0604020202020204" pitchFamily="34" charset="0"/>
              </a:rPr>
              <a:t>Make an LED blink every</a:t>
            </a:r>
            <a:r>
              <a:rPr lang="en-US" sz="2400" b="1" dirty="0">
                <a:solidFill>
                  <a:srgbClr val="FF0000"/>
                </a:solidFill>
                <a:latin typeface="Arial" panose="020B0604020202020204" pitchFamily="34" charset="0"/>
                <a:cs typeface="Arial" panose="020B0604020202020204" pitchFamily="34" charset="0"/>
              </a:rPr>
              <a:t> 2 milliseconds </a:t>
            </a:r>
            <a:r>
              <a:rPr lang="en-US" sz="2400" b="1" dirty="0">
                <a:latin typeface="Arial" panose="020B0604020202020204" pitchFamily="34" charset="0"/>
                <a:cs typeface="Arial" panose="020B0604020202020204" pitchFamily="34" charset="0"/>
              </a:rPr>
              <a:t>while using Arduino system frequency (F_CPU) 16 MHz, using timer to generate the delay without any application of delay() function. </a:t>
            </a:r>
            <a:r>
              <a:rPr lang="en-US" sz="2400" dirty="0">
                <a:latin typeface="Arial" panose="020B0604020202020204" pitchFamily="34" charset="0"/>
                <a:cs typeface="Arial" panose="020B0604020202020204" pitchFamily="34" charset="0"/>
              </a:rPr>
              <a:t>Delay = 2 </a:t>
            </a:r>
            <a:r>
              <a:rPr lang="en-US" sz="2400" dirty="0" err="1">
                <a:latin typeface="Arial" panose="020B0604020202020204" pitchFamily="34" charset="0"/>
                <a:cs typeface="Arial" panose="020B0604020202020204" pitchFamily="34" charset="0"/>
              </a:rPr>
              <a:t>ms</a:t>
            </a:r>
            <a:r>
              <a:rPr lang="en-US" sz="2400" dirty="0">
                <a:latin typeface="Arial" panose="020B0604020202020204" pitchFamily="34" charset="0"/>
                <a:cs typeface="Arial" panose="020B0604020202020204" pitchFamily="34" charset="0"/>
              </a:rPr>
              <a:t>, so </a:t>
            </a:r>
            <a:r>
              <a:rPr lang="en-US" sz="2400" b="1" dirty="0">
                <a:solidFill>
                  <a:srgbClr val="FF0000"/>
                </a:solidFill>
                <a:latin typeface="Arial" panose="020B0604020202020204" pitchFamily="34" charset="0"/>
                <a:cs typeface="Arial" panose="020B0604020202020204" pitchFamily="34" charset="0"/>
              </a:rPr>
              <a:t>Timer0</a:t>
            </a:r>
            <a:r>
              <a:rPr lang="en-US" sz="2400" dirty="0">
                <a:latin typeface="Arial" panose="020B0604020202020204" pitchFamily="34" charset="0"/>
                <a:cs typeface="Arial" panose="020B0604020202020204" pitchFamily="34" charset="0"/>
              </a:rPr>
              <a:t> can be used with pre-scalar 1024.</a:t>
            </a:r>
          </a:p>
          <a:p>
            <a:pPr algn="just"/>
            <a:r>
              <a:rPr lang="en-US" sz="2400" dirty="0">
                <a:latin typeface="Arial" panose="020B0604020202020204" pitchFamily="34" charset="0"/>
                <a:cs typeface="Arial" panose="020B0604020202020204" pitchFamily="34" charset="0"/>
              </a:rPr>
              <a:t>Number of count needed to reach 2 </a:t>
            </a:r>
            <a:r>
              <a:rPr lang="en-US" sz="2400" dirty="0" err="1">
                <a:latin typeface="Arial" panose="020B0604020202020204" pitchFamily="34" charset="0"/>
                <a:cs typeface="Arial" panose="020B0604020202020204" pitchFamily="34" charset="0"/>
              </a:rPr>
              <a:t>ms</a:t>
            </a:r>
            <a:r>
              <a:rPr lang="en-US" sz="2400" dirty="0">
                <a:latin typeface="Arial" panose="020B0604020202020204" pitchFamily="34" charset="0"/>
                <a:cs typeface="Arial" panose="020B0604020202020204" pitchFamily="34" charset="0"/>
              </a:rPr>
              <a:t> = (2,000 </a:t>
            </a:r>
            <a:r>
              <a:rPr lang="en-US" sz="2400" dirty="0" err="1">
                <a:latin typeface="Symbol" panose="05050102010706020507" pitchFamily="18" charset="2"/>
                <a:cs typeface="Arial" panose="020B0604020202020204" pitchFamily="34" charset="0"/>
              </a:rPr>
              <a:t>m</a:t>
            </a:r>
            <a:r>
              <a:rPr lang="en-US" sz="2400" dirty="0" err="1">
                <a:latin typeface="Arial" panose="020B0604020202020204" pitchFamily="34" charset="0"/>
                <a:cs typeface="Arial" panose="020B0604020202020204" pitchFamily="34" charset="0"/>
              </a:rPr>
              <a:t>s</a:t>
            </a:r>
            <a:r>
              <a:rPr lang="en-US" sz="2400" dirty="0">
                <a:latin typeface="Arial" panose="020B0604020202020204" pitchFamily="34" charset="0"/>
                <a:cs typeface="Arial" panose="020B0604020202020204" pitchFamily="34" charset="0"/>
              </a:rPr>
              <a:t>/64 </a:t>
            </a:r>
            <a:r>
              <a:rPr lang="el-GR" sz="2400" dirty="0">
                <a:latin typeface="Arial" panose="020B0604020202020204" pitchFamily="34" charset="0"/>
                <a:cs typeface="Arial" panose="020B0604020202020204" pitchFamily="34" charset="0"/>
              </a:rPr>
              <a:t>μ</a:t>
            </a:r>
            <a:r>
              <a:rPr lang="en-US" sz="2400" dirty="0">
                <a:latin typeface="Arial" panose="020B0604020202020204" pitchFamily="34" charset="0"/>
                <a:cs typeface="Arial" panose="020B0604020202020204" pitchFamily="34" charset="0"/>
              </a:rPr>
              <a:t>s) – 1 = 30.25 ≈ 31 </a:t>
            </a:r>
            <a:r>
              <a:rPr lang="en-US" sz="2400" b="1" dirty="0">
                <a:solidFill>
                  <a:srgbClr val="FF0000"/>
                </a:solidFill>
                <a:latin typeface="Arial" panose="020B0604020202020204" pitchFamily="34" charset="0"/>
                <a:cs typeface="Arial" panose="020B0604020202020204" pitchFamily="34" charset="0"/>
              </a:rPr>
              <a:t>&lt;&lt; 255</a:t>
            </a:r>
            <a:r>
              <a:rPr lang="en-US" sz="2400" dirty="0">
                <a:latin typeface="Arial" panose="020B0604020202020204" pitchFamily="34" charset="0"/>
                <a:cs typeface="Arial" panose="020B0604020202020204" pitchFamily="34" charset="0"/>
              </a:rPr>
              <a:t>.</a:t>
            </a:r>
          </a:p>
        </p:txBody>
      </p:sp>
      <p:sp>
        <p:nvSpPr>
          <p:cNvPr id="6" name="Date Placeholder 5"/>
          <p:cNvSpPr>
            <a:spLocks noGrp="1"/>
          </p:cNvSpPr>
          <p:nvPr>
            <p:ph type="dt" sz="half" idx="10"/>
          </p:nvPr>
        </p:nvSpPr>
        <p:spPr/>
        <p:txBody>
          <a:bodyPr/>
          <a:lstStyle/>
          <a:p>
            <a:fld id="{455EFCD7-8221-4AEF-A4ED-E64BCEFAE3AA}" type="datetime3">
              <a:rPr lang="en-US" noProof="0" smtClean="0"/>
              <a:t>15 June 2026</a:t>
            </a:fld>
            <a:endParaRPr lang="en-US" noProof="0" dirty="0"/>
          </a:p>
        </p:txBody>
      </p:sp>
      <p:sp>
        <p:nvSpPr>
          <p:cNvPr id="14" name="Footer Placeholder 13"/>
          <p:cNvSpPr>
            <a:spLocks noGrp="1"/>
          </p:cNvSpPr>
          <p:nvPr>
            <p:ph type="ftr" sz="quarter" idx="11"/>
          </p:nvPr>
        </p:nvSpPr>
        <p:spPr/>
        <p:txBody>
          <a:bodyPr/>
          <a:lstStyle/>
          <a:p>
            <a:r>
              <a:rPr lang="en-US" noProof="0"/>
              <a:t>Course Teacher: Prof. Dr. Engr. Muhibul Haque Bhuyan</a:t>
            </a:r>
            <a:endParaRPr lang="en-US" noProof="0" dirty="0"/>
          </a:p>
        </p:txBody>
      </p:sp>
      <p:sp>
        <p:nvSpPr>
          <p:cNvPr id="15" name="Slide Number Placeholder 14"/>
          <p:cNvSpPr>
            <a:spLocks noGrp="1"/>
          </p:cNvSpPr>
          <p:nvPr>
            <p:ph type="sldNum" sz="quarter" idx="12"/>
          </p:nvPr>
        </p:nvSpPr>
        <p:spPr/>
        <p:txBody>
          <a:bodyPr/>
          <a:lstStyle/>
          <a:p>
            <a:fld id="{5D99DD2A-B520-4620-9B43-64B657BA2D42}" type="slidenum">
              <a:rPr lang="en-US" noProof="0" smtClean="0"/>
              <a:t>29</a:t>
            </a:fld>
            <a:endParaRPr lang="en-US" noProof="0" dirty="0"/>
          </a:p>
        </p:txBody>
      </p:sp>
      <p:pic>
        <p:nvPicPr>
          <p:cNvPr id="16" name="Picture 15">
            <a:extLst>
              <a:ext uri="{FF2B5EF4-FFF2-40B4-BE49-F238E27FC236}">
                <a16:creationId xmlns:a16="http://schemas.microsoft.com/office/drawing/2014/main" id="{3246CD45-29F4-6427-CE14-FFCB1ECAEC46}"/>
              </a:ext>
            </a:extLst>
          </p:cNvPr>
          <p:cNvPicPr>
            <a:picLocks noChangeAspect="1"/>
          </p:cNvPicPr>
          <p:nvPr/>
        </p:nvPicPr>
        <p:blipFill rotWithShape="1">
          <a:blip r:embed="rId3"/>
          <a:srcRect t="5714" b="6554"/>
          <a:stretch/>
        </p:blipFill>
        <p:spPr>
          <a:xfrm>
            <a:off x="7124580" y="2938979"/>
            <a:ext cx="5015234" cy="589463"/>
          </a:xfrm>
          <a:prstGeom prst="rect">
            <a:avLst/>
          </a:prstGeom>
          <a:ln w="28575">
            <a:solidFill>
              <a:schemeClr val="accent4"/>
            </a:solidFill>
          </a:ln>
        </p:spPr>
      </p:pic>
      <p:pic>
        <p:nvPicPr>
          <p:cNvPr id="17" name="Picture 16">
            <a:extLst>
              <a:ext uri="{FF2B5EF4-FFF2-40B4-BE49-F238E27FC236}">
                <a16:creationId xmlns:a16="http://schemas.microsoft.com/office/drawing/2014/main" id="{242D1BE5-8F97-5B70-4927-2C28E8C69B1F}"/>
              </a:ext>
            </a:extLst>
          </p:cNvPr>
          <p:cNvPicPr>
            <a:picLocks noChangeAspect="1"/>
          </p:cNvPicPr>
          <p:nvPr/>
        </p:nvPicPr>
        <p:blipFill rotWithShape="1">
          <a:blip r:embed="rId4"/>
          <a:srcRect t="9868" b="8472"/>
          <a:stretch/>
        </p:blipFill>
        <p:spPr>
          <a:xfrm>
            <a:off x="7124580" y="3618209"/>
            <a:ext cx="5015234" cy="580321"/>
          </a:xfrm>
          <a:prstGeom prst="rect">
            <a:avLst/>
          </a:prstGeom>
          <a:ln w="28575">
            <a:solidFill>
              <a:schemeClr val="accent4"/>
            </a:solidFill>
          </a:ln>
        </p:spPr>
      </p:pic>
      <p:sp>
        <p:nvSpPr>
          <p:cNvPr id="18" name="Arrow: Right 17">
            <a:extLst>
              <a:ext uri="{FF2B5EF4-FFF2-40B4-BE49-F238E27FC236}">
                <a16:creationId xmlns:a16="http://schemas.microsoft.com/office/drawing/2014/main" id="{7717EDB9-147C-90BE-A42A-E398B636A5C4}"/>
              </a:ext>
            </a:extLst>
          </p:cNvPr>
          <p:cNvSpPr/>
          <p:nvPr/>
        </p:nvSpPr>
        <p:spPr>
          <a:xfrm rot="19373765">
            <a:off x="8950277" y="4460363"/>
            <a:ext cx="2083643" cy="502542"/>
          </a:xfrm>
          <a:prstGeom prst="rightArrow">
            <a:avLst>
              <a:gd name="adj1" fmla="val 50000"/>
              <a:gd name="adj2" fmla="val 58628"/>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1ED48D25-077D-EE58-8981-5848EC2C7BCF}"/>
              </a:ext>
            </a:extLst>
          </p:cNvPr>
          <p:cNvSpPr/>
          <p:nvPr/>
        </p:nvSpPr>
        <p:spPr>
          <a:xfrm rot="21093468" flipV="1">
            <a:off x="5056060" y="3702149"/>
            <a:ext cx="5867985" cy="278332"/>
          </a:xfrm>
          <a:prstGeom prst="rightArrow">
            <a:avLst>
              <a:gd name="adj1" fmla="val 63803"/>
              <a:gd name="adj2" fmla="val 129289"/>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E2E82DB7-BAF5-E886-48F8-233DCA462116}"/>
              </a:ext>
            </a:extLst>
          </p:cNvPr>
          <p:cNvPicPr>
            <a:picLocks noChangeAspect="1"/>
          </p:cNvPicPr>
          <p:nvPr/>
        </p:nvPicPr>
        <p:blipFill>
          <a:blip r:embed="rId5"/>
          <a:stretch>
            <a:fillRect/>
          </a:stretch>
        </p:blipFill>
        <p:spPr>
          <a:xfrm>
            <a:off x="7141808" y="1997385"/>
            <a:ext cx="5015234" cy="864115"/>
          </a:xfrm>
          <a:prstGeom prst="rect">
            <a:avLst/>
          </a:prstGeom>
          <a:ln w="38100">
            <a:solidFill>
              <a:schemeClr val="accent2"/>
            </a:solidFill>
          </a:ln>
        </p:spPr>
      </p:pic>
      <p:sp>
        <p:nvSpPr>
          <p:cNvPr id="21" name="Rectangle 20">
            <a:extLst>
              <a:ext uri="{FF2B5EF4-FFF2-40B4-BE49-F238E27FC236}">
                <a16:creationId xmlns:a16="http://schemas.microsoft.com/office/drawing/2014/main" id="{F1945B95-FFF7-563C-B0C6-5D29B3D8C86E}"/>
              </a:ext>
            </a:extLst>
          </p:cNvPr>
          <p:cNvSpPr/>
          <p:nvPr/>
        </p:nvSpPr>
        <p:spPr>
          <a:xfrm>
            <a:off x="676525" y="4830753"/>
            <a:ext cx="716280" cy="295464"/>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9529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heel(1)">
                                      <p:cBhvr>
                                        <p:cTn id="19" dur="2000"/>
                                        <p:tgtEl>
                                          <p:spTgt spid="21"/>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500" fill="hold"/>
                                        <p:tgtEl>
                                          <p:spTgt spid="16"/>
                                        </p:tgtEl>
                                        <p:attrNameLst>
                                          <p:attrName>ppt_x</p:attrName>
                                        </p:attrNameLst>
                                      </p:cBhvr>
                                      <p:tavLst>
                                        <p:tav tm="0">
                                          <p:val>
                                            <p:strVal val="#ppt_x"/>
                                          </p:val>
                                        </p:tav>
                                        <p:tav tm="100000">
                                          <p:val>
                                            <p:strVal val="#ppt_x"/>
                                          </p:val>
                                        </p:tav>
                                      </p:tavLst>
                                    </p:anim>
                                    <p:anim calcmode="lin" valueType="num">
                                      <p:cBhvr additive="base">
                                        <p:cTn id="25"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additive="base">
                                        <p:cTn id="34" dur="500" fill="hold"/>
                                        <p:tgtEl>
                                          <p:spTgt spid="8"/>
                                        </p:tgtEl>
                                        <p:attrNameLst>
                                          <p:attrName>ppt_x</p:attrName>
                                        </p:attrNameLst>
                                      </p:cBhvr>
                                      <p:tavLst>
                                        <p:tav tm="0">
                                          <p:val>
                                            <p:strVal val="#ppt_x"/>
                                          </p:val>
                                        </p:tav>
                                        <p:tav tm="100000">
                                          <p:val>
                                            <p:strVal val="#ppt_x"/>
                                          </p:val>
                                        </p:tav>
                                      </p:tavLst>
                                    </p:anim>
                                    <p:anim calcmode="lin" valueType="num">
                                      <p:cBhvr additive="base">
                                        <p:cTn id="3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12"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additive="base">
                                        <p:cTn id="40" dur="500" fill="hold"/>
                                        <p:tgtEl>
                                          <p:spTgt spid="19"/>
                                        </p:tgtEl>
                                        <p:attrNameLst>
                                          <p:attrName>ppt_x</p:attrName>
                                        </p:attrNameLst>
                                      </p:cBhvr>
                                      <p:tavLst>
                                        <p:tav tm="0">
                                          <p:val>
                                            <p:strVal val="0-#ppt_w/2"/>
                                          </p:val>
                                        </p:tav>
                                        <p:tav tm="100000">
                                          <p:val>
                                            <p:strVal val="#ppt_x"/>
                                          </p:val>
                                        </p:tav>
                                      </p:tavLst>
                                    </p:anim>
                                    <p:anim calcmode="lin" valueType="num">
                                      <p:cBhvr additive="base">
                                        <p:cTn id="41"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 calcmode="lin" valueType="num">
                                      <p:cBhvr additive="base">
                                        <p:cTn id="46" dur="500" fill="hold"/>
                                        <p:tgtEl>
                                          <p:spTgt spid="10"/>
                                        </p:tgtEl>
                                        <p:attrNameLst>
                                          <p:attrName>ppt_x</p:attrName>
                                        </p:attrNameLst>
                                      </p:cBhvr>
                                      <p:tavLst>
                                        <p:tav tm="0">
                                          <p:val>
                                            <p:strVal val="#ppt_x"/>
                                          </p:val>
                                        </p:tav>
                                        <p:tav tm="100000">
                                          <p:val>
                                            <p:strVal val="#ppt_x"/>
                                          </p:val>
                                        </p:tav>
                                      </p:tavLst>
                                    </p:anim>
                                    <p:anim calcmode="lin" valueType="num">
                                      <p:cBhvr additive="base">
                                        <p:cTn id="4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 calcmode="lin" valueType="num">
                                      <p:cBhvr additive="base">
                                        <p:cTn id="52" dur="500" fill="hold"/>
                                        <p:tgtEl>
                                          <p:spTgt spid="9"/>
                                        </p:tgtEl>
                                        <p:attrNameLst>
                                          <p:attrName>ppt_x</p:attrName>
                                        </p:attrNameLst>
                                      </p:cBhvr>
                                      <p:tavLst>
                                        <p:tav tm="0">
                                          <p:val>
                                            <p:strVal val="#ppt_x"/>
                                          </p:val>
                                        </p:tav>
                                        <p:tav tm="100000">
                                          <p:val>
                                            <p:strVal val="#ppt_x"/>
                                          </p:val>
                                        </p:tav>
                                      </p:tavLst>
                                    </p:anim>
                                    <p:anim calcmode="lin" valueType="num">
                                      <p:cBhvr additive="base">
                                        <p:cTn id="5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11"/>
                                        </p:tgtEl>
                                        <p:attrNameLst>
                                          <p:attrName>style.visibility</p:attrName>
                                        </p:attrNameLst>
                                      </p:cBhvr>
                                      <p:to>
                                        <p:strVal val="visible"/>
                                      </p:to>
                                    </p:set>
                                    <p:anim calcmode="lin" valueType="num">
                                      <p:cBhvr additive="base">
                                        <p:cTn id="58" dur="500" fill="hold"/>
                                        <p:tgtEl>
                                          <p:spTgt spid="11"/>
                                        </p:tgtEl>
                                        <p:attrNameLst>
                                          <p:attrName>ppt_x</p:attrName>
                                        </p:attrNameLst>
                                      </p:cBhvr>
                                      <p:tavLst>
                                        <p:tav tm="0">
                                          <p:val>
                                            <p:strVal val="#ppt_x"/>
                                          </p:val>
                                        </p:tav>
                                        <p:tav tm="100000">
                                          <p:val>
                                            <p:strVal val="#ppt_x"/>
                                          </p:val>
                                        </p:tav>
                                      </p:tavLst>
                                    </p:anim>
                                    <p:anim calcmode="lin" valueType="num">
                                      <p:cBhvr additive="base">
                                        <p:cTn id="5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1000"/>
                                        <p:tgtEl>
                                          <p:spTgt spid="18"/>
                                        </p:tgtEl>
                                      </p:cBhvr>
                                    </p:animEffect>
                                    <p:anim calcmode="lin" valueType="num">
                                      <p:cBhvr>
                                        <p:cTn id="65" dur="1000" fill="hold"/>
                                        <p:tgtEl>
                                          <p:spTgt spid="18"/>
                                        </p:tgtEl>
                                        <p:attrNameLst>
                                          <p:attrName>ppt_x</p:attrName>
                                        </p:attrNameLst>
                                      </p:cBhvr>
                                      <p:tavLst>
                                        <p:tav tm="0">
                                          <p:val>
                                            <p:strVal val="#ppt_x"/>
                                          </p:val>
                                        </p:tav>
                                        <p:tav tm="100000">
                                          <p:val>
                                            <p:strVal val="#ppt_x"/>
                                          </p:val>
                                        </p:tav>
                                      </p:tavLst>
                                    </p:anim>
                                    <p:anim calcmode="lin" valueType="num">
                                      <p:cBhvr>
                                        <p:cTn id="6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12"/>
                                        </p:tgtEl>
                                        <p:attrNameLst>
                                          <p:attrName>style.visibility</p:attrName>
                                        </p:attrNameLst>
                                      </p:cBhvr>
                                      <p:to>
                                        <p:strVal val="visible"/>
                                      </p:to>
                                    </p:set>
                                    <p:animEffect transition="in" filter="fade">
                                      <p:cBhvr>
                                        <p:cTn id="71" dur="1000"/>
                                        <p:tgtEl>
                                          <p:spTgt spid="12"/>
                                        </p:tgtEl>
                                      </p:cBhvr>
                                    </p:animEffect>
                                    <p:anim calcmode="lin" valueType="num">
                                      <p:cBhvr>
                                        <p:cTn id="72" dur="1000" fill="hold"/>
                                        <p:tgtEl>
                                          <p:spTgt spid="12"/>
                                        </p:tgtEl>
                                        <p:attrNameLst>
                                          <p:attrName>ppt_x</p:attrName>
                                        </p:attrNameLst>
                                      </p:cBhvr>
                                      <p:tavLst>
                                        <p:tav tm="0">
                                          <p:val>
                                            <p:strVal val="#ppt_x"/>
                                          </p:val>
                                        </p:tav>
                                        <p:tav tm="100000">
                                          <p:val>
                                            <p:strVal val="#ppt_x"/>
                                          </p:val>
                                        </p:tav>
                                      </p:tavLst>
                                    </p:anim>
                                    <p:anim calcmode="lin" valueType="num">
                                      <p:cBhvr>
                                        <p:cTn id="7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grpId="0" nodeType="clickEffect">
                                  <p:stCondLst>
                                    <p:cond delay="0"/>
                                  </p:stCondLst>
                                  <p:childTnLst>
                                    <p:set>
                                      <p:cBhvr>
                                        <p:cTn id="77" dur="1" fill="hold">
                                          <p:stCondLst>
                                            <p:cond delay="0"/>
                                          </p:stCondLst>
                                        </p:cTn>
                                        <p:tgtEl>
                                          <p:spTgt spid="13"/>
                                        </p:tgtEl>
                                        <p:attrNameLst>
                                          <p:attrName>style.visibility</p:attrName>
                                        </p:attrNameLst>
                                      </p:cBhvr>
                                      <p:to>
                                        <p:strVal val="visible"/>
                                      </p:to>
                                    </p:set>
                                    <p:anim calcmode="lin" valueType="num">
                                      <p:cBhvr additive="base">
                                        <p:cTn id="78" dur="500" fill="hold"/>
                                        <p:tgtEl>
                                          <p:spTgt spid="13"/>
                                        </p:tgtEl>
                                        <p:attrNameLst>
                                          <p:attrName>ppt_x</p:attrName>
                                        </p:attrNameLst>
                                      </p:cBhvr>
                                      <p:tavLst>
                                        <p:tav tm="0">
                                          <p:val>
                                            <p:strVal val="#ppt_x"/>
                                          </p:val>
                                        </p:tav>
                                        <p:tav tm="100000">
                                          <p:val>
                                            <p:strVal val="#ppt_x"/>
                                          </p:val>
                                        </p:tav>
                                      </p:tavLst>
                                    </p:anim>
                                    <p:anim calcmode="lin" valueType="num">
                                      <p:cBhvr additive="base">
                                        <p:cTn id="7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9" grpId="0" animBg="1"/>
      <p:bldP spid="3" grpId="0"/>
      <p:bldP spid="18" grpId="0" animBg="1"/>
      <p:bldP spid="19" grpId="0" animBg="1"/>
      <p:bldP spid="2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215538" y="139337"/>
            <a:ext cx="10840914" cy="696686"/>
          </a:xfrm>
        </p:spPr>
        <p:txBody>
          <a:bodyPr>
            <a:noAutofit/>
          </a:bodyPr>
          <a:lstStyle/>
          <a:p>
            <a:r>
              <a:rPr lang="en-US" sz="4400" b="1" cap="none" dirty="0"/>
              <a:t>Problem Statement </a:t>
            </a:r>
            <a:r>
              <a:rPr lang="en-US" sz="4400" b="1" cap="none" dirty="0">
                <a:latin typeface="Arial" panose="020B0604020202020204" pitchFamily="34" charset="0"/>
                <a:cs typeface="Arial" panose="020B0604020202020204" pitchFamily="34" charset="0"/>
              </a:rPr>
              <a:t>2</a:t>
            </a:r>
          </a:p>
        </p:txBody>
      </p:sp>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215537" y="836022"/>
            <a:ext cx="11867605" cy="5003075"/>
          </a:xfrm>
        </p:spPr>
        <p:txBody>
          <a:bodyPr>
            <a:noAutofit/>
          </a:bodyPr>
          <a:lstStyle/>
          <a:p>
            <a:r>
              <a:rPr lang="en-US" sz="3600" dirty="0">
                <a:latin typeface="Arial" panose="020B0604020202020204" pitchFamily="34" charset="0"/>
                <a:cs typeface="Arial" panose="020B0604020202020204" pitchFamily="34" charset="0"/>
              </a:rPr>
              <a:t>Make an LED to blink every </a:t>
            </a:r>
            <a:r>
              <a:rPr lang="en-US" sz="3600" dirty="0">
                <a:solidFill>
                  <a:srgbClr val="FF0000"/>
                </a:solidFill>
                <a:latin typeface="Arial" panose="020B0604020202020204" pitchFamily="34" charset="0"/>
                <a:cs typeface="Arial" panose="020B0604020202020204" pitchFamily="34" charset="0"/>
              </a:rPr>
              <a:t>2 seconds</a:t>
            </a:r>
            <a:r>
              <a:rPr lang="en-US" sz="3600" dirty="0">
                <a:latin typeface="Arial" panose="020B0604020202020204" pitchFamily="34" charset="0"/>
                <a:cs typeface="Arial" panose="020B0604020202020204" pitchFamily="34" charset="0"/>
              </a:rPr>
              <a:t> while using Arduino system frequency (F_CPU) 16 MHz, using a timer to generate the delay without any application of delay() function.</a:t>
            </a:r>
          </a:p>
          <a:p>
            <a:r>
              <a:rPr lang="en-US" sz="3600" dirty="0">
                <a:latin typeface="Arial" panose="020B0604020202020204" pitchFamily="34" charset="0"/>
                <a:cs typeface="Arial" panose="020B0604020202020204" pitchFamily="34" charset="0"/>
              </a:rPr>
              <a:t>Delay = 2 s, so Timer1 (remember that it is a 16-bit timer) can be used with the pre-scalar value of 1024.</a:t>
            </a:r>
          </a:p>
          <a:p>
            <a:r>
              <a:rPr lang="en-US" sz="3600" dirty="0">
                <a:latin typeface="Arial" panose="020B0604020202020204" pitchFamily="34" charset="0"/>
                <a:cs typeface="Arial" panose="020B0604020202020204" pitchFamily="34" charset="0"/>
              </a:rPr>
              <a:t>Number of count required to get a delay of 2 s = (2,000,000 </a:t>
            </a:r>
            <a:r>
              <a:rPr lang="en-US" sz="3600" dirty="0" err="1">
                <a:latin typeface="Symbol" panose="05050102010706020507" pitchFamily="18" charset="2"/>
                <a:cs typeface="Arial" panose="020B0604020202020204" pitchFamily="34" charset="0"/>
              </a:rPr>
              <a:t>m</a:t>
            </a:r>
            <a:r>
              <a:rPr lang="en-US" sz="3600" dirty="0" err="1">
                <a:latin typeface="Arial" panose="020B0604020202020204" pitchFamily="34" charset="0"/>
                <a:cs typeface="Arial" panose="020B0604020202020204" pitchFamily="34" charset="0"/>
              </a:rPr>
              <a:t>s</a:t>
            </a:r>
            <a:r>
              <a:rPr lang="en-US" sz="3600" dirty="0">
                <a:latin typeface="Arial" panose="020B0604020202020204" pitchFamily="34" charset="0"/>
                <a:cs typeface="Arial" panose="020B0604020202020204" pitchFamily="34" charset="0"/>
              </a:rPr>
              <a:t>/64 </a:t>
            </a:r>
            <a:r>
              <a:rPr lang="el-GR" sz="3600" dirty="0">
                <a:latin typeface="Arial" panose="020B0604020202020204" pitchFamily="34" charset="0"/>
                <a:cs typeface="Arial" panose="020B0604020202020204" pitchFamily="34" charset="0"/>
              </a:rPr>
              <a:t>μ</a:t>
            </a:r>
            <a:r>
              <a:rPr lang="en-US" sz="3600" dirty="0">
                <a:latin typeface="Arial" panose="020B0604020202020204" pitchFamily="34" charset="0"/>
                <a:cs typeface="Arial" panose="020B0604020202020204" pitchFamily="34" charset="0"/>
              </a:rPr>
              <a:t>s) – 1 = 31,249 </a:t>
            </a:r>
            <a:r>
              <a:rPr lang="en-US" sz="3600" b="1" dirty="0">
                <a:solidFill>
                  <a:srgbClr val="FF0000"/>
                </a:solidFill>
                <a:latin typeface="Arial" panose="020B0604020202020204" pitchFamily="34" charset="0"/>
                <a:cs typeface="Arial" panose="020B0604020202020204" pitchFamily="34" charset="0"/>
              </a:rPr>
              <a:t>&gt;&gt; 255</a:t>
            </a:r>
            <a:r>
              <a:rPr lang="en-US" sz="3600" dirty="0">
                <a:latin typeface="Arial" panose="020B0604020202020204" pitchFamily="34" charset="0"/>
                <a:cs typeface="Arial" panose="020B0604020202020204" pitchFamily="34" charset="0"/>
              </a:rPr>
              <a:t>.</a:t>
            </a:r>
          </a:p>
          <a:p>
            <a:endParaRPr lang="en-US" sz="32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A9428D6B-8A43-4B13-9884-7E76F67ADCC9}" type="datetime3">
              <a:rPr lang="en-US" noProof="0" smtClean="0"/>
              <a:t>15 June 2026</a:t>
            </a:fld>
            <a:endParaRPr lang="en-US" noProof="0" dirty="0"/>
          </a:p>
        </p:txBody>
      </p:sp>
      <p:sp>
        <p:nvSpPr>
          <p:cNvPr id="5" name="Footer Placeholder 4"/>
          <p:cNvSpPr>
            <a:spLocks noGrp="1"/>
          </p:cNvSpPr>
          <p:nvPr>
            <p:ph type="ftr" sz="quarter" idx="11"/>
          </p:nvPr>
        </p:nvSpPr>
        <p:spPr/>
        <p:txBody>
          <a:bodyPr/>
          <a:lstStyle/>
          <a:p>
            <a:r>
              <a:rPr lang="en-US" noProof="0"/>
              <a:t>Course Teacher: Prof. Dr. Engr. Muhibul Haque Bhuyan</a:t>
            </a:r>
            <a:endParaRPr lang="en-US" noProof="0" dirty="0"/>
          </a:p>
        </p:txBody>
      </p:sp>
      <p:sp>
        <p:nvSpPr>
          <p:cNvPr id="6" name="Slide Number Placeholder 5"/>
          <p:cNvSpPr>
            <a:spLocks noGrp="1"/>
          </p:cNvSpPr>
          <p:nvPr>
            <p:ph type="sldNum" sz="quarter" idx="12"/>
          </p:nvPr>
        </p:nvSpPr>
        <p:spPr/>
        <p:txBody>
          <a:bodyPr/>
          <a:lstStyle/>
          <a:p>
            <a:fld id="{5D99DD2A-B520-4620-9B43-64B657BA2D42}" type="slidenum">
              <a:rPr lang="en-US" noProof="0" smtClean="0"/>
              <a:t>30</a:t>
            </a:fld>
            <a:endParaRPr lang="en-US" noProof="0" dirty="0"/>
          </a:p>
        </p:txBody>
      </p:sp>
    </p:spTree>
    <p:extLst>
      <p:ext uri="{BB962C8B-B14F-4D97-AF65-F5344CB8AC3E}">
        <p14:creationId xmlns:p14="http://schemas.microsoft.com/office/powerpoint/2010/main" val="407147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36240" y="144184"/>
            <a:ext cx="2482871" cy="733723"/>
          </a:xfrm>
        </p:spPr>
        <p:txBody>
          <a:bodyPr>
            <a:noAutofit/>
          </a:bodyPr>
          <a:lstStyle/>
          <a:p>
            <a:r>
              <a:rPr lang="en-US" sz="4400" b="1" cap="none" dirty="0"/>
              <a:t>Code:</a:t>
            </a:r>
          </a:p>
        </p:txBody>
      </p:sp>
      <p:grpSp>
        <p:nvGrpSpPr>
          <p:cNvPr id="4" name="Group 3"/>
          <p:cNvGrpSpPr/>
          <p:nvPr/>
        </p:nvGrpSpPr>
        <p:grpSpPr>
          <a:xfrm>
            <a:off x="136240" y="144184"/>
            <a:ext cx="11635580" cy="6605438"/>
            <a:chOff x="246451" y="911180"/>
            <a:chExt cx="10578303" cy="5838442"/>
          </a:xfrm>
        </p:grpSpPr>
        <p:pic>
          <p:nvPicPr>
            <p:cNvPr id="6" name="Picture 5">
              <a:extLst>
                <a:ext uri="{FF2B5EF4-FFF2-40B4-BE49-F238E27FC236}">
                  <a16:creationId xmlns:a16="http://schemas.microsoft.com/office/drawing/2014/main" id="{1932E2B2-E49E-4BDF-82C1-9FE8E516E007}"/>
                </a:ext>
              </a:extLst>
            </p:cNvPr>
            <p:cNvPicPr>
              <a:picLocks noChangeAspect="1"/>
            </p:cNvPicPr>
            <p:nvPr/>
          </p:nvPicPr>
          <p:blipFill>
            <a:blip r:embed="rId2"/>
            <a:stretch>
              <a:fillRect/>
            </a:stretch>
          </p:blipFill>
          <p:spPr>
            <a:xfrm>
              <a:off x="2656114" y="911180"/>
              <a:ext cx="8168640" cy="5838442"/>
            </a:xfrm>
            <a:prstGeom prst="rect">
              <a:avLst/>
            </a:prstGeom>
          </p:spPr>
        </p:pic>
        <p:sp>
          <p:nvSpPr>
            <p:cNvPr id="3" name="TextBox 2">
              <a:extLst>
                <a:ext uri="{FF2B5EF4-FFF2-40B4-BE49-F238E27FC236}">
                  <a16:creationId xmlns:a16="http://schemas.microsoft.com/office/drawing/2014/main" id="{5ADB64EE-D35D-4B87-8AB2-7090BBE8FBFF}"/>
                </a:ext>
              </a:extLst>
            </p:cNvPr>
            <p:cNvSpPr txBox="1"/>
            <p:nvPr/>
          </p:nvSpPr>
          <p:spPr>
            <a:xfrm>
              <a:off x="246451" y="1551275"/>
              <a:ext cx="2257263" cy="1441806"/>
            </a:xfrm>
            <a:prstGeom prst="rect">
              <a:avLst/>
            </a:prstGeom>
            <a:noFill/>
          </p:spPr>
          <p:txBody>
            <a:bodyPr wrap="square" rtlCol="0">
              <a:spAutoFit/>
            </a:bodyPr>
            <a:lstStyle/>
            <a:p>
              <a:r>
                <a:rPr lang="en-US" sz="2000" b="1" dirty="0">
                  <a:solidFill>
                    <a:srgbClr val="FF0000"/>
                  </a:solidFill>
                  <a:latin typeface="Arial" panose="020B0604020202020204" pitchFamily="34" charset="0"/>
                  <a:cs typeface="Arial" panose="020B0604020202020204" pitchFamily="34" charset="0"/>
                </a:rPr>
                <a:t>Same code, only register names have 1 instead of 0 and delay length changed!</a:t>
              </a:r>
            </a:p>
          </p:txBody>
        </p:sp>
      </p:grpSp>
      <p:sp>
        <p:nvSpPr>
          <p:cNvPr id="10" name="Rectangle 9">
            <a:extLst>
              <a:ext uri="{FF2B5EF4-FFF2-40B4-BE49-F238E27FC236}">
                <a16:creationId xmlns:a16="http://schemas.microsoft.com/office/drawing/2014/main" id="{D13656F0-E1D5-4B6D-9C91-382CB3D7D0EE}"/>
              </a:ext>
            </a:extLst>
          </p:cNvPr>
          <p:cNvSpPr/>
          <p:nvPr/>
        </p:nvSpPr>
        <p:spPr>
          <a:xfrm>
            <a:off x="3722914" y="5663267"/>
            <a:ext cx="836022" cy="2803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13656F0-E1D5-4B6D-9C91-382CB3D7D0EE}"/>
              </a:ext>
            </a:extLst>
          </p:cNvPr>
          <p:cNvSpPr/>
          <p:nvPr/>
        </p:nvSpPr>
        <p:spPr>
          <a:xfrm>
            <a:off x="3280956" y="3882933"/>
            <a:ext cx="716280" cy="1894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13656F0-E1D5-4B6D-9C91-382CB3D7D0EE}"/>
              </a:ext>
            </a:extLst>
          </p:cNvPr>
          <p:cNvSpPr/>
          <p:nvPr/>
        </p:nvSpPr>
        <p:spPr>
          <a:xfrm>
            <a:off x="3171931" y="4141967"/>
            <a:ext cx="716280" cy="1894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13656F0-E1D5-4B6D-9C91-382CB3D7D0EE}"/>
              </a:ext>
            </a:extLst>
          </p:cNvPr>
          <p:cNvSpPr/>
          <p:nvPr/>
        </p:nvSpPr>
        <p:spPr>
          <a:xfrm>
            <a:off x="3530071" y="5197412"/>
            <a:ext cx="716280" cy="1894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13656F0-E1D5-4B6D-9C91-382CB3D7D0EE}"/>
              </a:ext>
            </a:extLst>
          </p:cNvPr>
          <p:cNvSpPr/>
          <p:nvPr/>
        </p:nvSpPr>
        <p:spPr>
          <a:xfrm>
            <a:off x="3311270" y="3610800"/>
            <a:ext cx="716280" cy="1894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p:cNvSpPr>
            <a:spLocks noGrp="1"/>
          </p:cNvSpPr>
          <p:nvPr>
            <p:ph type="dt" sz="half" idx="10"/>
          </p:nvPr>
        </p:nvSpPr>
        <p:spPr/>
        <p:txBody>
          <a:bodyPr/>
          <a:lstStyle/>
          <a:p>
            <a:fld id="{84C52BEE-4357-43D0-82B1-85B3359B5043}" type="datetime3">
              <a:rPr lang="en-US" noProof="0" smtClean="0"/>
              <a:t>15 June 2026</a:t>
            </a:fld>
            <a:endParaRPr lang="en-US" noProof="0" dirty="0"/>
          </a:p>
        </p:txBody>
      </p:sp>
      <p:sp>
        <p:nvSpPr>
          <p:cNvPr id="8" name="Footer Placeholder 7"/>
          <p:cNvSpPr>
            <a:spLocks noGrp="1"/>
          </p:cNvSpPr>
          <p:nvPr>
            <p:ph type="ftr" sz="quarter" idx="11"/>
          </p:nvPr>
        </p:nvSpPr>
        <p:spPr/>
        <p:txBody>
          <a:bodyPr/>
          <a:lstStyle/>
          <a:p>
            <a:r>
              <a:rPr lang="en-US" noProof="0"/>
              <a:t>Course Teacher: Prof. Dr. Engr. Muhibul Haque Bhuyan</a:t>
            </a:r>
            <a:endParaRPr lang="en-US" noProof="0" dirty="0"/>
          </a:p>
        </p:txBody>
      </p:sp>
      <p:sp>
        <p:nvSpPr>
          <p:cNvPr id="9" name="Slide Number Placeholder 8"/>
          <p:cNvSpPr>
            <a:spLocks noGrp="1"/>
          </p:cNvSpPr>
          <p:nvPr>
            <p:ph type="sldNum" sz="quarter" idx="12"/>
          </p:nvPr>
        </p:nvSpPr>
        <p:spPr/>
        <p:txBody>
          <a:bodyPr/>
          <a:lstStyle/>
          <a:p>
            <a:fld id="{5D99DD2A-B520-4620-9B43-64B657BA2D42}" type="slidenum">
              <a:rPr lang="en-US" noProof="0" smtClean="0"/>
              <a:t>31</a:t>
            </a:fld>
            <a:endParaRPr lang="en-US" noProof="0" dirty="0"/>
          </a:p>
        </p:txBody>
      </p:sp>
      <p:pic>
        <p:nvPicPr>
          <p:cNvPr id="20" name="Picture 19">
            <a:extLst>
              <a:ext uri="{FF2B5EF4-FFF2-40B4-BE49-F238E27FC236}">
                <a16:creationId xmlns:a16="http://schemas.microsoft.com/office/drawing/2014/main" id="{A72D424B-64FF-E95D-BC2C-14CD22F49149}"/>
              </a:ext>
            </a:extLst>
          </p:cNvPr>
          <p:cNvPicPr>
            <a:picLocks noChangeAspect="1"/>
          </p:cNvPicPr>
          <p:nvPr/>
        </p:nvPicPr>
        <p:blipFill rotWithShape="1">
          <a:blip r:embed="rId3"/>
          <a:srcRect t="3265" b="5550"/>
          <a:stretch/>
        </p:blipFill>
        <p:spPr>
          <a:xfrm>
            <a:off x="5811331" y="4147566"/>
            <a:ext cx="5388136" cy="848504"/>
          </a:xfrm>
          <a:prstGeom prst="rect">
            <a:avLst/>
          </a:prstGeom>
          <a:ln>
            <a:solidFill>
              <a:srgbClr val="FF0000"/>
            </a:solidFill>
          </a:ln>
        </p:spPr>
      </p:pic>
      <p:sp>
        <p:nvSpPr>
          <p:cNvPr id="5" name="TextBox 4">
            <a:extLst>
              <a:ext uri="{FF2B5EF4-FFF2-40B4-BE49-F238E27FC236}">
                <a16:creationId xmlns:a16="http://schemas.microsoft.com/office/drawing/2014/main" id="{461E7A35-D1CB-0FD1-AC85-610FCAD9E7BB}"/>
              </a:ext>
            </a:extLst>
          </p:cNvPr>
          <p:cNvSpPr txBox="1"/>
          <p:nvPr/>
        </p:nvSpPr>
        <p:spPr>
          <a:xfrm>
            <a:off x="5241851" y="3078332"/>
            <a:ext cx="6453963" cy="400110"/>
          </a:xfrm>
          <a:prstGeom prst="rect">
            <a:avLst/>
          </a:prstGeom>
          <a:noFill/>
        </p:spPr>
        <p:txBody>
          <a:bodyPr wrap="square" rtlCol="0">
            <a:spAutoFit/>
          </a:bodyPr>
          <a:lstStyle/>
          <a:p>
            <a:r>
              <a:rPr lang="en-US" sz="2000" dirty="0">
                <a:solidFill>
                  <a:srgbClr val="FF0000"/>
                </a:solidFill>
              </a:rPr>
              <a:t>Set-up registers are 8-bits, even though the Timer1 is 16-bit</a:t>
            </a:r>
          </a:p>
        </p:txBody>
      </p:sp>
      <p:sp>
        <p:nvSpPr>
          <p:cNvPr id="11" name="Rectangle 10">
            <a:extLst>
              <a:ext uri="{FF2B5EF4-FFF2-40B4-BE49-F238E27FC236}">
                <a16:creationId xmlns:a16="http://schemas.microsoft.com/office/drawing/2014/main" id="{3860B88B-021C-796E-436E-FD483C0AB497}"/>
              </a:ext>
            </a:extLst>
          </p:cNvPr>
          <p:cNvSpPr/>
          <p:nvPr/>
        </p:nvSpPr>
        <p:spPr>
          <a:xfrm>
            <a:off x="4294694" y="3617607"/>
            <a:ext cx="1354265" cy="454733"/>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A6F2E15C-2791-219F-287D-9E4FAD6B41A7}"/>
              </a:ext>
            </a:extLst>
          </p:cNvPr>
          <p:cNvSpPr/>
          <p:nvPr/>
        </p:nvSpPr>
        <p:spPr>
          <a:xfrm rot="19573898">
            <a:off x="5547810" y="3532658"/>
            <a:ext cx="712586" cy="22293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7963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heel(1)">
                                      <p:cBhvr>
                                        <p:cTn id="7" dur="20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heel(1)">
                                      <p:cBhvr>
                                        <p:cTn id="12" dur="2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circle(in)">
                                      <p:cBhvr>
                                        <p:cTn id="17" dur="20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3"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1+#ppt_w/2"/>
                                          </p:val>
                                        </p:tav>
                                        <p:tav tm="100000">
                                          <p:val>
                                            <p:strVal val="#ppt_x"/>
                                          </p:val>
                                        </p:tav>
                                      </p:tavLst>
                                    </p:anim>
                                    <p:anim calcmode="lin" valueType="num">
                                      <p:cBhvr additive="base">
                                        <p:cTn id="23"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animBg="1"/>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7D1F163-9643-41E4-B842-57D26361CE78}" type="datetime3">
              <a:rPr lang="en-US" noProof="0" smtClean="0"/>
              <a:t>15 June 2026</a:t>
            </a:fld>
            <a:endParaRPr lang="en-US" noProof="0" dirty="0"/>
          </a:p>
        </p:txBody>
      </p:sp>
      <p:sp>
        <p:nvSpPr>
          <p:cNvPr id="7" name="Footer Placeholder 6"/>
          <p:cNvSpPr>
            <a:spLocks noGrp="1"/>
          </p:cNvSpPr>
          <p:nvPr>
            <p:ph type="ftr" sz="quarter" idx="11"/>
          </p:nvPr>
        </p:nvSpPr>
        <p:spPr/>
        <p:txBody>
          <a:bodyPr/>
          <a:lstStyle/>
          <a:p>
            <a:r>
              <a:rPr lang="en-US" noProof="0"/>
              <a:t>Course Teacher: Prof. Dr. Engr. Muhibul Haque Bhuyan</a:t>
            </a:r>
            <a:endParaRPr lang="en-US" noProof="0" dirty="0"/>
          </a:p>
        </p:txBody>
      </p:sp>
      <p:sp>
        <p:nvSpPr>
          <p:cNvPr id="8" name="Slide Number Placeholder 7"/>
          <p:cNvSpPr>
            <a:spLocks noGrp="1"/>
          </p:cNvSpPr>
          <p:nvPr>
            <p:ph type="sldNum" sz="quarter" idx="12"/>
          </p:nvPr>
        </p:nvSpPr>
        <p:spPr/>
        <p:txBody>
          <a:bodyPr/>
          <a:lstStyle/>
          <a:p>
            <a:fld id="{5D99DD2A-B520-4620-9B43-64B657BA2D42}" type="slidenum">
              <a:rPr lang="en-US" noProof="0" smtClean="0"/>
              <a:t>32</a:t>
            </a:fld>
            <a:endParaRPr lang="en-US" noProof="0" dirty="0"/>
          </a:p>
        </p:txBody>
      </p:sp>
      <p:sp>
        <p:nvSpPr>
          <p:cNvPr id="22" name="TextBox 5">
            <a:extLst>
              <a:ext uri="{FF2B5EF4-FFF2-40B4-BE49-F238E27FC236}">
                <a16:creationId xmlns:a16="http://schemas.microsoft.com/office/drawing/2014/main" id="{B8FA3309-CC8B-9BDC-F8D6-E41877B21A29}"/>
              </a:ext>
            </a:extLst>
          </p:cNvPr>
          <p:cNvSpPr txBox="1">
            <a:spLocks noChangeArrowheads="1"/>
          </p:cNvSpPr>
          <p:nvPr/>
        </p:nvSpPr>
        <p:spPr bwMode="auto">
          <a:xfrm>
            <a:off x="6337004" y="962832"/>
            <a:ext cx="5798772"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eaLnBrk="1" hangingPunct="1"/>
            <a:r>
              <a:rPr lang="en-US" altLang="en-US" sz="2800" dirty="0">
                <a:solidFill>
                  <a:srgbClr val="FF0000"/>
                </a:solidFill>
                <a:latin typeface="Arial" panose="020B0604020202020204" pitchFamily="34" charset="0"/>
                <a:cs typeface="Arial" panose="020B0604020202020204" pitchFamily="34" charset="0"/>
              </a:rPr>
              <a:t>To-do list for changing the program:</a:t>
            </a:r>
          </a:p>
          <a:p>
            <a:pPr marL="365760" indent="-274320" algn="just">
              <a:buFont typeface="Arial" panose="020B0604020202020204" pitchFamily="34" charset="0"/>
              <a:buChar char="•"/>
            </a:pPr>
            <a:r>
              <a:rPr lang="en-US" altLang="en-US" sz="2800" dirty="0">
                <a:solidFill>
                  <a:srgbClr val="FF0000"/>
                </a:solidFill>
                <a:latin typeface="Arial" panose="020B0604020202020204" pitchFamily="34" charset="0"/>
                <a:cs typeface="Arial" panose="020B0604020202020204" pitchFamily="34" charset="0"/>
              </a:rPr>
              <a:t>Initialize timer registers</a:t>
            </a:r>
          </a:p>
          <a:p>
            <a:pPr marL="365760" indent="-274320">
              <a:buFont typeface="Arial" panose="020B0604020202020204" pitchFamily="34" charset="0"/>
              <a:buChar char="•"/>
            </a:pPr>
            <a:r>
              <a:rPr lang="en-US" altLang="en-US" sz="2800" dirty="0">
                <a:solidFill>
                  <a:srgbClr val="FF0000"/>
                </a:solidFill>
                <a:latin typeface="Arial" panose="020B0604020202020204" pitchFamily="34" charset="0"/>
                <a:cs typeface="Arial" panose="020B0604020202020204" pitchFamily="34" charset="0"/>
              </a:rPr>
              <a:t>Write a customized delay function using a timer</a:t>
            </a:r>
          </a:p>
          <a:p>
            <a:pPr marL="365760" indent="-274320">
              <a:buFont typeface="Arial" panose="020B0604020202020204" pitchFamily="34" charset="0"/>
              <a:buChar char="•"/>
            </a:pPr>
            <a:r>
              <a:rPr lang="en-US" altLang="en-US" sz="2800" dirty="0">
                <a:solidFill>
                  <a:srgbClr val="FF0000"/>
                </a:solidFill>
                <a:latin typeface="Arial" panose="020B0604020202020204" pitchFamily="34" charset="0"/>
                <a:cs typeface="Arial" panose="020B0604020202020204" pitchFamily="34" charset="0"/>
              </a:rPr>
              <a:t>Change the marked  lines</a:t>
            </a:r>
          </a:p>
        </p:txBody>
      </p:sp>
      <p:pic>
        <p:nvPicPr>
          <p:cNvPr id="9" name="Picture 8">
            <a:extLst>
              <a:ext uri="{FF2B5EF4-FFF2-40B4-BE49-F238E27FC236}">
                <a16:creationId xmlns:a16="http://schemas.microsoft.com/office/drawing/2014/main" id="{14481535-BD5D-1600-E615-B15212686010}"/>
              </a:ext>
            </a:extLst>
          </p:cNvPr>
          <p:cNvPicPr>
            <a:picLocks noChangeAspect="1"/>
          </p:cNvPicPr>
          <p:nvPr/>
        </p:nvPicPr>
        <p:blipFill>
          <a:blip r:embed="rId3"/>
          <a:stretch>
            <a:fillRect/>
          </a:stretch>
        </p:blipFill>
        <p:spPr>
          <a:xfrm>
            <a:off x="952803" y="1346437"/>
            <a:ext cx="5302553" cy="3263664"/>
          </a:xfrm>
          <a:prstGeom prst="rect">
            <a:avLst/>
          </a:prstGeom>
        </p:spPr>
      </p:pic>
      <p:pic>
        <p:nvPicPr>
          <p:cNvPr id="11" name="Picture 10">
            <a:extLst>
              <a:ext uri="{FF2B5EF4-FFF2-40B4-BE49-F238E27FC236}">
                <a16:creationId xmlns:a16="http://schemas.microsoft.com/office/drawing/2014/main" id="{E61A22E9-D3AA-EC10-EE91-5D172888C150}"/>
              </a:ext>
            </a:extLst>
          </p:cNvPr>
          <p:cNvPicPr>
            <a:picLocks noChangeAspect="1"/>
          </p:cNvPicPr>
          <p:nvPr/>
        </p:nvPicPr>
        <p:blipFill>
          <a:blip r:embed="rId4"/>
          <a:stretch>
            <a:fillRect/>
          </a:stretch>
        </p:blipFill>
        <p:spPr>
          <a:xfrm>
            <a:off x="5383884" y="3838967"/>
            <a:ext cx="6041953" cy="2229968"/>
          </a:xfrm>
          <a:prstGeom prst="rect">
            <a:avLst/>
          </a:prstGeom>
        </p:spPr>
      </p:pic>
      <p:cxnSp>
        <p:nvCxnSpPr>
          <p:cNvPr id="23" name="Straight Arrow Connector 22">
            <a:extLst>
              <a:ext uri="{FF2B5EF4-FFF2-40B4-BE49-F238E27FC236}">
                <a16:creationId xmlns:a16="http://schemas.microsoft.com/office/drawing/2014/main" id="{1812588D-8EE6-90F6-4A1E-D9C5F35862F6}"/>
              </a:ext>
            </a:extLst>
          </p:cNvPr>
          <p:cNvCxnSpPr>
            <a:cxnSpLocks/>
          </p:cNvCxnSpPr>
          <p:nvPr/>
        </p:nvCxnSpPr>
        <p:spPr>
          <a:xfrm flipH="1">
            <a:off x="6686933" y="3196911"/>
            <a:ext cx="1337128" cy="1089811"/>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ED35A2A4-AC6C-91C0-E8F8-5FB0CF49C503}"/>
              </a:ext>
            </a:extLst>
          </p:cNvPr>
          <p:cNvSpPr/>
          <p:nvPr/>
        </p:nvSpPr>
        <p:spPr>
          <a:xfrm>
            <a:off x="978203" y="2149391"/>
            <a:ext cx="1155397" cy="314409"/>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33">
              <a:ln>
                <a:solidFill>
                  <a:srgbClr val="00B050"/>
                </a:solidFill>
              </a:ln>
              <a:solidFill>
                <a:srgbClr val="00B050"/>
              </a:solidFill>
            </a:endParaRPr>
          </a:p>
        </p:txBody>
      </p:sp>
      <p:sp>
        <p:nvSpPr>
          <p:cNvPr id="26" name="Rectangle 25">
            <a:extLst>
              <a:ext uri="{FF2B5EF4-FFF2-40B4-BE49-F238E27FC236}">
                <a16:creationId xmlns:a16="http://schemas.microsoft.com/office/drawing/2014/main" id="{203F70FB-B7B4-FA4E-8D76-33028FD2FE83}"/>
              </a:ext>
            </a:extLst>
          </p:cNvPr>
          <p:cNvSpPr/>
          <p:nvPr/>
        </p:nvSpPr>
        <p:spPr>
          <a:xfrm>
            <a:off x="952803" y="4320128"/>
            <a:ext cx="1087664" cy="289973"/>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33">
              <a:ln>
                <a:solidFill>
                  <a:srgbClr val="00B050"/>
                </a:solidFill>
              </a:ln>
              <a:solidFill>
                <a:srgbClr val="00B050"/>
              </a:solidFill>
            </a:endParaRPr>
          </a:p>
        </p:txBody>
      </p:sp>
      <p:sp>
        <p:nvSpPr>
          <p:cNvPr id="27" name="Rectangle 26">
            <a:extLst>
              <a:ext uri="{FF2B5EF4-FFF2-40B4-BE49-F238E27FC236}">
                <a16:creationId xmlns:a16="http://schemas.microsoft.com/office/drawing/2014/main" id="{03E69B24-4912-82C6-358D-8515AB5E6A6F}"/>
              </a:ext>
            </a:extLst>
          </p:cNvPr>
          <p:cNvSpPr/>
          <p:nvPr/>
        </p:nvSpPr>
        <p:spPr>
          <a:xfrm>
            <a:off x="5418456" y="4171614"/>
            <a:ext cx="1226413" cy="298787"/>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33">
              <a:ln>
                <a:solidFill>
                  <a:srgbClr val="00B050"/>
                </a:solidFill>
              </a:ln>
              <a:solidFill>
                <a:srgbClr val="00B050"/>
              </a:solidFill>
            </a:endParaRPr>
          </a:p>
        </p:txBody>
      </p:sp>
      <p:sp>
        <p:nvSpPr>
          <p:cNvPr id="28" name="Rectangle 27">
            <a:extLst>
              <a:ext uri="{FF2B5EF4-FFF2-40B4-BE49-F238E27FC236}">
                <a16:creationId xmlns:a16="http://schemas.microsoft.com/office/drawing/2014/main" id="{97FEC32D-90A0-2E1B-77A2-40D49D9C657F}"/>
              </a:ext>
            </a:extLst>
          </p:cNvPr>
          <p:cNvSpPr/>
          <p:nvPr/>
        </p:nvSpPr>
        <p:spPr>
          <a:xfrm>
            <a:off x="5383884" y="5732476"/>
            <a:ext cx="1389450" cy="336458"/>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33">
              <a:ln>
                <a:solidFill>
                  <a:srgbClr val="00B050"/>
                </a:solidFill>
              </a:ln>
              <a:solidFill>
                <a:srgbClr val="00B050"/>
              </a:solidFill>
            </a:endParaRPr>
          </a:p>
        </p:txBody>
      </p:sp>
      <p:sp>
        <p:nvSpPr>
          <p:cNvPr id="4" name="Title 1">
            <a:extLst>
              <a:ext uri="{FF2B5EF4-FFF2-40B4-BE49-F238E27FC236}">
                <a16:creationId xmlns:a16="http://schemas.microsoft.com/office/drawing/2014/main" id="{470AC2A9-4E9E-B2C7-9447-7C358675F18B}"/>
              </a:ext>
            </a:extLst>
          </p:cNvPr>
          <p:cNvSpPr>
            <a:spLocks noGrp="1" noChangeArrowheads="1"/>
          </p:cNvSpPr>
          <p:nvPr>
            <p:ph type="title"/>
          </p:nvPr>
        </p:nvSpPr>
        <p:spPr>
          <a:xfrm>
            <a:off x="340241" y="331893"/>
            <a:ext cx="11567279" cy="591399"/>
          </a:xfrm>
        </p:spPr>
        <p:txBody>
          <a:bodyPr>
            <a:normAutofit fontScale="90000"/>
          </a:bodyPr>
          <a:lstStyle/>
          <a:p>
            <a:pPr defTabSz="383790">
              <a:defRPr/>
            </a:pPr>
            <a:r>
              <a:rPr lang="en-US" altLang="en-US" sz="3600" b="1" cap="none" dirty="0">
                <a:solidFill>
                  <a:srgbClr val="FF0000"/>
                </a:solidFill>
                <a:latin typeface="Arial" panose="020B0604020202020204" pitchFamily="34" charset="0"/>
                <a:cs typeface="Arial" panose="020B0604020202020204" pitchFamily="34" charset="0"/>
              </a:rPr>
              <a:t>Old Code using the delay() Function for the Traffic Control </a:t>
            </a:r>
          </a:p>
        </p:txBody>
      </p:sp>
    </p:spTree>
    <p:extLst>
      <p:ext uri="{BB962C8B-B14F-4D97-AF65-F5344CB8AC3E}">
        <p14:creationId xmlns:p14="http://schemas.microsoft.com/office/powerpoint/2010/main" val="987683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heel(1)">
                                      <p:cBhvr>
                                        <p:cTn id="23" dur="2000"/>
                                        <p:tgtEl>
                                          <p:spTgt spid="25"/>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wheel(1)">
                                      <p:cBhvr>
                                        <p:cTn id="28" dur="2000"/>
                                        <p:tgtEl>
                                          <p:spTgt spid="26"/>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wheel(1)">
                                      <p:cBhvr>
                                        <p:cTn id="33" dur="2000"/>
                                        <p:tgtEl>
                                          <p:spTgt spid="27"/>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wheel(1)">
                                      <p:cBhvr>
                                        <p:cTn id="38" dur="20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circle(in)">
                                      <p:cBhvr>
                                        <p:cTn id="43"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5" grpId="0" animBg="1"/>
      <p:bldP spid="26" grpId="0" animBg="1"/>
      <p:bldP spid="27" grpId="0" animBg="1"/>
      <p:bldP spid="2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5FF34B44-C9DF-A972-E63E-C91AEC809A42}"/>
              </a:ext>
            </a:extLst>
          </p:cNvPr>
          <p:cNvSpPr>
            <a:spLocks noGrp="1" noChangeArrowheads="1"/>
          </p:cNvSpPr>
          <p:nvPr>
            <p:ph type="title"/>
          </p:nvPr>
        </p:nvSpPr>
        <p:spPr>
          <a:xfrm>
            <a:off x="135954" y="187918"/>
            <a:ext cx="7117691" cy="491556"/>
          </a:xfrm>
        </p:spPr>
        <p:txBody>
          <a:bodyPr>
            <a:noAutofit/>
          </a:bodyPr>
          <a:lstStyle/>
          <a:p>
            <a:pPr defTabSz="383790">
              <a:defRPr/>
            </a:pPr>
            <a:r>
              <a:rPr lang="en-US" altLang="en-US" sz="3200" b="1" cap="none" dirty="0">
                <a:solidFill>
                  <a:srgbClr val="FF0000"/>
                </a:solidFill>
                <a:latin typeface="Times New Roman" panose="02020603050405020304" pitchFamily="18" charset="0"/>
                <a:cs typeface="Times New Roman" panose="02020603050405020304" pitchFamily="18" charset="0"/>
              </a:rPr>
              <a:t>Code for the Timer0 Function </a:t>
            </a:r>
          </a:p>
        </p:txBody>
      </p:sp>
      <p:sp>
        <p:nvSpPr>
          <p:cNvPr id="3" name="Date Placeholder 2">
            <a:extLst>
              <a:ext uri="{FF2B5EF4-FFF2-40B4-BE49-F238E27FC236}">
                <a16:creationId xmlns:a16="http://schemas.microsoft.com/office/drawing/2014/main" id="{52230960-30C2-7F5F-192C-4BB0D8CFF9C8}"/>
              </a:ext>
            </a:extLst>
          </p:cNvPr>
          <p:cNvSpPr>
            <a:spLocks noGrp="1"/>
          </p:cNvSpPr>
          <p:nvPr>
            <p:ph type="dt" sz="half" idx="10"/>
          </p:nvPr>
        </p:nvSpPr>
        <p:spPr>
          <a:xfrm>
            <a:off x="8857455" y="6546717"/>
            <a:ext cx="1470557" cy="270933"/>
          </a:xfrm>
        </p:spPr>
        <p:txBody>
          <a:bodyPr/>
          <a:lstStyle/>
          <a:p>
            <a:pPr>
              <a:defRPr/>
            </a:pPr>
            <a:fld id="{7C1C483B-6605-415D-921D-B22D263AC03E}" type="datetime3">
              <a:rPr lang="en-US"/>
              <a:pPr>
                <a:defRPr/>
              </a:pPr>
              <a:t>15 June 2026</a:t>
            </a:fld>
            <a:endParaRPr lang="en-US" dirty="0"/>
          </a:p>
        </p:txBody>
      </p:sp>
      <p:sp>
        <p:nvSpPr>
          <p:cNvPr id="4" name="Footer Placeholder 3">
            <a:extLst>
              <a:ext uri="{FF2B5EF4-FFF2-40B4-BE49-F238E27FC236}">
                <a16:creationId xmlns:a16="http://schemas.microsoft.com/office/drawing/2014/main" id="{95B5C55D-F5FF-71C7-E466-E77120B39E3E}"/>
              </a:ext>
            </a:extLst>
          </p:cNvPr>
          <p:cNvSpPr>
            <a:spLocks noGrp="1"/>
          </p:cNvSpPr>
          <p:nvPr>
            <p:ph type="ftr" sz="quarter" idx="11"/>
          </p:nvPr>
        </p:nvSpPr>
        <p:spPr>
          <a:xfrm>
            <a:off x="106145" y="6546717"/>
            <a:ext cx="4640810" cy="304849"/>
          </a:xfrm>
        </p:spPr>
        <p:txBody>
          <a:bodyPr/>
          <a:lstStyle/>
          <a:p>
            <a:pPr>
              <a:defRPr/>
            </a:pPr>
            <a:r>
              <a:rPr lang="en-US" dirty="0"/>
              <a:t>Course Teacher: Prof. Dr. Engr. Muhibul Haque Bhuyan</a:t>
            </a:r>
          </a:p>
        </p:txBody>
      </p:sp>
      <p:sp>
        <p:nvSpPr>
          <p:cNvPr id="5" name="Slide Number Placeholder 4">
            <a:extLst>
              <a:ext uri="{FF2B5EF4-FFF2-40B4-BE49-F238E27FC236}">
                <a16:creationId xmlns:a16="http://schemas.microsoft.com/office/drawing/2014/main" id="{FA8EE3B1-1413-9688-E56D-9A3A002D7132}"/>
              </a:ext>
            </a:extLst>
          </p:cNvPr>
          <p:cNvSpPr>
            <a:spLocks noGrp="1"/>
          </p:cNvSpPr>
          <p:nvPr>
            <p:ph type="sldNum" sz="quarter" idx="12"/>
          </p:nvPr>
        </p:nvSpPr>
        <p:spPr/>
        <p:txBody>
          <a:bodyPr/>
          <a:lstStyle/>
          <a:p>
            <a:pPr>
              <a:defRPr/>
            </a:pPr>
            <a:fld id="{C8A15E9D-D7A5-4E63-A3E9-097CD61916BC}" type="slidenum">
              <a:rPr lang="en-US" altLang="en-US"/>
              <a:pPr>
                <a:defRPr/>
              </a:pPr>
              <a:t>33</a:t>
            </a:fld>
            <a:endParaRPr lang="en-US" altLang="en-US"/>
          </a:p>
        </p:txBody>
      </p:sp>
      <p:sp>
        <p:nvSpPr>
          <p:cNvPr id="20" name="Rectangle 19">
            <a:extLst>
              <a:ext uri="{FF2B5EF4-FFF2-40B4-BE49-F238E27FC236}">
                <a16:creationId xmlns:a16="http://schemas.microsoft.com/office/drawing/2014/main" id="{F78E9E7E-868A-A3A3-BCCE-82F674997169}"/>
              </a:ext>
            </a:extLst>
          </p:cNvPr>
          <p:cNvSpPr/>
          <p:nvPr/>
        </p:nvSpPr>
        <p:spPr bwMode="auto">
          <a:xfrm>
            <a:off x="106145" y="870864"/>
            <a:ext cx="8984691" cy="5675852"/>
          </a:xfrm>
          <a:prstGeom prst="rect">
            <a:avLst/>
          </a:prstGeom>
          <a:noFill/>
          <a:ln w="381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777">
              <a:solidFill>
                <a:schemeClr val="tx1"/>
              </a:solidFill>
            </a:endParaRPr>
          </a:p>
        </p:txBody>
      </p:sp>
      <p:sp>
        <p:nvSpPr>
          <p:cNvPr id="7" name="TextBox 6">
            <a:extLst>
              <a:ext uri="{FF2B5EF4-FFF2-40B4-BE49-F238E27FC236}">
                <a16:creationId xmlns:a16="http://schemas.microsoft.com/office/drawing/2014/main" id="{CE6F3C5C-0626-056B-5EB6-5CB915E24F1B}"/>
              </a:ext>
            </a:extLst>
          </p:cNvPr>
          <p:cNvSpPr txBox="1"/>
          <p:nvPr/>
        </p:nvSpPr>
        <p:spPr>
          <a:xfrm>
            <a:off x="9090837" y="870864"/>
            <a:ext cx="2975842" cy="3046988"/>
          </a:xfrm>
          <a:prstGeom prst="rect">
            <a:avLst/>
          </a:prstGeom>
          <a:noFill/>
        </p:spPr>
        <p:txBody>
          <a:bodyPr wrap="square">
            <a:spAutoFit/>
          </a:bodyPr>
          <a:lstStyle/>
          <a:p>
            <a:r>
              <a:rPr lang="en-US" sz="2400" dirty="0">
                <a:solidFill>
                  <a:srgbClr val="FFFF00"/>
                </a:solidFill>
                <a:latin typeface="Times New Roman" panose="02020603050405020304" pitchFamily="18" charset="0"/>
                <a:cs typeface="Times New Roman" panose="02020603050405020304" pitchFamily="18" charset="0"/>
              </a:rPr>
              <a:t>* Delay = 1 </a:t>
            </a:r>
            <a:r>
              <a:rPr lang="en-US" sz="2400" dirty="0" err="1">
                <a:solidFill>
                  <a:srgbClr val="FFFF00"/>
                </a:solidFill>
                <a:latin typeface="Times New Roman" panose="02020603050405020304" pitchFamily="18" charset="0"/>
                <a:cs typeface="Times New Roman" panose="02020603050405020304" pitchFamily="18" charset="0"/>
              </a:rPr>
              <a:t>ms</a:t>
            </a:r>
            <a:r>
              <a:rPr lang="en-US" sz="2400" dirty="0">
                <a:solidFill>
                  <a:srgbClr val="FFFF00"/>
                </a:solidFill>
                <a:latin typeface="Times New Roman" panose="02020603050405020304" pitchFamily="18" charset="0"/>
                <a:cs typeface="Times New Roman" panose="02020603050405020304" pitchFamily="18" charset="0"/>
              </a:rPr>
              <a:t>, so Timer0 can be used with pre-scalar 1024.</a:t>
            </a:r>
          </a:p>
          <a:p>
            <a:r>
              <a:rPr lang="en-US" sz="2400" dirty="0">
                <a:solidFill>
                  <a:srgbClr val="FFFF00"/>
                </a:solidFill>
                <a:latin typeface="Times New Roman" panose="02020603050405020304" pitchFamily="18" charset="0"/>
                <a:cs typeface="Times New Roman" panose="02020603050405020304" pitchFamily="18" charset="0"/>
              </a:rPr>
              <a:t>The number of counts needed to reach 1 </a:t>
            </a:r>
            <a:r>
              <a:rPr lang="en-US" sz="2400" dirty="0" err="1">
                <a:solidFill>
                  <a:srgbClr val="FFFF00"/>
                </a:solidFill>
                <a:latin typeface="Times New Roman" panose="02020603050405020304" pitchFamily="18" charset="0"/>
                <a:cs typeface="Times New Roman" panose="02020603050405020304" pitchFamily="18" charset="0"/>
              </a:rPr>
              <a:t>ms</a:t>
            </a:r>
            <a:r>
              <a:rPr lang="en-US" sz="2400" dirty="0">
                <a:solidFill>
                  <a:srgbClr val="FFFF00"/>
                </a:solidFill>
                <a:latin typeface="Times New Roman" panose="02020603050405020304" pitchFamily="18" charset="0"/>
                <a:cs typeface="Times New Roman" panose="02020603050405020304" pitchFamily="18" charset="0"/>
              </a:rPr>
              <a:t> = (1,000 </a:t>
            </a:r>
            <a:r>
              <a:rPr lang="en-US" sz="2400" dirty="0" err="1">
                <a:solidFill>
                  <a:srgbClr val="FFFF00"/>
                </a:solidFill>
                <a:latin typeface="Symbol" panose="05050102010706020507" pitchFamily="18" charset="2"/>
                <a:cs typeface="Times New Roman" panose="02020603050405020304" pitchFamily="18" charset="0"/>
              </a:rPr>
              <a:t>m</a:t>
            </a:r>
            <a:r>
              <a:rPr lang="en-US" sz="2400" dirty="0" err="1">
                <a:solidFill>
                  <a:srgbClr val="FFFF00"/>
                </a:solidFill>
                <a:latin typeface="Times New Roman" panose="02020603050405020304" pitchFamily="18" charset="0"/>
                <a:cs typeface="Times New Roman" panose="02020603050405020304" pitchFamily="18" charset="0"/>
              </a:rPr>
              <a:t>s</a:t>
            </a:r>
            <a:r>
              <a:rPr lang="en-US" sz="2400" dirty="0">
                <a:solidFill>
                  <a:srgbClr val="FFFF00"/>
                </a:solidFill>
                <a:latin typeface="Times New Roman" panose="02020603050405020304" pitchFamily="18" charset="0"/>
                <a:cs typeface="Times New Roman" panose="02020603050405020304" pitchFamily="18" charset="0"/>
              </a:rPr>
              <a:t>/64 </a:t>
            </a:r>
            <a:r>
              <a:rPr lang="el-GR" sz="2400" dirty="0">
                <a:solidFill>
                  <a:srgbClr val="FFFF00"/>
                </a:solidFill>
                <a:latin typeface="Times New Roman" panose="02020603050405020304" pitchFamily="18" charset="0"/>
                <a:cs typeface="Times New Roman" panose="02020603050405020304" pitchFamily="18" charset="0"/>
              </a:rPr>
              <a:t>μ</a:t>
            </a:r>
            <a:r>
              <a:rPr lang="en-US" sz="2400" dirty="0">
                <a:solidFill>
                  <a:srgbClr val="FFFF00"/>
                </a:solidFill>
                <a:latin typeface="Times New Roman" panose="02020603050405020304" pitchFamily="18" charset="0"/>
                <a:cs typeface="Times New Roman" panose="02020603050405020304" pitchFamily="18" charset="0"/>
              </a:rPr>
              <a:t>s) – 1 = 15.625 -1</a:t>
            </a:r>
          </a:p>
          <a:p>
            <a:r>
              <a:rPr lang="en-US" sz="2400" dirty="0">
                <a:solidFill>
                  <a:srgbClr val="FFFF00"/>
                </a:solidFill>
                <a:latin typeface="Times New Roman" panose="02020603050405020304" pitchFamily="18" charset="0"/>
                <a:cs typeface="Times New Roman" panose="02020603050405020304" pitchFamily="18" charset="0"/>
              </a:rPr>
              <a:t>= 14.65 ≈ 15.</a:t>
            </a:r>
          </a:p>
        </p:txBody>
      </p:sp>
      <p:sp>
        <p:nvSpPr>
          <p:cNvPr id="2" name="Title 1">
            <a:extLst>
              <a:ext uri="{FF2B5EF4-FFF2-40B4-BE49-F238E27FC236}">
                <a16:creationId xmlns:a16="http://schemas.microsoft.com/office/drawing/2014/main" id="{5189624D-F66B-F9FD-96F9-1E90BCEC214F}"/>
              </a:ext>
            </a:extLst>
          </p:cNvPr>
          <p:cNvSpPr txBox="1">
            <a:spLocks noChangeArrowheads="1"/>
          </p:cNvSpPr>
          <p:nvPr/>
        </p:nvSpPr>
        <p:spPr bwMode="white">
          <a:xfrm>
            <a:off x="184847" y="967562"/>
            <a:ext cx="8827286" cy="5579153"/>
          </a:xfrm>
          <a:prstGeom prst="rect">
            <a:avLst/>
          </a:prstGeom>
          <a:effectLst/>
        </p:spPr>
        <p:txBody>
          <a:bodyPr vert="horz" lIns="91440" tIns="45720" rIns="91440" bIns="45720" rtlCol="0" anchor="t" anchorCtr="0">
            <a:normAutofit fontScale="92500" lnSpcReduction="20000"/>
          </a:bodyPr>
          <a:lstStyle>
            <a:lvl1pPr algn="l" defTabSz="457200" rtl="0" eaLnBrk="1" latinLnBrk="0" hangingPunct="1">
              <a:spcBef>
                <a:spcPct val="0"/>
              </a:spcBef>
              <a:buNone/>
              <a:defRPr sz="30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cap="none" dirty="0">
                <a:latin typeface="Times New Roman" panose="02020603050405020304" pitchFamily="18" charset="0"/>
                <a:cs typeface="Times New Roman" panose="02020603050405020304" pitchFamily="18" charset="0"/>
              </a:rPr>
              <a:t>// declaring the timer function to count 1 </a:t>
            </a:r>
            <a:r>
              <a:rPr lang="en-US" sz="2400" cap="none" dirty="0" err="1">
                <a:latin typeface="Times New Roman" panose="02020603050405020304" pitchFamily="18" charset="0"/>
                <a:cs typeface="Times New Roman" panose="02020603050405020304" pitchFamily="18" charset="0"/>
              </a:rPr>
              <a:t>ms</a:t>
            </a:r>
            <a:r>
              <a:rPr lang="en-US" sz="2400" cap="none" dirty="0">
                <a:latin typeface="Times New Roman" panose="02020603050405020304" pitchFamily="18" charset="0"/>
                <a:cs typeface="Times New Roman" panose="02020603050405020304" pitchFamily="18" charset="0"/>
              </a:rPr>
              <a:t> of delay instead of calling the delay function</a:t>
            </a:r>
          </a:p>
          <a:p>
            <a:r>
              <a:rPr lang="en-US" sz="2400" cap="none" dirty="0">
                <a:latin typeface="Times New Roman" panose="02020603050405020304" pitchFamily="18" charset="0"/>
                <a:cs typeface="Times New Roman" panose="02020603050405020304" pitchFamily="18" charset="0"/>
              </a:rPr>
              <a:t>int </a:t>
            </a:r>
            <a:r>
              <a:rPr lang="en-US" sz="2400" cap="none" dirty="0" err="1">
                <a:latin typeface="Times New Roman" panose="02020603050405020304" pitchFamily="18" charset="0"/>
                <a:cs typeface="Times New Roman" panose="02020603050405020304" pitchFamily="18" charset="0"/>
              </a:rPr>
              <a:t>delay_timer</a:t>
            </a:r>
            <a:r>
              <a:rPr lang="en-US" sz="2400" cap="none" dirty="0">
                <a:latin typeface="Times New Roman" panose="02020603050405020304" pitchFamily="18" charset="0"/>
                <a:cs typeface="Times New Roman" panose="02020603050405020304" pitchFamily="18" charset="0"/>
              </a:rPr>
              <a:t> (int milliseconds){</a:t>
            </a:r>
          </a:p>
          <a:p>
            <a:r>
              <a:rPr lang="en-US" sz="2400" cap="none" dirty="0">
                <a:latin typeface="Times New Roman" panose="02020603050405020304" pitchFamily="18" charset="0"/>
                <a:cs typeface="Times New Roman" panose="02020603050405020304" pitchFamily="18" charset="0"/>
              </a:rPr>
              <a:t>  int count = 0;</a:t>
            </a:r>
          </a:p>
          <a:p>
            <a:r>
              <a:rPr lang="en-US" sz="2400" cap="none" dirty="0">
                <a:latin typeface="Times New Roman" panose="02020603050405020304" pitchFamily="18" charset="0"/>
                <a:cs typeface="Times New Roman" panose="02020603050405020304" pitchFamily="18" charset="0"/>
              </a:rPr>
              <a:t>  while(1)</a:t>
            </a:r>
          </a:p>
          <a:p>
            <a:r>
              <a:rPr lang="en-US" sz="2400" cap="none" dirty="0">
                <a:latin typeface="Times New Roman" panose="02020603050405020304" pitchFamily="18" charset="0"/>
                <a:cs typeface="Times New Roman" panose="02020603050405020304" pitchFamily="18" charset="0"/>
              </a:rPr>
              <a:t>  {</a:t>
            </a:r>
          </a:p>
          <a:p>
            <a:r>
              <a:rPr lang="en-US" sz="2400" cap="none" dirty="0">
                <a:latin typeface="Times New Roman" panose="02020603050405020304" pitchFamily="18" charset="0"/>
                <a:cs typeface="Times New Roman" panose="02020603050405020304" pitchFamily="18" charset="0"/>
              </a:rPr>
              <a:t>    if(TCNT0 &gt;= 15)  // checking if 1 millisecond has passed</a:t>
            </a:r>
          </a:p>
          <a:p>
            <a:r>
              <a:rPr lang="en-US" sz="2400" cap="none" dirty="0">
                <a:latin typeface="Times New Roman" panose="02020603050405020304" pitchFamily="18" charset="0"/>
                <a:cs typeface="Times New Roman" panose="02020603050405020304" pitchFamily="18" charset="0"/>
              </a:rPr>
              <a:t>      {</a:t>
            </a:r>
          </a:p>
          <a:p>
            <a:r>
              <a:rPr lang="en-US" sz="2400" cap="none" dirty="0">
                <a:latin typeface="Times New Roman" panose="02020603050405020304" pitchFamily="18" charset="0"/>
                <a:cs typeface="Times New Roman" panose="02020603050405020304" pitchFamily="18" charset="0"/>
              </a:rPr>
              <a:t>        TCNT0 = 0;</a:t>
            </a:r>
          </a:p>
          <a:p>
            <a:r>
              <a:rPr lang="en-US" sz="2400" cap="none" dirty="0">
                <a:latin typeface="Times New Roman" panose="02020603050405020304" pitchFamily="18" charset="0"/>
                <a:cs typeface="Times New Roman" panose="02020603050405020304" pitchFamily="18" charset="0"/>
              </a:rPr>
              <a:t>        count++; </a:t>
            </a:r>
          </a:p>
          <a:p>
            <a:r>
              <a:rPr lang="en-US" sz="2400" cap="none" dirty="0">
                <a:latin typeface="Times New Roman" panose="02020603050405020304" pitchFamily="18" charset="0"/>
                <a:cs typeface="Times New Roman" panose="02020603050405020304" pitchFamily="18" charset="0"/>
              </a:rPr>
              <a:t>        if (count == milliseconds) //</a:t>
            </a:r>
            <a:r>
              <a:rPr lang="en-US" sz="1900" cap="none" dirty="0">
                <a:latin typeface="Times New Roman" panose="02020603050405020304" pitchFamily="18" charset="0"/>
                <a:cs typeface="Times New Roman" panose="02020603050405020304" pitchFamily="18" charset="0"/>
              </a:rPr>
              <a:t>checking if required milliseconds delay has passed</a:t>
            </a:r>
            <a:endParaRPr lang="en-US" sz="2400" cap="none" dirty="0">
              <a:latin typeface="Times New Roman" panose="02020603050405020304" pitchFamily="18" charset="0"/>
              <a:cs typeface="Times New Roman" panose="02020603050405020304" pitchFamily="18" charset="0"/>
            </a:endParaRPr>
          </a:p>
          <a:p>
            <a:r>
              <a:rPr lang="en-US" sz="2400" cap="none" dirty="0">
                <a:latin typeface="Times New Roman" panose="02020603050405020304" pitchFamily="18" charset="0"/>
                <a:cs typeface="Times New Roman" panose="02020603050405020304" pitchFamily="18" charset="0"/>
              </a:rPr>
              <a:t>        {</a:t>
            </a:r>
          </a:p>
          <a:p>
            <a:r>
              <a:rPr lang="en-US" sz="2400" cap="none" dirty="0">
                <a:latin typeface="Times New Roman" panose="02020603050405020304" pitchFamily="18" charset="0"/>
                <a:cs typeface="Times New Roman" panose="02020603050405020304" pitchFamily="18" charset="0"/>
              </a:rPr>
              <a:t>            count = 0;</a:t>
            </a:r>
          </a:p>
          <a:p>
            <a:r>
              <a:rPr lang="en-US" sz="2400" cap="none" dirty="0">
                <a:latin typeface="Times New Roman" panose="02020603050405020304" pitchFamily="18" charset="0"/>
                <a:cs typeface="Times New Roman" panose="02020603050405020304" pitchFamily="18" charset="0"/>
              </a:rPr>
              <a:t>            break; // exits the loop</a:t>
            </a:r>
          </a:p>
          <a:p>
            <a:r>
              <a:rPr lang="en-US" sz="2400" cap="none" dirty="0">
                <a:latin typeface="Times New Roman" panose="02020603050405020304" pitchFamily="18" charset="0"/>
                <a:cs typeface="Times New Roman" panose="02020603050405020304" pitchFamily="18" charset="0"/>
              </a:rPr>
              <a:t>        }</a:t>
            </a:r>
          </a:p>
          <a:p>
            <a:r>
              <a:rPr lang="en-US" sz="2400" cap="none" dirty="0">
                <a:latin typeface="Times New Roman" panose="02020603050405020304" pitchFamily="18" charset="0"/>
                <a:cs typeface="Times New Roman" panose="02020603050405020304" pitchFamily="18" charset="0"/>
              </a:rPr>
              <a:t>      }</a:t>
            </a:r>
          </a:p>
          <a:p>
            <a:r>
              <a:rPr lang="en-US" sz="2400" cap="none" dirty="0">
                <a:latin typeface="Times New Roman" panose="02020603050405020304" pitchFamily="18" charset="0"/>
                <a:cs typeface="Times New Roman" panose="02020603050405020304" pitchFamily="18" charset="0"/>
              </a:rPr>
              <a:t>  }</a:t>
            </a:r>
          </a:p>
          <a:p>
            <a:r>
              <a:rPr lang="en-US" sz="2400" cap="none" dirty="0">
                <a:latin typeface="Times New Roman" panose="02020603050405020304" pitchFamily="18" charset="0"/>
                <a:cs typeface="Times New Roman" panose="02020603050405020304" pitchFamily="18" charset="0"/>
              </a:rPr>
              <a:t>  return 0;</a:t>
            </a:r>
          </a:p>
          <a:p>
            <a:r>
              <a:rPr lang="en-US" sz="2400" cap="none" dirty="0">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heel(1)">
                                      <p:cBhvr>
                                        <p:cTn id="7"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0E3AE68-B554-35D9-50CC-F92DBFC0F711}"/>
              </a:ext>
            </a:extLst>
          </p:cNvPr>
          <p:cNvPicPr>
            <a:picLocks noChangeAspect="1"/>
          </p:cNvPicPr>
          <p:nvPr/>
        </p:nvPicPr>
        <p:blipFill>
          <a:blip r:embed="rId2"/>
          <a:stretch>
            <a:fillRect/>
          </a:stretch>
        </p:blipFill>
        <p:spPr>
          <a:xfrm>
            <a:off x="848360" y="1279836"/>
            <a:ext cx="10510520" cy="4761956"/>
          </a:xfrm>
          <a:prstGeom prst="rect">
            <a:avLst/>
          </a:prstGeom>
        </p:spPr>
      </p:pic>
      <p:sp>
        <p:nvSpPr>
          <p:cNvPr id="6146" name="Title 1">
            <a:extLst>
              <a:ext uri="{FF2B5EF4-FFF2-40B4-BE49-F238E27FC236}">
                <a16:creationId xmlns:a16="http://schemas.microsoft.com/office/drawing/2014/main" id="{5FF34B44-C9DF-A972-E63E-C91AEC809A42}"/>
              </a:ext>
            </a:extLst>
          </p:cNvPr>
          <p:cNvSpPr>
            <a:spLocks noGrp="1" noChangeArrowheads="1"/>
          </p:cNvSpPr>
          <p:nvPr>
            <p:ph type="title"/>
          </p:nvPr>
        </p:nvSpPr>
        <p:spPr>
          <a:xfrm>
            <a:off x="650240" y="409145"/>
            <a:ext cx="11327834" cy="591399"/>
          </a:xfrm>
        </p:spPr>
        <p:txBody>
          <a:bodyPr>
            <a:noAutofit/>
          </a:bodyPr>
          <a:lstStyle/>
          <a:p>
            <a:pPr defTabSz="383790">
              <a:defRPr/>
            </a:pPr>
            <a:r>
              <a:rPr lang="en-US" altLang="en-US" sz="3600" b="1" cap="none" dirty="0">
                <a:solidFill>
                  <a:schemeClr val="tx1">
                    <a:lumMod val="85000"/>
                    <a:lumOff val="15000"/>
                  </a:schemeClr>
                </a:solidFill>
                <a:latin typeface="Arial" panose="020B0604020202020204" pitchFamily="34" charset="0"/>
                <a:cs typeface="Arial" panose="020B0604020202020204" pitchFamily="34" charset="0"/>
              </a:rPr>
              <a:t>Modified Code using Timer0 for the Traffic Control </a:t>
            </a:r>
          </a:p>
        </p:txBody>
      </p:sp>
      <p:sp>
        <p:nvSpPr>
          <p:cNvPr id="3" name="Date Placeholder 2">
            <a:extLst>
              <a:ext uri="{FF2B5EF4-FFF2-40B4-BE49-F238E27FC236}">
                <a16:creationId xmlns:a16="http://schemas.microsoft.com/office/drawing/2014/main" id="{52230960-30C2-7F5F-192C-4BB0D8CFF9C8}"/>
              </a:ext>
            </a:extLst>
          </p:cNvPr>
          <p:cNvSpPr>
            <a:spLocks noGrp="1"/>
          </p:cNvSpPr>
          <p:nvPr>
            <p:ph type="dt" sz="half" idx="10"/>
          </p:nvPr>
        </p:nvSpPr>
        <p:spPr>
          <a:xfrm>
            <a:off x="8884593" y="6546717"/>
            <a:ext cx="1470557" cy="270933"/>
          </a:xfrm>
        </p:spPr>
        <p:txBody>
          <a:bodyPr/>
          <a:lstStyle/>
          <a:p>
            <a:pPr>
              <a:defRPr/>
            </a:pPr>
            <a:fld id="{7C1C483B-6605-415D-921D-B22D263AC03E}" type="datetime3">
              <a:rPr lang="en-US"/>
              <a:pPr>
                <a:defRPr/>
              </a:pPr>
              <a:t>15 June 2026</a:t>
            </a:fld>
            <a:endParaRPr lang="en-US"/>
          </a:p>
        </p:txBody>
      </p:sp>
      <p:sp>
        <p:nvSpPr>
          <p:cNvPr id="4" name="Footer Placeholder 3">
            <a:extLst>
              <a:ext uri="{FF2B5EF4-FFF2-40B4-BE49-F238E27FC236}">
                <a16:creationId xmlns:a16="http://schemas.microsoft.com/office/drawing/2014/main" id="{95B5C55D-F5FF-71C7-E466-E77120B39E3E}"/>
              </a:ext>
            </a:extLst>
          </p:cNvPr>
          <p:cNvSpPr>
            <a:spLocks noGrp="1"/>
          </p:cNvSpPr>
          <p:nvPr>
            <p:ph type="ftr" sz="quarter" idx="11"/>
          </p:nvPr>
        </p:nvSpPr>
        <p:spPr>
          <a:xfrm>
            <a:off x="34958" y="6546717"/>
            <a:ext cx="4640810" cy="304849"/>
          </a:xfrm>
        </p:spPr>
        <p:txBody>
          <a:bodyPr/>
          <a:lstStyle/>
          <a:p>
            <a:pPr>
              <a:defRPr/>
            </a:pPr>
            <a:r>
              <a:rPr lang="en-US" dirty="0"/>
              <a:t>Course Teacher: Prof. Dr. Engr. Muhibul Haque Bhuyan</a:t>
            </a:r>
          </a:p>
        </p:txBody>
      </p:sp>
      <p:sp>
        <p:nvSpPr>
          <p:cNvPr id="5" name="Slide Number Placeholder 4">
            <a:extLst>
              <a:ext uri="{FF2B5EF4-FFF2-40B4-BE49-F238E27FC236}">
                <a16:creationId xmlns:a16="http://schemas.microsoft.com/office/drawing/2014/main" id="{FA8EE3B1-1413-9688-E56D-9A3A002D7132}"/>
              </a:ext>
            </a:extLst>
          </p:cNvPr>
          <p:cNvSpPr>
            <a:spLocks noGrp="1"/>
          </p:cNvSpPr>
          <p:nvPr>
            <p:ph type="sldNum" sz="quarter" idx="12"/>
          </p:nvPr>
        </p:nvSpPr>
        <p:spPr/>
        <p:txBody>
          <a:bodyPr/>
          <a:lstStyle/>
          <a:p>
            <a:pPr>
              <a:defRPr/>
            </a:pPr>
            <a:fld id="{C8A15E9D-D7A5-4E63-A3E9-097CD61916BC}" type="slidenum">
              <a:rPr lang="en-US" altLang="en-US"/>
              <a:pPr>
                <a:defRPr/>
              </a:pPr>
              <a:t>34</a:t>
            </a:fld>
            <a:endParaRPr lang="en-US" altLang="en-US"/>
          </a:p>
        </p:txBody>
      </p:sp>
      <p:sp>
        <p:nvSpPr>
          <p:cNvPr id="21" name="Rectangle 20">
            <a:extLst>
              <a:ext uri="{FF2B5EF4-FFF2-40B4-BE49-F238E27FC236}">
                <a16:creationId xmlns:a16="http://schemas.microsoft.com/office/drawing/2014/main" id="{C813BBDA-432F-995E-ADBA-9F6D46B4C179}"/>
              </a:ext>
            </a:extLst>
          </p:cNvPr>
          <p:cNvSpPr/>
          <p:nvPr/>
        </p:nvSpPr>
        <p:spPr bwMode="auto">
          <a:xfrm>
            <a:off x="1237826" y="4023361"/>
            <a:ext cx="10105813" cy="1978466"/>
          </a:xfrm>
          <a:prstGeom prst="rect">
            <a:avLst/>
          </a:prstGeom>
          <a:noFill/>
          <a:ln w="3810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777">
              <a:solidFill>
                <a:schemeClr val="tx1"/>
              </a:solidFill>
            </a:endParaRPr>
          </a:p>
        </p:txBody>
      </p:sp>
    </p:spTree>
    <p:extLst>
      <p:ext uri="{BB962C8B-B14F-4D97-AF65-F5344CB8AC3E}">
        <p14:creationId xmlns:p14="http://schemas.microsoft.com/office/powerpoint/2010/main" val="2019824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heel(1)">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A5CF110-2625-BFDC-7F9F-790E806917B4}"/>
              </a:ext>
            </a:extLst>
          </p:cNvPr>
          <p:cNvPicPr>
            <a:picLocks noChangeAspect="1"/>
          </p:cNvPicPr>
          <p:nvPr/>
        </p:nvPicPr>
        <p:blipFill>
          <a:blip r:embed="rId2"/>
          <a:stretch>
            <a:fillRect/>
          </a:stretch>
        </p:blipFill>
        <p:spPr>
          <a:xfrm>
            <a:off x="900680" y="981899"/>
            <a:ext cx="4450254" cy="5076386"/>
          </a:xfrm>
          <a:prstGeom prst="rect">
            <a:avLst/>
          </a:prstGeom>
        </p:spPr>
      </p:pic>
      <p:sp>
        <p:nvSpPr>
          <p:cNvPr id="3" name="Date Placeholder 2">
            <a:extLst>
              <a:ext uri="{FF2B5EF4-FFF2-40B4-BE49-F238E27FC236}">
                <a16:creationId xmlns:a16="http://schemas.microsoft.com/office/drawing/2014/main" id="{52230960-30C2-7F5F-192C-4BB0D8CFF9C8}"/>
              </a:ext>
            </a:extLst>
          </p:cNvPr>
          <p:cNvSpPr>
            <a:spLocks noGrp="1"/>
          </p:cNvSpPr>
          <p:nvPr>
            <p:ph type="dt" sz="half" idx="10"/>
          </p:nvPr>
        </p:nvSpPr>
        <p:spPr>
          <a:xfrm>
            <a:off x="9016673" y="6515566"/>
            <a:ext cx="1470557" cy="270933"/>
          </a:xfrm>
        </p:spPr>
        <p:txBody>
          <a:bodyPr/>
          <a:lstStyle/>
          <a:p>
            <a:pPr>
              <a:defRPr/>
            </a:pPr>
            <a:fld id="{7C1C483B-6605-415D-921D-B22D263AC03E}" type="datetime3">
              <a:rPr lang="en-US"/>
              <a:pPr>
                <a:defRPr/>
              </a:pPr>
              <a:t>15 June 2026</a:t>
            </a:fld>
            <a:endParaRPr lang="en-US"/>
          </a:p>
        </p:txBody>
      </p:sp>
      <p:sp>
        <p:nvSpPr>
          <p:cNvPr id="4" name="Footer Placeholder 3">
            <a:extLst>
              <a:ext uri="{FF2B5EF4-FFF2-40B4-BE49-F238E27FC236}">
                <a16:creationId xmlns:a16="http://schemas.microsoft.com/office/drawing/2014/main" id="{95B5C55D-F5FF-71C7-E466-E77120B39E3E}"/>
              </a:ext>
            </a:extLst>
          </p:cNvPr>
          <p:cNvSpPr>
            <a:spLocks noGrp="1"/>
          </p:cNvSpPr>
          <p:nvPr>
            <p:ph type="ftr" sz="quarter" idx="11"/>
          </p:nvPr>
        </p:nvSpPr>
        <p:spPr>
          <a:xfrm>
            <a:off x="34958" y="6481650"/>
            <a:ext cx="4640810" cy="304849"/>
          </a:xfrm>
        </p:spPr>
        <p:txBody>
          <a:bodyPr/>
          <a:lstStyle/>
          <a:p>
            <a:pPr>
              <a:defRPr/>
            </a:pPr>
            <a:r>
              <a:rPr lang="en-US" dirty="0"/>
              <a:t>Course Teacher: Prof. Dr. Engr. Muhibul Haque Bhuyan</a:t>
            </a:r>
          </a:p>
        </p:txBody>
      </p:sp>
      <p:sp>
        <p:nvSpPr>
          <p:cNvPr id="5" name="Slide Number Placeholder 4">
            <a:extLst>
              <a:ext uri="{FF2B5EF4-FFF2-40B4-BE49-F238E27FC236}">
                <a16:creationId xmlns:a16="http://schemas.microsoft.com/office/drawing/2014/main" id="{FA8EE3B1-1413-9688-E56D-9A3A002D7132}"/>
              </a:ext>
            </a:extLst>
          </p:cNvPr>
          <p:cNvSpPr>
            <a:spLocks noGrp="1"/>
          </p:cNvSpPr>
          <p:nvPr>
            <p:ph type="sldNum" sz="quarter" idx="12"/>
          </p:nvPr>
        </p:nvSpPr>
        <p:spPr/>
        <p:txBody>
          <a:bodyPr/>
          <a:lstStyle/>
          <a:p>
            <a:pPr>
              <a:defRPr/>
            </a:pPr>
            <a:fld id="{C8A15E9D-D7A5-4E63-A3E9-097CD61916BC}" type="slidenum">
              <a:rPr lang="en-US" altLang="en-US"/>
              <a:pPr>
                <a:defRPr/>
              </a:pPr>
              <a:t>35</a:t>
            </a:fld>
            <a:endParaRPr lang="en-US" altLang="en-US"/>
          </a:p>
        </p:txBody>
      </p:sp>
      <p:sp>
        <p:nvSpPr>
          <p:cNvPr id="27" name="Rectangle 26">
            <a:extLst>
              <a:ext uri="{FF2B5EF4-FFF2-40B4-BE49-F238E27FC236}">
                <a16:creationId xmlns:a16="http://schemas.microsoft.com/office/drawing/2014/main" id="{C7BEC7CE-DAAB-0EA9-AC56-716939613B2D}"/>
              </a:ext>
            </a:extLst>
          </p:cNvPr>
          <p:cNvSpPr/>
          <p:nvPr/>
        </p:nvSpPr>
        <p:spPr bwMode="auto">
          <a:xfrm>
            <a:off x="1107335" y="1652323"/>
            <a:ext cx="2262399" cy="304849"/>
          </a:xfrm>
          <a:prstGeom prst="rect">
            <a:avLst/>
          </a:prstGeom>
          <a:noFill/>
          <a:ln w="3810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777" dirty="0">
              <a:solidFill>
                <a:schemeClr val="tx1"/>
              </a:solidFill>
            </a:endParaRPr>
          </a:p>
        </p:txBody>
      </p:sp>
      <p:sp>
        <p:nvSpPr>
          <p:cNvPr id="9" name="Rectangle 8">
            <a:extLst>
              <a:ext uri="{FF2B5EF4-FFF2-40B4-BE49-F238E27FC236}">
                <a16:creationId xmlns:a16="http://schemas.microsoft.com/office/drawing/2014/main" id="{14714997-2997-D483-23BD-E3C7A3A1D4D7}"/>
              </a:ext>
            </a:extLst>
          </p:cNvPr>
          <p:cNvSpPr/>
          <p:nvPr/>
        </p:nvSpPr>
        <p:spPr bwMode="auto">
          <a:xfrm>
            <a:off x="1107335" y="3520090"/>
            <a:ext cx="2262399" cy="304849"/>
          </a:xfrm>
          <a:prstGeom prst="rect">
            <a:avLst/>
          </a:prstGeom>
          <a:noFill/>
          <a:ln w="3810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777" dirty="0">
              <a:solidFill>
                <a:schemeClr val="tx1"/>
              </a:solidFill>
            </a:endParaRPr>
          </a:p>
        </p:txBody>
      </p:sp>
      <p:sp>
        <p:nvSpPr>
          <p:cNvPr id="10" name="Rectangle 9">
            <a:extLst>
              <a:ext uri="{FF2B5EF4-FFF2-40B4-BE49-F238E27FC236}">
                <a16:creationId xmlns:a16="http://schemas.microsoft.com/office/drawing/2014/main" id="{A821248B-1127-843A-24C5-CFF45DB438E9}"/>
              </a:ext>
            </a:extLst>
          </p:cNvPr>
          <p:cNvSpPr/>
          <p:nvPr/>
        </p:nvSpPr>
        <p:spPr bwMode="auto">
          <a:xfrm>
            <a:off x="1107335" y="3962637"/>
            <a:ext cx="2262399" cy="304849"/>
          </a:xfrm>
          <a:prstGeom prst="rect">
            <a:avLst/>
          </a:prstGeom>
          <a:noFill/>
          <a:ln w="3810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777" dirty="0">
              <a:solidFill>
                <a:schemeClr val="tx1"/>
              </a:solidFill>
            </a:endParaRPr>
          </a:p>
        </p:txBody>
      </p:sp>
      <p:sp>
        <p:nvSpPr>
          <p:cNvPr id="11" name="Rectangle 10">
            <a:extLst>
              <a:ext uri="{FF2B5EF4-FFF2-40B4-BE49-F238E27FC236}">
                <a16:creationId xmlns:a16="http://schemas.microsoft.com/office/drawing/2014/main" id="{4903EDB3-FA79-F73E-FBD3-A2FF982624FF}"/>
              </a:ext>
            </a:extLst>
          </p:cNvPr>
          <p:cNvSpPr/>
          <p:nvPr/>
        </p:nvSpPr>
        <p:spPr bwMode="auto">
          <a:xfrm>
            <a:off x="1107335" y="5128945"/>
            <a:ext cx="2262399" cy="304849"/>
          </a:xfrm>
          <a:prstGeom prst="rect">
            <a:avLst/>
          </a:prstGeom>
          <a:noFill/>
          <a:ln w="38100">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777" dirty="0">
              <a:solidFill>
                <a:schemeClr val="tx1"/>
              </a:solidFill>
            </a:endParaRPr>
          </a:p>
        </p:txBody>
      </p:sp>
      <p:sp>
        <p:nvSpPr>
          <p:cNvPr id="12" name="TextBox 5">
            <a:extLst>
              <a:ext uri="{FF2B5EF4-FFF2-40B4-BE49-F238E27FC236}">
                <a16:creationId xmlns:a16="http://schemas.microsoft.com/office/drawing/2014/main" id="{0A4603D9-B5D8-E81B-3201-F33561E52258}"/>
              </a:ext>
            </a:extLst>
          </p:cNvPr>
          <p:cNvSpPr txBox="1">
            <a:spLocks noChangeArrowheads="1"/>
          </p:cNvSpPr>
          <p:nvPr/>
        </p:nvSpPr>
        <p:spPr bwMode="auto">
          <a:xfrm>
            <a:off x="5838787" y="1366188"/>
            <a:ext cx="5057599" cy="730713"/>
          </a:xfrm>
          <a:prstGeom prst="rect">
            <a:avLst/>
          </a:prstGeom>
          <a:solidFill>
            <a:schemeClr val="tx1"/>
          </a:solidFill>
          <a:ln>
            <a:noFill/>
          </a:ln>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altLang="en-US" sz="2074" dirty="0">
                <a:solidFill>
                  <a:srgbClr val="0070C0"/>
                </a:solidFill>
                <a:latin typeface="Arial" panose="020B0604020202020204" pitchFamily="34" charset="0"/>
                <a:cs typeface="Arial" panose="020B0604020202020204" pitchFamily="34" charset="0"/>
              </a:rPr>
              <a:t>Change the marked lines with the new function, </a:t>
            </a:r>
            <a:r>
              <a:rPr lang="en-US" altLang="en-US" sz="2074" dirty="0" err="1">
                <a:solidFill>
                  <a:srgbClr val="0070C0"/>
                </a:solidFill>
                <a:latin typeface="Arial" panose="020B0604020202020204" pitchFamily="34" charset="0"/>
                <a:cs typeface="Arial" panose="020B0604020202020204" pitchFamily="34" charset="0"/>
              </a:rPr>
              <a:t>delay_timer</a:t>
            </a:r>
            <a:r>
              <a:rPr lang="en-US" altLang="en-US" sz="2074" dirty="0">
                <a:solidFill>
                  <a:srgbClr val="0070C0"/>
                </a:solidFill>
                <a:latin typeface="Arial" panose="020B0604020202020204" pitchFamily="34" charset="0"/>
                <a:cs typeface="Arial" panose="020B0604020202020204" pitchFamily="34" charset="0"/>
              </a:rPr>
              <a:t>() inside the lop.</a:t>
            </a:r>
          </a:p>
        </p:txBody>
      </p:sp>
      <p:cxnSp>
        <p:nvCxnSpPr>
          <p:cNvPr id="13" name="Straight Arrow Connector 12">
            <a:extLst>
              <a:ext uri="{FF2B5EF4-FFF2-40B4-BE49-F238E27FC236}">
                <a16:creationId xmlns:a16="http://schemas.microsoft.com/office/drawing/2014/main" id="{59A1744C-64B3-D4A9-BF7C-A6ECDBCB7A8B}"/>
              </a:ext>
            </a:extLst>
          </p:cNvPr>
          <p:cNvCxnSpPr>
            <a:cxnSpLocks/>
          </p:cNvCxnSpPr>
          <p:nvPr/>
        </p:nvCxnSpPr>
        <p:spPr>
          <a:xfrm flipH="1">
            <a:off x="3369733" y="1652323"/>
            <a:ext cx="2509896" cy="2020192"/>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237BB3EB-F032-4D64-3BD0-3718FD3FE53E}"/>
              </a:ext>
            </a:extLst>
          </p:cNvPr>
          <p:cNvSpPr>
            <a:spLocks noGrp="1" noChangeArrowheads="1"/>
          </p:cNvSpPr>
          <p:nvPr>
            <p:ph type="title"/>
          </p:nvPr>
        </p:nvSpPr>
        <p:spPr>
          <a:xfrm>
            <a:off x="629920" y="331893"/>
            <a:ext cx="11226800" cy="591399"/>
          </a:xfrm>
        </p:spPr>
        <p:txBody>
          <a:bodyPr>
            <a:noAutofit/>
          </a:bodyPr>
          <a:lstStyle/>
          <a:p>
            <a:pPr defTabSz="383790">
              <a:defRPr/>
            </a:pPr>
            <a:r>
              <a:rPr lang="en-US" altLang="en-US" sz="3600" b="1" cap="none" dirty="0">
                <a:solidFill>
                  <a:schemeClr val="tx1">
                    <a:lumMod val="85000"/>
                    <a:lumOff val="15000"/>
                  </a:schemeClr>
                </a:solidFill>
                <a:latin typeface="Arial" panose="020B0604020202020204" pitchFamily="34" charset="0"/>
                <a:cs typeface="Arial" panose="020B0604020202020204" pitchFamily="34" charset="0"/>
              </a:rPr>
              <a:t>Modified Code using Timer0 for the Traffic Control </a:t>
            </a:r>
          </a:p>
        </p:txBody>
      </p:sp>
    </p:spTree>
    <p:extLst>
      <p:ext uri="{BB962C8B-B14F-4D97-AF65-F5344CB8AC3E}">
        <p14:creationId xmlns:p14="http://schemas.microsoft.com/office/powerpoint/2010/main" val="372315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heel(1)">
                                      <p:cBhvr>
                                        <p:cTn id="7" dur="20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heel(1)">
                                      <p:cBhvr>
                                        <p:cTn id="12" dur="2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heel(1)">
                                      <p:cBhvr>
                                        <p:cTn id="17" dur="2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heel(1)">
                                      <p:cBhvr>
                                        <p:cTn id="22" dur="20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circle(in)">
                                      <p:cBhvr>
                                        <p:cTn id="31"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9" grpId="0" animBg="1"/>
      <p:bldP spid="10" grpId="0" animBg="1"/>
      <p:bldP spid="11" grpId="0" animBg="1"/>
      <p:bldP spid="1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54B09-D5C9-5EAD-1E21-8231BCFE38E3}"/>
            </a:ext>
          </a:extLst>
        </p:cNvPr>
        <p:cNvGrpSpPr/>
        <p:nvPr/>
      </p:nvGrpSpPr>
      <p:grpSpPr>
        <a:xfrm>
          <a:off x="0" y="0"/>
          <a:ext cx="0" cy="0"/>
          <a:chOff x="0" y="0"/>
          <a:chExt cx="0" cy="0"/>
        </a:xfrm>
      </p:grpSpPr>
      <p:sp>
        <p:nvSpPr>
          <p:cNvPr id="6" name="Date Placeholder 5">
            <a:extLst>
              <a:ext uri="{FF2B5EF4-FFF2-40B4-BE49-F238E27FC236}">
                <a16:creationId xmlns:a16="http://schemas.microsoft.com/office/drawing/2014/main" id="{D366F32F-E38C-B28A-F7EA-A4F2208DC636}"/>
              </a:ext>
            </a:extLst>
          </p:cNvPr>
          <p:cNvSpPr>
            <a:spLocks noGrp="1"/>
          </p:cNvSpPr>
          <p:nvPr>
            <p:ph type="dt" sz="half" idx="10"/>
          </p:nvPr>
        </p:nvSpPr>
        <p:spPr/>
        <p:txBody>
          <a:bodyPr/>
          <a:lstStyle/>
          <a:p>
            <a:fld id="{17D1F163-9643-41E4-B842-57D26361CE78}" type="datetime3">
              <a:rPr lang="en-US" noProof="0" smtClean="0"/>
              <a:t>15 June 2026</a:t>
            </a:fld>
            <a:endParaRPr lang="en-US" noProof="0" dirty="0"/>
          </a:p>
        </p:txBody>
      </p:sp>
      <p:sp>
        <p:nvSpPr>
          <p:cNvPr id="7" name="Footer Placeholder 6">
            <a:extLst>
              <a:ext uri="{FF2B5EF4-FFF2-40B4-BE49-F238E27FC236}">
                <a16:creationId xmlns:a16="http://schemas.microsoft.com/office/drawing/2014/main" id="{EA15C645-168A-E713-02BC-CB0BFC5A7E43}"/>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8" name="Slide Number Placeholder 7">
            <a:extLst>
              <a:ext uri="{FF2B5EF4-FFF2-40B4-BE49-F238E27FC236}">
                <a16:creationId xmlns:a16="http://schemas.microsoft.com/office/drawing/2014/main" id="{E5697B36-59C5-5E75-F579-9887C3EF8E4D}"/>
              </a:ext>
            </a:extLst>
          </p:cNvPr>
          <p:cNvSpPr>
            <a:spLocks noGrp="1"/>
          </p:cNvSpPr>
          <p:nvPr>
            <p:ph type="sldNum" sz="quarter" idx="12"/>
          </p:nvPr>
        </p:nvSpPr>
        <p:spPr/>
        <p:txBody>
          <a:bodyPr/>
          <a:lstStyle/>
          <a:p>
            <a:fld id="{5D99DD2A-B520-4620-9B43-64B657BA2D42}" type="slidenum">
              <a:rPr lang="en-US" noProof="0" smtClean="0"/>
              <a:t>36</a:t>
            </a:fld>
            <a:endParaRPr lang="en-US" noProof="0" dirty="0"/>
          </a:p>
        </p:txBody>
      </p:sp>
      <mc:AlternateContent xmlns:mc="http://schemas.openxmlformats.org/markup-compatibility/2006" xmlns:a14="http://schemas.microsoft.com/office/drawing/2010/main">
        <mc:Choice Requires="a14">
          <p:sp>
            <p:nvSpPr>
              <p:cNvPr id="22" name="TextBox 5">
                <a:extLst>
                  <a:ext uri="{FF2B5EF4-FFF2-40B4-BE49-F238E27FC236}">
                    <a16:creationId xmlns:a16="http://schemas.microsoft.com/office/drawing/2014/main" id="{7DE1085C-BFE9-2B3C-041F-267CB386ED53}"/>
                  </a:ext>
                </a:extLst>
              </p:cNvPr>
              <p:cNvSpPr txBox="1">
                <a:spLocks noChangeArrowheads="1"/>
              </p:cNvSpPr>
              <p:nvPr/>
            </p:nvSpPr>
            <p:spPr bwMode="auto">
              <a:xfrm>
                <a:off x="196402" y="705780"/>
                <a:ext cx="11807756" cy="557267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2800" dirty="0">
                    <a:latin typeface="Times New Roman" panose="02020603050405020304" pitchFamily="18" charset="0"/>
                    <a:cs typeface="Times New Roman" panose="02020603050405020304" pitchFamily="18" charset="0"/>
                  </a:rPr>
                  <a:t>If you want to make an LED of blue color blink every 2 seconds while using an Arduino system frequency of 16 MHz using a timer to generate delay without any application of the built-in delay() function, select a suitable timer of the Arduino Uno for your application. Use a pre-scaler value of 256. Determine the necessary register set-up required for the program. A table of clock-select bits and register structures is given at the end of this question paper.</a:t>
                </a:r>
                <a:endParaRPr lang="en-US" sz="2800" i="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US" i="1" dirty="0">
                  <a:latin typeface="Times New Roman" panose="02020603050405020304" pitchFamily="18" charset="0"/>
                  <a:cs typeface="Times New Roman" panose="02020603050405020304" pitchFamily="18" charset="0"/>
                </a:endParaRPr>
              </a:p>
              <a:p>
                <a:r>
                  <a:rPr lang="en-US" sz="2800" b="1" dirty="0">
                    <a:solidFill>
                      <a:srgbClr val="FFFF00"/>
                    </a:solidFill>
                    <a:latin typeface="Times New Roman" panose="02020603050405020304" pitchFamily="18" charset="0"/>
                    <a:cs typeface="Times New Roman" panose="02020603050405020304" pitchFamily="18" charset="0"/>
                  </a:rPr>
                  <a:t>Solution:</a:t>
                </a:r>
                <a:endParaRPr lang="en-US" sz="2800" i="1" dirty="0">
                  <a:solidFill>
                    <a:srgbClr val="FFFF00"/>
                  </a:solidFill>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Required delay = 2 s = 2000000 </a:t>
                </a:r>
                <a:r>
                  <a:rPr lang="en-US" sz="2800" dirty="0" err="1">
                    <a:latin typeface="Symbol" panose="05050102010706020507" pitchFamily="18" charset="2"/>
                    <a:cs typeface="Times New Roman" panose="02020603050405020304" pitchFamily="18" charset="0"/>
                  </a:rPr>
                  <a:t>m</a:t>
                </a:r>
                <a:r>
                  <a:rPr lang="en-US" sz="2800" dirty="0" err="1">
                    <a:latin typeface="Times New Roman" panose="02020603050405020304" pitchFamily="18" charset="0"/>
                    <a:cs typeface="Times New Roman" panose="02020603050405020304" pitchFamily="18" charset="0"/>
                  </a:rPr>
                  <a:t>s</a:t>
                </a:r>
                <a:r>
                  <a:rPr lang="en-US" sz="2800" dirty="0">
                    <a:latin typeface="Times New Roman" panose="02020603050405020304" pitchFamily="18" charset="0"/>
                    <a:cs typeface="Times New Roman" panose="02020603050405020304" pitchFamily="18" charset="0"/>
                  </a:rPr>
                  <a:t>; Given system frequency = 16 MHz</a:t>
                </a:r>
                <a:endParaRPr lang="en-US" sz="2800" i="1"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So, clock period = 1/frequency = 1/16 MHz = 0.0625 </a:t>
                </a:r>
                <a:r>
                  <a:rPr lang="en-US" sz="2800" dirty="0" err="1">
                    <a:latin typeface="Symbol" panose="05050102010706020507" pitchFamily="18" charset="2"/>
                    <a:cs typeface="Times New Roman" panose="02020603050405020304" pitchFamily="18" charset="0"/>
                  </a:rPr>
                  <a:t>m</a:t>
                </a:r>
                <a:r>
                  <a:rPr lang="en-US" sz="2800" dirty="0" err="1">
                    <a:latin typeface="Times New Roman" panose="02020603050405020304" pitchFamily="18" charset="0"/>
                    <a:cs typeface="Times New Roman" panose="02020603050405020304" pitchFamily="18" charset="0"/>
                  </a:rPr>
                  <a:t>s</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As such, </a:t>
                </a:r>
              </a:p>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cs typeface="Arial" panose="020B0604020202020204" pitchFamily="34" charset="0"/>
                        </a:rPr>
                        <m:t>𝑇𝑖𝑚𝑒𝑟</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𝑐𝑜𝑢𝑛𝑡</m:t>
                      </m:r>
                      <m:r>
                        <a:rPr lang="en-US" sz="2800" i="1">
                          <a:latin typeface="Cambria Math" panose="02040503050406030204" pitchFamily="18" charset="0"/>
                          <a:cs typeface="Arial" panose="020B0604020202020204" pitchFamily="34" charset="0"/>
                        </a:rPr>
                        <m:t>=</m:t>
                      </m:r>
                      <m:f>
                        <m:fPr>
                          <m:ctrlPr>
                            <a:rPr lang="en-US" sz="2800" i="1">
                              <a:latin typeface="Cambria Math" panose="02040503050406030204" pitchFamily="18" charset="0"/>
                              <a:cs typeface="Arial" panose="020B0604020202020204" pitchFamily="34" charset="0"/>
                            </a:rPr>
                          </m:ctrlPr>
                        </m:fPr>
                        <m:num>
                          <m:r>
                            <a:rPr lang="en-US" sz="2800" i="1">
                              <a:latin typeface="Cambria Math" panose="02040503050406030204" pitchFamily="18" charset="0"/>
                              <a:cs typeface="Arial" panose="020B0604020202020204" pitchFamily="34" charset="0"/>
                            </a:rPr>
                            <m:t>𝑅𝑒𝑞𝑢𝑖𝑟𝑒𝑑</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𝑑𝑒𝑙𝑎𝑦</m:t>
                          </m:r>
                        </m:num>
                        <m:den>
                          <m:r>
                            <a:rPr lang="en-US" sz="2800" i="1">
                              <a:latin typeface="Cambria Math" panose="02040503050406030204" pitchFamily="18" charset="0"/>
                              <a:cs typeface="Arial" panose="020B0604020202020204" pitchFamily="34" charset="0"/>
                            </a:rPr>
                            <m:t>𝑝𝑟𝑒𝑠𝑐𝑎𝑙𝑎𝑟</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𝑝𝑠</m:t>
                          </m:r>
                          <m:r>
                            <a:rPr lang="en-US" sz="2800" i="1">
                              <a:latin typeface="Cambria Math" panose="02040503050406030204" pitchFamily="18" charset="0"/>
                              <a:cs typeface="Arial" panose="020B0604020202020204" pitchFamily="34" charset="0"/>
                            </a:rPr>
                            <m:t>)×</m:t>
                          </m:r>
                          <m:r>
                            <a:rPr lang="en-US" sz="2800" i="1">
                              <a:latin typeface="Cambria Math" panose="02040503050406030204" pitchFamily="18" charset="0"/>
                              <a:ea typeface="Cambria Math" panose="02040503050406030204" pitchFamily="18" charset="0"/>
                              <a:cs typeface="Arial" panose="020B0604020202020204" pitchFamily="34" charset="0"/>
                            </a:rPr>
                            <m:t>𝑇</m:t>
                          </m:r>
                        </m:den>
                      </m:f>
                      <m:r>
                        <a:rPr lang="en-US" sz="2800" i="1">
                          <a:latin typeface="Cambria Math" panose="02040503050406030204" pitchFamily="18" charset="0"/>
                          <a:cs typeface="Arial" panose="020B0604020202020204" pitchFamily="34" charset="0"/>
                        </a:rPr>
                        <m:t>−1=</m:t>
                      </m:r>
                      <m:f>
                        <m:fPr>
                          <m:ctrlPr>
                            <a:rPr lang="en-US" sz="2800" i="1">
                              <a:latin typeface="Cambria Math" panose="02040503050406030204" pitchFamily="18" charset="0"/>
                              <a:cs typeface="Arial" panose="020B0604020202020204" pitchFamily="34" charset="0"/>
                            </a:rPr>
                          </m:ctrlPr>
                        </m:fPr>
                        <m:num>
                          <m:r>
                            <m:rPr>
                              <m:nor/>
                            </m:rPr>
                            <a:rPr lang="en-US" sz="2800" dirty="0">
                              <a:latin typeface="Times New Roman" panose="02020603050405020304" pitchFamily="18" charset="0"/>
                              <a:cs typeface="Times New Roman" panose="02020603050405020304" pitchFamily="18" charset="0"/>
                            </a:rPr>
                            <m:t>2000000</m:t>
                          </m:r>
                        </m:num>
                        <m:den>
                          <m:r>
                            <a:rPr lang="en-US" sz="2800" i="1">
                              <a:latin typeface="Cambria Math" panose="02040503050406030204" pitchFamily="18" charset="0"/>
                              <a:cs typeface="Arial" panose="020B0604020202020204" pitchFamily="34" charset="0"/>
                            </a:rPr>
                            <m:t>256</m:t>
                          </m:r>
                          <m:r>
                            <a:rPr lang="en-US" sz="2800" i="1">
                              <a:latin typeface="Cambria Math" panose="02040503050406030204" pitchFamily="18" charset="0"/>
                              <a:ea typeface="Cambria Math" panose="02040503050406030204" pitchFamily="18" charset="0"/>
                              <a:cs typeface="Arial" panose="020B0604020202020204" pitchFamily="34" charset="0"/>
                            </a:rPr>
                            <m:t>×</m:t>
                          </m:r>
                          <m:r>
                            <m:rPr>
                              <m:nor/>
                            </m:rPr>
                            <a:rPr lang="en-US" sz="2800" dirty="0">
                              <a:latin typeface="Times New Roman" panose="02020603050405020304" pitchFamily="18" charset="0"/>
                              <a:cs typeface="Times New Roman" panose="02020603050405020304" pitchFamily="18" charset="0"/>
                            </a:rPr>
                            <m:t>0.0625</m:t>
                          </m:r>
                        </m:den>
                      </m:f>
                      <m:r>
                        <a:rPr lang="en-US" sz="2800" i="1">
                          <a:latin typeface="Cambria Math" panose="02040503050406030204" pitchFamily="18" charset="0"/>
                          <a:cs typeface="Arial" panose="020B0604020202020204" pitchFamily="34" charset="0"/>
                        </a:rPr>
                        <m:t>−1=1,24,999</m:t>
                      </m:r>
                    </m:oMath>
                  </m:oMathPara>
                </a14:m>
                <a:endParaRPr lang="en-US" sz="2800" dirty="0">
                  <a:latin typeface="Times New Roman" panose="02020603050405020304" pitchFamily="18" charset="0"/>
                  <a:cs typeface="Times New Roman" panose="02020603050405020304" pitchFamily="18" charset="0"/>
                </a:endParaRPr>
              </a:p>
            </p:txBody>
          </p:sp>
        </mc:Choice>
        <mc:Fallback xmlns="">
          <p:sp>
            <p:nvSpPr>
              <p:cNvPr id="22" name="TextBox 5">
                <a:extLst>
                  <a:ext uri="{FF2B5EF4-FFF2-40B4-BE49-F238E27FC236}">
                    <a16:creationId xmlns:a16="http://schemas.microsoft.com/office/drawing/2014/main" id="{7DE1085C-BFE9-2B3C-041F-267CB386ED53}"/>
                  </a:ext>
                </a:extLst>
              </p:cNvPr>
              <p:cNvSpPr txBox="1">
                <a:spLocks noRot="1" noChangeAspect="1" noMove="1" noResize="1" noEditPoints="1" noAdjustHandles="1" noChangeArrowheads="1" noChangeShapeType="1" noTextEdit="1"/>
              </p:cNvSpPr>
              <p:nvPr/>
            </p:nvSpPr>
            <p:spPr bwMode="auto">
              <a:xfrm>
                <a:off x="196402" y="705780"/>
                <a:ext cx="11807756" cy="5572679"/>
              </a:xfrm>
              <a:prstGeom prst="rect">
                <a:avLst/>
              </a:prstGeom>
              <a:blipFill>
                <a:blip r:embed="rId3"/>
                <a:stretch>
                  <a:fillRect l="-1033" t="-120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 name="Title 1">
            <a:extLst>
              <a:ext uri="{FF2B5EF4-FFF2-40B4-BE49-F238E27FC236}">
                <a16:creationId xmlns:a16="http://schemas.microsoft.com/office/drawing/2014/main" id="{CD4C336D-B8E3-3823-0F44-604EAC62F907}"/>
              </a:ext>
            </a:extLst>
          </p:cNvPr>
          <p:cNvSpPr>
            <a:spLocks noGrp="1" noChangeArrowheads="1"/>
          </p:cNvSpPr>
          <p:nvPr>
            <p:ph type="title"/>
          </p:nvPr>
        </p:nvSpPr>
        <p:spPr>
          <a:xfrm>
            <a:off x="196402" y="165528"/>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1:</a:t>
            </a:r>
          </a:p>
        </p:txBody>
      </p:sp>
    </p:spTree>
    <p:extLst>
      <p:ext uri="{BB962C8B-B14F-4D97-AF65-F5344CB8AC3E}">
        <p14:creationId xmlns:p14="http://schemas.microsoft.com/office/powerpoint/2010/main" val="256543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9C1F8-9A39-EC95-761C-DF9CA23B367C}"/>
            </a:ext>
          </a:extLst>
        </p:cNvPr>
        <p:cNvGrpSpPr/>
        <p:nvPr/>
      </p:nvGrpSpPr>
      <p:grpSpPr>
        <a:xfrm>
          <a:off x="0" y="0"/>
          <a:ext cx="0" cy="0"/>
          <a:chOff x="0" y="0"/>
          <a:chExt cx="0" cy="0"/>
        </a:xfrm>
      </p:grpSpPr>
      <p:sp>
        <p:nvSpPr>
          <p:cNvPr id="6" name="Date Placeholder 5">
            <a:extLst>
              <a:ext uri="{FF2B5EF4-FFF2-40B4-BE49-F238E27FC236}">
                <a16:creationId xmlns:a16="http://schemas.microsoft.com/office/drawing/2014/main" id="{FD711694-093A-A881-8724-64ECF887EFFC}"/>
              </a:ext>
            </a:extLst>
          </p:cNvPr>
          <p:cNvSpPr>
            <a:spLocks noGrp="1"/>
          </p:cNvSpPr>
          <p:nvPr>
            <p:ph type="dt" sz="half" idx="10"/>
          </p:nvPr>
        </p:nvSpPr>
        <p:spPr/>
        <p:txBody>
          <a:bodyPr/>
          <a:lstStyle/>
          <a:p>
            <a:fld id="{17D1F163-9643-41E4-B842-57D26361CE78}" type="datetime3">
              <a:rPr lang="en-US" noProof="0" smtClean="0"/>
              <a:t>15 June 2026</a:t>
            </a:fld>
            <a:endParaRPr lang="en-US" noProof="0" dirty="0"/>
          </a:p>
        </p:txBody>
      </p:sp>
      <p:sp>
        <p:nvSpPr>
          <p:cNvPr id="7" name="Footer Placeholder 6">
            <a:extLst>
              <a:ext uri="{FF2B5EF4-FFF2-40B4-BE49-F238E27FC236}">
                <a16:creationId xmlns:a16="http://schemas.microsoft.com/office/drawing/2014/main" id="{29E18DD6-27E2-4539-8432-3104C7ADF974}"/>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8" name="Slide Number Placeholder 7">
            <a:extLst>
              <a:ext uri="{FF2B5EF4-FFF2-40B4-BE49-F238E27FC236}">
                <a16:creationId xmlns:a16="http://schemas.microsoft.com/office/drawing/2014/main" id="{400189B1-CBDE-89EE-1942-EAB650C8DB9D}"/>
              </a:ext>
            </a:extLst>
          </p:cNvPr>
          <p:cNvSpPr>
            <a:spLocks noGrp="1"/>
          </p:cNvSpPr>
          <p:nvPr>
            <p:ph type="sldNum" sz="quarter" idx="12"/>
          </p:nvPr>
        </p:nvSpPr>
        <p:spPr/>
        <p:txBody>
          <a:bodyPr/>
          <a:lstStyle/>
          <a:p>
            <a:fld id="{5D99DD2A-B520-4620-9B43-64B657BA2D42}" type="slidenum">
              <a:rPr lang="en-US" noProof="0" smtClean="0"/>
              <a:t>37</a:t>
            </a:fld>
            <a:endParaRPr lang="en-US" noProof="0" dirty="0"/>
          </a:p>
        </p:txBody>
      </p:sp>
      <p:sp>
        <p:nvSpPr>
          <p:cNvPr id="22" name="TextBox 5">
            <a:extLst>
              <a:ext uri="{FF2B5EF4-FFF2-40B4-BE49-F238E27FC236}">
                <a16:creationId xmlns:a16="http://schemas.microsoft.com/office/drawing/2014/main" id="{E9DC717D-B9CB-E31F-5DCE-F02F03F4F4EC}"/>
              </a:ext>
            </a:extLst>
          </p:cNvPr>
          <p:cNvSpPr txBox="1">
            <a:spLocks noChangeArrowheads="1"/>
          </p:cNvSpPr>
          <p:nvPr/>
        </p:nvSpPr>
        <p:spPr bwMode="auto">
          <a:xfrm>
            <a:off x="196403" y="816966"/>
            <a:ext cx="11807756"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2800" dirty="0">
                <a:latin typeface="Times New Roman" panose="02020603050405020304" pitchFamily="18" charset="0"/>
                <a:cs typeface="Times New Roman" panose="02020603050405020304" pitchFamily="18" charset="0"/>
              </a:rPr>
              <a:t>Timer 0 can count up to 256 and Timer 1 can count up to 65,536; so, neither Timer0 nor Timer1 of Arduino is suitable for this application, but with the use of a Timer Function Sub-Program that can generate 1 </a:t>
            </a:r>
            <a:r>
              <a:rPr lang="en-US" sz="2800" dirty="0" err="1">
                <a:latin typeface="Times New Roman" panose="02020603050405020304" pitchFamily="18" charset="0"/>
                <a:cs typeface="Times New Roman" panose="02020603050405020304" pitchFamily="18" charset="0"/>
              </a:rPr>
              <a:t>ms</a:t>
            </a:r>
            <a:r>
              <a:rPr lang="en-US" sz="2800" dirty="0">
                <a:latin typeface="Times New Roman" panose="02020603050405020304" pitchFamily="18" charset="0"/>
                <a:cs typeface="Times New Roman" panose="02020603050405020304" pitchFamily="18" charset="0"/>
              </a:rPr>
              <a:t> of delay upon each call of the function, any one timer may be used for 10 s time calculation. The timer will run in normal mode as such all values of the timer counter control registers (</a:t>
            </a:r>
            <a:r>
              <a:rPr lang="en-US" sz="2800" dirty="0" err="1">
                <a:latin typeface="Times New Roman" panose="02020603050405020304" pitchFamily="18" charset="0"/>
                <a:cs typeface="Times New Roman" panose="02020603050405020304" pitchFamily="18" charset="0"/>
              </a:rPr>
              <a:t>TCCRnx</a:t>
            </a:r>
            <a:r>
              <a:rPr lang="en-US" sz="2800" dirty="0">
                <a:latin typeface="Times New Roman" panose="02020603050405020304" pitchFamily="18" charset="0"/>
                <a:cs typeface="Times New Roman" panose="02020603050405020304" pitchFamily="18" charset="0"/>
              </a:rPr>
              <a:t>, here n = 0/1 and x = A/B) will be zero except for the clock select bits (CSn2:0) of the pre-scaler value of 256 in the TCCR0B or TCCR1B will be 100. If we use Timer0 then the register setup will be as follows:</a:t>
            </a:r>
            <a:endParaRPr lang="en-US" sz="2800" i="1"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32151C8-A5E7-2F2E-4D2C-4494C3D4110B}"/>
              </a:ext>
            </a:extLst>
          </p:cNvPr>
          <p:cNvSpPr>
            <a:spLocks noGrp="1" noChangeArrowheads="1"/>
          </p:cNvSpPr>
          <p:nvPr>
            <p:ph type="title"/>
          </p:nvPr>
        </p:nvSpPr>
        <p:spPr>
          <a:xfrm>
            <a:off x="196402" y="165528"/>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1:</a:t>
            </a:r>
          </a:p>
        </p:txBody>
      </p:sp>
      <p:pic>
        <p:nvPicPr>
          <p:cNvPr id="5" name="Picture 4">
            <a:extLst>
              <a:ext uri="{FF2B5EF4-FFF2-40B4-BE49-F238E27FC236}">
                <a16:creationId xmlns:a16="http://schemas.microsoft.com/office/drawing/2014/main" id="{16FC6D94-9B6F-B903-265E-E6310AD5696D}"/>
              </a:ext>
            </a:extLst>
          </p:cNvPr>
          <p:cNvPicPr>
            <a:picLocks noChangeAspect="1"/>
          </p:cNvPicPr>
          <p:nvPr/>
        </p:nvPicPr>
        <p:blipFill>
          <a:blip r:embed="rId3"/>
          <a:stretch>
            <a:fillRect/>
          </a:stretch>
        </p:blipFill>
        <p:spPr>
          <a:xfrm>
            <a:off x="305358" y="4347323"/>
            <a:ext cx="6537369" cy="2199394"/>
          </a:xfrm>
          <a:prstGeom prst="rect">
            <a:avLst/>
          </a:prstGeom>
        </p:spPr>
      </p:pic>
      <p:sp>
        <p:nvSpPr>
          <p:cNvPr id="2" name="TextBox 1">
            <a:extLst>
              <a:ext uri="{FF2B5EF4-FFF2-40B4-BE49-F238E27FC236}">
                <a16:creationId xmlns:a16="http://schemas.microsoft.com/office/drawing/2014/main" id="{583368DF-2162-66F1-D6F0-74B6FB8F85C6}"/>
              </a:ext>
            </a:extLst>
          </p:cNvPr>
          <p:cNvSpPr txBox="1"/>
          <p:nvPr/>
        </p:nvSpPr>
        <p:spPr>
          <a:xfrm>
            <a:off x="8749749" y="4358747"/>
            <a:ext cx="3318211" cy="646331"/>
          </a:xfrm>
          <a:prstGeom prst="rect">
            <a:avLst/>
          </a:prstGeom>
          <a:noFill/>
        </p:spPr>
        <p:txBody>
          <a:bodyPr wrap="square">
            <a:spAutoFit/>
          </a:bodyPr>
          <a:lstStyle/>
          <a:p>
            <a:pPr algn="ctr"/>
            <a:r>
              <a:rPr lang="en-US" dirty="0" err="1"/>
              <a:t>Prescaler</a:t>
            </a:r>
            <a:r>
              <a:rPr lang="en-US" dirty="0"/>
              <a:t> values and corresponding register contents.</a:t>
            </a:r>
            <a:endParaRPr lang="en-US" i="1" dirty="0"/>
          </a:p>
        </p:txBody>
      </p:sp>
      <p:graphicFrame>
        <p:nvGraphicFramePr>
          <p:cNvPr id="3" name="Table 2">
            <a:extLst>
              <a:ext uri="{FF2B5EF4-FFF2-40B4-BE49-F238E27FC236}">
                <a16:creationId xmlns:a16="http://schemas.microsoft.com/office/drawing/2014/main" id="{646019A7-4BA3-16A8-88CA-5571CF88A15C}"/>
              </a:ext>
            </a:extLst>
          </p:cNvPr>
          <p:cNvGraphicFramePr>
            <a:graphicFrameLocks noGrp="1"/>
          </p:cNvGraphicFramePr>
          <p:nvPr>
            <p:extLst>
              <p:ext uri="{D42A27DB-BD31-4B8C-83A1-F6EECF244321}">
                <p14:modId xmlns:p14="http://schemas.microsoft.com/office/powerpoint/2010/main" val="905952262"/>
              </p:ext>
            </p:extLst>
          </p:nvPr>
        </p:nvGraphicFramePr>
        <p:xfrm>
          <a:off x="8846087" y="5083677"/>
          <a:ext cx="3221873" cy="1463040"/>
        </p:xfrm>
        <a:graphic>
          <a:graphicData uri="http://schemas.openxmlformats.org/drawingml/2006/table">
            <a:tbl>
              <a:tblPr firstRow="1" firstCol="1" bandRow="1">
                <a:tableStyleId>{F5AB1C69-6EDB-4FF4-983F-18BD219EF322}</a:tableStyleId>
              </a:tblPr>
              <a:tblGrid>
                <a:gridCol w="731278">
                  <a:extLst>
                    <a:ext uri="{9D8B030D-6E8A-4147-A177-3AD203B41FA5}">
                      <a16:colId xmlns:a16="http://schemas.microsoft.com/office/drawing/2014/main" val="1424093759"/>
                    </a:ext>
                  </a:extLst>
                </a:gridCol>
                <a:gridCol w="731278">
                  <a:extLst>
                    <a:ext uri="{9D8B030D-6E8A-4147-A177-3AD203B41FA5}">
                      <a16:colId xmlns:a16="http://schemas.microsoft.com/office/drawing/2014/main" val="3206777813"/>
                    </a:ext>
                  </a:extLst>
                </a:gridCol>
                <a:gridCol w="731278">
                  <a:extLst>
                    <a:ext uri="{9D8B030D-6E8A-4147-A177-3AD203B41FA5}">
                      <a16:colId xmlns:a16="http://schemas.microsoft.com/office/drawing/2014/main" val="2850118542"/>
                    </a:ext>
                  </a:extLst>
                </a:gridCol>
                <a:gridCol w="1028039">
                  <a:extLst>
                    <a:ext uri="{9D8B030D-6E8A-4147-A177-3AD203B41FA5}">
                      <a16:colId xmlns:a16="http://schemas.microsoft.com/office/drawing/2014/main" val="1251787807"/>
                    </a:ext>
                  </a:extLst>
                </a:gridCol>
              </a:tblGrid>
              <a:tr h="137160">
                <a:tc>
                  <a:txBody>
                    <a:bodyPr/>
                    <a:lstStyle/>
                    <a:p>
                      <a:pPr marL="0" marR="0" algn="ctr">
                        <a:buNone/>
                        <a:tabLst>
                          <a:tab pos="3429000" algn="ctr"/>
                          <a:tab pos="6191250" algn="l"/>
                        </a:tabLst>
                      </a:pPr>
                      <a:r>
                        <a:rPr lang="en-US" sz="1600">
                          <a:effectLst/>
                        </a:rPr>
                        <a:t>CSx2</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CSx1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CSx0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Prescaler</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1807967804"/>
                  </a:ext>
                </a:extLst>
              </a:tr>
              <a:tr h="137160">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dirty="0">
                          <a:effectLst/>
                        </a:rPr>
                        <a:t>1</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3408917095"/>
                  </a:ext>
                </a:extLst>
              </a:tr>
              <a:tr h="137160">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dirty="0">
                          <a:effectLst/>
                        </a:rPr>
                        <a:t>0</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8</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360901093"/>
                  </a:ext>
                </a:extLst>
              </a:tr>
              <a:tr h="137160">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dirty="0">
                          <a:effectLst/>
                        </a:rPr>
                        <a:t>64</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2193117473"/>
                  </a:ext>
                </a:extLst>
              </a:tr>
              <a:tr h="137160">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256</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3508462183"/>
                  </a:ext>
                </a:extLst>
              </a:tr>
              <a:tr h="147955">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dirty="0">
                          <a:effectLst/>
                        </a:rPr>
                        <a:t>1024</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2924910951"/>
                  </a:ext>
                </a:extLst>
              </a:tr>
            </a:tbl>
          </a:graphicData>
        </a:graphic>
      </p:graphicFrame>
      <p:sp>
        <p:nvSpPr>
          <p:cNvPr id="9" name="Rectangle 8">
            <a:extLst>
              <a:ext uri="{FF2B5EF4-FFF2-40B4-BE49-F238E27FC236}">
                <a16:creationId xmlns:a16="http://schemas.microsoft.com/office/drawing/2014/main" id="{F194A1CB-0435-A9B0-C302-7D3010AC918C}"/>
              </a:ext>
            </a:extLst>
          </p:cNvPr>
          <p:cNvSpPr/>
          <p:nvPr/>
        </p:nvSpPr>
        <p:spPr>
          <a:xfrm>
            <a:off x="8846086" y="6041034"/>
            <a:ext cx="3221873" cy="315576"/>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33">
              <a:ln>
                <a:solidFill>
                  <a:srgbClr val="00B050"/>
                </a:solidFill>
              </a:ln>
              <a:solidFill>
                <a:srgbClr val="00B050"/>
              </a:solidFill>
            </a:endParaRPr>
          </a:p>
        </p:txBody>
      </p:sp>
    </p:spTree>
    <p:extLst>
      <p:ext uri="{BB962C8B-B14F-4D97-AF65-F5344CB8AC3E}">
        <p14:creationId xmlns:p14="http://schemas.microsoft.com/office/powerpoint/2010/main" val="31602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1000"/>
                                        <p:tgtEl>
                                          <p:spTgt spid="3"/>
                                        </p:tgtEl>
                                      </p:cBhvr>
                                    </p:animEffect>
                                    <p:anim calcmode="lin" valueType="num">
                                      <p:cBhvr>
                                        <p:cTn id="26" dur="1000" fill="hold"/>
                                        <p:tgtEl>
                                          <p:spTgt spid="3"/>
                                        </p:tgtEl>
                                        <p:attrNameLst>
                                          <p:attrName>ppt_x</p:attrName>
                                        </p:attrNameLst>
                                      </p:cBhvr>
                                      <p:tavLst>
                                        <p:tav tm="0">
                                          <p:val>
                                            <p:strVal val="#ppt_x"/>
                                          </p:val>
                                        </p:tav>
                                        <p:tav tm="100000">
                                          <p:val>
                                            <p:strVal val="#ppt_x"/>
                                          </p:val>
                                        </p:tav>
                                      </p:tavLst>
                                    </p:anim>
                                    <p:anim calcmode="lin" valueType="num">
                                      <p:cBhvr>
                                        <p:cTn id="27"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heel(1)">
                                      <p:cBhvr>
                                        <p:cTn id="32"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 grpId="0"/>
      <p:bldP spid="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E1D22-FE54-E468-8D3C-1E6C82BC51DC}"/>
            </a:ext>
          </a:extLst>
        </p:cNvPr>
        <p:cNvGrpSpPr/>
        <p:nvPr/>
      </p:nvGrpSpPr>
      <p:grpSpPr>
        <a:xfrm>
          <a:off x="0" y="0"/>
          <a:ext cx="0" cy="0"/>
          <a:chOff x="0" y="0"/>
          <a:chExt cx="0" cy="0"/>
        </a:xfrm>
      </p:grpSpPr>
      <p:sp>
        <p:nvSpPr>
          <p:cNvPr id="6" name="Date Placeholder 5">
            <a:extLst>
              <a:ext uri="{FF2B5EF4-FFF2-40B4-BE49-F238E27FC236}">
                <a16:creationId xmlns:a16="http://schemas.microsoft.com/office/drawing/2014/main" id="{83719AA1-58D7-A952-F0A6-DECE69823AD7}"/>
              </a:ext>
            </a:extLst>
          </p:cNvPr>
          <p:cNvSpPr>
            <a:spLocks noGrp="1"/>
          </p:cNvSpPr>
          <p:nvPr>
            <p:ph type="dt" sz="half" idx="10"/>
          </p:nvPr>
        </p:nvSpPr>
        <p:spPr/>
        <p:txBody>
          <a:bodyPr/>
          <a:lstStyle/>
          <a:p>
            <a:fld id="{17D1F163-9643-41E4-B842-57D26361CE78}" type="datetime3">
              <a:rPr lang="en-US" noProof="0" smtClean="0"/>
              <a:t>15 June 2026</a:t>
            </a:fld>
            <a:endParaRPr lang="en-US" noProof="0" dirty="0"/>
          </a:p>
        </p:txBody>
      </p:sp>
      <p:sp>
        <p:nvSpPr>
          <p:cNvPr id="7" name="Footer Placeholder 6">
            <a:extLst>
              <a:ext uri="{FF2B5EF4-FFF2-40B4-BE49-F238E27FC236}">
                <a16:creationId xmlns:a16="http://schemas.microsoft.com/office/drawing/2014/main" id="{E289AB9D-0775-FE21-4889-05E5C439603D}"/>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8" name="Slide Number Placeholder 7">
            <a:extLst>
              <a:ext uri="{FF2B5EF4-FFF2-40B4-BE49-F238E27FC236}">
                <a16:creationId xmlns:a16="http://schemas.microsoft.com/office/drawing/2014/main" id="{8C64213F-2ACD-138A-5AF3-D5711322F742}"/>
              </a:ext>
            </a:extLst>
          </p:cNvPr>
          <p:cNvSpPr>
            <a:spLocks noGrp="1"/>
          </p:cNvSpPr>
          <p:nvPr>
            <p:ph type="sldNum" sz="quarter" idx="12"/>
          </p:nvPr>
        </p:nvSpPr>
        <p:spPr/>
        <p:txBody>
          <a:bodyPr/>
          <a:lstStyle/>
          <a:p>
            <a:fld id="{5D99DD2A-B520-4620-9B43-64B657BA2D42}" type="slidenum">
              <a:rPr lang="en-US" noProof="0" smtClean="0"/>
              <a:t>38</a:t>
            </a:fld>
            <a:endParaRPr lang="en-US" noProof="0" dirty="0"/>
          </a:p>
        </p:txBody>
      </p:sp>
      <p:sp>
        <p:nvSpPr>
          <p:cNvPr id="22" name="TextBox 5">
            <a:extLst>
              <a:ext uri="{FF2B5EF4-FFF2-40B4-BE49-F238E27FC236}">
                <a16:creationId xmlns:a16="http://schemas.microsoft.com/office/drawing/2014/main" id="{CB90E127-640B-FA93-5FB8-D095F466E382}"/>
              </a:ext>
            </a:extLst>
          </p:cNvPr>
          <p:cNvSpPr txBox="1">
            <a:spLocks noChangeArrowheads="1"/>
          </p:cNvSpPr>
          <p:nvPr/>
        </p:nvSpPr>
        <p:spPr bwMode="auto">
          <a:xfrm>
            <a:off x="196402" y="756927"/>
            <a:ext cx="11807756" cy="10310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2000" dirty="0">
                <a:latin typeface="Times New Roman" panose="02020603050405020304" pitchFamily="18" charset="0"/>
                <a:cs typeface="Times New Roman" panose="02020603050405020304" pitchFamily="18" charset="0"/>
              </a:rPr>
              <a:t>Determine the outputs of the program and correct the program if there are any errors. Assume that a green color LED is connected to pin 5 and the Arduino frequency is 16 </a:t>
            </a:r>
            <a:r>
              <a:rPr lang="en-US" sz="2000" dirty="0" err="1">
                <a:latin typeface="Times New Roman" panose="02020603050405020304" pitchFamily="18" charset="0"/>
                <a:cs typeface="Times New Roman" panose="02020603050405020304" pitchFamily="18" charset="0"/>
              </a:rPr>
              <a:t>MHz.</a:t>
            </a:r>
            <a:r>
              <a:rPr lang="en-US" sz="2000" dirty="0">
                <a:latin typeface="Times New Roman" panose="02020603050405020304" pitchFamily="18" charset="0"/>
                <a:cs typeface="Times New Roman" panose="02020603050405020304" pitchFamily="18" charset="0"/>
              </a:rPr>
              <a:t> Compute the number of counts required for a 3 </a:t>
            </a:r>
            <a:r>
              <a:rPr lang="en-US" sz="2000" dirty="0" err="1">
                <a:latin typeface="Times New Roman" panose="02020603050405020304" pitchFamily="18" charset="0"/>
                <a:cs typeface="Times New Roman" panose="02020603050405020304" pitchFamily="18" charset="0"/>
              </a:rPr>
              <a:t>ms</a:t>
            </a:r>
            <a:r>
              <a:rPr lang="en-US" sz="2000" dirty="0">
                <a:latin typeface="Times New Roman" panose="02020603050405020304" pitchFamily="18" charset="0"/>
                <a:cs typeface="Times New Roman" panose="02020603050405020304" pitchFamily="18" charset="0"/>
              </a:rPr>
              <a:t> delay in each cycle for the given delay. Compute the number of times the </a:t>
            </a:r>
            <a:r>
              <a:rPr lang="en-US" sz="2000" dirty="0" err="1">
                <a:latin typeface="Times New Roman" panose="02020603050405020304" pitchFamily="18" charset="0"/>
                <a:cs typeface="Times New Roman" panose="02020603050405020304" pitchFamily="18" charset="0"/>
              </a:rPr>
              <a:t>while_true</a:t>
            </a:r>
            <a:r>
              <a:rPr lang="en-US" sz="2000" dirty="0">
                <a:latin typeface="Times New Roman" panose="02020603050405020304" pitchFamily="18" charset="0"/>
                <a:cs typeface="Times New Roman" panose="02020603050405020304" pitchFamily="18" charset="0"/>
              </a:rPr>
              <a:t> loop will run to execute the delays of LED ON/OFF times. Use a pre-scaler value of 1024.</a:t>
            </a:r>
          </a:p>
          <a:p>
            <a:endParaRPr lang="en-US" i="1" dirty="0"/>
          </a:p>
          <a:p>
            <a:r>
              <a:rPr lang="en-US" sz="1600" dirty="0"/>
              <a:t>#define YELLOW_PIN 10</a:t>
            </a:r>
            <a:endParaRPr lang="en-US" sz="1600" i="1" dirty="0"/>
          </a:p>
          <a:p>
            <a:r>
              <a:rPr lang="en-US" sz="1600" dirty="0"/>
              <a:t>int </a:t>
            </a:r>
            <a:r>
              <a:rPr lang="en-US" sz="1600" dirty="0" err="1"/>
              <a:t>blue_on</a:t>
            </a:r>
            <a:r>
              <a:rPr lang="en-US" sz="1600" dirty="0"/>
              <a:t> = 5000; // delay is given in </a:t>
            </a:r>
            <a:r>
              <a:rPr lang="en-US" sz="1600" dirty="0" err="1"/>
              <a:t>ms</a:t>
            </a:r>
            <a:endParaRPr lang="en-US" sz="1600" i="1" dirty="0"/>
          </a:p>
          <a:p>
            <a:r>
              <a:rPr lang="en-US" sz="1600" dirty="0"/>
              <a:t>int </a:t>
            </a:r>
            <a:r>
              <a:rPr lang="en-US" sz="1600" dirty="0" err="1"/>
              <a:t>red_off</a:t>
            </a:r>
            <a:r>
              <a:rPr lang="en-US" sz="1600" dirty="0"/>
              <a:t> = 4000; // delay is given in </a:t>
            </a:r>
            <a:r>
              <a:rPr lang="en-US" sz="1600" dirty="0" err="1"/>
              <a:t>ms</a:t>
            </a:r>
            <a:endParaRPr lang="en-US" sz="1600" i="1" dirty="0"/>
          </a:p>
          <a:p>
            <a:r>
              <a:rPr lang="en-US" sz="1600" dirty="0"/>
              <a:t> </a:t>
            </a:r>
            <a:endParaRPr lang="en-US" sz="1600" i="1" dirty="0"/>
          </a:p>
          <a:p>
            <a:r>
              <a:rPr lang="en-US" sz="1600" dirty="0"/>
              <a:t>int </a:t>
            </a:r>
            <a:r>
              <a:rPr lang="en-US" sz="1600" dirty="0" err="1"/>
              <a:t>delay_timer</a:t>
            </a:r>
            <a:r>
              <a:rPr lang="en-US" sz="1600" dirty="0"/>
              <a:t> (int milliseconds){</a:t>
            </a:r>
            <a:endParaRPr lang="en-US" sz="1600" i="1" dirty="0"/>
          </a:p>
          <a:p>
            <a:r>
              <a:rPr lang="en-US" sz="1600" dirty="0"/>
              <a:t>  int count = 0;</a:t>
            </a:r>
            <a:endParaRPr lang="en-US" sz="1600" i="1" dirty="0"/>
          </a:p>
          <a:p>
            <a:r>
              <a:rPr lang="en-US" sz="1600" dirty="0"/>
              <a:t>  while(1) {</a:t>
            </a:r>
            <a:endParaRPr lang="en-US" sz="1600" i="1" dirty="0"/>
          </a:p>
          <a:p>
            <a:r>
              <a:rPr lang="en-US" sz="1600" dirty="0"/>
              <a:t>    if(TCNT1 &gt;= _____) {</a:t>
            </a:r>
            <a:endParaRPr lang="en-US" sz="1600" i="1" dirty="0"/>
          </a:p>
          <a:p>
            <a:r>
              <a:rPr lang="en-US" sz="1600" dirty="0"/>
              <a:t>        TCNT1=0;</a:t>
            </a:r>
            <a:endParaRPr lang="en-US" sz="1600" i="1" dirty="0"/>
          </a:p>
          <a:p>
            <a:r>
              <a:rPr lang="en-US" sz="1600" dirty="0"/>
              <a:t>        count++; </a:t>
            </a:r>
            <a:endParaRPr lang="en-US" sz="1600" i="1" dirty="0"/>
          </a:p>
          <a:p>
            <a:r>
              <a:rPr lang="en-US" sz="1600" dirty="0"/>
              <a:t>        if (count == milliseconds) {</a:t>
            </a:r>
            <a:endParaRPr lang="en-US" sz="1600" i="1" dirty="0"/>
          </a:p>
          <a:p>
            <a:r>
              <a:rPr lang="en-US" sz="1600" dirty="0"/>
              <a:t>            count=0;</a:t>
            </a:r>
            <a:endParaRPr lang="en-US" sz="1600" i="1" dirty="0"/>
          </a:p>
          <a:p>
            <a:r>
              <a:rPr lang="en-US" sz="1600" dirty="0"/>
              <a:t>            break; }</a:t>
            </a:r>
            <a:endParaRPr lang="en-US" sz="1600" i="1" dirty="0"/>
          </a:p>
          <a:p>
            <a:r>
              <a:rPr lang="en-US" sz="1600" dirty="0"/>
              <a:t>      }</a:t>
            </a:r>
            <a:endParaRPr lang="en-US" sz="1600" i="1" dirty="0"/>
          </a:p>
          <a:p>
            <a:r>
              <a:rPr lang="en-US" sz="1600" dirty="0"/>
              <a:t>  }</a:t>
            </a:r>
            <a:endParaRPr lang="en-US" sz="1600" i="1" dirty="0"/>
          </a:p>
          <a:p>
            <a:r>
              <a:rPr lang="en-US" sz="1600" dirty="0"/>
              <a:t>  return 0;</a:t>
            </a:r>
            <a:endParaRPr lang="en-US" sz="1600" i="1" dirty="0"/>
          </a:p>
          <a:p>
            <a:r>
              <a:rPr lang="en-US" sz="1600" dirty="0"/>
              <a:t>}</a:t>
            </a:r>
            <a:endParaRPr lang="en-US" i="1" dirty="0"/>
          </a:p>
          <a:p>
            <a:r>
              <a:rPr lang="en-US" dirty="0"/>
              <a:t> </a:t>
            </a:r>
            <a:endParaRPr lang="en-US" i="1" dirty="0"/>
          </a:p>
          <a:p>
            <a:r>
              <a:rPr lang="en-US" dirty="0"/>
              <a:t> </a:t>
            </a:r>
            <a:endParaRPr lang="en-US" i="1" dirty="0"/>
          </a:p>
          <a:p>
            <a:r>
              <a:rPr lang="en-US" dirty="0"/>
              <a:t>void loop() {</a:t>
            </a:r>
            <a:endParaRPr lang="en-US" i="1" dirty="0"/>
          </a:p>
          <a:p>
            <a:r>
              <a:rPr lang="en-US" dirty="0"/>
              <a:t>    </a:t>
            </a:r>
            <a:r>
              <a:rPr lang="en-US" dirty="0" err="1"/>
              <a:t>pinMode</a:t>
            </a:r>
            <a:r>
              <a:rPr lang="en-US" dirty="0"/>
              <a:t>(GREEN_PIN, INPUT); </a:t>
            </a:r>
            <a:endParaRPr lang="en-US" i="1" dirty="0"/>
          </a:p>
          <a:p>
            <a:r>
              <a:rPr lang="en-US" dirty="0"/>
              <a:t>    TCCR0A = 0b00000000;</a:t>
            </a:r>
            <a:endParaRPr lang="en-US" i="1" dirty="0"/>
          </a:p>
          <a:p>
            <a:r>
              <a:rPr lang="en-US" dirty="0"/>
              <a:t>    TCCR0B = 0b00000100;</a:t>
            </a:r>
            <a:endParaRPr lang="en-US" i="1" dirty="0"/>
          </a:p>
          <a:p>
            <a:r>
              <a:rPr lang="en-US" dirty="0"/>
              <a:t>    TCNT1 = 0x0000;</a:t>
            </a:r>
            <a:endParaRPr lang="en-US" i="1" dirty="0"/>
          </a:p>
          <a:p>
            <a:r>
              <a:rPr lang="en-US" dirty="0"/>
              <a:t>}</a:t>
            </a:r>
            <a:endParaRPr lang="en-US" i="1" dirty="0"/>
          </a:p>
          <a:p>
            <a:r>
              <a:rPr lang="en-US" dirty="0"/>
              <a:t> </a:t>
            </a:r>
            <a:endParaRPr lang="en-US" i="1" dirty="0"/>
          </a:p>
          <a:p>
            <a:r>
              <a:rPr lang="en-US" dirty="0"/>
              <a:t>void loop() {</a:t>
            </a:r>
            <a:endParaRPr lang="en-US" i="1" dirty="0"/>
          </a:p>
          <a:p>
            <a:r>
              <a:rPr lang="en-US" dirty="0"/>
              <a:t>    </a:t>
            </a:r>
            <a:r>
              <a:rPr lang="en-US" dirty="0" err="1"/>
              <a:t>digitalWrite</a:t>
            </a:r>
            <a:r>
              <a:rPr lang="en-US" dirty="0"/>
              <a:t>(BLUE_PIN, HIGH);   </a:t>
            </a:r>
            <a:endParaRPr lang="en-US" i="1" dirty="0"/>
          </a:p>
          <a:p>
            <a:r>
              <a:rPr lang="en-US" dirty="0"/>
              <a:t>delay(</a:t>
            </a:r>
            <a:r>
              <a:rPr lang="en-US" dirty="0" err="1"/>
              <a:t>green_on</a:t>
            </a:r>
            <a:r>
              <a:rPr lang="en-US" dirty="0"/>
              <a:t>); </a:t>
            </a:r>
            <a:endParaRPr lang="en-US" i="1" dirty="0"/>
          </a:p>
          <a:p>
            <a:r>
              <a:rPr lang="en-US" dirty="0"/>
              <a:t>   </a:t>
            </a:r>
            <a:endParaRPr lang="en-US" i="1" dirty="0"/>
          </a:p>
          <a:p>
            <a:r>
              <a:rPr lang="en-US" dirty="0"/>
              <a:t>    </a:t>
            </a:r>
            <a:r>
              <a:rPr lang="en-US" dirty="0" err="1"/>
              <a:t>digitalRead</a:t>
            </a:r>
            <a:r>
              <a:rPr lang="en-US" dirty="0"/>
              <a:t>(GREEN_PIN, LOW);</a:t>
            </a:r>
            <a:endParaRPr lang="en-US" i="1" dirty="0"/>
          </a:p>
          <a:p>
            <a:r>
              <a:rPr lang="en-US" dirty="0"/>
              <a:t>    </a:t>
            </a:r>
            <a:r>
              <a:rPr lang="en-US" dirty="0" err="1"/>
              <a:t>delay_timer</a:t>
            </a:r>
            <a:r>
              <a:rPr lang="en-US" dirty="0"/>
              <a:t>(</a:t>
            </a:r>
            <a:r>
              <a:rPr lang="en-US" dirty="0" err="1"/>
              <a:t>blue_off</a:t>
            </a:r>
            <a:r>
              <a:rPr lang="en-US" dirty="0"/>
              <a:t>); </a:t>
            </a:r>
            <a:endParaRPr lang="en-US" i="1" dirty="0"/>
          </a:p>
          <a:p>
            <a:endParaRPr lang="en-US" i="1" dirty="0"/>
          </a:p>
        </p:txBody>
      </p:sp>
      <p:sp>
        <p:nvSpPr>
          <p:cNvPr id="4" name="Title 1">
            <a:extLst>
              <a:ext uri="{FF2B5EF4-FFF2-40B4-BE49-F238E27FC236}">
                <a16:creationId xmlns:a16="http://schemas.microsoft.com/office/drawing/2014/main" id="{ED4F3874-5441-E4D3-4E34-8DFD0F74924B}"/>
              </a:ext>
            </a:extLst>
          </p:cNvPr>
          <p:cNvSpPr>
            <a:spLocks noGrp="1" noChangeArrowheads="1"/>
          </p:cNvSpPr>
          <p:nvPr>
            <p:ph type="title"/>
          </p:nvPr>
        </p:nvSpPr>
        <p:spPr>
          <a:xfrm>
            <a:off x="196402" y="165528"/>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2:</a:t>
            </a:r>
          </a:p>
        </p:txBody>
      </p:sp>
      <p:sp>
        <p:nvSpPr>
          <p:cNvPr id="3" name="TextBox 2">
            <a:extLst>
              <a:ext uri="{FF2B5EF4-FFF2-40B4-BE49-F238E27FC236}">
                <a16:creationId xmlns:a16="http://schemas.microsoft.com/office/drawing/2014/main" id="{BD93AE58-DCC3-69D1-8C4D-B95FC85EE7A4}"/>
              </a:ext>
            </a:extLst>
          </p:cNvPr>
          <p:cNvSpPr txBox="1"/>
          <p:nvPr/>
        </p:nvSpPr>
        <p:spPr>
          <a:xfrm>
            <a:off x="8749749" y="4358747"/>
            <a:ext cx="3318211" cy="646331"/>
          </a:xfrm>
          <a:prstGeom prst="rect">
            <a:avLst/>
          </a:prstGeom>
          <a:noFill/>
        </p:spPr>
        <p:txBody>
          <a:bodyPr wrap="square">
            <a:spAutoFit/>
          </a:bodyPr>
          <a:lstStyle/>
          <a:p>
            <a:pPr algn="ctr"/>
            <a:r>
              <a:rPr lang="en-US" dirty="0" err="1"/>
              <a:t>Prescaler</a:t>
            </a:r>
            <a:r>
              <a:rPr lang="en-US" dirty="0"/>
              <a:t> values and corresponding register contents.</a:t>
            </a:r>
            <a:endParaRPr lang="en-US" i="1" dirty="0"/>
          </a:p>
        </p:txBody>
      </p:sp>
      <p:graphicFrame>
        <p:nvGraphicFramePr>
          <p:cNvPr id="12" name="Table 11">
            <a:extLst>
              <a:ext uri="{FF2B5EF4-FFF2-40B4-BE49-F238E27FC236}">
                <a16:creationId xmlns:a16="http://schemas.microsoft.com/office/drawing/2014/main" id="{90DEBC07-023E-C163-897E-6C1B012F6A5C}"/>
              </a:ext>
            </a:extLst>
          </p:cNvPr>
          <p:cNvGraphicFramePr>
            <a:graphicFrameLocks noGrp="1"/>
          </p:cNvGraphicFramePr>
          <p:nvPr>
            <p:extLst>
              <p:ext uri="{D42A27DB-BD31-4B8C-83A1-F6EECF244321}">
                <p14:modId xmlns:p14="http://schemas.microsoft.com/office/powerpoint/2010/main" val="157359664"/>
              </p:ext>
            </p:extLst>
          </p:nvPr>
        </p:nvGraphicFramePr>
        <p:xfrm>
          <a:off x="8846087" y="5083677"/>
          <a:ext cx="3221873" cy="1463040"/>
        </p:xfrm>
        <a:graphic>
          <a:graphicData uri="http://schemas.openxmlformats.org/drawingml/2006/table">
            <a:tbl>
              <a:tblPr firstRow="1" firstCol="1" bandRow="1">
                <a:tableStyleId>{F5AB1C69-6EDB-4FF4-983F-18BD219EF322}</a:tableStyleId>
              </a:tblPr>
              <a:tblGrid>
                <a:gridCol w="731278">
                  <a:extLst>
                    <a:ext uri="{9D8B030D-6E8A-4147-A177-3AD203B41FA5}">
                      <a16:colId xmlns:a16="http://schemas.microsoft.com/office/drawing/2014/main" val="1424093759"/>
                    </a:ext>
                  </a:extLst>
                </a:gridCol>
                <a:gridCol w="731278">
                  <a:extLst>
                    <a:ext uri="{9D8B030D-6E8A-4147-A177-3AD203B41FA5}">
                      <a16:colId xmlns:a16="http://schemas.microsoft.com/office/drawing/2014/main" val="3206777813"/>
                    </a:ext>
                  </a:extLst>
                </a:gridCol>
                <a:gridCol w="731278">
                  <a:extLst>
                    <a:ext uri="{9D8B030D-6E8A-4147-A177-3AD203B41FA5}">
                      <a16:colId xmlns:a16="http://schemas.microsoft.com/office/drawing/2014/main" val="2850118542"/>
                    </a:ext>
                  </a:extLst>
                </a:gridCol>
                <a:gridCol w="1028039">
                  <a:extLst>
                    <a:ext uri="{9D8B030D-6E8A-4147-A177-3AD203B41FA5}">
                      <a16:colId xmlns:a16="http://schemas.microsoft.com/office/drawing/2014/main" val="1251787807"/>
                    </a:ext>
                  </a:extLst>
                </a:gridCol>
              </a:tblGrid>
              <a:tr h="137160">
                <a:tc>
                  <a:txBody>
                    <a:bodyPr/>
                    <a:lstStyle/>
                    <a:p>
                      <a:pPr marL="0" marR="0" algn="ctr">
                        <a:buNone/>
                        <a:tabLst>
                          <a:tab pos="3429000" algn="ctr"/>
                          <a:tab pos="6191250" algn="l"/>
                        </a:tabLst>
                      </a:pPr>
                      <a:r>
                        <a:rPr lang="en-US" sz="1600">
                          <a:effectLst/>
                        </a:rPr>
                        <a:t>CSx2</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CSx1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CSx0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Prescaler</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1807967804"/>
                  </a:ext>
                </a:extLst>
              </a:tr>
              <a:tr h="137160">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dirty="0">
                          <a:effectLst/>
                        </a:rPr>
                        <a:t>1</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3408917095"/>
                  </a:ext>
                </a:extLst>
              </a:tr>
              <a:tr h="137160">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dirty="0">
                          <a:effectLst/>
                        </a:rPr>
                        <a:t>0</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8</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360901093"/>
                  </a:ext>
                </a:extLst>
              </a:tr>
              <a:tr h="137160">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dirty="0">
                          <a:effectLst/>
                        </a:rPr>
                        <a:t>64</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2193117473"/>
                  </a:ext>
                </a:extLst>
              </a:tr>
              <a:tr h="137160">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256</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3508462183"/>
                  </a:ext>
                </a:extLst>
              </a:tr>
              <a:tr h="147955">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0</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a:effectLst/>
                        </a:rPr>
                        <a:t>1</a:t>
                      </a:r>
                      <a:endParaRPr lang="en-US" sz="280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en-US" sz="1600" dirty="0">
                          <a:effectLst/>
                        </a:rPr>
                        <a:t>1024</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2924910951"/>
                  </a:ext>
                </a:extLst>
              </a:tr>
            </a:tbl>
          </a:graphicData>
        </a:graphic>
      </p:graphicFrame>
      <p:sp>
        <p:nvSpPr>
          <p:cNvPr id="9" name="TextBox 5">
            <a:extLst>
              <a:ext uri="{FF2B5EF4-FFF2-40B4-BE49-F238E27FC236}">
                <a16:creationId xmlns:a16="http://schemas.microsoft.com/office/drawing/2014/main" id="{25F77072-AAB2-17C7-4FC1-F90767D4C52F}"/>
              </a:ext>
            </a:extLst>
          </p:cNvPr>
          <p:cNvSpPr txBox="1">
            <a:spLocks noChangeArrowheads="1"/>
          </p:cNvSpPr>
          <p:nvPr/>
        </p:nvSpPr>
        <p:spPr bwMode="auto">
          <a:xfrm>
            <a:off x="4954498" y="2217874"/>
            <a:ext cx="3802507" cy="329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1600" dirty="0"/>
              <a:t>void loop() {</a:t>
            </a:r>
            <a:endParaRPr lang="en-US" sz="1600" i="1" dirty="0"/>
          </a:p>
          <a:p>
            <a:r>
              <a:rPr lang="en-US" sz="1600" dirty="0"/>
              <a:t>    </a:t>
            </a:r>
            <a:r>
              <a:rPr lang="en-US" sz="1600" dirty="0" err="1"/>
              <a:t>pinMode</a:t>
            </a:r>
            <a:r>
              <a:rPr lang="en-US" sz="1600" dirty="0"/>
              <a:t>(GREEN_PIN, INPUT); </a:t>
            </a:r>
            <a:endParaRPr lang="en-US" sz="1600" i="1" dirty="0"/>
          </a:p>
          <a:p>
            <a:r>
              <a:rPr lang="en-US" sz="1600" dirty="0"/>
              <a:t>    TCCR0A = 0b00000000;</a:t>
            </a:r>
            <a:endParaRPr lang="en-US" sz="1600" i="1" dirty="0"/>
          </a:p>
          <a:p>
            <a:r>
              <a:rPr lang="en-US" sz="1600" dirty="0"/>
              <a:t>    TCCR0B = 0b00000101;</a:t>
            </a:r>
            <a:endParaRPr lang="en-US" sz="1600" i="1" dirty="0"/>
          </a:p>
          <a:p>
            <a:r>
              <a:rPr lang="en-US" sz="1600" dirty="0"/>
              <a:t>    TCNT1 = 0x0000;</a:t>
            </a:r>
            <a:endParaRPr lang="en-US" sz="1600" i="1" dirty="0"/>
          </a:p>
          <a:p>
            <a:r>
              <a:rPr lang="en-US" sz="1600" dirty="0"/>
              <a:t>}</a:t>
            </a:r>
            <a:endParaRPr lang="en-US" sz="1600" i="1" dirty="0"/>
          </a:p>
          <a:p>
            <a:r>
              <a:rPr lang="en-US" sz="1600" dirty="0"/>
              <a:t> </a:t>
            </a:r>
            <a:endParaRPr lang="en-US" sz="1600" i="1" dirty="0"/>
          </a:p>
          <a:p>
            <a:r>
              <a:rPr lang="en-US" sz="1600" dirty="0"/>
              <a:t>void loop() {</a:t>
            </a:r>
            <a:endParaRPr lang="en-US" sz="1600" i="1" dirty="0"/>
          </a:p>
          <a:p>
            <a:r>
              <a:rPr lang="en-US" sz="1600" dirty="0"/>
              <a:t>    </a:t>
            </a:r>
            <a:r>
              <a:rPr lang="en-US" sz="1600" dirty="0" err="1"/>
              <a:t>digitalWrite</a:t>
            </a:r>
            <a:r>
              <a:rPr lang="en-US" sz="1600" dirty="0"/>
              <a:t>(BLUE_PIN, HIGH);   </a:t>
            </a:r>
            <a:endParaRPr lang="en-US" sz="1600" i="1" dirty="0"/>
          </a:p>
          <a:p>
            <a:r>
              <a:rPr lang="en-US" sz="1600" dirty="0"/>
              <a:t>    delay(</a:t>
            </a:r>
            <a:r>
              <a:rPr lang="en-US" sz="1600" dirty="0" err="1"/>
              <a:t>green_on</a:t>
            </a:r>
            <a:r>
              <a:rPr lang="en-US" sz="1600" dirty="0"/>
              <a:t>); </a:t>
            </a:r>
            <a:endParaRPr lang="en-US" sz="1600" i="1" dirty="0"/>
          </a:p>
          <a:p>
            <a:r>
              <a:rPr lang="en-US" sz="1600" dirty="0"/>
              <a:t>   </a:t>
            </a:r>
            <a:endParaRPr lang="en-US" sz="1600" i="1" dirty="0"/>
          </a:p>
          <a:p>
            <a:r>
              <a:rPr lang="en-US" sz="1600" dirty="0"/>
              <a:t>    </a:t>
            </a:r>
            <a:r>
              <a:rPr lang="en-US" sz="1600" dirty="0" err="1"/>
              <a:t>digitalRead</a:t>
            </a:r>
            <a:r>
              <a:rPr lang="en-US" sz="1600" dirty="0"/>
              <a:t>(GREEN_PIN, LOW);</a:t>
            </a:r>
            <a:endParaRPr lang="en-US" sz="1600" i="1" dirty="0"/>
          </a:p>
          <a:p>
            <a:r>
              <a:rPr lang="en-US" sz="1600" dirty="0"/>
              <a:t>    </a:t>
            </a:r>
            <a:r>
              <a:rPr lang="en-US" sz="1600" dirty="0" err="1"/>
              <a:t>delay_timer</a:t>
            </a:r>
            <a:r>
              <a:rPr lang="en-US" sz="1600" dirty="0"/>
              <a:t>(</a:t>
            </a:r>
            <a:r>
              <a:rPr lang="en-US" sz="1600" dirty="0" err="1"/>
              <a:t>blue_off</a:t>
            </a:r>
            <a:r>
              <a:rPr lang="en-US" sz="1600" dirty="0"/>
              <a:t>); </a:t>
            </a:r>
          </a:p>
        </p:txBody>
      </p:sp>
      <p:sp>
        <p:nvSpPr>
          <p:cNvPr id="2" name="Rectangle 1">
            <a:extLst>
              <a:ext uri="{FF2B5EF4-FFF2-40B4-BE49-F238E27FC236}">
                <a16:creationId xmlns:a16="http://schemas.microsoft.com/office/drawing/2014/main" id="{B59B83D9-2C36-C596-BD36-3F7506CB9A28}"/>
              </a:ext>
            </a:extLst>
          </p:cNvPr>
          <p:cNvSpPr/>
          <p:nvPr/>
        </p:nvSpPr>
        <p:spPr>
          <a:xfrm>
            <a:off x="8846086" y="6285593"/>
            <a:ext cx="3221873" cy="315576"/>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33">
              <a:ln>
                <a:solidFill>
                  <a:srgbClr val="00B050"/>
                </a:solidFill>
              </a:ln>
              <a:solidFill>
                <a:srgbClr val="00B050"/>
              </a:solidFill>
            </a:endParaRPr>
          </a:p>
        </p:txBody>
      </p:sp>
    </p:spTree>
    <p:extLst>
      <p:ext uri="{BB962C8B-B14F-4D97-AF65-F5344CB8AC3E}">
        <p14:creationId xmlns:p14="http://schemas.microsoft.com/office/powerpoint/2010/main" val="1335799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1000"/>
                                        <p:tgtEl>
                                          <p:spTgt spid="3"/>
                                        </p:tgtEl>
                                      </p:cBhvr>
                                    </p:animEffect>
                                    <p:anim calcmode="lin" valueType="num">
                                      <p:cBhvr>
                                        <p:cTn id="16" dur="1000" fill="hold"/>
                                        <p:tgtEl>
                                          <p:spTgt spid="3"/>
                                        </p:tgtEl>
                                        <p:attrNameLst>
                                          <p:attrName>ppt_x</p:attrName>
                                        </p:attrNameLst>
                                      </p:cBhvr>
                                      <p:tavLst>
                                        <p:tav tm="0">
                                          <p:val>
                                            <p:strVal val="#ppt_x"/>
                                          </p:val>
                                        </p:tav>
                                        <p:tav tm="100000">
                                          <p:val>
                                            <p:strVal val="#ppt_x"/>
                                          </p:val>
                                        </p:tav>
                                      </p:tavLst>
                                    </p:anim>
                                    <p:anim calcmode="lin" valueType="num">
                                      <p:cBhvr>
                                        <p:cTn id="17" dur="1000" fill="hold"/>
                                        <p:tgtEl>
                                          <p:spTgt spid="3"/>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1000"/>
                                        <p:tgtEl>
                                          <p:spTgt spid="12"/>
                                        </p:tgtEl>
                                      </p:cBhvr>
                                    </p:animEffect>
                                    <p:anim calcmode="lin" valueType="num">
                                      <p:cBhvr>
                                        <p:cTn id="21" dur="1000" fill="hold"/>
                                        <p:tgtEl>
                                          <p:spTgt spid="12"/>
                                        </p:tgtEl>
                                        <p:attrNameLst>
                                          <p:attrName>ppt_x</p:attrName>
                                        </p:attrNameLst>
                                      </p:cBhvr>
                                      <p:tavLst>
                                        <p:tav tm="0">
                                          <p:val>
                                            <p:strVal val="#ppt_x"/>
                                          </p:val>
                                        </p:tav>
                                        <p:tav tm="100000">
                                          <p:val>
                                            <p:strVal val="#ppt_x"/>
                                          </p:val>
                                        </p:tav>
                                      </p:tavLst>
                                    </p:anim>
                                    <p:anim calcmode="lin" valueType="num">
                                      <p:cBhvr>
                                        <p:cTn id="2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heel(1)">
                                      <p:cBhvr>
                                        <p:cTn id="2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 grpId="0"/>
      <p:bldP spid="9" grpId="0"/>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93CFF-DB9E-9625-AC53-3C79888EC1C8}"/>
            </a:ext>
          </a:extLst>
        </p:cNvPr>
        <p:cNvGrpSpPr/>
        <p:nvPr/>
      </p:nvGrpSpPr>
      <p:grpSpPr>
        <a:xfrm>
          <a:off x="0" y="0"/>
          <a:ext cx="0" cy="0"/>
          <a:chOff x="0" y="0"/>
          <a:chExt cx="0" cy="0"/>
        </a:xfrm>
      </p:grpSpPr>
      <p:sp>
        <p:nvSpPr>
          <p:cNvPr id="6" name="Date Placeholder 5">
            <a:extLst>
              <a:ext uri="{FF2B5EF4-FFF2-40B4-BE49-F238E27FC236}">
                <a16:creationId xmlns:a16="http://schemas.microsoft.com/office/drawing/2014/main" id="{FA99C939-9542-7BAB-88C3-65CCAA0931A5}"/>
              </a:ext>
            </a:extLst>
          </p:cNvPr>
          <p:cNvSpPr>
            <a:spLocks noGrp="1"/>
          </p:cNvSpPr>
          <p:nvPr>
            <p:ph type="dt" sz="half" idx="10"/>
          </p:nvPr>
        </p:nvSpPr>
        <p:spPr/>
        <p:txBody>
          <a:bodyPr/>
          <a:lstStyle/>
          <a:p>
            <a:fld id="{17D1F163-9643-41E4-B842-57D26361CE78}" type="datetime3">
              <a:rPr lang="en-US" noProof="0" smtClean="0"/>
              <a:t>15 June 2026</a:t>
            </a:fld>
            <a:endParaRPr lang="en-US" noProof="0" dirty="0"/>
          </a:p>
        </p:txBody>
      </p:sp>
      <p:sp>
        <p:nvSpPr>
          <p:cNvPr id="7" name="Footer Placeholder 6">
            <a:extLst>
              <a:ext uri="{FF2B5EF4-FFF2-40B4-BE49-F238E27FC236}">
                <a16:creationId xmlns:a16="http://schemas.microsoft.com/office/drawing/2014/main" id="{C905077B-6382-AA27-BC3B-2D0589D619C2}"/>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8" name="Slide Number Placeholder 7">
            <a:extLst>
              <a:ext uri="{FF2B5EF4-FFF2-40B4-BE49-F238E27FC236}">
                <a16:creationId xmlns:a16="http://schemas.microsoft.com/office/drawing/2014/main" id="{F2E02F90-866D-3380-69C5-5C3FA568AC99}"/>
              </a:ext>
            </a:extLst>
          </p:cNvPr>
          <p:cNvSpPr>
            <a:spLocks noGrp="1"/>
          </p:cNvSpPr>
          <p:nvPr>
            <p:ph type="sldNum" sz="quarter" idx="12"/>
          </p:nvPr>
        </p:nvSpPr>
        <p:spPr/>
        <p:txBody>
          <a:bodyPr/>
          <a:lstStyle/>
          <a:p>
            <a:fld id="{5D99DD2A-B520-4620-9B43-64B657BA2D42}" type="slidenum">
              <a:rPr lang="en-US" noProof="0" smtClean="0"/>
              <a:t>39</a:t>
            </a:fld>
            <a:endParaRPr lang="en-US" noProof="0" dirty="0"/>
          </a:p>
        </p:txBody>
      </p:sp>
      <p:sp>
        <p:nvSpPr>
          <p:cNvPr id="22" name="TextBox 5">
            <a:extLst>
              <a:ext uri="{FF2B5EF4-FFF2-40B4-BE49-F238E27FC236}">
                <a16:creationId xmlns:a16="http://schemas.microsoft.com/office/drawing/2014/main" id="{25F77072-AAB2-17C7-4FC1-F90767D4C52F}"/>
              </a:ext>
            </a:extLst>
          </p:cNvPr>
          <p:cNvSpPr txBox="1">
            <a:spLocks noChangeArrowheads="1"/>
          </p:cNvSpPr>
          <p:nvPr/>
        </p:nvSpPr>
        <p:spPr bwMode="auto">
          <a:xfrm>
            <a:off x="348801" y="946784"/>
            <a:ext cx="5924407" cy="5539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2400" b="1" dirty="0">
                <a:solidFill>
                  <a:srgbClr val="FFFF00"/>
                </a:solidFill>
                <a:latin typeface="Times New Roman" panose="02020603050405020304" pitchFamily="18" charset="0"/>
                <a:cs typeface="Times New Roman" panose="02020603050405020304" pitchFamily="18" charset="0"/>
              </a:rPr>
              <a:t>Solution:</a:t>
            </a:r>
            <a:endParaRPr lang="en-US" sz="2400" i="1" dirty="0">
              <a:solidFill>
                <a:srgbClr val="FFFF00"/>
              </a:solidFill>
              <a:latin typeface="Times New Roman" panose="02020603050405020304" pitchFamily="18" charset="0"/>
              <a:cs typeface="Times New Roman" panose="02020603050405020304" pitchFamily="18" charset="0"/>
            </a:endParaRPr>
          </a:p>
          <a:p>
            <a:r>
              <a:rPr lang="en-US" altLang="en-US" sz="2400" b="1" dirty="0">
                <a:latin typeface="Arial" panose="020B0604020202020204" pitchFamily="34" charset="0"/>
                <a:cs typeface="Arial" panose="020B0604020202020204" pitchFamily="34" charset="0"/>
              </a:rPr>
              <a:t>Corrected Codes</a:t>
            </a:r>
          </a:p>
          <a:p>
            <a:r>
              <a:rPr lang="en-US" dirty="0">
                <a:solidFill>
                  <a:srgbClr val="FF0000"/>
                </a:solidFill>
              </a:rPr>
              <a:t>#define </a:t>
            </a:r>
            <a:r>
              <a:rPr lang="en-US" strike="sngStrike" dirty="0">
                <a:solidFill>
                  <a:srgbClr val="FF0000"/>
                </a:solidFill>
              </a:rPr>
              <a:t>YELLOW_PIN 10</a:t>
            </a:r>
            <a:r>
              <a:rPr lang="en-US" dirty="0">
                <a:solidFill>
                  <a:srgbClr val="FF0000"/>
                </a:solidFill>
              </a:rPr>
              <a:t> GREEN_PIN 5</a:t>
            </a:r>
            <a:endParaRPr lang="en-US" i="1" dirty="0">
              <a:solidFill>
                <a:srgbClr val="FF0000"/>
              </a:solidFill>
            </a:endParaRPr>
          </a:p>
          <a:p>
            <a:r>
              <a:rPr lang="en-US" dirty="0">
                <a:solidFill>
                  <a:srgbClr val="FF0000"/>
                </a:solidFill>
              </a:rPr>
              <a:t>int </a:t>
            </a:r>
            <a:r>
              <a:rPr lang="en-US" strike="sngStrike" dirty="0" err="1">
                <a:solidFill>
                  <a:srgbClr val="FF0000"/>
                </a:solidFill>
              </a:rPr>
              <a:t>blue_on</a:t>
            </a:r>
            <a:r>
              <a:rPr lang="en-US" dirty="0">
                <a:solidFill>
                  <a:srgbClr val="FF0000"/>
                </a:solidFill>
              </a:rPr>
              <a:t> = 1667; // delay is given in </a:t>
            </a:r>
            <a:r>
              <a:rPr lang="en-US" dirty="0" err="1">
                <a:solidFill>
                  <a:srgbClr val="FF0000"/>
                </a:solidFill>
              </a:rPr>
              <a:t>ms</a:t>
            </a:r>
            <a:r>
              <a:rPr lang="en-US" dirty="0">
                <a:solidFill>
                  <a:srgbClr val="FF0000"/>
                </a:solidFill>
              </a:rPr>
              <a:t> </a:t>
            </a:r>
            <a:r>
              <a:rPr lang="en-US" dirty="0" err="1">
                <a:solidFill>
                  <a:srgbClr val="FF0000"/>
                </a:solidFill>
              </a:rPr>
              <a:t>green_on</a:t>
            </a:r>
            <a:endParaRPr lang="en-US" i="1" dirty="0">
              <a:solidFill>
                <a:srgbClr val="FF0000"/>
              </a:solidFill>
            </a:endParaRPr>
          </a:p>
          <a:p>
            <a:r>
              <a:rPr lang="en-US" dirty="0">
                <a:solidFill>
                  <a:srgbClr val="FF0000"/>
                </a:solidFill>
              </a:rPr>
              <a:t>int </a:t>
            </a:r>
            <a:r>
              <a:rPr lang="en-US" strike="sngStrike" dirty="0" err="1">
                <a:solidFill>
                  <a:srgbClr val="FF0000"/>
                </a:solidFill>
              </a:rPr>
              <a:t>red_off</a:t>
            </a:r>
            <a:r>
              <a:rPr lang="en-US" dirty="0">
                <a:solidFill>
                  <a:srgbClr val="FF0000"/>
                </a:solidFill>
              </a:rPr>
              <a:t> = 1333; // delay is given in </a:t>
            </a:r>
            <a:r>
              <a:rPr lang="en-US" dirty="0" err="1">
                <a:solidFill>
                  <a:srgbClr val="FF0000"/>
                </a:solidFill>
              </a:rPr>
              <a:t>ms</a:t>
            </a:r>
            <a:r>
              <a:rPr lang="en-US" dirty="0">
                <a:solidFill>
                  <a:srgbClr val="FF0000"/>
                </a:solidFill>
              </a:rPr>
              <a:t> </a:t>
            </a:r>
            <a:r>
              <a:rPr lang="en-US" dirty="0" err="1">
                <a:solidFill>
                  <a:srgbClr val="FF0000"/>
                </a:solidFill>
              </a:rPr>
              <a:t>green_off</a:t>
            </a:r>
            <a:endParaRPr lang="en-US" i="1" dirty="0">
              <a:solidFill>
                <a:srgbClr val="FF0000"/>
              </a:solidFill>
            </a:endParaRPr>
          </a:p>
          <a:p>
            <a:r>
              <a:rPr lang="en-US" dirty="0"/>
              <a:t> </a:t>
            </a:r>
            <a:endParaRPr lang="en-US" i="1" dirty="0"/>
          </a:p>
          <a:p>
            <a:r>
              <a:rPr lang="en-US" dirty="0"/>
              <a:t>int </a:t>
            </a:r>
            <a:r>
              <a:rPr lang="en-US" dirty="0" err="1"/>
              <a:t>delay_timer</a:t>
            </a:r>
            <a:r>
              <a:rPr lang="en-US" dirty="0"/>
              <a:t> (int milliseconds){</a:t>
            </a:r>
            <a:endParaRPr lang="en-US" i="1" dirty="0"/>
          </a:p>
          <a:p>
            <a:r>
              <a:rPr lang="en-US" dirty="0"/>
              <a:t>  int count = 0;</a:t>
            </a:r>
            <a:endParaRPr lang="en-US" i="1" dirty="0"/>
          </a:p>
          <a:p>
            <a:r>
              <a:rPr lang="en-US" dirty="0"/>
              <a:t>  while(1) {</a:t>
            </a:r>
            <a:endParaRPr lang="en-US" i="1" dirty="0"/>
          </a:p>
          <a:p>
            <a:r>
              <a:rPr lang="en-US" dirty="0"/>
              <a:t>    if(TCNT1 &gt;= </a:t>
            </a:r>
            <a:r>
              <a:rPr lang="en-US" dirty="0">
                <a:solidFill>
                  <a:srgbClr val="FF0000"/>
                </a:solidFill>
              </a:rPr>
              <a:t>46</a:t>
            </a:r>
            <a:r>
              <a:rPr lang="en-US" dirty="0"/>
              <a:t>) {</a:t>
            </a:r>
            <a:endParaRPr lang="en-US" i="1" dirty="0"/>
          </a:p>
          <a:p>
            <a:r>
              <a:rPr lang="en-US" dirty="0"/>
              <a:t>        TCNT1=0;</a:t>
            </a:r>
            <a:endParaRPr lang="en-US" i="1" dirty="0"/>
          </a:p>
          <a:p>
            <a:r>
              <a:rPr lang="en-US" dirty="0"/>
              <a:t>        count++; </a:t>
            </a:r>
            <a:endParaRPr lang="en-US" i="1" dirty="0"/>
          </a:p>
          <a:p>
            <a:r>
              <a:rPr lang="en-US" dirty="0"/>
              <a:t>        if (count == milliseconds) {</a:t>
            </a:r>
            <a:endParaRPr lang="en-US" i="1" dirty="0"/>
          </a:p>
          <a:p>
            <a:r>
              <a:rPr lang="en-US" dirty="0"/>
              <a:t>            count=0;</a:t>
            </a:r>
            <a:endParaRPr lang="en-US" i="1" dirty="0"/>
          </a:p>
          <a:p>
            <a:r>
              <a:rPr lang="en-US" dirty="0"/>
              <a:t>            break; }</a:t>
            </a:r>
            <a:endParaRPr lang="en-US" i="1" dirty="0"/>
          </a:p>
          <a:p>
            <a:r>
              <a:rPr lang="en-US" dirty="0"/>
              <a:t>      }</a:t>
            </a:r>
            <a:endParaRPr lang="en-US" i="1" dirty="0"/>
          </a:p>
          <a:p>
            <a:r>
              <a:rPr lang="en-US" dirty="0"/>
              <a:t>  }</a:t>
            </a:r>
            <a:endParaRPr lang="en-US" i="1" dirty="0"/>
          </a:p>
          <a:p>
            <a:r>
              <a:rPr lang="en-US" dirty="0"/>
              <a:t>  return 0;</a:t>
            </a:r>
            <a:endParaRPr lang="en-US" i="1" dirty="0"/>
          </a:p>
          <a:p>
            <a:r>
              <a:rPr lang="en-US" dirty="0"/>
              <a:t>}</a:t>
            </a:r>
            <a:endParaRPr lang="en-US" i="1" dirty="0"/>
          </a:p>
        </p:txBody>
      </p:sp>
      <p:sp>
        <p:nvSpPr>
          <p:cNvPr id="17" name="Title 1">
            <a:extLst>
              <a:ext uri="{FF2B5EF4-FFF2-40B4-BE49-F238E27FC236}">
                <a16:creationId xmlns:a16="http://schemas.microsoft.com/office/drawing/2014/main" id="{D0D9E201-DA5B-B4F6-DB7E-E8A71C105041}"/>
              </a:ext>
            </a:extLst>
          </p:cNvPr>
          <p:cNvSpPr txBox="1">
            <a:spLocks noChangeArrowheads="1"/>
          </p:cNvSpPr>
          <p:nvPr/>
        </p:nvSpPr>
        <p:spPr bwMode="white">
          <a:xfrm>
            <a:off x="348802" y="317928"/>
            <a:ext cx="11089074" cy="591399"/>
          </a:xfrm>
          <a:prstGeom prst="rect">
            <a:avLst/>
          </a:prstGeom>
          <a:effectLst/>
        </p:spPr>
        <p:txBody>
          <a:bodyPr vert="horz" lIns="91440" tIns="45720" rIns="91440" bIns="45720" rtlCol="0" anchor="ctr" anchorCtr="0">
            <a:normAutofit fontScale="97500" lnSpcReduction="10000"/>
          </a:bodyPr>
          <a:lstStyle>
            <a:lvl1pPr algn="l" defTabSz="457200" rtl="0" eaLnBrk="1" latinLnBrk="0" hangingPunct="1">
              <a:spcBef>
                <a:spcPct val="0"/>
              </a:spcBef>
              <a:buNone/>
              <a:defRPr sz="30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defTabSz="383790">
              <a:defRPr/>
            </a:pPr>
            <a:r>
              <a:rPr lang="en-US" altLang="en-US" sz="3555" b="1" cap="none">
                <a:solidFill>
                  <a:srgbClr val="FF0000"/>
                </a:solidFill>
                <a:latin typeface="Arial" panose="020B0604020202020204" pitchFamily="34" charset="0"/>
                <a:cs typeface="Arial" panose="020B0604020202020204" pitchFamily="34" charset="0"/>
              </a:rPr>
              <a:t>Example 2:</a:t>
            </a:r>
            <a:endParaRPr lang="en-US" altLang="en-US" sz="3555" b="1" cap="none" dirty="0">
              <a:solidFill>
                <a:srgbClr val="FF0000"/>
              </a:solidFill>
              <a:latin typeface="Arial" panose="020B0604020202020204" pitchFamily="34" charset="0"/>
              <a:cs typeface="Arial" panose="020B0604020202020204" pitchFamily="34" charset="0"/>
            </a:endParaRPr>
          </a:p>
        </p:txBody>
      </p:sp>
      <p:sp>
        <p:nvSpPr>
          <p:cNvPr id="2" name="TextBox 5">
            <a:extLst>
              <a:ext uri="{FF2B5EF4-FFF2-40B4-BE49-F238E27FC236}">
                <a16:creationId xmlns:a16="http://schemas.microsoft.com/office/drawing/2014/main" id="{0BA548F0-F1C3-BD7C-F59F-C6BB59642D0E}"/>
              </a:ext>
            </a:extLst>
          </p:cNvPr>
          <p:cNvSpPr txBox="1">
            <a:spLocks noChangeArrowheads="1"/>
          </p:cNvSpPr>
          <p:nvPr/>
        </p:nvSpPr>
        <p:spPr bwMode="auto">
          <a:xfrm>
            <a:off x="6662975" y="227315"/>
            <a:ext cx="5376298"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dirty="0"/>
              <a:t> </a:t>
            </a:r>
            <a:endParaRPr lang="en-US" i="1" dirty="0"/>
          </a:p>
          <a:p>
            <a:r>
              <a:rPr lang="en-US" dirty="0">
                <a:solidFill>
                  <a:srgbClr val="FF0000"/>
                </a:solidFill>
              </a:rPr>
              <a:t>void </a:t>
            </a:r>
            <a:r>
              <a:rPr lang="en-US" strike="sngStrike" dirty="0">
                <a:solidFill>
                  <a:srgbClr val="FF0000"/>
                </a:solidFill>
              </a:rPr>
              <a:t>loop</a:t>
            </a:r>
            <a:r>
              <a:rPr lang="en-US" dirty="0">
                <a:solidFill>
                  <a:srgbClr val="FF0000"/>
                </a:solidFill>
              </a:rPr>
              <a:t>() {   setup</a:t>
            </a:r>
            <a:endParaRPr lang="en-US" i="1" dirty="0">
              <a:solidFill>
                <a:srgbClr val="FF0000"/>
              </a:solidFill>
            </a:endParaRPr>
          </a:p>
          <a:p>
            <a:r>
              <a:rPr lang="en-US" dirty="0">
                <a:solidFill>
                  <a:srgbClr val="FF0000"/>
                </a:solidFill>
              </a:rPr>
              <a:t>    </a:t>
            </a:r>
            <a:r>
              <a:rPr lang="en-US" dirty="0" err="1">
                <a:solidFill>
                  <a:srgbClr val="FF0000"/>
                </a:solidFill>
              </a:rPr>
              <a:t>pinMode</a:t>
            </a:r>
            <a:r>
              <a:rPr lang="en-US" dirty="0">
                <a:solidFill>
                  <a:srgbClr val="FF0000"/>
                </a:solidFill>
              </a:rPr>
              <a:t>(GREEN_PIN, </a:t>
            </a:r>
            <a:r>
              <a:rPr lang="en-US" strike="sngStrike" dirty="0">
                <a:solidFill>
                  <a:srgbClr val="FF0000"/>
                </a:solidFill>
              </a:rPr>
              <a:t>INPUT</a:t>
            </a:r>
            <a:r>
              <a:rPr lang="en-US" dirty="0">
                <a:solidFill>
                  <a:srgbClr val="FF0000"/>
                </a:solidFill>
              </a:rPr>
              <a:t>);  OUTPUT</a:t>
            </a:r>
            <a:endParaRPr lang="en-US" i="1" dirty="0">
              <a:solidFill>
                <a:srgbClr val="FF0000"/>
              </a:solidFill>
            </a:endParaRPr>
          </a:p>
          <a:p>
            <a:r>
              <a:rPr lang="en-US" dirty="0">
                <a:solidFill>
                  <a:srgbClr val="FF0000"/>
                </a:solidFill>
              </a:rPr>
              <a:t>    </a:t>
            </a:r>
            <a:r>
              <a:rPr lang="en-US" strike="sngStrike" dirty="0">
                <a:solidFill>
                  <a:srgbClr val="FF0000"/>
                </a:solidFill>
              </a:rPr>
              <a:t>TCCR0A</a:t>
            </a:r>
            <a:r>
              <a:rPr lang="en-US" dirty="0">
                <a:solidFill>
                  <a:srgbClr val="FF0000"/>
                </a:solidFill>
              </a:rPr>
              <a:t> = 0b00000000;  TCCR1A</a:t>
            </a:r>
            <a:endParaRPr lang="en-US" i="1" dirty="0">
              <a:solidFill>
                <a:srgbClr val="FF0000"/>
              </a:solidFill>
            </a:endParaRPr>
          </a:p>
          <a:p>
            <a:r>
              <a:rPr lang="en-US" dirty="0">
                <a:solidFill>
                  <a:srgbClr val="FF0000"/>
                </a:solidFill>
              </a:rPr>
              <a:t>    </a:t>
            </a:r>
            <a:r>
              <a:rPr lang="en-US" strike="sngStrike" dirty="0">
                <a:solidFill>
                  <a:srgbClr val="FF0000"/>
                </a:solidFill>
              </a:rPr>
              <a:t>TCCR0B</a:t>
            </a:r>
            <a:r>
              <a:rPr lang="en-US" dirty="0">
                <a:solidFill>
                  <a:srgbClr val="FF0000"/>
                </a:solidFill>
              </a:rPr>
              <a:t> = 0b00000101;  TCCR1B</a:t>
            </a:r>
            <a:endParaRPr lang="en-US" i="1" dirty="0">
              <a:solidFill>
                <a:srgbClr val="FF0000"/>
              </a:solidFill>
            </a:endParaRPr>
          </a:p>
          <a:p>
            <a:r>
              <a:rPr lang="en-US" dirty="0"/>
              <a:t>    TCNT1 = 0x0000;</a:t>
            </a:r>
            <a:endParaRPr lang="en-US" i="1" dirty="0"/>
          </a:p>
          <a:p>
            <a:r>
              <a:rPr lang="en-US" dirty="0"/>
              <a:t>}</a:t>
            </a:r>
            <a:endParaRPr lang="en-US" i="1" dirty="0"/>
          </a:p>
          <a:p>
            <a:r>
              <a:rPr lang="en-US" dirty="0"/>
              <a:t> </a:t>
            </a:r>
            <a:endParaRPr lang="en-US" i="1" dirty="0"/>
          </a:p>
          <a:p>
            <a:r>
              <a:rPr lang="en-US" dirty="0"/>
              <a:t>void loop() {</a:t>
            </a:r>
            <a:endParaRPr lang="en-US" i="1" dirty="0"/>
          </a:p>
          <a:p>
            <a:r>
              <a:rPr lang="en-US" dirty="0"/>
              <a:t>    </a:t>
            </a:r>
            <a:r>
              <a:rPr lang="en-US" dirty="0" err="1">
                <a:solidFill>
                  <a:srgbClr val="FF0000"/>
                </a:solidFill>
              </a:rPr>
              <a:t>digitalWrite</a:t>
            </a:r>
            <a:r>
              <a:rPr lang="en-US" dirty="0">
                <a:solidFill>
                  <a:srgbClr val="FF0000"/>
                </a:solidFill>
              </a:rPr>
              <a:t>(</a:t>
            </a:r>
            <a:r>
              <a:rPr lang="en-US" strike="sngStrike" dirty="0">
                <a:solidFill>
                  <a:srgbClr val="FF0000"/>
                </a:solidFill>
              </a:rPr>
              <a:t>BLUE_PIN</a:t>
            </a:r>
            <a:r>
              <a:rPr lang="en-US" dirty="0">
                <a:solidFill>
                  <a:srgbClr val="FF0000"/>
                </a:solidFill>
              </a:rPr>
              <a:t>, HIGH);  GREEN_PIN </a:t>
            </a:r>
            <a:endParaRPr lang="en-US" i="1" dirty="0">
              <a:solidFill>
                <a:srgbClr val="FF0000"/>
              </a:solidFill>
            </a:endParaRPr>
          </a:p>
          <a:p>
            <a:r>
              <a:rPr lang="en-US" dirty="0">
                <a:solidFill>
                  <a:srgbClr val="FF0000"/>
                </a:solidFill>
              </a:rPr>
              <a:t>    </a:t>
            </a:r>
            <a:r>
              <a:rPr lang="en-US" strike="sngStrike" dirty="0">
                <a:solidFill>
                  <a:srgbClr val="FF0000"/>
                </a:solidFill>
              </a:rPr>
              <a:t>delay</a:t>
            </a:r>
            <a:r>
              <a:rPr lang="en-US" dirty="0">
                <a:solidFill>
                  <a:srgbClr val="FF0000"/>
                </a:solidFill>
              </a:rPr>
              <a:t>(</a:t>
            </a:r>
            <a:r>
              <a:rPr lang="en-US" dirty="0" err="1">
                <a:solidFill>
                  <a:srgbClr val="FF0000"/>
                </a:solidFill>
              </a:rPr>
              <a:t>green_on</a:t>
            </a:r>
            <a:r>
              <a:rPr lang="en-US" dirty="0">
                <a:solidFill>
                  <a:srgbClr val="FF0000"/>
                </a:solidFill>
              </a:rPr>
              <a:t>);    </a:t>
            </a:r>
            <a:r>
              <a:rPr lang="en-US" dirty="0" err="1">
                <a:solidFill>
                  <a:srgbClr val="FF0000"/>
                </a:solidFill>
              </a:rPr>
              <a:t>delay_timer</a:t>
            </a:r>
            <a:endParaRPr lang="en-US" i="1" dirty="0">
              <a:solidFill>
                <a:srgbClr val="FF0000"/>
              </a:solidFill>
            </a:endParaRPr>
          </a:p>
          <a:p>
            <a:r>
              <a:rPr lang="en-US" dirty="0">
                <a:solidFill>
                  <a:srgbClr val="FF0000"/>
                </a:solidFill>
              </a:rPr>
              <a:t>   </a:t>
            </a:r>
            <a:endParaRPr lang="en-US" i="1" dirty="0">
              <a:solidFill>
                <a:srgbClr val="FF0000"/>
              </a:solidFill>
            </a:endParaRPr>
          </a:p>
          <a:p>
            <a:r>
              <a:rPr lang="en-US" dirty="0">
                <a:solidFill>
                  <a:srgbClr val="FF0000"/>
                </a:solidFill>
              </a:rPr>
              <a:t>    </a:t>
            </a:r>
            <a:r>
              <a:rPr lang="en-US" strike="sngStrike" dirty="0" err="1">
                <a:solidFill>
                  <a:srgbClr val="FF0000"/>
                </a:solidFill>
              </a:rPr>
              <a:t>digitalRead</a:t>
            </a:r>
            <a:r>
              <a:rPr lang="en-US" dirty="0">
                <a:solidFill>
                  <a:srgbClr val="FF0000"/>
                </a:solidFill>
              </a:rPr>
              <a:t>(GREEN_PIN, LOW);  </a:t>
            </a:r>
            <a:r>
              <a:rPr lang="en-US" dirty="0" err="1">
                <a:solidFill>
                  <a:srgbClr val="FF0000"/>
                </a:solidFill>
              </a:rPr>
              <a:t>digitalWrite</a:t>
            </a:r>
            <a:endParaRPr lang="en-US" i="1" dirty="0">
              <a:solidFill>
                <a:srgbClr val="FF0000"/>
              </a:solidFill>
            </a:endParaRPr>
          </a:p>
          <a:p>
            <a:r>
              <a:rPr lang="en-US" dirty="0">
                <a:solidFill>
                  <a:srgbClr val="FF0000"/>
                </a:solidFill>
              </a:rPr>
              <a:t>    </a:t>
            </a:r>
            <a:r>
              <a:rPr lang="en-US" dirty="0" err="1">
                <a:solidFill>
                  <a:srgbClr val="FF0000"/>
                </a:solidFill>
              </a:rPr>
              <a:t>delay_timer</a:t>
            </a:r>
            <a:r>
              <a:rPr lang="en-US" dirty="0">
                <a:solidFill>
                  <a:srgbClr val="FF0000"/>
                </a:solidFill>
              </a:rPr>
              <a:t>(</a:t>
            </a:r>
            <a:r>
              <a:rPr lang="en-US" strike="sngStrike" dirty="0" err="1">
                <a:solidFill>
                  <a:srgbClr val="FF0000"/>
                </a:solidFill>
              </a:rPr>
              <a:t>blue_off</a:t>
            </a:r>
            <a:r>
              <a:rPr lang="en-US" dirty="0">
                <a:solidFill>
                  <a:srgbClr val="FF0000"/>
                </a:solidFill>
              </a:rPr>
              <a:t>);   </a:t>
            </a:r>
            <a:r>
              <a:rPr lang="en-US" dirty="0" err="1">
                <a:solidFill>
                  <a:srgbClr val="FF0000"/>
                </a:solidFill>
              </a:rPr>
              <a:t>green_off</a:t>
            </a:r>
            <a:endParaRPr lang="en-US" i="1" dirty="0">
              <a:solidFill>
                <a:srgbClr val="FF0000"/>
              </a:solidFill>
            </a:endParaRPr>
          </a:p>
          <a:p>
            <a:r>
              <a:rPr lang="en-US" dirty="0"/>
              <a:t>}</a:t>
            </a:r>
            <a:endParaRPr lang="en-US" i="1" dirty="0"/>
          </a:p>
          <a:p>
            <a:r>
              <a:rPr lang="en-US" dirty="0"/>
              <a:t>}</a:t>
            </a:r>
            <a:endParaRPr lang="en-US" i="1" dirty="0"/>
          </a:p>
        </p:txBody>
      </p:sp>
    </p:spTree>
    <p:extLst>
      <p:ext uri="{BB962C8B-B14F-4D97-AF65-F5344CB8AC3E}">
        <p14:creationId xmlns:p14="http://schemas.microsoft.com/office/powerpoint/2010/main" val="3091202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0B973-4B5D-F75F-1A7A-BBBEE686CF2F}"/>
            </a:ext>
          </a:extLst>
        </p:cNvPr>
        <p:cNvGrpSpPr/>
        <p:nvPr/>
      </p:nvGrpSpPr>
      <p:grpSpPr>
        <a:xfrm>
          <a:off x="0" y="0"/>
          <a:ext cx="0" cy="0"/>
          <a:chOff x="0" y="0"/>
          <a:chExt cx="0" cy="0"/>
        </a:xfrm>
      </p:grpSpPr>
      <p:sp>
        <p:nvSpPr>
          <p:cNvPr id="6" name="Date Placeholder 5">
            <a:extLst>
              <a:ext uri="{FF2B5EF4-FFF2-40B4-BE49-F238E27FC236}">
                <a16:creationId xmlns:a16="http://schemas.microsoft.com/office/drawing/2014/main" id="{9BB663D2-033C-215C-42E4-E40D3752D97A}"/>
              </a:ext>
            </a:extLst>
          </p:cNvPr>
          <p:cNvSpPr>
            <a:spLocks noGrp="1"/>
          </p:cNvSpPr>
          <p:nvPr>
            <p:ph type="dt" sz="half" idx="10"/>
          </p:nvPr>
        </p:nvSpPr>
        <p:spPr/>
        <p:txBody>
          <a:bodyPr/>
          <a:lstStyle/>
          <a:p>
            <a:fld id="{17D1F163-9643-41E4-B842-57D26361CE78}" type="datetime3">
              <a:rPr lang="en-US" noProof="0" smtClean="0"/>
              <a:t>15 June 2026</a:t>
            </a:fld>
            <a:endParaRPr lang="en-US" noProof="0" dirty="0"/>
          </a:p>
        </p:txBody>
      </p:sp>
      <p:sp>
        <p:nvSpPr>
          <p:cNvPr id="7" name="Footer Placeholder 6">
            <a:extLst>
              <a:ext uri="{FF2B5EF4-FFF2-40B4-BE49-F238E27FC236}">
                <a16:creationId xmlns:a16="http://schemas.microsoft.com/office/drawing/2014/main" id="{66713BC9-592F-2047-DA15-6D2FF87AF2A6}"/>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8" name="Slide Number Placeholder 7">
            <a:extLst>
              <a:ext uri="{FF2B5EF4-FFF2-40B4-BE49-F238E27FC236}">
                <a16:creationId xmlns:a16="http://schemas.microsoft.com/office/drawing/2014/main" id="{3AC7FEBD-CF4A-3E26-1660-CDB4FE174007}"/>
              </a:ext>
            </a:extLst>
          </p:cNvPr>
          <p:cNvSpPr>
            <a:spLocks noGrp="1"/>
          </p:cNvSpPr>
          <p:nvPr>
            <p:ph type="sldNum" sz="quarter" idx="12"/>
          </p:nvPr>
        </p:nvSpPr>
        <p:spPr/>
        <p:txBody>
          <a:bodyPr/>
          <a:lstStyle/>
          <a:p>
            <a:fld id="{5D99DD2A-B520-4620-9B43-64B657BA2D42}" type="slidenum">
              <a:rPr lang="en-US" noProof="0" smtClean="0"/>
              <a:t>40</a:t>
            </a:fld>
            <a:endParaRPr lang="en-US" noProof="0" dirty="0"/>
          </a:p>
        </p:txBody>
      </p:sp>
      <mc:AlternateContent xmlns:mc="http://schemas.openxmlformats.org/markup-compatibility/2006" xmlns:a14="http://schemas.microsoft.com/office/drawing/2010/main">
        <mc:Choice Requires="a14">
          <p:sp>
            <p:nvSpPr>
              <p:cNvPr id="22" name="TextBox 5">
                <a:extLst>
                  <a:ext uri="{FF2B5EF4-FFF2-40B4-BE49-F238E27FC236}">
                    <a16:creationId xmlns:a16="http://schemas.microsoft.com/office/drawing/2014/main" id="{95B4C035-70C7-5C12-B034-2000595949C6}"/>
                  </a:ext>
                </a:extLst>
              </p:cNvPr>
              <p:cNvSpPr txBox="1">
                <a:spLocks noChangeArrowheads="1"/>
              </p:cNvSpPr>
              <p:nvPr/>
            </p:nvSpPr>
            <p:spPr bwMode="auto">
              <a:xfrm>
                <a:off x="196403" y="816966"/>
                <a:ext cx="11799195" cy="562961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2400" dirty="0">
                    <a:latin typeface="Times New Roman" panose="02020603050405020304" pitchFamily="18" charset="0"/>
                    <a:cs typeface="Times New Roman" panose="02020603050405020304" pitchFamily="18" charset="0"/>
                  </a:rPr>
                  <a:t>The output of the program is: A green LED connected to pin 5 will be turned ON for 5 s and OFF for 4 s and this ON-OFF status will be repeated indefinitely after correcting the program (shown in the program above with the wrong parts stroked through in red color) until the microcontroller’s power is turned OFF.</a:t>
                </a:r>
                <a:endParaRPr lang="en-US" sz="2400" i="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US" sz="1600" i="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Given system frequency = 16 MHz; So, clock period = 1/frequency = 1/16 MHz = 0.0625 </a:t>
                </a:r>
                <a:r>
                  <a:rPr lang="en-US" sz="2400" dirty="0" err="1">
                    <a:latin typeface="Symbol" panose="05050102010706020507" pitchFamily="18" charset="2"/>
                    <a:cs typeface="Times New Roman" panose="02020603050405020304" pitchFamily="18" charset="0"/>
                  </a:rPr>
                  <a:t>m</a:t>
                </a:r>
                <a:r>
                  <a:rPr lang="en-US" sz="2400" dirty="0" err="1">
                    <a:latin typeface="Times New Roman" panose="02020603050405020304" pitchFamily="18" charset="0"/>
                    <a:cs typeface="Times New Roman" panose="02020603050405020304" pitchFamily="18" charset="0"/>
                  </a:rPr>
                  <a:t>s</a:t>
                </a:r>
                <a:endParaRPr lang="en-US" sz="2400" i="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Required delay = 3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 = 3000 </a:t>
                </a:r>
                <a:r>
                  <a:rPr lang="en-US" sz="2400" dirty="0" err="1">
                    <a:latin typeface="Symbol" panose="05050102010706020507" pitchFamily="18" charset="2"/>
                    <a:cs typeface="Times New Roman" panose="02020603050405020304" pitchFamily="18" charset="0"/>
                  </a:rPr>
                  <a:t>m</a:t>
                </a:r>
                <a:r>
                  <a:rPr lang="en-US" sz="2400" dirty="0" err="1">
                    <a:latin typeface="Times New Roman" panose="02020603050405020304" pitchFamily="18" charset="0"/>
                    <a:cs typeface="Times New Roman" panose="02020603050405020304" pitchFamily="18" charset="0"/>
                  </a:rPr>
                  <a:t>s</a:t>
                </a:r>
                <a:endParaRPr lang="en-US" sz="2400" i="1"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cs typeface="Arial" panose="020B0604020202020204" pitchFamily="34" charset="0"/>
                        </a:rPr>
                        <m:t>𝑇𝑖𝑚𝑒𝑟</m:t>
                      </m:r>
                      <m:r>
                        <a:rPr lang="en-US" sz="2400" i="1">
                          <a:latin typeface="Cambria Math" panose="02040503050406030204" pitchFamily="18" charset="0"/>
                          <a:cs typeface="Arial" panose="020B0604020202020204" pitchFamily="34" charset="0"/>
                        </a:rPr>
                        <m:t> </m:t>
                      </m:r>
                      <m:r>
                        <a:rPr lang="en-US" sz="2400" i="1">
                          <a:latin typeface="Cambria Math" panose="02040503050406030204" pitchFamily="18" charset="0"/>
                          <a:cs typeface="Arial" panose="020B0604020202020204" pitchFamily="34" charset="0"/>
                        </a:rPr>
                        <m:t>𝑐𝑜𝑢𝑛𝑡</m:t>
                      </m:r>
                      <m:r>
                        <a:rPr lang="en-US" sz="2400" i="1">
                          <a:latin typeface="Cambria Math" panose="02040503050406030204" pitchFamily="18" charset="0"/>
                          <a:cs typeface="Arial" panose="020B0604020202020204" pitchFamily="34" charset="0"/>
                        </a:rPr>
                        <m:t>=</m:t>
                      </m:r>
                      <m:f>
                        <m:fPr>
                          <m:ctrlPr>
                            <a:rPr lang="en-US" sz="2400" i="1">
                              <a:latin typeface="Cambria Math" panose="02040503050406030204" pitchFamily="18" charset="0"/>
                              <a:cs typeface="Arial" panose="020B0604020202020204" pitchFamily="34" charset="0"/>
                            </a:rPr>
                          </m:ctrlPr>
                        </m:fPr>
                        <m:num>
                          <m:r>
                            <a:rPr lang="en-US" sz="2400" i="1">
                              <a:latin typeface="Cambria Math" panose="02040503050406030204" pitchFamily="18" charset="0"/>
                              <a:cs typeface="Arial" panose="020B0604020202020204" pitchFamily="34" charset="0"/>
                            </a:rPr>
                            <m:t>𝑅𝑒𝑞𝑢𝑖𝑟𝑒𝑑</m:t>
                          </m:r>
                          <m:r>
                            <a:rPr lang="en-US" sz="2400" i="1">
                              <a:latin typeface="Cambria Math" panose="02040503050406030204" pitchFamily="18" charset="0"/>
                              <a:cs typeface="Arial" panose="020B0604020202020204" pitchFamily="34" charset="0"/>
                            </a:rPr>
                            <m:t> </m:t>
                          </m:r>
                          <m:r>
                            <a:rPr lang="en-US" sz="2400" i="1">
                              <a:latin typeface="Cambria Math" panose="02040503050406030204" pitchFamily="18" charset="0"/>
                              <a:cs typeface="Arial" panose="020B0604020202020204" pitchFamily="34" charset="0"/>
                            </a:rPr>
                            <m:t>𝑑𝑒𝑙𝑎𝑦</m:t>
                          </m:r>
                        </m:num>
                        <m:den>
                          <m:r>
                            <a:rPr lang="en-US" sz="2400" i="1">
                              <a:latin typeface="Cambria Math" panose="02040503050406030204" pitchFamily="18" charset="0"/>
                              <a:cs typeface="Arial" panose="020B0604020202020204" pitchFamily="34" charset="0"/>
                            </a:rPr>
                            <m:t>𝑝𝑟𝑒𝑠𝑐𝑎𝑙𝑎𝑟</m:t>
                          </m:r>
                          <m:r>
                            <a:rPr lang="en-US" sz="2400" i="1">
                              <a:latin typeface="Cambria Math" panose="02040503050406030204" pitchFamily="18" charset="0"/>
                              <a:cs typeface="Arial" panose="020B0604020202020204" pitchFamily="34" charset="0"/>
                            </a:rPr>
                            <m:t> (</m:t>
                          </m:r>
                          <m:r>
                            <a:rPr lang="en-US" sz="2400" i="1">
                              <a:latin typeface="Cambria Math" panose="02040503050406030204" pitchFamily="18" charset="0"/>
                              <a:cs typeface="Arial" panose="020B0604020202020204" pitchFamily="34" charset="0"/>
                            </a:rPr>
                            <m:t>𝑝𝑠</m:t>
                          </m:r>
                          <m:r>
                            <a:rPr lang="en-US" sz="2400" i="1">
                              <a:latin typeface="Cambria Math" panose="02040503050406030204" pitchFamily="18" charset="0"/>
                              <a:cs typeface="Arial" panose="020B0604020202020204" pitchFamily="34" charset="0"/>
                            </a:rPr>
                            <m:t>)×</m:t>
                          </m:r>
                          <m:r>
                            <a:rPr lang="en-US" sz="2400" i="1">
                              <a:latin typeface="Cambria Math" panose="02040503050406030204" pitchFamily="18" charset="0"/>
                              <a:ea typeface="Cambria Math" panose="02040503050406030204" pitchFamily="18" charset="0"/>
                              <a:cs typeface="Arial" panose="020B0604020202020204" pitchFamily="34" charset="0"/>
                            </a:rPr>
                            <m:t>𝑇</m:t>
                          </m:r>
                        </m:den>
                      </m:f>
                      <m:r>
                        <a:rPr lang="en-US" sz="2400" i="1">
                          <a:latin typeface="Cambria Math" panose="02040503050406030204" pitchFamily="18" charset="0"/>
                          <a:cs typeface="Arial" panose="020B0604020202020204" pitchFamily="34" charset="0"/>
                        </a:rPr>
                        <m:t>−1=</m:t>
                      </m:r>
                      <m:f>
                        <m:fPr>
                          <m:ctrlPr>
                            <a:rPr lang="en-US" sz="2400" i="1">
                              <a:latin typeface="Cambria Math" panose="02040503050406030204" pitchFamily="18" charset="0"/>
                              <a:cs typeface="Arial" panose="020B0604020202020204" pitchFamily="34" charset="0"/>
                            </a:rPr>
                          </m:ctrlPr>
                        </m:fPr>
                        <m:num>
                          <m:r>
                            <m:rPr>
                              <m:nor/>
                            </m:rPr>
                            <a:rPr lang="en-US" sz="2400" b="0" i="0" dirty="0" smtClean="0">
                              <a:latin typeface="Times New Roman" panose="02020603050405020304" pitchFamily="18" charset="0"/>
                              <a:cs typeface="Times New Roman" panose="02020603050405020304" pitchFamily="18" charset="0"/>
                            </a:rPr>
                            <m:t>3</m:t>
                          </m:r>
                          <m:r>
                            <m:rPr>
                              <m:nor/>
                            </m:rPr>
                            <a:rPr lang="en-US" sz="2400" dirty="0">
                              <a:latin typeface="Times New Roman" panose="02020603050405020304" pitchFamily="18" charset="0"/>
                              <a:cs typeface="Times New Roman" panose="02020603050405020304" pitchFamily="18" charset="0"/>
                            </a:rPr>
                            <m:t>000</m:t>
                          </m:r>
                        </m:num>
                        <m:den>
                          <m:r>
                            <a:rPr lang="en-US" sz="2400" b="0" i="1" dirty="0" smtClean="0">
                              <a:latin typeface="Cambria Math" panose="02040503050406030204" pitchFamily="18" charset="0"/>
                              <a:cs typeface="Times New Roman" panose="02020603050405020304" pitchFamily="18" charset="0"/>
                            </a:rPr>
                            <m:t>10</m:t>
                          </m:r>
                          <m:r>
                            <a:rPr lang="en-US" sz="2400" i="1">
                              <a:latin typeface="Cambria Math" panose="02040503050406030204" pitchFamily="18" charset="0"/>
                              <a:cs typeface="Arial" panose="020B0604020202020204" pitchFamily="34" charset="0"/>
                            </a:rPr>
                            <m:t>2</m:t>
                          </m:r>
                          <m:r>
                            <a:rPr lang="en-US" sz="2400" b="0" i="1" smtClean="0">
                              <a:latin typeface="Cambria Math" panose="02040503050406030204" pitchFamily="18" charset="0"/>
                              <a:cs typeface="Arial" panose="020B0604020202020204" pitchFamily="34" charset="0"/>
                            </a:rPr>
                            <m:t>4</m:t>
                          </m:r>
                          <m:r>
                            <a:rPr lang="en-US" sz="2400" i="1">
                              <a:latin typeface="Cambria Math" panose="02040503050406030204" pitchFamily="18" charset="0"/>
                              <a:ea typeface="Cambria Math" panose="02040503050406030204" pitchFamily="18" charset="0"/>
                              <a:cs typeface="Arial" panose="020B0604020202020204" pitchFamily="34" charset="0"/>
                            </a:rPr>
                            <m:t>×</m:t>
                          </m:r>
                          <m:r>
                            <m:rPr>
                              <m:nor/>
                            </m:rPr>
                            <a:rPr lang="en-US" sz="2400" dirty="0">
                              <a:latin typeface="Times New Roman" panose="02020603050405020304" pitchFamily="18" charset="0"/>
                              <a:cs typeface="Times New Roman" panose="02020603050405020304" pitchFamily="18" charset="0"/>
                            </a:rPr>
                            <m:t>0.0625</m:t>
                          </m:r>
                        </m:den>
                      </m:f>
                      <m:r>
                        <a:rPr lang="en-US" sz="2400" i="1">
                          <a:latin typeface="Cambria Math" panose="02040503050406030204" pitchFamily="18" charset="0"/>
                          <a:cs typeface="Arial" panose="020B0604020202020204" pitchFamily="34" charset="0"/>
                        </a:rPr>
                        <m:t>−1=</m:t>
                      </m:r>
                      <m:r>
                        <a:rPr lang="en-US" sz="2400" b="0" i="1" smtClean="0">
                          <a:latin typeface="Cambria Math" panose="02040503050406030204" pitchFamily="18" charset="0"/>
                          <a:cs typeface="Arial" panose="020B0604020202020204" pitchFamily="34" charset="0"/>
                        </a:rPr>
                        <m:t>46</m:t>
                      </m:r>
                    </m:oMath>
                  </m:oMathPara>
                </a14:m>
                <a:endParaRPr lang="en-US" sz="24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The </a:t>
                </a:r>
                <a:r>
                  <a:rPr lang="en-US" sz="2400" b="1" dirty="0">
                    <a:solidFill>
                      <a:srgbClr val="FF0000"/>
                    </a:solidFill>
                    <a:latin typeface="Times New Roman" panose="02020603050405020304" pitchFamily="18" charset="0"/>
                    <a:cs typeface="Times New Roman" panose="02020603050405020304" pitchFamily="18" charset="0"/>
                  </a:rPr>
                  <a:t>number of loop counts </a:t>
                </a:r>
                <a:r>
                  <a:rPr lang="en-US" sz="2400" dirty="0">
                    <a:latin typeface="Times New Roman" panose="02020603050405020304" pitchFamily="18" charset="0"/>
                    <a:cs typeface="Times New Roman" panose="02020603050405020304" pitchFamily="18" charset="0"/>
                  </a:rPr>
                  <a:t>required for a 5 s (5000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 delay in each cycle for the LED ON duration = 5000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/3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 = </a:t>
                </a:r>
                <a:r>
                  <a:rPr lang="en-US" sz="2400" b="1" dirty="0">
                    <a:solidFill>
                      <a:srgbClr val="FF0000"/>
                    </a:solidFill>
                    <a:latin typeface="Times New Roman" panose="02020603050405020304" pitchFamily="18" charset="0"/>
                    <a:cs typeface="Times New Roman" panose="02020603050405020304" pitchFamily="18" charset="0"/>
                  </a:rPr>
                  <a:t>1667</a:t>
                </a:r>
                <a:r>
                  <a:rPr lang="en-US" sz="2400" dirty="0">
                    <a:latin typeface="Times New Roman" panose="02020603050405020304" pitchFamily="18" charset="0"/>
                    <a:cs typeface="Times New Roman" panose="02020603050405020304" pitchFamily="18" charset="0"/>
                  </a:rPr>
                  <a:t>. The </a:t>
                </a:r>
                <a:r>
                  <a:rPr lang="en-US" sz="2400" b="1" dirty="0">
                    <a:solidFill>
                      <a:srgbClr val="FFFF00"/>
                    </a:solidFill>
                    <a:latin typeface="Times New Roman" panose="02020603050405020304" pitchFamily="18" charset="0"/>
                    <a:cs typeface="Times New Roman" panose="02020603050405020304" pitchFamily="18" charset="0"/>
                  </a:rPr>
                  <a:t>number of loop counts </a:t>
                </a:r>
                <a:r>
                  <a:rPr lang="en-US" sz="2400" dirty="0">
                    <a:latin typeface="Times New Roman" panose="02020603050405020304" pitchFamily="18" charset="0"/>
                    <a:cs typeface="Times New Roman" panose="02020603050405020304" pitchFamily="18" charset="0"/>
                  </a:rPr>
                  <a:t>required for a 4 s (4000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 delay in each cycle for the LED OFF duration = 4000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/3 </a:t>
                </a:r>
                <a:r>
                  <a:rPr lang="en-US" sz="2400" dirty="0" err="1">
                    <a:latin typeface="Times New Roman" panose="02020603050405020304" pitchFamily="18" charset="0"/>
                    <a:cs typeface="Times New Roman" panose="02020603050405020304" pitchFamily="18" charset="0"/>
                  </a:rPr>
                  <a:t>ms</a:t>
                </a:r>
                <a:r>
                  <a:rPr lang="en-US" sz="2400" dirty="0">
                    <a:latin typeface="Times New Roman" panose="02020603050405020304" pitchFamily="18" charset="0"/>
                    <a:cs typeface="Times New Roman" panose="02020603050405020304" pitchFamily="18" charset="0"/>
                  </a:rPr>
                  <a:t> = </a:t>
                </a:r>
                <a:r>
                  <a:rPr lang="en-US" sz="2400" b="1" dirty="0">
                    <a:solidFill>
                      <a:srgbClr val="FFFF00"/>
                    </a:solidFill>
                    <a:latin typeface="Times New Roman" panose="02020603050405020304" pitchFamily="18" charset="0"/>
                    <a:cs typeface="Times New Roman" panose="02020603050405020304" pitchFamily="18" charset="0"/>
                  </a:rPr>
                  <a:t>1334</a:t>
                </a:r>
                <a:r>
                  <a:rPr lang="en-US" sz="2400" dirty="0">
                    <a:latin typeface="Times New Roman" panose="02020603050405020304" pitchFamily="18" charset="0"/>
                    <a:cs typeface="Times New Roman" panose="02020603050405020304" pitchFamily="18" charset="0"/>
                  </a:rPr>
                  <a:t>.</a:t>
                </a:r>
                <a:endParaRPr lang="en-US" sz="2400" i="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Timer0 can count up to 255 and Timer1 can count up to 65,535. Therefore, both Timer0 and Timer1 are appropriate for this application.</a:t>
                </a:r>
                <a:endParaRPr lang="en-US" sz="2400" i="1" dirty="0">
                  <a:latin typeface="Times New Roman" panose="02020603050405020304" pitchFamily="18" charset="0"/>
                  <a:cs typeface="Times New Roman" panose="02020603050405020304" pitchFamily="18" charset="0"/>
                </a:endParaRPr>
              </a:p>
            </p:txBody>
          </p:sp>
        </mc:Choice>
        <mc:Fallback xmlns="">
          <p:sp>
            <p:nvSpPr>
              <p:cNvPr id="22" name="TextBox 5">
                <a:extLst>
                  <a:ext uri="{FF2B5EF4-FFF2-40B4-BE49-F238E27FC236}">
                    <a16:creationId xmlns:a16="http://schemas.microsoft.com/office/drawing/2014/main" id="{95B4C035-70C7-5C12-B034-2000595949C6}"/>
                  </a:ext>
                </a:extLst>
              </p:cNvPr>
              <p:cNvSpPr txBox="1">
                <a:spLocks noRot="1" noChangeAspect="1" noMove="1" noResize="1" noEditPoints="1" noAdjustHandles="1" noChangeArrowheads="1" noChangeShapeType="1" noTextEdit="1"/>
              </p:cNvSpPr>
              <p:nvPr/>
            </p:nvSpPr>
            <p:spPr bwMode="auto">
              <a:xfrm>
                <a:off x="196403" y="816966"/>
                <a:ext cx="11799195" cy="5629618"/>
              </a:xfrm>
              <a:prstGeom prst="rect">
                <a:avLst/>
              </a:prstGeom>
              <a:blipFill>
                <a:blip r:embed="rId3"/>
                <a:stretch>
                  <a:fillRect l="-775" t="-866" b="-15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 name="Title 1">
            <a:extLst>
              <a:ext uri="{FF2B5EF4-FFF2-40B4-BE49-F238E27FC236}">
                <a16:creationId xmlns:a16="http://schemas.microsoft.com/office/drawing/2014/main" id="{F0B8DB3B-59C9-9172-5548-52D40DA430B5}"/>
              </a:ext>
            </a:extLst>
          </p:cNvPr>
          <p:cNvSpPr>
            <a:spLocks noGrp="1" noChangeArrowheads="1"/>
          </p:cNvSpPr>
          <p:nvPr>
            <p:ph type="title"/>
          </p:nvPr>
        </p:nvSpPr>
        <p:spPr>
          <a:xfrm>
            <a:off x="196402" y="165528"/>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2:</a:t>
            </a:r>
          </a:p>
        </p:txBody>
      </p:sp>
    </p:spTree>
    <p:extLst>
      <p:ext uri="{BB962C8B-B14F-4D97-AF65-F5344CB8AC3E}">
        <p14:creationId xmlns:p14="http://schemas.microsoft.com/office/powerpoint/2010/main" val="659081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4028C-4656-596B-7CCD-D9B7F63CB851}"/>
            </a:ext>
          </a:extLst>
        </p:cNvPr>
        <p:cNvGrpSpPr/>
        <p:nvPr/>
      </p:nvGrpSpPr>
      <p:grpSpPr>
        <a:xfrm>
          <a:off x="0" y="0"/>
          <a:ext cx="0" cy="0"/>
          <a:chOff x="0" y="0"/>
          <a:chExt cx="0" cy="0"/>
        </a:xfrm>
      </p:grpSpPr>
      <p:sp>
        <p:nvSpPr>
          <p:cNvPr id="6" name="Date Placeholder 5">
            <a:extLst>
              <a:ext uri="{FF2B5EF4-FFF2-40B4-BE49-F238E27FC236}">
                <a16:creationId xmlns:a16="http://schemas.microsoft.com/office/drawing/2014/main" id="{51F353E5-6489-7143-4154-8DC52D90D0FE}"/>
              </a:ext>
            </a:extLst>
          </p:cNvPr>
          <p:cNvSpPr>
            <a:spLocks noGrp="1"/>
          </p:cNvSpPr>
          <p:nvPr>
            <p:ph type="dt" sz="half" idx="10"/>
          </p:nvPr>
        </p:nvSpPr>
        <p:spPr/>
        <p:txBody>
          <a:bodyPr/>
          <a:lstStyle/>
          <a:p>
            <a:fld id="{17D1F163-9643-41E4-B842-57D26361CE78}" type="datetime3">
              <a:rPr lang="en-US" noProof="0" smtClean="0"/>
              <a:t>15 June 2026</a:t>
            </a:fld>
            <a:endParaRPr lang="en-US" noProof="0" dirty="0"/>
          </a:p>
        </p:txBody>
      </p:sp>
      <p:sp>
        <p:nvSpPr>
          <p:cNvPr id="7" name="Footer Placeholder 6">
            <a:extLst>
              <a:ext uri="{FF2B5EF4-FFF2-40B4-BE49-F238E27FC236}">
                <a16:creationId xmlns:a16="http://schemas.microsoft.com/office/drawing/2014/main" id="{0BB6DFAD-A427-155F-E4ED-41DCB5EC8B32}"/>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8" name="Slide Number Placeholder 7">
            <a:extLst>
              <a:ext uri="{FF2B5EF4-FFF2-40B4-BE49-F238E27FC236}">
                <a16:creationId xmlns:a16="http://schemas.microsoft.com/office/drawing/2014/main" id="{A7AE4889-D487-E84E-92C4-0F09AAEE73B4}"/>
              </a:ext>
            </a:extLst>
          </p:cNvPr>
          <p:cNvSpPr>
            <a:spLocks noGrp="1"/>
          </p:cNvSpPr>
          <p:nvPr>
            <p:ph type="sldNum" sz="quarter" idx="12"/>
          </p:nvPr>
        </p:nvSpPr>
        <p:spPr/>
        <p:txBody>
          <a:bodyPr/>
          <a:lstStyle/>
          <a:p>
            <a:fld id="{5D99DD2A-B520-4620-9B43-64B657BA2D42}" type="slidenum">
              <a:rPr lang="en-US" noProof="0" smtClean="0"/>
              <a:t>41</a:t>
            </a:fld>
            <a:endParaRPr lang="en-US" noProof="0" dirty="0"/>
          </a:p>
        </p:txBody>
      </p:sp>
      <mc:AlternateContent xmlns:mc="http://schemas.openxmlformats.org/markup-compatibility/2006" xmlns:a14="http://schemas.microsoft.com/office/drawing/2010/main">
        <mc:Choice Requires="a14">
          <p:sp>
            <p:nvSpPr>
              <p:cNvPr id="22" name="TextBox 5">
                <a:extLst>
                  <a:ext uri="{FF2B5EF4-FFF2-40B4-BE49-F238E27FC236}">
                    <a16:creationId xmlns:a16="http://schemas.microsoft.com/office/drawing/2014/main" id="{305B35F9-6F34-E351-D407-331EA50588D1}"/>
                  </a:ext>
                </a:extLst>
              </p:cNvPr>
              <p:cNvSpPr txBox="1">
                <a:spLocks noChangeArrowheads="1"/>
              </p:cNvSpPr>
              <p:nvPr/>
            </p:nvSpPr>
            <p:spPr bwMode="auto">
              <a:xfrm>
                <a:off x="196402" y="519375"/>
                <a:ext cx="11882184" cy="634212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3200" dirty="0">
                    <a:latin typeface="Times New Roman" panose="02020603050405020304" pitchFamily="18" charset="0"/>
                    <a:cs typeface="Times New Roman" panose="02020603050405020304" pitchFamily="18" charset="0"/>
                  </a:rPr>
                  <a:t>If you want to make an LED of red color blink every 4 seconds while using an Arduino system frequency of 16 MHz using a timer to generate the delay without any application of the delay() function, which timer of the Arduino Uno is suitable for your application? You may use a pre-scaler value of 1024. Write the necessary set-up function to configure the control registers required for the program.</a:t>
                </a:r>
                <a:endParaRPr lang="en-US" sz="3200" i="1" dirty="0">
                  <a:latin typeface="Times New Roman" panose="02020603050405020304" pitchFamily="18" charset="0"/>
                  <a:cs typeface="Times New Roman" panose="02020603050405020304" pitchFamily="18" charset="0"/>
                </a:endParaRPr>
              </a:p>
              <a:p>
                <a:r>
                  <a:rPr lang="en-US" sz="2400" b="1" dirty="0">
                    <a:solidFill>
                      <a:srgbClr val="FFFF00"/>
                    </a:solidFill>
                    <a:latin typeface="Times New Roman" panose="02020603050405020304" pitchFamily="18" charset="0"/>
                    <a:cs typeface="Times New Roman" panose="02020603050405020304" pitchFamily="18" charset="0"/>
                  </a:rPr>
                  <a:t>Solution:</a:t>
                </a:r>
                <a:endParaRPr lang="en-US" sz="2400" i="1"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Given system frequency = 16 MHz; So, clock period = 1/frequency = 1/16 MHz = 0.0625 </a:t>
                </a:r>
                <a:r>
                  <a:rPr lang="en-US" sz="3200" dirty="0" err="1">
                    <a:latin typeface="Symbol" panose="05050102010706020507" pitchFamily="18" charset="2"/>
                    <a:cs typeface="Times New Roman" panose="02020603050405020304" pitchFamily="18" charset="0"/>
                  </a:rPr>
                  <a:t>m</a:t>
                </a:r>
                <a:r>
                  <a:rPr lang="en-US" sz="3200" dirty="0" err="1">
                    <a:latin typeface="Times New Roman" panose="02020603050405020304" pitchFamily="18" charset="0"/>
                    <a:cs typeface="Times New Roman" panose="02020603050405020304" pitchFamily="18" charset="0"/>
                  </a:rPr>
                  <a:t>s</a:t>
                </a:r>
                <a:r>
                  <a:rPr lang="en-US" sz="3200" dirty="0">
                    <a:latin typeface="Times New Roman" panose="02020603050405020304" pitchFamily="18" charset="0"/>
                    <a:cs typeface="Times New Roman" panose="02020603050405020304" pitchFamily="18" charset="0"/>
                  </a:rPr>
                  <a:t>; Required delay = 4 s = 4000000 </a:t>
                </a:r>
                <a:r>
                  <a:rPr lang="en-US" sz="3200" dirty="0" err="1">
                    <a:latin typeface="Symbol" panose="05050102010706020507" pitchFamily="18" charset="2"/>
                    <a:cs typeface="Times New Roman" panose="02020603050405020304" pitchFamily="18" charset="0"/>
                  </a:rPr>
                  <a:t>m</a:t>
                </a:r>
                <a:r>
                  <a:rPr lang="en-US" sz="3200" dirty="0" err="1">
                    <a:latin typeface="Times New Roman" panose="02020603050405020304" pitchFamily="18" charset="0"/>
                    <a:cs typeface="Times New Roman" panose="02020603050405020304" pitchFamily="18" charset="0"/>
                  </a:rPr>
                  <a:t>s</a:t>
                </a:r>
                <a:endParaRPr lang="en-US" sz="3200" i="1"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cs typeface="Arial" panose="020B0604020202020204" pitchFamily="34" charset="0"/>
                        </a:rPr>
                        <m:t>𝑇𝑖𝑚𝑒𝑟</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𝑐𝑜𝑢𝑛𝑡</m:t>
                      </m:r>
                      <m:r>
                        <a:rPr lang="en-US" sz="2800" i="1">
                          <a:latin typeface="Cambria Math" panose="02040503050406030204" pitchFamily="18" charset="0"/>
                          <a:cs typeface="Arial" panose="020B0604020202020204" pitchFamily="34" charset="0"/>
                        </a:rPr>
                        <m:t>=</m:t>
                      </m:r>
                      <m:f>
                        <m:fPr>
                          <m:ctrlPr>
                            <a:rPr lang="en-US" sz="2800" i="1">
                              <a:latin typeface="Cambria Math" panose="02040503050406030204" pitchFamily="18" charset="0"/>
                              <a:cs typeface="Arial" panose="020B0604020202020204" pitchFamily="34" charset="0"/>
                            </a:rPr>
                          </m:ctrlPr>
                        </m:fPr>
                        <m:num>
                          <m:r>
                            <a:rPr lang="en-US" sz="2800" i="1">
                              <a:latin typeface="Cambria Math" panose="02040503050406030204" pitchFamily="18" charset="0"/>
                              <a:cs typeface="Arial" panose="020B0604020202020204" pitchFamily="34" charset="0"/>
                            </a:rPr>
                            <m:t>𝑅𝑒𝑞𝑢𝑖𝑟𝑒𝑑</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𝑑𝑒𝑙𝑎𝑦</m:t>
                          </m:r>
                        </m:num>
                        <m:den>
                          <m:r>
                            <a:rPr lang="en-US" sz="2800" i="1">
                              <a:latin typeface="Cambria Math" panose="02040503050406030204" pitchFamily="18" charset="0"/>
                              <a:cs typeface="Arial" panose="020B0604020202020204" pitchFamily="34" charset="0"/>
                            </a:rPr>
                            <m:t>𝑝𝑟𝑒𝑠𝑐𝑎𝑙𝑎𝑟</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𝑝𝑠</m:t>
                          </m:r>
                          <m:r>
                            <a:rPr lang="en-US" sz="2800" i="1">
                              <a:latin typeface="Cambria Math" panose="02040503050406030204" pitchFamily="18" charset="0"/>
                              <a:cs typeface="Arial" panose="020B0604020202020204" pitchFamily="34" charset="0"/>
                            </a:rPr>
                            <m:t>)×</m:t>
                          </m:r>
                          <m:r>
                            <a:rPr lang="en-US" sz="2800" i="1">
                              <a:latin typeface="Cambria Math" panose="02040503050406030204" pitchFamily="18" charset="0"/>
                              <a:ea typeface="Cambria Math" panose="02040503050406030204" pitchFamily="18" charset="0"/>
                              <a:cs typeface="Arial" panose="020B0604020202020204" pitchFamily="34" charset="0"/>
                            </a:rPr>
                            <m:t>𝑇</m:t>
                          </m:r>
                        </m:den>
                      </m:f>
                      <m:r>
                        <a:rPr lang="en-US" sz="2800" i="1">
                          <a:latin typeface="Cambria Math" panose="02040503050406030204" pitchFamily="18" charset="0"/>
                          <a:cs typeface="Arial" panose="020B0604020202020204" pitchFamily="34" charset="0"/>
                        </a:rPr>
                        <m:t>−1=</m:t>
                      </m:r>
                      <m:f>
                        <m:fPr>
                          <m:ctrlPr>
                            <a:rPr lang="en-US" sz="2800" i="1">
                              <a:latin typeface="Cambria Math" panose="02040503050406030204" pitchFamily="18" charset="0"/>
                              <a:cs typeface="Arial" panose="020B0604020202020204" pitchFamily="34" charset="0"/>
                            </a:rPr>
                          </m:ctrlPr>
                        </m:fPr>
                        <m:num>
                          <m:r>
                            <m:rPr>
                              <m:nor/>
                            </m:rPr>
                            <a:rPr lang="en-US" sz="2800" b="0" i="0" dirty="0" smtClean="0">
                              <a:latin typeface="Times New Roman" panose="02020603050405020304" pitchFamily="18" charset="0"/>
                              <a:cs typeface="Times New Roman" panose="02020603050405020304" pitchFamily="18" charset="0"/>
                            </a:rPr>
                            <m:t>4</m:t>
                          </m:r>
                          <m:r>
                            <m:rPr>
                              <m:nor/>
                            </m:rPr>
                            <a:rPr lang="en-US" sz="2800" dirty="0">
                              <a:latin typeface="Times New Roman" panose="02020603050405020304" pitchFamily="18" charset="0"/>
                              <a:cs typeface="Times New Roman" panose="02020603050405020304" pitchFamily="18" charset="0"/>
                            </a:rPr>
                            <m:t>000</m:t>
                          </m:r>
                          <m:r>
                            <a:rPr lang="en-US" sz="2800" b="0" i="1" dirty="0" smtClean="0">
                              <a:latin typeface="Cambria Math" panose="02040503050406030204" pitchFamily="18" charset="0"/>
                              <a:cs typeface="Times New Roman" panose="02020603050405020304" pitchFamily="18" charset="0"/>
                            </a:rPr>
                            <m:t>000</m:t>
                          </m:r>
                        </m:num>
                        <m:den>
                          <m:r>
                            <a:rPr lang="en-US" sz="2800" b="0" i="1" dirty="0" smtClean="0">
                              <a:latin typeface="Cambria Math" panose="02040503050406030204" pitchFamily="18" charset="0"/>
                              <a:cs typeface="Times New Roman" panose="02020603050405020304" pitchFamily="18" charset="0"/>
                            </a:rPr>
                            <m:t>10</m:t>
                          </m:r>
                          <m:r>
                            <a:rPr lang="en-US" sz="2800" i="1">
                              <a:latin typeface="Cambria Math" panose="02040503050406030204" pitchFamily="18" charset="0"/>
                              <a:cs typeface="Arial" panose="020B0604020202020204" pitchFamily="34" charset="0"/>
                            </a:rPr>
                            <m:t>2</m:t>
                          </m:r>
                          <m:r>
                            <a:rPr lang="en-US" sz="2800" b="0" i="1" smtClean="0">
                              <a:latin typeface="Cambria Math" panose="02040503050406030204" pitchFamily="18" charset="0"/>
                              <a:cs typeface="Arial" panose="020B0604020202020204" pitchFamily="34" charset="0"/>
                            </a:rPr>
                            <m:t>4</m:t>
                          </m:r>
                          <m:r>
                            <a:rPr lang="en-US" sz="2800" i="1">
                              <a:latin typeface="Cambria Math" panose="02040503050406030204" pitchFamily="18" charset="0"/>
                              <a:ea typeface="Cambria Math" panose="02040503050406030204" pitchFamily="18" charset="0"/>
                              <a:cs typeface="Arial" panose="020B0604020202020204" pitchFamily="34" charset="0"/>
                            </a:rPr>
                            <m:t>×</m:t>
                          </m:r>
                          <m:r>
                            <m:rPr>
                              <m:nor/>
                            </m:rPr>
                            <a:rPr lang="en-US" sz="2800" dirty="0">
                              <a:latin typeface="Times New Roman" panose="02020603050405020304" pitchFamily="18" charset="0"/>
                              <a:cs typeface="Times New Roman" panose="02020603050405020304" pitchFamily="18" charset="0"/>
                            </a:rPr>
                            <m:t>0.0625</m:t>
                          </m:r>
                        </m:den>
                      </m:f>
                      <m:r>
                        <a:rPr lang="en-US" sz="2800" i="1">
                          <a:latin typeface="Cambria Math" panose="02040503050406030204" pitchFamily="18" charset="0"/>
                          <a:cs typeface="Arial" panose="020B0604020202020204" pitchFamily="34" charset="0"/>
                        </a:rPr>
                        <m:t>−1=62499</m:t>
                      </m:r>
                    </m:oMath>
                  </m:oMathPara>
                </a14:m>
                <a:endParaRPr lang="en-US" sz="28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But Timer 0 can count up to 255 and Timer 1 can count up to 65,535; so Timer1 is suitable for this application.</a:t>
                </a:r>
              </a:p>
            </p:txBody>
          </p:sp>
        </mc:Choice>
        <mc:Fallback xmlns="">
          <p:sp>
            <p:nvSpPr>
              <p:cNvPr id="22" name="TextBox 5">
                <a:extLst>
                  <a:ext uri="{FF2B5EF4-FFF2-40B4-BE49-F238E27FC236}">
                    <a16:creationId xmlns:a16="http://schemas.microsoft.com/office/drawing/2014/main" id="{305B35F9-6F34-E351-D407-331EA50588D1}"/>
                  </a:ext>
                </a:extLst>
              </p:cNvPr>
              <p:cNvSpPr txBox="1">
                <a:spLocks noRot="1" noChangeAspect="1" noMove="1" noResize="1" noEditPoints="1" noAdjustHandles="1" noChangeArrowheads="1" noChangeShapeType="1" noTextEdit="1"/>
              </p:cNvSpPr>
              <p:nvPr/>
            </p:nvSpPr>
            <p:spPr bwMode="auto">
              <a:xfrm>
                <a:off x="196402" y="519375"/>
                <a:ext cx="11882184" cy="6342121"/>
              </a:xfrm>
              <a:prstGeom prst="rect">
                <a:avLst/>
              </a:prstGeom>
              <a:blipFill>
                <a:blip r:embed="rId3"/>
                <a:stretch>
                  <a:fillRect l="-1283" t="-1345" r="-1437" b="-115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 name="Title 1">
            <a:extLst>
              <a:ext uri="{FF2B5EF4-FFF2-40B4-BE49-F238E27FC236}">
                <a16:creationId xmlns:a16="http://schemas.microsoft.com/office/drawing/2014/main" id="{8375DB67-7AD5-B26B-766E-A6A21DBE3DA5}"/>
              </a:ext>
            </a:extLst>
          </p:cNvPr>
          <p:cNvSpPr>
            <a:spLocks noGrp="1" noChangeArrowheads="1"/>
          </p:cNvSpPr>
          <p:nvPr>
            <p:ph type="title"/>
          </p:nvPr>
        </p:nvSpPr>
        <p:spPr>
          <a:xfrm>
            <a:off x="196402" y="112363"/>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3:</a:t>
            </a:r>
          </a:p>
        </p:txBody>
      </p:sp>
    </p:spTree>
    <p:extLst>
      <p:ext uri="{BB962C8B-B14F-4D97-AF65-F5344CB8AC3E}">
        <p14:creationId xmlns:p14="http://schemas.microsoft.com/office/powerpoint/2010/main" val="1977254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2EB90-317F-53CE-0C3C-711550C87C77}"/>
            </a:ext>
          </a:extLst>
        </p:cNvPr>
        <p:cNvGrpSpPr/>
        <p:nvPr/>
      </p:nvGrpSpPr>
      <p:grpSpPr>
        <a:xfrm>
          <a:off x="0" y="0"/>
          <a:ext cx="0" cy="0"/>
          <a:chOff x="0" y="0"/>
          <a:chExt cx="0" cy="0"/>
        </a:xfrm>
      </p:grpSpPr>
      <p:sp>
        <p:nvSpPr>
          <p:cNvPr id="6" name="Date Placeholder 5">
            <a:extLst>
              <a:ext uri="{FF2B5EF4-FFF2-40B4-BE49-F238E27FC236}">
                <a16:creationId xmlns:a16="http://schemas.microsoft.com/office/drawing/2014/main" id="{1828EAC0-3496-7F70-269D-CF66C9F41435}"/>
              </a:ext>
            </a:extLst>
          </p:cNvPr>
          <p:cNvSpPr>
            <a:spLocks noGrp="1"/>
          </p:cNvSpPr>
          <p:nvPr>
            <p:ph type="dt" sz="half" idx="10"/>
          </p:nvPr>
        </p:nvSpPr>
        <p:spPr/>
        <p:txBody>
          <a:bodyPr/>
          <a:lstStyle/>
          <a:p>
            <a:fld id="{17D1F163-9643-41E4-B842-57D26361CE78}" type="datetime3">
              <a:rPr lang="en-US" noProof="0" smtClean="0"/>
              <a:t>15 June 2026</a:t>
            </a:fld>
            <a:endParaRPr lang="en-US" noProof="0" dirty="0"/>
          </a:p>
        </p:txBody>
      </p:sp>
      <p:sp>
        <p:nvSpPr>
          <p:cNvPr id="7" name="Footer Placeholder 6">
            <a:extLst>
              <a:ext uri="{FF2B5EF4-FFF2-40B4-BE49-F238E27FC236}">
                <a16:creationId xmlns:a16="http://schemas.microsoft.com/office/drawing/2014/main" id="{017543E3-DD7F-EE3B-D0DA-CC4347ADB47D}"/>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8" name="Slide Number Placeholder 7">
            <a:extLst>
              <a:ext uri="{FF2B5EF4-FFF2-40B4-BE49-F238E27FC236}">
                <a16:creationId xmlns:a16="http://schemas.microsoft.com/office/drawing/2014/main" id="{84865169-073F-F56D-618C-7A2D68102364}"/>
              </a:ext>
            </a:extLst>
          </p:cNvPr>
          <p:cNvSpPr>
            <a:spLocks noGrp="1"/>
          </p:cNvSpPr>
          <p:nvPr>
            <p:ph type="sldNum" sz="quarter" idx="12"/>
          </p:nvPr>
        </p:nvSpPr>
        <p:spPr/>
        <p:txBody>
          <a:bodyPr/>
          <a:lstStyle/>
          <a:p>
            <a:fld id="{5D99DD2A-B520-4620-9B43-64B657BA2D42}" type="slidenum">
              <a:rPr lang="en-US" noProof="0" smtClean="0"/>
              <a:t>42</a:t>
            </a:fld>
            <a:endParaRPr lang="en-US" noProof="0" dirty="0"/>
          </a:p>
        </p:txBody>
      </p:sp>
      <p:sp>
        <p:nvSpPr>
          <p:cNvPr id="22" name="TextBox 5">
            <a:extLst>
              <a:ext uri="{FF2B5EF4-FFF2-40B4-BE49-F238E27FC236}">
                <a16:creationId xmlns:a16="http://schemas.microsoft.com/office/drawing/2014/main" id="{D17475FE-3B35-347B-163D-1C59F5A4F982}"/>
              </a:ext>
            </a:extLst>
          </p:cNvPr>
          <p:cNvSpPr txBox="1">
            <a:spLocks noChangeArrowheads="1"/>
          </p:cNvSpPr>
          <p:nvPr/>
        </p:nvSpPr>
        <p:spPr bwMode="auto">
          <a:xfrm>
            <a:off x="196402" y="756927"/>
            <a:ext cx="1179919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2400" dirty="0"/>
              <a:t>void setup() {</a:t>
            </a:r>
          </a:p>
          <a:p>
            <a:r>
              <a:rPr lang="en-US" sz="2400" dirty="0"/>
              <a:t>    </a:t>
            </a:r>
          </a:p>
          <a:p>
            <a:r>
              <a:rPr lang="en-US" sz="2400" dirty="0"/>
              <a:t>    </a:t>
            </a:r>
            <a:r>
              <a:rPr lang="en-US" sz="2400" dirty="0" err="1"/>
              <a:t>pinMode</a:t>
            </a:r>
            <a:r>
              <a:rPr lang="en-US" sz="2400" dirty="0"/>
              <a:t>(REDLED_PIN, OUTPUT); </a:t>
            </a:r>
          </a:p>
          <a:p>
            <a:r>
              <a:rPr lang="en-US" sz="2400" dirty="0"/>
              <a:t>        </a:t>
            </a:r>
          </a:p>
          <a:p>
            <a:r>
              <a:rPr lang="en-US" sz="2400" dirty="0"/>
              <a:t>    TCCR1A = 0x00;  // Since Timer1 is used, so control registers of Timer1</a:t>
            </a:r>
          </a:p>
          <a:p>
            <a:r>
              <a:rPr lang="en-US" sz="2400" dirty="0"/>
              <a:t>    TCCR1B = 0x05;  // are used in this program instead of registers of Timer0.</a:t>
            </a:r>
          </a:p>
          <a:p>
            <a:r>
              <a:rPr lang="en-US" sz="2400" dirty="0"/>
              <a:t>    TCNT1 = 0x0000;  // Timer1 must be initialized, first.</a:t>
            </a:r>
          </a:p>
          <a:p>
            <a:r>
              <a:rPr lang="en-US" sz="2400" dirty="0"/>
              <a:t>}</a:t>
            </a:r>
            <a:endParaRPr lang="en-US" sz="2400" i="1" dirty="0"/>
          </a:p>
        </p:txBody>
      </p:sp>
      <p:sp>
        <p:nvSpPr>
          <p:cNvPr id="4" name="Title 1">
            <a:extLst>
              <a:ext uri="{FF2B5EF4-FFF2-40B4-BE49-F238E27FC236}">
                <a16:creationId xmlns:a16="http://schemas.microsoft.com/office/drawing/2014/main" id="{87FE688B-4F6A-C3E9-83A9-FCBF14A42A6C}"/>
              </a:ext>
            </a:extLst>
          </p:cNvPr>
          <p:cNvSpPr>
            <a:spLocks noGrp="1" noChangeArrowheads="1"/>
          </p:cNvSpPr>
          <p:nvPr>
            <p:ph type="title"/>
          </p:nvPr>
        </p:nvSpPr>
        <p:spPr>
          <a:xfrm>
            <a:off x="196402" y="165528"/>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3:</a:t>
            </a:r>
          </a:p>
        </p:txBody>
      </p:sp>
    </p:spTree>
    <p:extLst>
      <p:ext uri="{BB962C8B-B14F-4D97-AF65-F5344CB8AC3E}">
        <p14:creationId xmlns:p14="http://schemas.microsoft.com/office/powerpoint/2010/main" val="2469336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54FB-056F-66CF-F1BA-B46FF8F9ECC5}"/>
            </a:ext>
          </a:extLst>
        </p:cNvPr>
        <p:cNvGrpSpPr/>
        <p:nvPr/>
      </p:nvGrpSpPr>
      <p:grpSpPr>
        <a:xfrm>
          <a:off x="0" y="0"/>
          <a:ext cx="0" cy="0"/>
          <a:chOff x="0" y="0"/>
          <a:chExt cx="0" cy="0"/>
        </a:xfrm>
      </p:grpSpPr>
      <p:sp>
        <p:nvSpPr>
          <p:cNvPr id="6" name="Date Placeholder 5">
            <a:extLst>
              <a:ext uri="{FF2B5EF4-FFF2-40B4-BE49-F238E27FC236}">
                <a16:creationId xmlns:a16="http://schemas.microsoft.com/office/drawing/2014/main" id="{A0C1C661-AD84-885B-A119-535C145FD25A}"/>
              </a:ext>
            </a:extLst>
          </p:cNvPr>
          <p:cNvSpPr>
            <a:spLocks noGrp="1"/>
          </p:cNvSpPr>
          <p:nvPr>
            <p:ph type="dt" sz="half" idx="10"/>
          </p:nvPr>
        </p:nvSpPr>
        <p:spPr/>
        <p:txBody>
          <a:bodyPr/>
          <a:lstStyle/>
          <a:p>
            <a:fld id="{17D1F163-9643-41E4-B842-57D26361CE78}" type="datetime3">
              <a:rPr lang="en-US" noProof="0" smtClean="0"/>
              <a:t>15 June 2026</a:t>
            </a:fld>
            <a:endParaRPr lang="en-US" noProof="0" dirty="0"/>
          </a:p>
        </p:txBody>
      </p:sp>
      <p:sp>
        <p:nvSpPr>
          <p:cNvPr id="7" name="Footer Placeholder 6">
            <a:extLst>
              <a:ext uri="{FF2B5EF4-FFF2-40B4-BE49-F238E27FC236}">
                <a16:creationId xmlns:a16="http://schemas.microsoft.com/office/drawing/2014/main" id="{B11E2EC0-5A79-CCBC-F230-A8143DF671F8}"/>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8" name="Slide Number Placeholder 7">
            <a:extLst>
              <a:ext uri="{FF2B5EF4-FFF2-40B4-BE49-F238E27FC236}">
                <a16:creationId xmlns:a16="http://schemas.microsoft.com/office/drawing/2014/main" id="{0DC3D4A1-402A-F116-EFCE-8958EB06947E}"/>
              </a:ext>
            </a:extLst>
          </p:cNvPr>
          <p:cNvSpPr>
            <a:spLocks noGrp="1"/>
          </p:cNvSpPr>
          <p:nvPr>
            <p:ph type="sldNum" sz="quarter" idx="12"/>
          </p:nvPr>
        </p:nvSpPr>
        <p:spPr/>
        <p:txBody>
          <a:bodyPr/>
          <a:lstStyle/>
          <a:p>
            <a:fld id="{5D99DD2A-B520-4620-9B43-64B657BA2D42}" type="slidenum">
              <a:rPr lang="en-US" noProof="0" smtClean="0"/>
              <a:t>43</a:t>
            </a:fld>
            <a:endParaRPr lang="en-US" noProof="0" dirty="0"/>
          </a:p>
        </p:txBody>
      </p:sp>
      <p:sp>
        <p:nvSpPr>
          <p:cNvPr id="22" name="TextBox 5">
            <a:extLst>
              <a:ext uri="{FF2B5EF4-FFF2-40B4-BE49-F238E27FC236}">
                <a16:creationId xmlns:a16="http://schemas.microsoft.com/office/drawing/2014/main" id="{2303B0D9-E440-4AF2-FCC3-A4FA1220329A}"/>
              </a:ext>
            </a:extLst>
          </p:cNvPr>
          <p:cNvSpPr txBox="1">
            <a:spLocks noChangeArrowheads="1"/>
          </p:cNvSpPr>
          <p:nvPr/>
        </p:nvSpPr>
        <p:spPr bwMode="auto">
          <a:xfrm>
            <a:off x="196402" y="519375"/>
            <a:ext cx="11882184" cy="5906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a:lnSpc>
                <a:spcPct val="90000"/>
              </a:lnSpc>
              <a:spcAft>
                <a:spcPts val="600"/>
              </a:spcAft>
            </a:pPr>
            <a:r>
              <a:rPr lang="en-US" sz="3200" dirty="0">
                <a:latin typeface="Times New Roman" panose="02020603050405020304" pitchFamily="18" charset="0"/>
                <a:cs typeface="Times New Roman" panose="02020603050405020304" pitchFamily="18" charset="0"/>
              </a:rPr>
              <a:t>Determine the outputs of the program and correct the program if there are any errors. Assume that a red color LED is connected to pin 10 and the Arduino frequency is 16 </a:t>
            </a:r>
            <a:r>
              <a:rPr lang="en-US" sz="3200" dirty="0" err="1">
                <a:latin typeface="Times New Roman" panose="02020603050405020304" pitchFamily="18" charset="0"/>
                <a:cs typeface="Times New Roman" panose="02020603050405020304" pitchFamily="18" charset="0"/>
              </a:rPr>
              <a:t>MHz.</a:t>
            </a:r>
            <a:r>
              <a:rPr lang="en-US" sz="3200" dirty="0">
                <a:latin typeface="Times New Roman" panose="02020603050405020304" pitchFamily="18" charset="0"/>
                <a:cs typeface="Times New Roman" panose="02020603050405020304" pitchFamily="18" charset="0"/>
              </a:rPr>
              <a:t> Compute the number of counts required for a 2 </a:t>
            </a:r>
            <a:r>
              <a:rPr lang="en-US" sz="3200" dirty="0" err="1">
                <a:latin typeface="Times New Roman" panose="02020603050405020304" pitchFamily="18" charset="0"/>
                <a:cs typeface="Times New Roman" panose="02020603050405020304" pitchFamily="18" charset="0"/>
              </a:rPr>
              <a:t>ms</a:t>
            </a:r>
            <a:r>
              <a:rPr lang="en-US" sz="3200" dirty="0">
                <a:latin typeface="Times New Roman" panose="02020603050405020304" pitchFamily="18" charset="0"/>
                <a:cs typeface="Times New Roman" panose="02020603050405020304" pitchFamily="18" charset="0"/>
              </a:rPr>
              <a:t> delay in each cycle for the given delay. Compute the number of times the </a:t>
            </a:r>
            <a:r>
              <a:rPr lang="en-US" sz="3200" dirty="0" err="1">
                <a:latin typeface="Times New Roman" panose="02020603050405020304" pitchFamily="18" charset="0"/>
                <a:cs typeface="Times New Roman" panose="02020603050405020304" pitchFamily="18" charset="0"/>
              </a:rPr>
              <a:t>while_true</a:t>
            </a:r>
            <a:r>
              <a:rPr lang="en-US" sz="3200" dirty="0">
                <a:latin typeface="Times New Roman" panose="02020603050405020304" pitchFamily="18" charset="0"/>
                <a:cs typeface="Times New Roman" panose="02020603050405020304" pitchFamily="18" charset="0"/>
              </a:rPr>
              <a:t> loop will run to execute the delays of LED ON/OFF times. Use a pre-scaler value of 1024.</a:t>
            </a:r>
            <a:endParaRPr lang="en-US" sz="3200" i="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#define YELLOW_PIN 10</a:t>
            </a:r>
          </a:p>
          <a:p>
            <a:r>
              <a:rPr lang="en-US" sz="2000" dirty="0">
                <a:latin typeface="Times New Roman" panose="02020603050405020304" pitchFamily="18" charset="0"/>
                <a:cs typeface="Times New Roman" panose="02020603050405020304" pitchFamily="18" charset="0"/>
              </a:rPr>
              <a:t>int </a:t>
            </a:r>
            <a:r>
              <a:rPr lang="en-US" sz="2000" dirty="0" err="1">
                <a:latin typeface="Times New Roman" panose="02020603050405020304" pitchFamily="18" charset="0"/>
                <a:cs typeface="Times New Roman" panose="02020603050405020304" pitchFamily="18" charset="0"/>
              </a:rPr>
              <a:t>red_on</a:t>
            </a:r>
            <a:r>
              <a:rPr lang="en-US" sz="2000" dirty="0">
                <a:latin typeface="Times New Roman" panose="02020603050405020304" pitchFamily="18" charset="0"/>
                <a:cs typeface="Times New Roman" panose="02020603050405020304" pitchFamily="18" charset="0"/>
              </a:rPr>
              <a:t> = 2000; // delay is given in </a:t>
            </a:r>
            <a:r>
              <a:rPr lang="en-US" sz="2000" dirty="0" err="1">
                <a:latin typeface="Times New Roman" panose="02020603050405020304" pitchFamily="18" charset="0"/>
                <a:cs typeface="Times New Roman" panose="02020603050405020304" pitchFamily="18" charset="0"/>
              </a:rPr>
              <a:t>ms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int </a:t>
            </a:r>
            <a:r>
              <a:rPr lang="en-US" sz="2000" dirty="0" err="1">
                <a:latin typeface="Times New Roman" panose="02020603050405020304" pitchFamily="18" charset="0"/>
                <a:cs typeface="Times New Roman" panose="02020603050405020304" pitchFamily="18" charset="0"/>
              </a:rPr>
              <a:t>red_off</a:t>
            </a:r>
            <a:r>
              <a:rPr lang="en-US" sz="2000" dirty="0">
                <a:latin typeface="Times New Roman" panose="02020603050405020304" pitchFamily="18" charset="0"/>
                <a:cs typeface="Times New Roman" panose="02020603050405020304" pitchFamily="18" charset="0"/>
              </a:rPr>
              <a:t> = 1000; // delay is given in </a:t>
            </a:r>
            <a:r>
              <a:rPr lang="en-US" sz="2000" dirty="0" err="1">
                <a:latin typeface="Times New Roman" panose="02020603050405020304" pitchFamily="18" charset="0"/>
                <a:cs typeface="Times New Roman" panose="02020603050405020304" pitchFamily="18" charset="0"/>
              </a:rPr>
              <a:t>ms</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int </a:t>
            </a:r>
            <a:r>
              <a:rPr lang="en-US" sz="2000" dirty="0" err="1">
                <a:latin typeface="Times New Roman" panose="02020603050405020304" pitchFamily="18" charset="0"/>
                <a:cs typeface="Times New Roman" panose="02020603050405020304" pitchFamily="18" charset="0"/>
              </a:rPr>
              <a:t>delay_timer</a:t>
            </a:r>
            <a:r>
              <a:rPr lang="en-US" sz="2000" dirty="0">
                <a:latin typeface="Times New Roman" panose="02020603050405020304" pitchFamily="18" charset="0"/>
                <a:cs typeface="Times New Roman" panose="02020603050405020304" pitchFamily="18" charset="0"/>
              </a:rPr>
              <a:t> (int milliseconds){</a:t>
            </a:r>
          </a:p>
          <a:p>
            <a:r>
              <a:rPr lang="en-US" sz="2000" dirty="0">
                <a:latin typeface="Times New Roman" panose="02020603050405020304" pitchFamily="18" charset="0"/>
                <a:cs typeface="Times New Roman" panose="02020603050405020304" pitchFamily="18" charset="0"/>
              </a:rPr>
              <a:t>  int count = 0;</a:t>
            </a:r>
          </a:p>
          <a:p>
            <a:r>
              <a:rPr lang="en-US" sz="2000" dirty="0">
                <a:latin typeface="Times New Roman" panose="02020603050405020304" pitchFamily="18" charset="0"/>
                <a:cs typeface="Times New Roman" panose="02020603050405020304" pitchFamily="18" charset="0"/>
              </a:rPr>
              <a:t>  while(1) {</a:t>
            </a:r>
          </a:p>
          <a:p>
            <a:r>
              <a:rPr lang="en-US" sz="2000" dirty="0">
                <a:latin typeface="Times New Roman" panose="02020603050405020304" pitchFamily="18" charset="0"/>
                <a:cs typeface="Times New Roman" panose="02020603050405020304" pitchFamily="18" charset="0"/>
              </a:rPr>
              <a:t>    if(TCNT1 &gt;= 16) {</a:t>
            </a:r>
          </a:p>
          <a:p>
            <a:r>
              <a:rPr lang="en-US" sz="2000" dirty="0">
                <a:latin typeface="Times New Roman" panose="02020603050405020304" pitchFamily="18" charset="0"/>
                <a:cs typeface="Times New Roman" panose="02020603050405020304" pitchFamily="18" charset="0"/>
              </a:rPr>
              <a:t>        TCNT1=0;</a:t>
            </a:r>
          </a:p>
          <a:p>
            <a:r>
              <a:rPr lang="en-US" sz="2000" dirty="0">
                <a:latin typeface="Times New Roman" panose="02020603050405020304" pitchFamily="18" charset="0"/>
                <a:cs typeface="Times New Roman" panose="02020603050405020304" pitchFamily="18" charset="0"/>
              </a:rPr>
              <a:t>        count++; </a:t>
            </a:r>
          </a:p>
        </p:txBody>
      </p:sp>
      <p:sp>
        <p:nvSpPr>
          <p:cNvPr id="4" name="Title 1">
            <a:extLst>
              <a:ext uri="{FF2B5EF4-FFF2-40B4-BE49-F238E27FC236}">
                <a16:creationId xmlns:a16="http://schemas.microsoft.com/office/drawing/2014/main" id="{5E10943C-82CC-3270-1801-2219E8D94769}"/>
              </a:ext>
            </a:extLst>
          </p:cNvPr>
          <p:cNvSpPr>
            <a:spLocks noGrp="1" noChangeArrowheads="1"/>
          </p:cNvSpPr>
          <p:nvPr>
            <p:ph type="title"/>
          </p:nvPr>
        </p:nvSpPr>
        <p:spPr>
          <a:xfrm>
            <a:off x="196402" y="112363"/>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4:</a:t>
            </a:r>
          </a:p>
        </p:txBody>
      </p:sp>
      <p:graphicFrame>
        <p:nvGraphicFramePr>
          <p:cNvPr id="2" name="Table 1">
            <a:extLst>
              <a:ext uri="{FF2B5EF4-FFF2-40B4-BE49-F238E27FC236}">
                <a16:creationId xmlns:a16="http://schemas.microsoft.com/office/drawing/2014/main" id="{7A7EBED1-20B9-B889-50A7-279370B131C0}"/>
              </a:ext>
            </a:extLst>
          </p:cNvPr>
          <p:cNvGraphicFramePr>
            <a:graphicFrameLocks noGrp="1"/>
          </p:cNvGraphicFramePr>
          <p:nvPr>
            <p:extLst>
              <p:ext uri="{D42A27DB-BD31-4B8C-83A1-F6EECF244321}">
                <p14:modId xmlns:p14="http://schemas.microsoft.com/office/powerpoint/2010/main" val="1601010418"/>
              </p:ext>
            </p:extLst>
          </p:nvPr>
        </p:nvGraphicFramePr>
        <p:xfrm>
          <a:off x="6539024" y="3955309"/>
          <a:ext cx="5477842" cy="2989255"/>
        </p:xfrm>
        <a:graphic>
          <a:graphicData uri="http://schemas.openxmlformats.org/drawingml/2006/table">
            <a:tbl>
              <a:tblPr firstRow="1" firstCol="1" bandRow="1">
                <a:tableStyleId>{F5AB1C69-6EDB-4FF4-983F-18BD219EF322}</a:tableStyleId>
              </a:tblPr>
              <a:tblGrid>
                <a:gridCol w="1309434">
                  <a:extLst>
                    <a:ext uri="{9D8B030D-6E8A-4147-A177-3AD203B41FA5}">
                      <a16:colId xmlns:a16="http://schemas.microsoft.com/office/drawing/2014/main" val="1273039510"/>
                    </a:ext>
                  </a:extLst>
                </a:gridCol>
                <a:gridCol w="1309434">
                  <a:extLst>
                    <a:ext uri="{9D8B030D-6E8A-4147-A177-3AD203B41FA5}">
                      <a16:colId xmlns:a16="http://schemas.microsoft.com/office/drawing/2014/main" val="1481916957"/>
                    </a:ext>
                  </a:extLst>
                </a:gridCol>
                <a:gridCol w="1309434">
                  <a:extLst>
                    <a:ext uri="{9D8B030D-6E8A-4147-A177-3AD203B41FA5}">
                      <a16:colId xmlns:a16="http://schemas.microsoft.com/office/drawing/2014/main" val="636201972"/>
                    </a:ext>
                  </a:extLst>
                </a:gridCol>
                <a:gridCol w="1549540">
                  <a:extLst>
                    <a:ext uri="{9D8B030D-6E8A-4147-A177-3AD203B41FA5}">
                      <a16:colId xmlns:a16="http://schemas.microsoft.com/office/drawing/2014/main" val="1362735943"/>
                    </a:ext>
                  </a:extLst>
                </a:gridCol>
              </a:tblGrid>
              <a:tr h="397640">
                <a:tc>
                  <a:txBody>
                    <a:bodyPr/>
                    <a:lstStyle/>
                    <a:p>
                      <a:pPr marL="0" marR="0" algn="ctr">
                        <a:buNone/>
                        <a:tabLst>
                          <a:tab pos="3429000" algn="ctr"/>
                          <a:tab pos="6191250" algn="l"/>
                        </a:tabLst>
                      </a:pPr>
                      <a:r>
                        <a:rPr lang="en-US" sz="2800">
                          <a:effectLst/>
                          <a:latin typeface="Georgia Pro Cond" panose="020F0502020204030204" pitchFamily="18" charset="0"/>
                        </a:rPr>
                        <a:t>CSx2</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pt-BR" sz="2800" dirty="0">
                          <a:effectLst/>
                          <a:latin typeface="Georgia Pro Cond" panose="020F0502020204030204" pitchFamily="18" charset="0"/>
                        </a:rPr>
                        <a:t>CSx1</a:t>
                      </a:r>
                      <a:endParaRPr lang="en-US" sz="4400" dirty="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pt-BR" sz="2800">
                          <a:effectLst/>
                          <a:latin typeface="Georgia Pro Cond" panose="020F0502020204030204" pitchFamily="18" charset="0"/>
                        </a:rPr>
                        <a:t>CSx0</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pt-BR" sz="2800">
                          <a:effectLst/>
                          <a:latin typeface="Georgia Pro Cond" panose="020F0502020204030204" pitchFamily="18" charset="0"/>
                        </a:rPr>
                        <a:t>Prescaler</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2563860679"/>
                  </a:ext>
                </a:extLst>
              </a:tr>
              <a:tr h="397640">
                <a:tc>
                  <a:txBody>
                    <a:bodyPr/>
                    <a:lstStyle/>
                    <a:p>
                      <a:pPr marL="0" marR="0" algn="ctr">
                        <a:buNone/>
                        <a:tabLst>
                          <a:tab pos="3429000" algn="ctr"/>
                          <a:tab pos="6191250" algn="l"/>
                        </a:tabLst>
                      </a:pPr>
                      <a:r>
                        <a:rPr lang="pt-BR" sz="2800">
                          <a:effectLst/>
                          <a:latin typeface="Georgia Pro Cond" panose="020F0502020204030204" pitchFamily="18" charset="0"/>
                        </a:rPr>
                        <a:t>0</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pt-BR" sz="2800">
                          <a:effectLst/>
                          <a:latin typeface="Georgia Pro Cond" panose="020F0502020204030204" pitchFamily="18" charset="0"/>
                        </a:rPr>
                        <a:t>0</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pt-BR" sz="2800">
                          <a:effectLst/>
                          <a:latin typeface="Georgia Pro Cond" panose="020F0502020204030204" pitchFamily="18" charset="0"/>
                        </a:rPr>
                        <a:t>1</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pt-BR" sz="2800">
                          <a:effectLst/>
                          <a:latin typeface="Georgia Pro Cond" panose="020F0502020204030204" pitchFamily="18" charset="0"/>
                        </a:rPr>
                        <a:t>1</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1276937445"/>
                  </a:ext>
                </a:extLst>
              </a:tr>
              <a:tr h="397640">
                <a:tc>
                  <a:txBody>
                    <a:bodyPr/>
                    <a:lstStyle/>
                    <a:p>
                      <a:pPr marL="0" marR="0" algn="ctr">
                        <a:buNone/>
                        <a:tabLst>
                          <a:tab pos="3429000" algn="ctr"/>
                          <a:tab pos="6191250" algn="l"/>
                        </a:tabLst>
                      </a:pPr>
                      <a:r>
                        <a:rPr lang="pt-BR" sz="2800">
                          <a:effectLst/>
                          <a:latin typeface="Georgia Pro Cond" panose="020F0502020204030204" pitchFamily="18" charset="0"/>
                        </a:rPr>
                        <a:t>0</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pt-BR" sz="2800">
                          <a:effectLst/>
                          <a:latin typeface="Georgia Pro Cond" panose="020F0502020204030204" pitchFamily="18" charset="0"/>
                        </a:rPr>
                        <a:t>1</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pt-BR" sz="2800">
                          <a:effectLst/>
                          <a:latin typeface="Georgia Pro Cond" panose="020F0502020204030204" pitchFamily="18" charset="0"/>
                        </a:rPr>
                        <a:t>0</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pt-BR" sz="2800">
                          <a:effectLst/>
                          <a:latin typeface="Georgia Pro Cond" panose="020F0502020204030204" pitchFamily="18" charset="0"/>
                        </a:rPr>
                        <a:t>8</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320068712"/>
                  </a:ext>
                </a:extLst>
              </a:tr>
              <a:tr h="397640">
                <a:tc>
                  <a:txBody>
                    <a:bodyPr/>
                    <a:lstStyle/>
                    <a:p>
                      <a:pPr marL="0" marR="0" algn="ctr">
                        <a:buNone/>
                        <a:tabLst>
                          <a:tab pos="3429000" algn="ctr"/>
                          <a:tab pos="6191250" algn="l"/>
                        </a:tabLst>
                      </a:pPr>
                      <a:r>
                        <a:rPr lang="pt-BR" sz="2800">
                          <a:effectLst/>
                          <a:latin typeface="Georgia Pro Cond" panose="020F0502020204030204" pitchFamily="18" charset="0"/>
                        </a:rPr>
                        <a:t>0</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pt-BR" sz="2800">
                          <a:effectLst/>
                          <a:latin typeface="Georgia Pro Cond" panose="020F0502020204030204" pitchFamily="18" charset="0"/>
                        </a:rPr>
                        <a:t>1</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pt-BR" sz="2800">
                          <a:effectLst/>
                          <a:latin typeface="Georgia Pro Cond" panose="020F0502020204030204" pitchFamily="18" charset="0"/>
                        </a:rPr>
                        <a:t>1</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pt-BR" sz="2800">
                          <a:effectLst/>
                          <a:latin typeface="Georgia Pro Cond" panose="020F0502020204030204" pitchFamily="18" charset="0"/>
                        </a:rPr>
                        <a:t>64</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2950969352"/>
                  </a:ext>
                </a:extLst>
              </a:tr>
              <a:tr h="397640">
                <a:tc>
                  <a:txBody>
                    <a:bodyPr/>
                    <a:lstStyle/>
                    <a:p>
                      <a:pPr marL="0" marR="0" algn="ctr">
                        <a:buNone/>
                        <a:tabLst>
                          <a:tab pos="3429000" algn="ctr"/>
                          <a:tab pos="6191250" algn="l"/>
                        </a:tabLst>
                      </a:pPr>
                      <a:r>
                        <a:rPr lang="pt-BR" sz="2800">
                          <a:effectLst/>
                          <a:latin typeface="Georgia Pro Cond" panose="020F0502020204030204" pitchFamily="18" charset="0"/>
                        </a:rPr>
                        <a:t>1</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pt-BR" sz="2800">
                          <a:effectLst/>
                          <a:latin typeface="Georgia Pro Cond" panose="020F0502020204030204" pitchFamily="18" charset="0"/>
                        </a:rPr>
                        <a:t>0</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pt-BR" sz="2800">
                          <a:effectLst/>
                          <a:latin typeface="Georgia Pro Cond" panose="020F0502020204030204" pitchFamily="18" charset="0"/>
                        </a:rPr>
                        <a:t>0</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pt-BR" sz="2800">
                          <a:effectLst/>
                          <a:latin typeface="Georgia Pro Cond" panose="020F0502020204030204" pitchFamily="18" charset="0"/>
                        </a:rPr>
                        <a:t>256</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3879406611"/>
                  </a:ext>
                </a:extLst>
              </a:tr>
              <a:tr h="428935">
                <a:tc>
                  <a:txBody>
                    <a:bodyPr/>
                    <a:lstStyle/>
                    <a:p>
                      <a:pPr marL="0" marR="0" algn="ctr">
                        <a:buNone/>
                        <a:tabLst>
                          <a:tab pos="3429000" algn="ctr"/>
                          <a:tab pos="6191250" algn="l"/>
                        </a:tabLst>
                      </a:pPr>
                      <a:r>
                        <a:rPr lang="pt-BR" sz="2800">
                          <a:effectLst/>
                          <a:latin typeface="Georgia Pro Cond" panose="020F0502020204030204" pitchFamily="18" charset="0"/>
                        </a:rPr>
                        <a:t>1</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pt-BR" sz="2800">
                          <a:effectLst/>
                          <a:latin typeface="Georgia Pro Cond" panose="020F0502020204030204" pitchFamily="18" charset="0"/>
                        </a:rPr>
                        <a:t>0</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pt-BR" sz="2800">
                          <a:effectLst/>
                          <a:latin typeface="Georgia Pro Cond" panose="020F0502020204030204" pitchFamily="18" charset="0"/>
                        </a:rPr>
                        <a:t>1</a:t>
                      </a:r>
                      <a:endParaRPr lang="en-US" sz="440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tc>
                  <a:txBody>
                    <a:bodyPr/>
                    <a:lstStyle/>
                    <a:p>
                      <a:pPr marL="0" marR="0" algn="ctr">
                        <a:buNone/>
                        <a:tabLst>
                          <a:tab pos="3429000" algn="ctr"/>
                          <a:tab pos="6191250" algn="l"/>
                        </a:tabLst>
                      </a:pPr>
                      <a:r>
                        <a:rPr lang="pt-BR" sz="2800" dirty="0">
                          <a:effectLst/>
                          <a:latin typeface="Georgia Pro Cond" panose="020F0502020204030204" pitchFamily="18" charset="0"/>
                        </a:rPr>
                        <a:t>1024</a:t>
                      </a:r>
                      <a:endParaRPr lang="en-US" sz="4400" dirty="0">
                        <a:effectLst/>
                        <a:latin typeface="Georgia Pro Cond" panose="020F0502020204030204" pitchFamily="18" charset="0"/>
                        <a:ea typeface="Times New Roman" panose="02020603050405020304" pitchFamily="18" charset="0"/>
                        <a:cs typeface="Angsana New" panose="02020603050405020304" pitchFamily="18" charset="-34"/>
                      </a:endParaRPr>
                    </a:p>
                  </a:txBody>
                  <a:tcPr marL="68580" marR="68580" marT="0" marB="0" anchor="ctr"/>
                </a:tc>
                <a:extLst>
                  <a:ext uri="{0D108BD9-81ED-4DB2-BD59-A6C34878D82A}">
                    <a16:rowId xmlns:a16="http://schemas.microsoft.com/office/drawing/2014/main" val="1810694946"/>
                  </a:ext>
                </a:extLst>
              </a:tr>
            </a:tbl>
          </a:graphicData>
        </a:graphic>
      </p:graphicFrame>
      <p:sp>
        <p:nvSpPr>
          <p:cNvPr id="3" name="Rectangle 2">
            <a:extLst>
              <a:ext uri="{FF2B5EF4-FFF2-40B4-BE49-F238E27FC236}">
                <a16:creationId xmlns:a16="http://schemas.microsoft.com/office/drawing/2014/main" id="{6A100788-3294-E868-D2B5-204AF963D560}"/>
              </a:ext>
            </a:extLst>
          </p:cNvPr>
          <p:cNvSpPr/>
          <p:nvPr/>
        </p:nvSpPr>
        <p:spPr>
          <a:xfrm>
            <a:off x="6947030" y="6111342"/>
            <a:ext cx="4748784" cy="382210"/>
          </a:xfrm>
          <a:prstGeom prst="rect">
            <a:avLst/>
          </a:prstGeom>
          <a:noFill/>
          <a:ln w="381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33">
              <a:ln>
                <a:solidFill>
                  <a:srgbClr val="00B050"/>
                </a:solidFill>
              </a:ln>
              <a:solidFill>
                <a:srgbClr val="00B050"/>
              </a:solidFill>
            </a:endParaRPr>
          </a:p>
        </p:txBody>
      </p:sp>
    </p:spTree>
    <p:extLst>
      <p:ext uri="{BB962C8B-B14F-4D97-AF65-F5344CB8AC3E}">
        <p14:creationId xmlns:p14="http://schemas.microsoft.com/office/powerpoint/2010/main" val="3927380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heel(1)">
                                      <p:cBhvr>
                                        <p:cTn id="1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F6FAC-C14A-0718-0A2B-BD248FB5CBEC}"/>
            </a:ext>
          </a:extLst>
        </p:cNvPr>
        <p:cNvGrpSpPr/>
        <p:nvPr/>
      </p:nvGrpSpPr>
      <p:grpSpPr>
        <a:xfrm>
          <a:off x="0" y="0"/>
          <a:ext cx="0" cy="0"/>
          <a:chOff x="0" y="0"/>
          <a:chExt cx="0" cy="0"/>
        </a:xfrm>
      </p:grpSpPr>
      <p:sp>
        <p:nvSpPr>
          <p:cNvPr id="6" name="Date Placeholder 5">
            <a:extLst>
              <a:ext uri="{FF2B5EF4-FFF2-40B4-BE49-F238E27FC236}">
                <a16:creationId xmlns:a16="http://schemas.microsoft.com/office/drawing/2014/main" id="{8EBCE432-F936-50B4-261E-34DCB25B3719}"/>
              </a:ext>
            </a:extLst>
          </p:cNvPr>
          <p:cNvSpPr>
            <a:spLocks noGrp="1"/>
          </p:cNvSpPr>
          <p:nvPr>
            <p:ph type="dt" sz="half" idx="10"/>
          </p:nvPr>
        </p:nvSpPr>
        <p:spPr/>
        <p:txBody>
          <a:bodyPr/>
          <a:lstStyle/>
          <a:p>
            <a:fld id="{17D1F163-9643-41E4-B842-57D26361CE78}" type="datetime3">
              <a:rPr lang="en-US" noProof="0" smtClean="0"/>
              <a:t>15 June 2026</a:t>
            </a:fld>
            <a:endParaRPr lang="en-US" noProof="0" dirty="0"/>
          </a:p>
        </p:txBody>
      </p:sp>
      <p:sp>
        <p:nvSpPr>
          <p:cNvPr id="7" name="Footer Placeholder 6">
            <a:extLst>
              <a:ext uri="{FF2B5EF4-FFF2-40B4-BE49-F238E27FC236}">
                <a16:creationId xmlns:a16="http://schemas.microsoft.com/office/drawing/2014/main" id="{A3930420-F0B7-D6DE-1E25-5C641CF5BB4A}"/>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8" name="Slide Number Placeholder 7">
            <a:extLst>
              <a:ext uri="{FF2B5EF4-FFF2-40B4-BE49-F238E27FC236}">
                <a16:creationId xmlns:a16="http://schemas.microsoft.com/office/drawing/2014/main" id="{7F03DADA-2C82-670F-F2D1-E077086CD371}"/>
              </a:ext>
            </a:extLst>
          </p:cNvPr>
          <p:cNvSpPr>
            <a:spLocks noGrp="1"/>
          </p:cNvSpPr>
          <p:nvPr>
            <p:ph type="sldNum" sz="quarter" idx="12"/>
          </p:nvPr>
        </p:nvSpPr>
        <p:spPr/>
        <p:txBody>
          <a:bodyPr/>
          <a:lstStyle/>
          <a:p>
            <a:fld id="{5D99DD2A-B520-4620-9B43-64B657BA2D42}" type="slidenum">
              <a:rPr lang="en-US" noProof="0" smtClean="0"/>
              <a:t>44</a:t>
            </a:fld>
            <a:endParaRPr lang="en-US" noProof="0" dirty="0"/>
          </a:p>
        </p:txBody>
      </p:sp>
      <p:sp>
        <p:nvSpPr>
          <p:cNvPr id="22" name="TextBox 5">
            <a:extLst>
              <a:ext uri="{FF2B5EF4-FFF2-40B4-BE49-F238E27FC236}">
                <a16:creationId xmlns:a16="http://schemas.microsoft.com/office/drawing/2014/main" id="{54900BEC-34E7-2D2D-83FF-BEC396E932F3}"/>
              </a:ext>
            </a:extLst>
          </p:cNvPr>
          <p:cNvSpPr txBox="1">
            <a:spLocks noChangeArrowheads="1"/>
          </p:cNvSpPr>
          <p:nvPr/>
        </p:nvSpPr>
        <p:spPr bwMode="auto">
          <a:xfrm>
            <a:off x="196402" y="646969"/>
            <a:ext cx="11882184" cy="59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2000" dirty="0">
                <a:latin typeface="Times New Roman" panose="02020603050405020304" pitchFamily="18" charset="0"/>
                <a:cs typeface="Times New Roman" panose="02020603050405020304" pitchFamily="18" charset="0"/>
              </a:rPr>
              <a:t>if (count == milliseconds) {</a:t>
            </a:r>
          </a:p>
          <a:p>
            <a:r>
              <a:rPr lang="en-US" sz="2000" dirty="0">
                <a:latin typeface="Times New Roman" panose="02020603050405020304" pitchFamily="18" charset="0"/>
                <a:cs typeface="Times New Roman" panose="02020603050405020304" pitchFamily="18" charset="0"/>
              </a:rPr>
              <a:t>            count=0;</a:t>
            </a:r>
          </a:p>
          <a:p>
            <a:r>
              <a:rPr lang="en-US" sz="2000" dirty="0">
                <a:latin typeface="Times New Roman" panose="02020603050405020304" pitchFamily="18" charset="0"/>
                <a:cs typeface="Times New Roman" panose="02020603050405020304" pitchFamily="18" charset="0"/>
              </a:rPr>
              <a:t>            break; }</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return 0;</a:t>
            </a:r>
          </a:p>
          <a:p>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void loop()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pinMode</a:t>
            </a:r>
            <a:r>
              <a:rPr lang="en-US" sz="2000" dirty="0">
                <a:latin typeface="Times New Roman" panose="02020603050405020304" pitchFamily="18" charset="0"/>
                <a:cs typeface="Times New Roman" panose="02020603050405020304" pitchFamily="18" charset="0"/>
              </a:rPr>
              <a:t>(RED_PIN, INPUT); </a:t>
            </a:r>
          </a:p>
          <a:p>
            <a:r>
              <a:rPr lang="en-US" sz="2000" dirty="0">
                <a:latin typeface="Times New Roman" panose="02020603050405020304" pitchFamily="18" charset="0"/>
                <a:cs typeface="Times New Roman" panose="02020603050405020304" pitchFamily="18" charset="0"/>
              </a:rPr>
              <a:t>    TCCR0A = 0b00000000;</a:t>
            </a:r>
          </a:p>
          <a:p>
            <a:r>
              <a:rPr lang="en-US" sz="2000" dirty="0">
                <a:latin typeface="Times New Roman" panose="02020603050405020304" pitchFamily="18" charset="0"/>
                <a:cs typeface="Times New Roman" panose="02020603050405020304" pitchFamily="18" charset="0"/>
              </a:rPr>
              <a:t>    TCCR0B = 0b00000100;</a:t>
            </a:r>
          </a:p>
          <a:p>
            <a:r>
              <a:rPr lang="en-US" sz="2000" dirty="0">
                <a:latin typeface="Times New Roman" panose="02020603050405020304" pitchFamily="18" charset="0"/>
                <a:cs typeface="Times New Roman" panose="02020603050405020304" pitchFamily="18" charset="0"/>
              </a:rPr>
              <a:t>    TCNT1 = 0x0000;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void loop()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digitalWrite</a:t>
            </a:r>
            <a:r>
              <a:rPr lang="en-US" sz="2000" dirty="0">
                <a:latin typeface="Times New Roman" panose="02020603050405020304" pitchFamily="18" charset="0"/>
                <a:cs typeface="Times New Roman" panose="02020603050405020304" pitchFamily="18" charset="0"/>
              </a:rPr>
              <a:t>(RED_PIN, HIGH);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delay_timer</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red_on</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digitalRead</a:t>
            </a:r>
            <a:r>
              <a:rPr lang="en-US" sz="2000" dirty="0">
                <a:latin typeface="Times New Roman" panose="02020603050405020304" pitchFamily="18" charset="0"/>
                <a:cs typeface="Times New Roman" panose="02020603050405020304" pitchFamily="18" charset="0"/>
              </a:rPr>
              <a:t>(RED_PIN, LOW);</a:t>
            </a:r>
          </a:p>
          <a:p>
            <a:r>
              <a:rPr lang="en-US" sz="2000" dirty="0">
                <a:latin typeface="Times New Roman" panose="02020603050405020304" pitchFamily="18" charset="0"/>
                <a:cs typeface="Times New Roman" panose="02020603050405020304" pitchFamily="18" charset="0"/>
              </a:rPr>
              <a:t>   delay(</a:t>
            </a:r>
            <a:r>
              <a:rPr lang="en-US" sz="2000" dirty="0" err="1">
                <a:latin typeface="Times New Roman" panose="02020603050405020304" pitchFamily="18" charset="0"/>
                <a:cs typeface="Times New Roman" panose="02020603050405020304" pitchFamily="18" charset="0"/>
              </a:rPr>
              <a:t>red_off</a:t>
            </a:r>
            <a:r>
              <a:rPr lang="en-US" sz="2000" dirty="0">
                <a:latin typeface="Times New Roman" panose="02020603050405020304" pitchFamily="18" charset="0"/>
                <a:cs typeface="Times New Roman" panose="02020603050405020304" pitchFamily="18" charset="0"/>
              </a:rPr>
              <a:t>);    }</a:t>
            </a:r>
          </a:p>
        </p:txBody>
      </p:sp>
      <p:sp>
        <p:nvSpPr>
          <p:cNvPr id="4" name="Title 1">
            <a:extLst>
              <a:ext uri="{FF2B5EF4-FFF2-40B4-BE49-F238E27FC236}">
                <a16:creationId xmlns:a16="http://schemas.microsoft.com/office/drawing/2014/main" id="{2C7A19ED-C3CC-AC2C-3DA7-9B0D940972D8}"/>
              </a:ext>
            </a:extLst>
          </p:cNvPr>
          <p:cNvSpPr>
            <a:spLocks noGrp="1" noChangeArrowheads="1"/>
          </p:cNvSpPr>
          <p:nvPr>
            <p:ph type="title"/>
          </p:nvPr>
        </p:nvSpPr>
        <p:spPr>
          <a:xfrm>
            <a:off x="196402" y="112363"/>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4:</a:t>
            </a:r>
          </a:p>
        </p:txBody>
      </p:sp>
    </p:spTree>
    <p:extLst>
      <p:ext uri="{BB962C8B-B14F-4D97-AF65-F5344CB8AC3E}">
        <p14:creationId xmlns:p14="http://schemas.microsoft.com/office/powerpoint/2010/main" val="1705103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CD867-BF56-2BC7-1BA1-6B0AC7A97E59}"/>
            </a:ext>
          </a:extLst>
        </p:cNvPr>
        <p:cNvGrpSpPr/>
        <p:nvPr/>
      </p:nvGrpSpPr>
      <p:grpSpPr>
        <a:xfrm>
          <a:off x="0" y="0"/>
          <a:ext cx="0" cy="0"/>
          <a:chOff x="0" y="0"/>
          <a:chExt cx="0" cy="0"/>
        </a:xfrm>
      </p:grpSpPr>
      <p:sp>
        <p:nvSpPr>
          <p:cNvPr id="6" name="Date Placeholder 5">
            <a:extLst>
              <a:ext uri="{FF2B5EF4-FFF2-40B4-BE49-F238E27FC236}">
                <a16:creationId xmlns:a16="http://schemas.microsoft.com/office/drawing/2014/main" id="{56646FBA-BD87-B044-80D6-75B6BDC2B4CB}"/>
              </a:ext>
            </a:extLst>
          </p:cNvPr>
          <p:cNvSpPr>
            <a:spLocks noGrp="1"/>
          </p:cNvSpPr>
          <p:nvPr>
            <p:ph type="dt" sz="half" idx="10"/>
          </p:nvPr>
        </p:nvSpPr>
        <p:spPr/>
        <p:txBody>
          <a:bodyPr/>
          <a:lstStyle/>
          <a:p>
            <a:fld id="{17D1F163-9643-41E4-B842-57D26361CE78}" type="datetime3">
              <a:rPr lang="en-US" noProof="0" smtClean="0"/>
              <a:t>15 June 2026</a:t>
            </a:fld>
            <a:endParaRPr lang="en-US" noProof="0" dirty="0"/>
          </a:p>
        </p:txBody>
      </p:sp>
      <p:sp>
        <p:nvSpPr>
          <p:cNvPr id="7" name="Footer Placeholder 6">
            <a:extLst>
              <a:ext uri="{FF2B5EF4-FFF2-40B4-BE49-F238E27FC236}">
                <a16:creationId xmlns:a16="http://schemas.microsoft.com/office/drawing/2014/main" id="{E1E53A40-49AC-30E6-E8D9-955209D2B81E}"/>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8" name="Slide Number Placeholder 7">
            <a:extLst>
              <a:ext uri="{FF2B5EF4-FFF2-40B4-BE49-F238E27FC236}">
                <a16:creationId xmlns:a16="http://schemas.microsoft.com/office/drawing/2014/main" id="{0D2FFF9F-3277-D239-CE65-3148708EA392}"/>
              </a:ext>
            </a:extLst>
          </p:cNvPr>
          <p:cNvSpPr>
            <a:spLocks noGrp="1"/>
          </p:cNvSpPr>
          <p:nvPr>
            <p:ph type="sldNum" sz="quarter" idx="12"/>
          </p:nvPr>
        </p:nvSpPr>
        <p:spPr/>
        <p:txBody>
          <a:bodyPr/>
          <a:lstStyle/>
          <a:p>
            <a:fld id="{5D99DD2A-B520-4620-9B43-64B657BA2D42}" type="slidenum">
              <a:rPr lang="en-US" noProof="0" smtClean="0"/>
              <a:t>45</a:t>
            </a:fld>
            <a:endParaRPr lang="en-US" noProof="0" dirty="0"/>
          </a:p>
        </p:txBody>
      </p:sp>
      <mc:AlternateContent xmlns:mc="http://schemas.openxmlformats.org/markup-compatibility/2006" xmlns:a14="http://schemas.microsoft.com/office/drawing/2010/main">
        <mc:Choice Requires="a14">
          <p:sp>
            <p:nvSpPr>
              <p:cNvPr id="22" name="TextBox 5">
                <a:extLst>
                  <a:ext uri="{FF2B5EF4-FFF2-40B4-BE49-F238E27FC236}">
                    <a16:creationId xmlns:a16="http://schemas.microsoft.com/office/drawing/2014/main" id="{D467BFC1-70A3-266D-23EC-432574BD3869}"/>
                  </a:ext>
                </a:extLst>
              </p:cNvPr>
              <p:cNvSpPr txBox="1">
                <a:spLocks noChangeArrowheads="1"/>
              </p:cNvSpPr>
              <p:nvPr/>
            </p:nvSpPr>
            <p:spPr bwMode="auto">
              <a:xfrm>
                <a:off x="196402" y="721397"/>
                <a:ext cx="11882184" cy="563769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3200" b="1" dirty="0">
                    <a:solidFill>
                      <a:srgbClr val="FFFF00"/>
                    </a:solidFill>
                    <a:latin typeface="Times New Roman" panose="02020603050405020304" pitchFamily="18" charset="0"/>
                    <a:cs typeface="Times New Roman" panose="02020603050405020304" pitchFamily="18" charset="0"/>
                  </a:rPr>
                  <a:t>Solution:</a:t>
                </a:r>
                <a:endParaRPr lang="en-US" sz="3200" b="1" i="1" dirty="0">
                  <a:solidFill>
                    <a:srgbClr val="FFFF0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endParaRPr lang="en-US" sz="2000" i="1"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Given system frequency = 16 MHz; So, clock period = 1/frequency = 1/16 MHz = 0.0625 </a:t>
                </a:r>
                <a:r>
                  <a:rPr lang="en-US" sz="3200" dirty="0" err="1">
                    <a:latin typeface="Symbol" panose="05050102010706020507" pitchFamily="18" charset="2"/>
                    <a:cs typeface="Times New Roman" panose="02020603050405020304" pitchFamily="18" charset="0"/>
                  </a:rPr>
                  <a:t>m</a:t>
                </a:r>
                <a:r>
                  <a:rPr lang="en-US" sz="3200" dirty="0" err="1">
                    <a:latin typeface="Times New Roman" panose="02020603050405020304" pitchFamily="18" charset="0"/>
                    <a:cs typeface="Times New Roman" panose="02020603050405020304" pitchFamily="18" charset="0"/>
                  </a:rPr>
                  <a:t>s</a:t>
                </a:r>
                <a:r>
                  <a:rPr lang="en-US" sz="3200" dirty="0">
                    <a:latin typeface="Times New Roman" panose="02020603050405020304" pitchFamily="18" charset="0"/>
                    <a:cs typeface="Times New Roman" panose="02020603050405020304" pitchFamily="18" charset="0"/>
                  </a:rPr>
                  <a:t>; Required delay = 2 </a:t>
                </a:r>
                <a:r>
                  <a:rPr lang="en-US" sz="3200" dirty="0" err="1">
                    <a:latin typeface="Times New Roman" panose="02020603050405020304" pitchFamily="18" charset="0"/>
                    <a:cs typeface="Times New Roman" panose="02020603050405020304" pitchFamily="18" charset="0"/>
                  </a:rPr>
                  <a:t>ms</a:t>
                </a:r>
                <a:r>
                  <a:rPr lang="en-US" sz="3200" dirty="0">
                    <a:latin typeface="Times New Roman" panose="02020603050405020304" pitchFamily="18" charset="0"/>
                    <a:cs typeface="Times New Roman" panose="02020603050405020304" pitchFamily="18" charset="0"/>
                  </a:rPr>
                  <a:t> = 2000 </a:t>
                </a:r>
                <a:r>
                  <a:rPr lang="en-US" sz="3200" dirty="0" err="1">
                    <a:latin typeface="Symbol" panose="05050102010706020507" pitchFamily="18" charset="2"/>
                    <a:cs typeface="Times New Roman" panose="02020603050405020304" pitchFamily="18" charset="0"/>
                  </a:rPr>
                  <a:t>m</a:t>
                </a:r>
                <a:r>
                  <a:rPr lang="en-US" sz="3200" dirty="0" err="1">
                    <a:latin typeface="Times New Roman" panose="02020603050405020304" pitchFamily="18" charset="0"/>
                    <a:cs typeface="Times New Roman" panose="02020603050405020304" pitchFamily="18" charset="0"/>
                  </a:rPr>
                  <a:t>s</a:t>
                </a:r>
                <a:endParaRPr lang="en-US" sz="3200" i="1" dirty="0">
                  <a:latin typeface="Times New Roman" panose="02020603050405020304" pitchFamily="18" charset="0"/>
                  <a:cs typeface="Times New Roman" panose="02020603050405020304" pitchFamily="18" charset="0"/>
                </a:endParaRPr>
              </a:p>
              <a:p>
                <a:pPr algn="ctr"/>
                <a14:m>
                  <m:oMath xmlns:m="http://schemas.openxmlformats.org/officeDocument/2006/math">
                    <m:r>
                      <a:rPr lang="en-US" sz="2800" i="1">
                        <a:latin typeface="Cambria Math" panose="02040503050406030204" pitchFamily="18" charset="0"/>
                        <a:cs typeface="Arial" panose="020B0604020202020204" pitchFamily="34" charset="0"/>
                      </a:rPr>
                      <m:t>𝑇𝑖𝑚𝑒𝑟</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𝑐𝑜𝑢𝑛𝑡</m:t>
                    </m:r>
                    <m:r>
                      <a:rPr lang="en-US" sz="2800" i="1">
                        <a:latin typeface="Cambria Math" panose="02040503050406030204" pitchFamily="18" charset="0"/>
                        <a:cs typeface="Arial" panose="020B0604020202020204" pitchFamily="34" charset="0"/>
                      </a:rPr>
                      <m:t>=</m:t>
                    </m:r>
                    <m:f>
                      <m:fPr>
                        <m:ctrlPr>
                          <a:rPr lang="en-US" sz="2800" i="1">
                            <a:latin typeface="Cambria Math" panose="02040503050406030204" pitchFamily="18" charset="0"/>
                            <a:cs typeface="Arial" panose="020B0604020202020204" pitchFamily="34" charset="0"/>
                          </a:rPr>
                        </m:ctrlPr>
                      </m:fPr>
                      <m:num>
                        <m:r>
                          <a:rPr lang="en-US" sz="2800" i="1">
                            <a:latin typeface="Cambria Math" panose="02040503050406030204" pitchFamily="18" charset="0"/>
                            <a:cs typeface="Arial" panose="020B0604020202020204" pitchFamily="34" charset="0"/>
                          </a:rPr>
                          <m:t>𝑅𝑒𝑞𝑢𝑖𝑟𝑒𝑑</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𝑑𝑒𝑙𝑎𝑦</m:t>
                        </m:r>
                      </m:num>
                      <m:den>
                        <m:r>
                          <a:rPr lang="en-US" sz="2800" i="1">
                            <a:latin typeface="Cambria Math" panose="02040503050406030204" pitchFamily="18" charset="0"/>
                            <a:cs typeface="Arial" panose="020B0604020202020204" pitchFamily="34" charset="0"/>
                          </a:rPr>
                          <m:t>𝑝𝑟𝑒𝑠𝑐𝑎𝑙𝑎𝑟</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𝑝𝑠</m:t>
                        </m:r>
                        <m:r>
                          <a:rPr lang="en-US" sz="2800" i="1">
                            <a:latin typeface="Cambria Math" panose="02040503050406030204" pitchFamily="18" charset="0"/>
                            <a:cs typeface="Arial" panose="020B0604020202020204" pitchFamily="34" charset="0"/>
                          </a:rPr>
                          <m:t>)×</m:t>
                        </m:r>
                        <m:r>
                          <a:rPr lang="en-US" sz="2800" i="1">
                            <a:latin typeface="Cambria Math" panose="02040503050406030204" pitchFamily="18" charset="0"/>
                            <a:ea typeface="Cambria Math" panose="02040503050406030204" pitchFamily="18" charset="0"/>
                            <a:cs typeface="Arial" panose="020B0604020202020204" pitchFamily="34" charset="0"/>
                          </a:rPr>
                          <m:t>𝑇</m:t>
                        </m:r>
                      </m:den>
                    </m:f>
                    <m:r>
                      <a:rPr lang="en-US" sz="2800" i="1">
                        <a:latin typeface="Cambria Math" panose="02040503050406030204" pitchFamily="18" charset="0"/>
                        <a:cs typeface="Arial" panose="020B0604020202020204" pitchFamily="34" charset="0"/>
                      </a:rPr>
                      <m:t>−1=</m:t>
                    </m:r>
                    <m:f>
                      <m:fPr>
                        <m:ctrlPr>
                          <a:rPr lang="en-US" sz="2800" i="1">
                            <a:latin typeface="Cambria Math" panose="02040503050406030204" pitchFamily="18" charset="0"/>
                            <a:cs typeface="Arial" panose="020B0604020202020204" pitchFamily="34" charset="0"/>
                          </a:rPr>
                        </m:ctrlPr>
                      </m:fPr>
                      <m:num>
                        <m:r>
                          <m:rPr>
                            <m:nor/>
                          </m:rPr>
                          <a:rPr lang="en-US" sz="2800" b="0" i="0" smtClean="0">
                            <a:latin typeface="Times New Roman" panose="02020603050405020304" pitchFamily="18" charset="0"/>
                            <a:cs typeface="Times New Roman" panose="02020603050405020304" pitchFamily="18" charset="0"/>
                          </a:rPr>
                          <m:t>2</m:t>
                        </m:r>
                        <m:r>
                          <m:rPr>
                            <m:nor/>
                          </m:rPr>
                          <a:rPr lang="en-US" sz="2800" b="0" i="0" dirty="0" smtClean="0">
                            <a:latin typeface="Cambria Math" panose="02040503050406030204" pitchFamily="18" charset="0"/>
                            <a:cs typeface="Times New Roman" panose="02020603050405020304" pitchFamily="18" charset="0"/>
                          </a:rPr>
                          <m:t>000</m:t>
                        </m:r>
                      </m:num>
                      <m:den>
                        <m:r>
                          <m:rPr>
                            <m:nor/>
                          </m:rPr>
                          <a:rPr lang="en-US" sz="2800" b="0" i="0" dirty="0" smtClean="0">
                            <a:latin typeface="Cambria Math" panose="02040503050406030204" pitchFamily="18" charset="0"/>
                            <a:cs typeface="Times New Roman" panose="02020603050405020304" pitchFamily="18" charset="0"/>
                          </a:rPr>
                          <m:t>10</m:t>
                        </m:r>
                        <m:r>
                          <m:rPr>
                            <m:nor/>
                          </m:rPr>
                          <a:rPr lang="en-US" sz="2800" i="0">
                            <a:latin typeface="Cambria Math" panose="02040503050406030204" pitchFamily="18" charset="0"/>
                            <a:cs typeface="Arial" panose="020B0604020202020204" pitchFamily="34" charset="0"/>
                          </a:rPr>
                          <m:t>2</m:t>
                        </m:r>
                        <m:r>
                          <m:rPr>
                            <m:nor/>
                          </m:rPr>
                          <a:rPr lang="en-US" sz="2800" b="0" i="0" smtClean="0">
                            <a:latin typeface="Cambria Math" panose="02040503050406030204" pitchFamily="18" charset="0"/>
                            <a:cs typeface="Arial" panose="020B0604020202020204" pitchFamily="34" charset="0"/>
                          </a:rPr>
                          <m:t>4</m:t>
                        </m:r>
                        <m:r>
                          <m:rPr>
                            <m:nor/>
                          </m:rPr>
                          <a:rPr lang="en-US" sz="2800" i="0">
                            <a:latin typeface="Cambria Math" panose="02040503050406030204" pitchFamily="18" charset="0"/>
                            <a:ea typeface="Cambria Math" panose="02040503050406030204" pitchFamily="18" charset="0"/>
                            <a:cs typeface="Arial" panose="020B0604020202020204" pitchFamily="34" charset="0"/>
                          </a:rPr>
                          <m:t>×</m:t>
                        </m:r>
                        <m:r>
                          <m:rPr>
                            <m:nor/>
                          </m:rPr>
                          <a:rPr lang="en-US" sz="2800" dirty="0">
                            <a:latin typeface="Times New Roman" panose="02020603050405020304" pitchFamily="18" charset="0"/>
                            <a:cs typeface="Times New Roman" panose="02020603050405020304" pitchFamily="18" charset="0"/>
                          </a:rPr>
                          <m:t>0.0625</m:t>
                        </m:r>
                      </m:den>
                    </m:f>
                    <m:r>
                      <a:rPr lang="en-US" sz="2800" i="1">
                        <a:latin typeface="Cambria Math" panose="02040503050406030204" pitchFamily="18" charset="0"/>
                        <a:cs typeface="Arial" panose="020B0604020202020204" pitchFamily="34" charset="0"/>
                      </a:rPr>
                      <m:t>−1=</m:t>
                    </m:r>
                    <m:r>
                      <a:rPr lang="en-US" sz="2800" b="0" i="1" smtClean="0">
                        <a:latin typeface="Cambria Math" panose="02040503050406030204" pitchFamily="18" charset="0"/>
                        <a:cs typeface="Arial" panose="020B0604020202020204" pitchFamily="34" charset="0"/>
                      </a:rPr>
                      <m:t>31.</m:t>
                    </m:r>
                    <m:r>
                      <a:rPr lang="en-US" sz="2800" i="1">
                        <a:latin typeface="Cambria Math" panose="02040503050406030204" pitchFamily="18" charset="0"/>
                        <a:cs typeface="Arial" panose="020B0604020202020204" pitchFamily="34" charset="0"/>
                      </a:rPr>
                      <m:t>2</m:t>
                    </m:r>
                    <m:r>
                      <a:rPr lang="en-US" sz="2800" b="0" i="1" smtClean="0">
                        <a:latin typeface="Cambria Math" panose="02040503050406030204" pitchFamily="18" charset="0"/>
                        <a:cs typeface="Arial" panose="020B0604020202020204" pitchFamily="34" charset="0"/>
                      </a:rPr>
                      <m:t>5−1</m:t>
                    </m:r>
                    <m:r>
                      <a:rPr lang="en-US" sz="2800" b="0" i="1" smtClean="0">
                        <a:latin typeface="Cambria Math" panose="02040503050406030204" pitchFamily="18" charset="0"/>
                        <a:ea typeface="Cambria Math" panose="02040503050406030204" pitchFamily="18" charset="0"/>
                        <a:cs typeface="Arial" panose="020B0604020202020204" pitchFamily="34" charset="0"/>
                      </a:rPr>
                      <m:t>≅</m:t>
                    </m:r>
                    <m:r>
                      <a:rPr lang="en-US" sz="2800" b="0" i="1" smtClean="0">
                        <a:latin typeface="Cambria Math" panose="02040503050406030204" pitchFamily="18" charset="0"/>
                        <a:cs typeface="Arial" panose="020B0604020202020204" pitchFamily="34" charset="0"/>
                      </a:rPr>
                      <m:t>31</m:t>
                    </m:r>
                  </m:oMath>
                </a14:m>
                <a:r>
                  <a:rPr lang="en-US" sz="2800" dirty="0">
                    <a:latin typeface="Times New Roman" panose="02020603050405020304" pitchFamily="18" charset="0"/>
                    <a:cs typeface="Times New Roman" panose="02020603050405020304" pitchFamily="18" charset="0"/>
                  </a:rPr>
                  <a:t> </a:t>
                </a:r>
              </a:p>
              <a:p>
                <a:r>
                  <a:rPr lang="en-US" sz="3200" dirty="0">
                    <a:latin typeface="Times New Roman" panose="02020603050405020304" pitchFamily="18" charset="0"/>
                    <a:cs typeface="Times New Roman" panose="02020603050405020304" pitchFamily="18" charset="0"/>
                  </a:rPr>
                  <a:t>Since Timer 0 can count up to 255; so Timer0 is suitable for this application.</a:t>
                </a:r>
              </a:p>
              <a:p>
                <a:r>
                  <a:rPr lang="en-US" sz="3200" dirty="0">
                    <a:latin typeface="Times New Roman" panose="02020603050405020304" pitchFamily="18" charset="0"/>
                    <a:cs typeface="Times New Roman" panose="02020603050405020304" pitchFamily="18" charset="0"/>
                  </a:rPr>
                  <a:t>The </a:t>
                </a:r>
                <a:r>
                  <a:rPr lang="en-US" sz="3200" b="1" dirty="0">
                    <a:solidFill>
                      <a:srgbClr val="FF0000"/>
                    </a:solidFill>
                    <a:latin typeface="Times New Roman" panose="02020603050405020304" pitchFamily="18" charset="0"/>
                    <a:cs typeface="Times New Roman" panose="02020603050405020304" pitchFamily="18" charset="0"/>
                  </a:rPr>
                  <a:t>number of counts </a:t>
                </a:r>
                <a:r>
                  <a:rPr lang="en-US" sz="3200" dirty="0">
                    <a:latin typeface="Times New Roman" panose="02020603050405020304" pitchFamily="18" charset="0"/>
                    <a:cs typeface="Times New Roman" panose="02020603050405020304" pitchFamily="18" charset="0"/>
                  </a:rPr>
                  <a:t>required for a 2 s (2000 </a:t>
                </a:r>
                <a:r>
                  <a:rPr lang="en-US" sz="3200" dirty="0" err="1">
                    <a:latin typeface="Times New Roman" panose="02020603050405020304" pitchFamily="18" charset="0"/>
                    <a:cs typeface="Times New Roman" panose="02020603050405020304" pitchFamily="18" charset="0"/>
                  </a:rPr>
                  <a:t>ms</a:t>
                </a:r>
                <a:r>
                  <a:rPr lang="en-US" sz="3200" dirty="0">
                    <a:latin typeface="Times New Roman" panose="02020603050405020304" pitchFamily="18" charset="0"/>
                    <a:cs typeface="Times New Roman" panose="02020603050405020304" pitchFamily="18" charset="0"/>
                  </a:rPr>
                  <a:t>) delay in each cycle for the </a:t>
                </a:r>
                <a:r>
                  <a:rPr lang="en-US" sz="3200" b="1" dirty="0">
                    <a:solidFill>
                      <a:srgbClr val="FF0000"/>
                    </a:solidFill>
                    <a:latin typeface="Times New Roman" panose="02020603050405020304" pitchFamily="18" charset="0"/>
                    <a:cs typeface="Times New Roman" panose="02020603050405020304" pitchFamily="18" charset="0"/>
                  </a:rPr>
                  <a:t>LED ON duration</a:t>
                </a:r>
                <a:r>
                  <a:rPr lang="en-US" sz="3200" dirty="0">
                    <a:solidFill>
                      <a:srgbClr val="FF0000"/>
                    </a:solidFill>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 2000 </a:t>
                </a:r>
                <a:r>
                  <a:rPr lang="en-US" sz="3200" dirty="0" err="1">
                    <a:latin typeface="Times New Roman" panose="02020603050405020304" pitchFamily="18" charset="0"/>
                    <a:cs typeface="Times New Roman" panose="02020603050405020304" pitchFamily="18" charset="0"/>
                  </a:rPr>
                  <a:t>ms</a:t>
                </a:r>
                <a:r>
                  <a:rPr lang="en-US" sz="3200" dirty="0">
                    <a:latin typeface="Times New Roman" panose="02020603050405020304" pitchFamily="18" charset="0"/>
                    <a:cs typeface="Times New Roman" panose="02020603050405020304" pitchFamily="18" charset="0"/>
                  </a:rPr>
                  <a:t>/2 </a:t>
                </a:r>
                <a:r>
                  <a:rPr lang="en-US" sz="3200" dirty="0" err="1">
                    <a:latin typeface="Times New Roman" panose="02020603050405020304" pitchFamily="18" charset="0"/>
                    <a:cs typeface="Times New Roman" panose="02020603050405020304" pitchFamily="18" charset="0"/>
                  </a:rPr>
                  <a:t>ms</a:t>
                </a:r>
                <a:r>
                  <a:rPr lang="en-US" sz="3200" dirty="0">
                    <a:latin typeface="Times New Roman" panose="02020603050405020304" pitchFamily="18" charset="0"/>
                    <a:cs typeface="Times New Roman" panose="02020603050405020304" pitchFamily="18" charset="0"/>
                  </a:rPr>
                  <a:t> = </a:t>
                </a:r>
                <a:r>
                  <a:rPr lang="en-US" sz="3200" b="1" dirty="0">
                    <a:solidFill>
                      <a:srgbClr val="FF0000"/>
                    </a:solidFill>
                    <a:latin typeface="Times New Roman" panose="02020603050405020304" pitchFamily="18" charset="0"/>
                    <a:cs typeface="Times New Roman" panose="02020603050405020304" pitchFamily="18" charset="0"/>
                  </a:rPr>
                  <a:t>1000</a:t>
                </a:r>
                <a:r>
                  <a:rPr lang="en-US" sz="3200" dirty="0">
                    <a:latin typeface="Times New Roman" panose="02020603050405020304" pitchFamily="18" charset="0"/>
                    <a:cs typeface="Times New Roman" panose="02020603050405020304" pitchFamily="18" charset="0"/>
                  </a:rPr>
                  <a:t>. The </a:t>
                </a:r>
                <a:r>
                  <a:rPr lang="en-US" sz="3200" b="1" dirty="0">
                    <a:solidFill>
                      <a:srgbClr val="00B0F0"/>
                    </a:solidFill>
                    <a:latin typeface="Times New Roman" panose="02020603050405020304" pitchFamily="18" charset="0"/>
                    <a:cs typeface="Times New Roman" panose="02020603050405020304" pitchFamily="18" charset="0"/>
                  </a:rPr>
                  <a:t>number of counts </a:t>
                </a:r>
                <a:r>
                  <a:rPr lang="en-US" sz="3200" dirty="0">
                    <a:latin typeface="Times New Roman" panose="02020603050405020304" pitchFamily="18" charset="0"/>
                    <a:cs typeface="Times New Roman" panose="02020603050405020304" pitchFamily="18" charset="0"/>
                  </a:rPr>
                  <a:t>required for a 1 s (1000 </a:t>
                </a:r>
                <a:r>
                  <a:rPr lang="en-US" sz="3200" dirty="0" err="1">
                    <a:latin typeface="Times New Roman" panose="02020603050405020304" pitchFamily="18" charset="0"/>
                    <a:cs typeface="Times New Roman" panose="02020603050405020304" pitchFamily="18" charset="0"/>
                  </a:rPr>
                  <a:t>ms</a:t>
                </a:r>
                <a:r>
                  <a:rPr lang="en-US" sz="3200" dirty="0">
                    <a:latin typeface="Times New Roman" panose="02020603050405020304" pitchFamily="18" charset="0"/>
                    <a:cs typeface="Times New Roman" panose="02020603050405020304" pitchFamily="18" charset="0"/>
                  </a:rPr>
                  <a:t>) delay in each cycle for the </a:t>
                </a:r>
                <a:r>
                  <a:rPr lang="en-US" sz="3200" b="1" dirty="0">
                    <a:solidFill>
                      <a:srgbClr val="00B0F0"/>
                    </a:solidFill>
                    <a:latin typeface="Times New Roman" panose="02020603050405020304" pitchFamily="18" charset="0"/>
                    <a:cs typeface="Times New Roman" panose="02020603050405020304" pitchFamily="18" charset="0"/>
                  </a:rPr>
                  <a:t>LED OFF duration</a:t>
                </a:r>
                <a:r>
                  <a:rPr lang="en-US" sz="3200" dirty="0">
                    <a:latin typeface="Times New Roman" panose="02020603050405020304" pitchFamily="18" charset="0"/>
                    <a:cs typeface="Times New Roman" panose="02020603050405020304" pitchFamily="18" charset="0"/>
                  </a:rPr>
                  <a:t> = 1000 </a:t>
                </a:r>
                <a:r>
                  <a:rPr lang="en-US" sz="3200" dirty="0" err="1">
                    <a:latin typeface="Times New Roman" panose="02020603050405020304" pitchFamily="18" charset="0"/>
                    <a:cs typeface="Times New Roman" panose="02020603050405020304" pitchFamily="18" charset="0"/>
                  </a:rPr>
                  <a:t>ms</a:t>
                </a:r>
                <a:r>
                  <a:rPr lang="en-US" sz="3200" dirty="0">
                    <a:latin typeface="Times New Roman" panose="02020603050405020304" pitchFamily="18" charset="0"/>
                    <a:cs typeface="Times New Roman" panose="02020603050405020304" pitchFamily="18" charset="0"/>
                  </a:rPr>
                  <a:t>/2 </a:t>
                </a:r>
                <a:r>
                  <a:rPr lang="en-US" sz="3200" dirty="0" err="1">
                    <a:latin typeface="Times New Roman" panose="02020603050405020304" pitchFamily="18" charset="0"/>
                    <a:cs typeface="Times New Roman" panose="02020603050405020304" pitchFamily="18" charset="0"/>
                  </a:rPr>
                  <a:t>ms</a:t>
                </a:r>
                <a:r>
                  <a:rPr lang="en-US" sz="3200" dirty="0">
                    <a:latin typeface="Times New Roman" panose="02020603050405020304" pitchFamily="18" charset="0"/>
                    <a:cs typeface="Times New Roman" panose="02020603050405020304" pitchFamily="18" charset="0"/>
                  </a:rPr>
                  <a:t> = </a:t>
                </a:r>
                <a:r>
                  <a:rPr lang="en-US" sz="3200" b="1" dirty="0">
                    <a:solidFill>
                      <a:srgbClr val="00B0F0"/>
                    </a:solidFill>
                    <a:latin typeface="Times New Roman" panose="02020603050405020304" pitchFamily="18" charset="0"/>
                    <a:cs typeface="Times New Roman" panose="02020603050405020304" pitchFamily="18" charset="0"/>
                  </a:rPr>
                  <a:t>500</a:t>
                </a:r>
                <a:r>
                  <a:rPr lang="en-US" sz="3200" dirty="0">
                    <a:latin typeface="Times New Roman" panose="02020603050405020304" pitchFamily="18" charset="0"/>
                    <a:cs typeface="Times New Roman" panose="02020603050405020304" pitchFamily="18" charset="0"/>
                  </a:rPr>
                  <a:t>.</a:t>
                </a:r>
              </a:p>
            </p:txBody>
          </p:sp>
        </mc:Choice>
        <mc:Fallback xmlns="">
          <p:sp>
            <p:nvSpPr>
              <p:cNvPr id="22" name="TextBox 5">
                <a:extLst>
                  <a:ext uri="{FF2B5EF4-FFF2-40B4-BE49-F238E27FC236}">
                    <a16:creationId xmlns:a16="http://schemas.microsoft.com/office/drawing/2014/main" id="{D467BFC1-70A3-266D-23EC-432574BD3869}"/>
                  </a:ext>
                </a:extLst>
              </p:cNvPr>
              <p:cNvSpPr txBox="1">
                <a:spLocks noRot="1" noChangeAspect="1" noMove="1" noResize="1" noEditPoints="1" noAdjustHandles="1" noChangeArrowheads="1" noChangeShapeType="1" noTextEdit="1"/>
              </p:cNvSpPr>
              <p:nvPr/>
            </p:nvSpPr>
            <p:spPr bwMode="auto">
              <a:xfrm>
                <a:off x="196402" y="721397"/>
                <a:ext cx="11882184" cy="5637697"/>
              </a:xfrm>
              <a:prstGeom prst="rect">
                <a:avLst/>
              </a:prstGeom>
              <a:blipFill>
                <a:blip r:embed="rId3"/>
                <a:stretch>
                  <a:fillRect l="-1283" t="-1514" r="-1539" b="-248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 name="Title 1">
            <a:extLst>
              <a:ext uri="{FF2B5EF4-FFF2-40B4-BE49-F238E27FC236}">
                <a16:creationId xmlns:a16="http://schemas.microsoft.com/office/drawing/2014/main" id="{309731CA-04E5-AEA1-1C1E-AE9C7F440B2E}"/>
              </a:ext>
            </a:extLst>
          </p:cNvPr>
          <p:cNvSpPr>
            <a:spLocks noGrp="1" noChangeArrowheads="1"/>
          </p:cNvSpPr>
          <p:nvPr>
            <p:ph type="title"/>
          </p:nvPr>
        </p:nvSpPr>
        <p:spPr>
          <a:xfrm>
            <a:off x="196402" y="112363"/>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4:</a:t>
            </a:r>
          </a:p>
        </p:txBody>
      </p:sp>
    </p:spTree>
    <p:extLst>
      <p:ext uri="{BB962C8B-B14F-4D97-AF65-F5344CB8AC3E}">
        <p14:creationId xmlns:p14="http://schemas.microsoft.com/office/powerpoint/2010/main" val="3114097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4F363-B6CE-5673-8F8A-FB18FB3921A3}"/>
            </a:ext>
          </a:extLst>
        </p:cNvPr>
        <p:cNvGrpSpPr/>
        <p:nvPr/>
      </p:nvGrpSpPr>
      <p:grpSpPr>
        <a:xfrm>
          <a:off x="0" y="0"/>
          <a:ext cx="0" cy="0"/>
          <a:chOff x="0" y="0"/>
          <a:chExt cx="0" cy="0"/>
        </a:xfrm>
      </p:grpSpPr>
      <p:sp>
        <p:nvSpPr>
          <p:cNvPr id="6" name="Date Placeholder 5">
            <a:extLst>
              <a:ext uri="{FF2B5EF4-FFF2-40B4-BE49-F238E27FC236}">
                <a16:creationId xmlns:a16="http://schemas.microsoft.com/office/drawing/2014/main" id="{AABF4C40-B2AD-A56A-3073-7E978D3724BA}"/>
              </a:ext>
            </a:extLst>
          </p:cNvPr>
          <p:cNvSpPr>
            <a:spLocks noGrp="1"/>
          </p:cNvSpPr>
          <p:nvPr>
            <p:ph type="dt" sz="half" idx="10"/>
          </p:nvPr>
        </p:nvSpPr>
        <p:spPr/>
        <p:txBody>
          <a:bodyPr/>
          <a:lstStyle/>
          <a:p>
            <a:fld id="{17D1F163-9643-41E4-B842-57D26361CE78}" type="datetime3">
              <a:rPr lang="en-US" noProof="0" smtClean="0"/>
              <a:t>15 June 2026</a:t>
            </a:fld>
            <a:endParaRPr lang="en-US" noProof="0" dirty="0"/>
          </a:p>
        </p:txBody>
      </p:sp>
      <p:sp>
        <p:nvSpPr>
          <p:cNvPr id="7" name="Footer Placeholder 6">
            <a:extLst>
              <a:ext uri="{FF2B5EF4-FFF2-40B4-BE49-F238E27FC236}">
                <a16:creationId xmlns:a16="http://schemas.microsoft.com/office/drawing/2014/main" id="{D8756637-1894-84CE-6652-F40EBF7CEA99}"/>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8" name="Slide Number Placeholder 7">
            <a:extLst>
              <a:ext uri="{FF2B5EF4-FFF2-40B4-BE49-F238E27FC236}">
                <a16:creationId xmlns:a16="http://schemas.microsoft.com/office/drawing/2014/main" id="{3C5142E4-04E8-6EA5-DF6B-EA444E9C5B2A}"/>
              </a:ext>
            </a:extLst>
          </p:cNvPr>
          <p:cNvSpPr>
            <a:spLocks noGrp="1"/>
          </p:cNvSpPr>
          <p:nvPr>
            <p:ph type="sldNum" sz="quarter" idx="12"/>
          </p:nvPr>
        </p:nvSpPr>
        <p:spPr/>
        <p:txBody>
          <a:bodyPr/>
          <a:lstStyle/>
          <a:p>
            <a:fld id="{5D99DD2A-B520-4620-9B43-64B657BA2D42}" type="slidenum">
              <a:rPr lang="en-US" noProof="0" smtClean="0"/>
              <a:t>46</a:t>
            </a:fld>
            <a:endParaRPr lang="en-US" noProof="0" dirty="0"/>
          </a:p>
        </p:txBody>
      </p:sp>
      <p:sp>
        <p:nvSpPr>
          <p:cNvPr id="22" name="TextBox 5">
            <a:extLst>
              <a:ext uri="{FF2B5EF4-FFF2-40B4-BE49-F238E27FC236}">
                <a16:creationId xmlns:a16="http://schemas.microsoft.com/office/drawing/2014/main" id="{95CAB812-086A-4BC6-7C62-B45353207979}"/>
              </a:ext>
            </a:extLst>
          </p:cNvPr>
          <p:cNvSpPr txBox="1">
            <a:spLocks noChangeArrowheads="1"/>
          </p:cNvSpPr>
          <p:nvPr/>
        </p:nvSpPr>
        <p:spPr bwMode="auto">
          <a:xfrm>
            <a:off x="196402" y="756927"/>
            <a:ext cx="5662138" cy="5847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2200" dirty="0">
                <a:solidFill>
                  <a:srgbClr val="FFFF00"/>
                </a:solidFill>
              </a:rPr>
              <a:t>#define </a:t>
            </a:r>
            <a:r>
              <a:rPr lang="en-US" sz="2200" strike="sngStrike" dirty="0">
                <a:solidFill>
                  <a:srgbClr val="FF0000"/>
                </a:solidFill>
              </a:rPr>
              <a:t>YELLOW</a:t>
            </a:r>
            <a:r>
              <a:rPr lang="en-US" sz="2200" dirty="0">
                <a:solidFill>
                  <a:srgbClr val="FFFF00"/>
                </a:solidFill>
              </a:rPr>
              <a:t>_PIN  10 // </a:t>
            </a:r>
            <a:r>
              <a:rPr lang="en-US" sz="2200" dirty="0">
                <a:solidFill>
                  <a:srgbClr val="FF0000"/>
                </a:solidFill>
              </a:rPr>
              <a:t>RED</a:t>
            </a:r>
            <a:endParaRPr lang="en-US" sz="2200" i="1" dirty="0">
              <a:solidFill>
                <a:srgbClr val="FF0000"/>
              </a:solidFill>
            </a:endParaRPr>
          </a:p>
          <a:p>
            <a:r>
              <a:rPr lang="en-US" sz="2200" dirty="0">
                <a:solidFill>
                  <a:srgbClr val="FFFF00"/>
                </a:solidFill>
              </a:rPr>
              <a:t>int </a:t>
            </a:r>
            <a:r>
              <a:rPr lang="en-US" sz="2200" dirty="0" err="1">
                <a:solidFill>
                  <a:srgbClr val="FFFF00"/>
                </a:solidFill>
              </a:rPr>
              <a:t>red_on</a:t>
            </a:r>
            <a:r>
              <a:rPr lang="en-US" sz="2200" dirty="0">
                <a:solidFill>
                  <a:srgbClr val="FFFF00"/>
                </a:solidFill>
              </a:rPr>
              <a:t> = 2000; // delay is given in </a:t>
            </a:r>
            <a:r>
              <a:rPr lang="en-US" sz="2200" dirty="0" err="1">
                <a:solidFill>
                  <a:srgbClr val="FFFF00"/>
                </a:solidFill>
              </a:rPr>
              <a:t>ms</a:t>
            </a:r>
            <a:endParaRPr lang="en-US" sz="2200" i="1" dirty="0">
              <a:solidFill>
                <a:srgbClr val="FFFF00"/>
              </a:solidFill>
            </a:endParaRPr>
          </a:p>
          <a:p>
            <a:r>
              <a:rPr lang="en-US" sz="2200" dirty="0">
                <a:solidFill>
                  <a:srgbClr val="FFFF00"/>
                </a:solidFill>
              </a:rPr>
              <a:t>int </a:t>
            </a:r>
            <a:r>
              <a:rPr lang="en-US" sz="2200" dirty="0" err="1">
                <a:solidFill>
                  <a:srgbClr val="FFFF00"/>
                </a:solidFill>
              </a:rPr>
              <a:t>red_off</a:t>
            </a:r>
            <a:r>
              <a:rPr lang="en-US" sz="2200" dirty="0">
                <a:solidFill>
                  <a:srgbClr val="FFFF00"/>
                </a:solidFill>
              </a:rPr>
              <a:t> = 1000; // delay is given in </a:t>
            </a:r>
            <a:r>
              <a:rPr lang="en-US" sz="2200" dirty="0" err="1">
                <a:solidFill>
                  <a:srgbClr val="FFFF00"/>
                </a:solidFill>
              </a:rPr>
              <a:t>ms</a:t>
            </a:r>
            <a:endParaRPr lang="en-US" sz="2200" i="1" dirty="0">
              <a:solidFill>
                <a:srgbClr val="FFFF00"/>
              </a:solidFill>
            </a:endParaRPr>
          </a:p>
          <a:p>
            <a:r>
              <a:rPr lang="en-US" sz="2200" dirty="0">
                <a:solidFill>
                  <a:srgbClr val="FFFF00"/>
                </a:solidFill>
              </a:rPr>
              <a:t> </a:t>
            </a:r>
            <a:endParaRPr lang="en-US" sz="2200" i="1" dirty="0">
              <a:solidFill>
                <a:srgbClr val="FFFF00"/>
              </a:solidFill>
            </a:endParaRPr>
          </a:p>
          <a:p>
            <a:r>
              <a:rPr lang="en-US" sz="2200" dirty="0">
                <a:solidFill>
                  <a:srgbClr val="FFFF00"/>
                </a:solidFill>
              </a:rPr>
              <a:t>int </a:t>
            </a:r>
            <a:r>
              <a:rPr lang="en-US" sz="2200" dirty="0" err="1">
                <a:solidFill>
                  <a:srgbClr val="FFFF00"/>
                </a:solidFill>
              </a:rPr>
              <a:t>delay_timer</a:t>
            </a:r>
            <a:r>
              <a:rPr lang="en-US" sz="2200" dirty="0">
                <a:solidFill>
                  <a:srgbClr val="FFFF00"/>
                </a:solidFill>
              </a:rPr>
              <a:t> (int milliseconds){</a:t>
            </a:r>
            <a:endParaRPr lang="en-US" sz="2200" i="1" dirty="0">
              <a:solidFill>
                <a:srgbClr val="FFFF00"/>
              </a:solidFill>
            </a:endParaRPr>
          </a:p>
          <a:p>
            <a:r>
              <a:rPr lang="en-US" sz="2200" dirty="0">
                <a:solidFill>
                  <a:srgbClr val="FFFF00"/>
                </a:solidFill>
              </a:rPr>
              <a:t>  int count = 0;</a:t>
            </a:r>
            <a:endParaRPr lang="en-US" sz="2200" i="1" dirty="0">
              <a:solidFill>
                <a:srgbClr val="FFFF00"/>
              </a:solidFill>
            </a:endParaRPr>
          </a:p>
          <a:p>
            <a:r>
              <a:rPr lang="en-US" sz="2200" dirty="0">
                <a:solidFill>
                  <a:srgbClr val="FFFF00"/>
                </a:solidFill>
              </a:rPr>
              <a:t>  while(1) {</a:t>
            </a:r>
            <a:endParaRPr lang="en-US" sz="2200" i="1" dirty="0">
              <a:solidFill>
                <a:srgbClr val="FFFF00"/>
              </a:solidFill>
            </a:endParaRPr>
          </a:p>
          <a:p>
            <a:r>
              <a:rPr lang="en-US" sz="2200" dirty="0">
                <a:solidFill>
                  <a:srgbClr val="FFFF00"/>
                </a:solidFill>
              </a:rPr>
              <a:t>    if(TCNT1 &gt;= </a:t>
            </a:r>
            <a:r>
              <a:rPr lang="en-US" sz="2200" strike="sngStrike" dirty="0">
                <a:solidFill>
                  <a:srgbClr val="FF0000"/>
                </a:solidFill>
              </a:rPr>
              <a:t>16</a:t>
            </a:r>
            <a:r>
              <a:rPr lang="en-US" sz="2200" dirty="0">
                <a:solidFill>
                  <a:srgbClr val="FFFF00"/>
                </a:solidFill>
              </a:rPr>
              <a:t>) {  </a:t>
            </a:r>
            <a:r>
              <a:rPr lang="en-US" sz="2200" dirty="0">
                <a:solidFill>
                  <a:srgbClr val="FF0000"/>
                </a:solidFill>
              </a:rPr>
              <a:t>31</a:t>
            </a:r>
            <a:endParaRPr lang="en-US" sz="2200" i="1" dirty="0">
              <a:solidFill>
                <a:srgbClr val="FF0000"/>
              </a:solidFill>
            </a:endParaRPr>
          </a:p>
          <a:p>
            <a:r>
              <a:rPr lang="en-US" sz="2200" dirty="0">
                <a:solidFill>
                  <a:srgbClr val="FFFF00"/>
                </a:solidFill>
              </a:rPr>
              <a:t>        TCNT1=0;</a:t>
            </a:r>
            <a:endParaRPr lang="en-US" sz="2200" i="1" dirty="0">
              <a:solidFill>
                <a:srgbClr val="FFFF00"/>
              </a:solidFill>
            </a:endParaRPr>
          </a:p>
          <a:p>
            <a:r>
              <a:rPr lang="en-US" sz="2200" dirty="0">
                <a:solidFill>
                  <a:srgbClr val="FFFF00"/>
                </a:solidFill>
              </a:rPr>
              <a:t>        count++; </a:t>
            </a:r>
            <a:endParaRPr lang="en-US" sz="2200" i="1" dirty="0">
              <a:solidFill>
                <a:srgbClr val="FFFF00"/>
              </a:solidFill>
            </a:endParaRPr>
          </a:p>
          <a:p>
            <a:r>
              <a:rPr lang="en-US" sz="2200" dirty="0">
                <a:solidFill>
                  <a:srgbClr val="FFFF00"/>
                </a:solidFill>
              </a:rPr>
              <a:t>        if (count == milliseconds) {</a:t>
            </a:r>
            <a:endParaRPr lang="en-US" sz="2200" i="1" dirty="0">
              <a:solidFill>
                <a:srgbClr val="FFFF00"/>
              </a:solidFill>
            </a:endParaRPr>
          </a:p>
          <a:p>
            <a:r>
              <a:rPr lang="en-US" sz="2200" dirty="0">
                <a:solidFill>
                  <a:srgbClr val="FFFF00"/>
                </a:solidFill>
              </a:rPr>
              <a:t>            count=0;</a:t>
            </a:r>
            <a:endParaRPr lang="en-US" sz="2200" i="1" dirty="0">
              <a:solidFill>
                <a:srgbClr val="FFFF00"/>
              </a:solidFill>
            </a:endParaRPr>
          </a:p>
          <a:p>
            <a:r>
              <a:rPr lang="en-US" sz="2200" dirty="0">
                <a:solidFill>
                  <a:srgbClr val="FFFF00"/>
                </a:solidFill>
              </a:rPr>
              <a:t>            break; }</a:t>
            </a:r>
            <a:endParaRPr lang="en-US" sz="2200" i="1" dirty="0">
              <a:solidFill>
                <a:srgbClr val="FFFF00"/>
              </a:solidFill>
            </a:endParaRPr>
          </a:p>
          <a:p>
            <a:r>
              <a:rPr lang="en-US" sz="2200" dirty="0">
                <a:solidFill>
                  <a:srgbClr val="FFFF00"/>
                </a:solidFill>
              </a:rPr>
              <a:t>      }</a:t>
            </a:r>
            <a:endParaRPr lang="en-US" sz="2200" i="1" dirty="0">
              <a:solidFill>
                <a:srgbClr val="FFFF00"/>
              </a:solidFill>
            </a:endParaRPr>
          </a:p>
          <a:p>
            <a:r>
              <a:rPr lang="en-US" sz="2200" dirty="0">
                <a:solidFill>
                  <a:srgbClr val="FFFF00"/>
                </a:solidFill>
              </a:rPr>
              <a:t>  }</a:t>
            </a:r>
            <a:endParaRPr lang="en-US" sz="2200" i="1" dirty="0">
              <a:solidFill>
                <a:srgbClr val="FFFF00"/>
              </a:solidFill>
            </a:endParaRPr>
          </a:p>
          <a:p>
            <a:r>
              <a:rPr lang="en-US" sz="2200" dirty="0">
                <a:solidFill>
                  <a:srgbClr val="FFFF00"/>
                </a:solidFill>
              </a:rPr>
              <a:t>  return 0;</a:t>
            </a:r>
            <a:endParaRPr lang="en-US" sz="2200" i="1" dirty="0">
              <a:solidFill>
                <a:srgbClr val="FFFF00"/>
              </a:solidFill>
            </a:endParaRPr>
          </a:p>
          <a:p>
            <a:r>
              <a:rPr lang="en-US" sz="2200" dirty="0">
                <a:solidFill>
                  <a:srgbClr val="FFFF00"/>
                </a:solidFill>
              </a:rPr>
              <a:t>}</a:t>
            </a:r>
            <a:endParaRPr lang="en-US" sz="2200" i="1" dirty="0">
              <a:solidFill>
                <a:srgbClr val="FFFF00"/>
              </a:solidFill>
            </a:endParaRPr>
          </a:p>
        </p:txBody>
      </p:sp>
      <p:sp>
        <p:nvSpPr>
          <p:cNvPr id="4" name="Title 1">
            <a:extLst>
              <a:ext uri="{FF2B5EF4-FFF2-40B4-BE49-F238E27FC236}">
                <a16:creationId xmlns:a16="http://schemas.microsoft.com/office/drawing/2014/main" id="{82CA3C3F-9085-A92C-4E00-F9643D5CC09F}"/>
              </a:ext>
            </a:extLst>
          </p:cNvPr>
          <p:cNvSpPr>
            <a:spLocks noGrp="1" noChangeArrowheads="1"/>
          </p:cNvSpPr>
          <p:nvPr>
            <p:ph type="title"/>
          </p:nvPr>
        </p:nvSpPr>
        <p:spPr>
          <a:xfrm>
            <a:off x="196402" y="165528"/>
            <a:ext cx="11089074" cy="591399"/>
          </a:xfrm>
        </p:spPr>
        <p:txBody>
          <a:bodyPr>
            <a:normAutofit fontScale="90000"/>
          </a:bodyPr>
          <a:lstStyle/>
          <a:p>
            <a:pPr defTabSz="383790">
              <a:defRPr/>
            </a:pPr>
            <a:r>
              <a:rPr lang="en-US" altLang="en-US" sz="3555" b="1" cap="none" dirty="0">
                <a:solidFill>
                  <a:srgbClr val="FF0000"/>
                </a:solidFill>
                <a:latin typeface="Arial" panose="020B0604020202020204" pitchFamily="34" charset="0"/>
                <a:cs typeface="Arial" panose="020B0604020202020204" pitchFamily="34" charset="0"/>
              </a:rPr>
              <a:t>Example 4:</a:t>
            </a:r>
          </a:p>
        </p:txBody>
      </p:sp>
      <p:sp>
        <p:nvSpPr>
          <p:cNvPr id="2" name="TextBox 5">
            <a:extLst>
              <a:ext uri="{FF2B5EF4-FFF2-40B4-BE49-F238E27FC236}">
                <a16:creationId xmlns:a16="http://schemas.microsoft.com/office/drawing/2014/main" id="{94A80EB5-C615-51D2-1293-8FF2D6374455}"/>
              </a:ext>
            </a:extLst>
          </p:cNvPr>
          <p:cNvSpPr txBox="1">
            <a:spLocks noChangeArrowheads="1"/>
          </p:cNvSpPr>
          <p:nvPr/>
        </p:nvSpPr>
        <p:spPr bwMode="auto">
          <a:xfrm>
            <a:off x="5592726" y="461227"/>
            <a:ext cx="6470998"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entury Gothic" panose="020B0502020202020204" pitchFamily="34" charset="0"/>
              </a:defRPr>
            </a:lvl1pPr>
            <a:lvl2pPr marL="1085850" indent="-34290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sz="2400" dirty="0">
                <a:solidFill>
                  <a:srgbClr val="FFFF00"/>
                </a:solidFill>
              </a:rPr>
              <a:t>void </a:t>
            </a:r>
            <a:r>
              <a:rPr lang="en-US" sz="2400" strike="sngStrike" dirty="0">
                <a:solidFill>
                  <a:srgbClr val="FF0000"/>
                </a:solidFill>
              </a:rPr>
              <a:t>loop</a:t>
            </a:r>
            <a:r>
              <a:rPr lang="en-US" sz="2400" dirty="0">
                <a:solidFill>
                  <a:srgbClr val="FFFF00"/>
                </a:solidFill>
              </a:rPr>
              <a:t>() {   </a:t>
            </a:r>
            <a:r>
              <a:rPr lang="en-US" sz="2400" dirty="0">
                <a:solidFill>
                  <a:srgbClr val="FF0000"/>
                </a:solidFill>
              </a:rPr>
              <a:t>setup</a:t>
            </a:r>
            <a:endParaRPr lang="en-US" sz="2400" i="1" dirty="0">
              <a:solidFill>
                <a:srgbClr val="FF0000"/>
              </a:solidFill>
            </a:endParaRPr>
          </a:p>
          <a:p>
            <a:r>
              <a:rPr lang="en-US" sz="2400" dirty="0">
                <a:solidFill>
                  <a:srgbClr val="FFFF00"/>
                </a:solidFill>
              </a:rPr>
              <a:t>    </a:t>
            </a:r>
            <a:r>
              <a:rPr lang="en-US" sz="2400" dirty="0" err="1">
                <a:solidFill>
                  <a:srgbClr val="FFFF00"/>
                </a:solidFill>
              </a:rPr>
              <a:t>pinMode</a:t>
            </a:r>
            <a:r>
              <a:rPr lang="en-US" sz="2400" dirty="0">
                <a:solidFill>
                  <a:srgbClr val="FFFF00"/>
                </a:solidFill>
              </a:rPr>
              <a:t>(RED_PIN, </a:t>
            </a:r>
            <a:r>
              <a:rPr lang="en-US" sz="2400" strike="sngStrike" dirty="0">
                <a:solidFill>
                  <a:srgbClr val="FF0000"/>
                </a:solidFill>
              </a:rPr>
              <a:t>INPUT</a:t>
            </a:r>
            <a:r>
              <a:rPr lang="en-US" sz="2400" dirty="0">
                <a:solidFill>
                  <a:srgbClr val="FFFF00"/>
                </a:solidFill>
              </a:rPr>
              <a:t>);  </a:t>
            </a:r>
            <a:r>
              <a:rPr lang="en-US" sz="2400" dirty="0">
                <a:solidFill>
                  <a:srgbClr val="FF0000"/>
                </a:solidFill>
              </a:rPr>
              <a:t>OUTPUT</a:t>
            </a:r>
            <a:endParaRPr lang="en-US" sz="2400" i="1" dirty="0">
              <a:solidFill>
                <a:srgbClr val="FF0000"/>
              </a:solidFill>
            </a:endParaRPr>
          </a:p>
          <a:p>
            <a:r>
              <a:rPr lang="en-US" sz="2400" dirty="0">
                <a:solidFill>
                  <a:srgbClr val="FFFF00"/>
                </a:solidFill>
              </a:rPr>
              <a:t>    </a:t>
            </a:r>
            <a:r>
              <a:rPr lang="en-US" sz="2400" strike="sngStrike" dirty="0">
                <a:solidFill>
                  <a:srgbClr val="FF0000"/>
                </a:solidFill>
              </a:rPr>
              <a:t>TCCR0A</a:t>
            </a:r>
            <a:r>
              <a:rPr lang="en-US" sz="2400" dirty="0">
                <a:solidFill>
                  <a:srgbClr val="FFFF00"/>
                </a:solidFill>
              </a:rPr>
              <a:t> = 0b00000000;  </a:t>
            </a:r>
            <a:r>
              <a:rPr lang="en-US" sz="2400" dirty="0">
                <a:solidFill>
                  <a:srgbClr val="FF0000"/>
                </a:solidFill>
              </a:rPr>
              <a:t>TCCR1A</a:t>
            </a:r>
            <a:endParaRPr lang="en-US" sz="2400" i="1" dirty="0">
              <a:solidFill>
                <a:srgbClr val="FF0000"/>
              </a:solidFill>
            </a:endParaRPr>
          </a:p>
          <a:p>
            <a:r>
              <a:rPr lang="en-US" sz="2400" dirty="0">
                <a:solidFill>
                  <a:srgbClr val="FFFF00"/>
                </a:solidFill>
              </a:rPr>
              <a:t>    </a:t>
            </a:r>
            <a:r>
              <a:rPr lang="en-US" sz="2400" strike="sngStrike" dirty="0">
                <a:solidFill>
                  <a:srgbClr val="FF0000"/>
                </a:solidFill>
              </a:rPr>
              <a:t>TCCR0B</a:t>
            </a:r>
            <a:r>
              <a:rPr lang="en-US" sz="2400" dirty="0">
                <a:solidFill>
                  <a:srgbClr val="FF0000"/>
                </a:solidFill>
              </a:rPr>
              <a:t> </a:t>
            </a:r>
            <a:r>
              <a:rPr lang="en-US" sz="2400" dirty="0">
                <a:solidFill>
                  <a:srgbClr val="FFFF00"/>
                </a:solidFill>
              </a:rPr>
              <a:t>= 0b00000101;  </a:t>
            </a:r>
            <a:r>
              <a:rPr lang="en-US" sz="2400" dirty="0">
                <a:solidFill>
                  <a:srgbClr val="FF0000"/>
                </a:solidFill>
              </a:rPr>
              <a:t>TCCR1B</a:t>
            </a:r>
            <a:endParaRPr lang="en-US" sz="2400" i="1" dirty="0">
              <a:solidFill>
                <a:srgbClr val="FF0000"/>
              </a:solidFill>
            </a:endParaRPr>
          </a:p>
          <a:p>
            <a:r>
              <a:rPr lang="en-US" sz="2400" dirty="0">
                <a:solidFill>
                  <a:srgbClr val="FFFF00"/>
                </a:solidFill>
              </a:rPr>
              <a:t>    TCNT1 = 0x0000;</a:t>
            </a:r>
            <a:endParaRPr lang="en-US" sz="2400" i="1" dirty="0">
              <a:solidFill>
                <a:srgbClr val="FFFF00"/>
              </a:solidFill>
            </a:endParaRPr>
          </a:p>
          <a:p>
            <a:r>
              <a:rPr lang="en-US" sz="2400" dirty="0">
                <a:solidFill>
                  <a:srgbClr val="FFFF00"/>
                </a:solidFill>
              </a:rPr>
              <a:t>          }</a:t>
            </a:r>
            <a:endParaRPr lang="en-US" sz="2400" i="1" dirty="0">
              <a:solidFill>
                <a:srgbClr val="FFFF00"/>
              </a:solidFill>
            </a:endParaRPr>
          </a:p>
          <a:p>
            <a:r>
              <a:rPr lang="en-US" sz="2400" dirty="0">
                <a:solidFill>
                  <a:srgbClr val="FFFF00"/>
                </a:solidFill>
              </a:rPr>
              <a:t> </a:t>
            </a:r>
            <a:endParaRPr lang="en-US" sz="2400" i="1" dirty="0">
              <a:solidFill>
                <a:srgbClr val="FFFF00"/>
              </a:solidFill>
            </a:endParaRPr>
          </a:p>
          <a:p>
            <a:r>
              <a:rPr lang="en-US" sz="2400" dirty="0">
                <a:solidFill>
                  <a:srgbClr val="FFFF00"/>
                </a:solidFill>
              </a:rPr>
              <a:t>void loop() {</a:t>
            </a:r>
            <a:endParaRPr lang="en-US" sz="2400" i="1" dirty="0">
              <a:solidFill>
                <a:srgbClr val="FFFF00"/>
              </a:solidFill>
            </a:endParaRPr>
          </a:p>
          <a:p>
            <a:r>
              <a:rPr lang="en-US" sz="2400" dirty="0">
                <a:solidFill>
                  <a:srgbClr val="FFFF00"/>
                </a:solidFill>
              </a:rPr>
              <a:t>    </a:t>
            </a:r>
            <a:r>
              <a:rPr lang="en-US" sz="2400" dirty="0" err="1">
                <a:solidFill>
                  <a:srgbClr val="FFFF00"/>
                </a:solidFill>
              </a:rPr>
              <a:t>digitalWrite</a:t>
            </a:r>
            <a:r>
              <a:rPr lang="en-US" sz="2400" dirty="0">
                <a:solidFill>
                  <a:srgbClr val="FFFF00"/>
                </a:solidFill>
              </a:rPr>
              <a:t>(RED_PIN, HIGH);   </a:t>
            </a:r>
            <a:endParaRPr lang="en-US" sz="2400" i="1" dirty="0">
              <a:solidFill>
                <a:srgbClr val="FFFF00"/>
              </a:solidFill>
            </a:endParaRPr>
          </a:p>
          <a:p>
            <a:r>
              <a:rPr lang="en-US" sz="2400" dirty="0">
                <a:solidFill>
                  <a:srgbClr val="FFFF00"/>
                </a:solidFill>
              </a:rPr>
              <a:t>    </a:t>
            </a:r>
            <a:r>
              <a:rPr lang="en-US" sz="2400" dirty="0" err="1">
                <a:solidFill>
                  <a:srgbClr val="FFFF00"/>
                </a:solidFill>
              </a:rPr>
              <a:t>delay_timer</a:t>
            </a:r>
            <a:r>
              <a:rPr lang="en-US" sz="2400" dirty="0">
                <a:solidFill>
                  <a:srgbClr val="FFFF00"/>
                </a:solidFill>
              </a:rPr>
              <a:t>(</a:t>
            </a:r>
            <a:r>
              <a:rPr lang="en-US" sz="2400" dirty="0" err="1">
                <a:solidFill>
                  <a:srgbClr val="FFFF00"/>
                </a:solidFill>
              </a:rPr>
              <a:t>red_on</a:t>
            </a:r>
            <a:r>
              <a:rPr lang="en-US" sz="2400" dirty="0">
                <a:solidFill>
                  <a:srgbClr val="FFFF00"/>
                </a:solidFill>
              </a:rPr>
              <a:t>); </a:t>
            </a:r>
            <a:endParaRPr lang="en-US" sz="2400" i="1" dirty="0">
              <a:solidFill>
                <a:srgbClr val="FFFF00"/>
              </a:solidFill>
            </a:endParaRPr>
          </a:p>
          <a:p>
            <a:r>
              <a:rPr lang="en-US" sz="2400" dirty="0">
                <a:solidFill>
                  <a:srgbClr val="FFFF00"/>
                </a:solidFill>
              </a:rPr>
              <a:t>   </a:t>
            </a:r>
            <a:endParaRPr lang="en-US" sz="2400" i="1" dirty="0">
              <a:solidFill>
                <a:srgbClr val="FFFF00"/>
              </a:solidFill>
            </a:endParaRPr>
          </a:p>
          <a:p>
            <a:r>
              <a:rPr lang="en-US" sz="2400" dirty="0">
                <a:solidFill>
                  <a:srgbClr val="FFFF00"/>
                </a:solidFill>
              </a:rPr>
              <a:t>    </a:t>
            </a:r>
            <a:r>
              <a:rPr lang="en-US" sz="2400" strike="sngStrike" dirty="0" err="1">
                <a:solidFill>
                  <a:srgbClr val="FF0000"/>
                </a:solidFill>
              </a:rPr>
              <a:t>digitalRead</a:t>
            </a:r>
            <a:r>
              <a:rPr lang="en-US" sz="2400" dirty="0">
                <a:solidFill>
                  <a:srgbClr val="FFFF00"/>
                </a:solidFill>
              </a:rPr>
              <a:t>(RED_PIN, LOW);  </a:t>
            </a:r>
            <a:r>
              <a:rPr lang="en-US" sz="2400" dirty="0" err="1">
                <a:solidFill>
                  <a:srgbClr val="FF0000"/>
                </a:solidFill>
              </a:rPr>
              <a:t>digitalWrite</a:t>
            </a:r>
            <a:endParaRPr lang="en-US" sz="2400" i="1" dirty="0">
              <a:solidFill>
                <a:srgbClr val="FF0000"/>
              </a:solidFill>
            </a:endParaRPr>
          </a:p>
          <a:p>
            <a:r>
              <a:rPr lang="en-US" sz="2400" dirty="0">
                <a:solidFill>
                  <a:srgbClr val="FFFF00"/>
                </a:solidFill>
              </a:rPr>
              <a:t>    </a:t>
            </a:r>
            <a:r>
              <a:rPr lang="en-US" sz="2400" strike="sngStrike" dirty="0">
                <a:solidFill>
                  <a:srgbClr val="FF0000"/>
                </a:solidFill>
              </a:rPr>
              <a:t>delay</a:t>
            </a:r>
            <a:r>
              <a:rPr lang="en-US" sz="2400" dirty="0">
                <a:solidFill>
                  <a:srgbClr val="FFFF00"/>
                </a:solidFill>
              </a:rPr>
              <a:t>(</a:t>
            </a:r>
            <a:r>
              <a:rPr lang="en-US" sz="2400" dirty="0" err="1">
                <a:solidFill>
                  <a:srgbClr val="FFFF00"/>
                </a:solidFill>
              </a:rPr>
              <a:t>red_off</a:t>
            </a:r>
            <a:r>
              <a:rPr lang="en-US" sz="2400" dirty="0">
                <a:solidFill>
                  <a:srgbClr val="FFFF00"/>
                </a:solidFill>
              </a:rPr>
              <a:t>);				     </a:t>
            </a:r>
            <a:r>
              <a:rPr lang="en-US" sz="2400" dirty="0" err="1">
                <a:solidFill>
                  <a:srgbClr val="FF0000"/>
                </a:solidFill>
              </a:rPr>
              <a:t>delay_timer</a:t>
            </a:r>
            <a:endParaRPr lang="en-US" sz="2400" i="1" dirty="0">
              <a:solidFill>
                <a:srgbClr val="FF0000"/>
              </a:solidFill>
            </a:endParaRPr>
          </a:p>
          <a:p>
            <a:r>
              <a:rPr lang="en-US" sz="2400" dirty="0">
                <a:solidFill>
                  <a:srgbClr val="FFFF00"/>
                </a:solidFill>
              </a:rPr>
              <a:t>          }</a:t>
            </a:r>
            <a:endParaRPr lang="en-US" sz="3200" i="1" dirty="0">
              <a:solidFill>
                <a:srgbClr val="FFFF00"/>
              </a:solidFill>
            </a:endParaRPr>
          </a:p>
        </p:txBody>
      </p:sp>
    </p:spTree>
    <p:extLst>
      <p:ext uri="{BB962C8B-B14F-4D97-AF65-F5344CB8AC3E}">
        <p14:creationId xmlns:p14="http://schemas.microsoft.com/office/powerpoint/2010/main" val="3737567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943" y="335280"/>
            <a:ext cx="10840914" cy="879566"/>
          </a:xfrm>
        </p:spPr>
        <p:txBody>
          <a:bodyPr>
            <a:normAutofit/>
          </a:bodyPr>
          <a:lstStyle/>
          <a:p>
            <a:r>
              <a:rPr lang="en-US" sz="4000" b="1" cap="none" dirty="0"/>
              <a:t>References</a:t>
            </a:r>
          </a:p>
        </p:txBody>
      </p:sp>
      <p:sp>
        <p:nvSpPr>
          <p:cNvPr id="3" name="Content Placeholder 2"/>
          <p:cNvSpPr>
            <a:spLocks noGrp="1"/>
          </p:cNvSpPr>
          <p:nvPr>
            <p:ph idx="1"/>
          </p:nvPr>
        </p:nvSpPr>
        <p:spPr>
          <a:xfrm>
            <a:off x="195943" y="1869601"/>
            <a:ext cx="11769634" cy="1970879"/>
          </a:xfrm>
        </p:spPr>
        <p:txBody>
          <a:bodyPr>
            <a:normAutofit/>
          </a:bodyPr>
          <a:lstStyle/>
          <a:p>
            <a:r>
              <a:rPr lang="en-US" sz="2800" dirty="0">
                <a:latin typeface="Arial" panose="020B0604020202020204" pitchFamily="34" charset="0"/>
                <a:cs typeface="Arial" panose="020B0604020202020204" pitchFamily="34" charset="0"/>
              </a:rPr>
              <a:t>ATMega328 manual</a:t>
            </a:r>
          </a:p>
          <a:p>
            <a:pPr algn="just"/>
            <a:r>
              <a:rPr lang="en-US" sz="2800" dirty="0">
                <a:latin typeface="Arial" panose="020B0604020202020204" pitchFamily="34" charset="0"/>
                <a:cs typeface="Arial" panose="020B0604020202020204" pitchFamily="34" charset="0"/>
                <a:hlinkClick r:id="rId2"/>
              </a:rPr>
              <a:t>https://www.avrfreaks.net/forum/tut-c-newbies-guide-avr-timers</a:t>
            </a:r>
            <a:r>
              <a:rPr lang="en-US" sz="2800" dirty="0">
                <a:latin typeface="Arial" panose="020B0604020202020204" pitchFamily="34" charset="0"/>
                <a:cs typeface="Arial" panose="020B0604020202020204" pitchFamily="34" charset="0"/>
              </a:rPr>
              <a:t> </a:t>
            </a:r>
          </a:p>
          <a:p>
            <a:pPr algn="just"/>
            <a:r>
              <a:rPr lang="en-US" sz="2800" dirty="0">
                <a:latin typeface="Arial" panose="020B0604020202020204" pitchFamily="34" charset="0"/>
                <a:cs typeface="Arial" panose="020B0604020202020204" pitchFamily="34" charset="0"/>
                <a:hlinkClick r:id="rId3"/>
              </a:rPr>
              <a:t>http://maxembedded.com/2011/06/avr-timers-timer0/</a:t>
            </a:r>
            <a:endParaRPr lang="en-US" sz="2800" dirty="0">
              <a:latin typeface="Arial" panose="020B0604020202020204" pitchFamily="34" charset="0"/>
              <a:cs typeface="Arial" panose="020B0604020202020204" pitchFamily="34" charset="0"/>
            </a:endParaRPr>
          </a:p>
          <a:p>
            <a:endParaRPr lang="en-US" sz="2800" dirty="0"/>
          </a:p>
          <a:p>
            <a:endParaRPr lang="en-US" sz="2800" dirty="0"/>
          </a:p>
        </p:txBody>
      </p:sp>
      <p:sp>
        <p:nvSpPr>
          <p:cNvPr id="4" name="Date Placeholder 3"/>
          <p:cNvSpPr>
            <a:spLocks noGrp="1"/>
          </p:cNvSpPr>
          <p:nvPr>
            <p:ph type="dt" sz="half" idx="10"/>
          </p:nvPr>
        </p:nvSpPr>
        <p:spPr/>
        <p:txBody>
          <a:bodyPr/>
          <a:lstStyle/>
          <a:p>
            <a:fld id="{51D728F1-29AC-4E82-9CF7-890CE3B3580F}" type="datetime3">
              <a:rPr lang="en-US" noProof="0" smtClean="0"/>
              <a:t>15 June 2026</a:t>
            </a:fld>
            <a:endParaRPr lang="en-US" noProof="0" dirty="0"/>
          </a:p>
        </p:txBody>
      </p:sp>
      <p:sp>
        <p:nvSpPr>
          <p:cNvPr id="5" name="Footer Placeholder 4"/>
          <p:cNvSpPr>
            <a:spLocks noGrp="1"/>
          </p:cNvSpPr>
          <p:nvPr>
            <p:ph type="ftr" sz="quarter" idx="11"/>
          </p:nvPr>
        </p:nvSpPr>
        <p:spPr/>
        <p:txBody>
          <a:bodyPr/>
          <a:lstStyle/>
          <a:p>
            <a:r>
              <a:rPr lang="en-US" noProof="0"/>
              <a:t>Course Teacher: Prof. Dr. Engr. Muhibul Haque Bhuyan</a:t>
            </a:r>
            <a:endParaRPr lang="en-US" noProof="0" dirty="0"/>
          </a:p>
        </p:txBody>
      </p:sp>
      <p:sp>
        <p:nvSpPr>
          <p:cNvPr id="6" name="Slide Number Placeholder 5"/>
          <p:cNvSpPr>
            <a:spLocks noGrp="1"/>
          </p:cNvSpPr>
          <p:nvPr>
            <p:ph type="sldNum" sz="quarter" idx="12"/>
          </p:nvPr>
        </p:nvSpPr>
        <p:spPr/>
        <p:txBody>
          <a:bodyPr/>
          <a:lstStyle/>
          <a:p>
            <a:fld id="{5D99DD2A-B520-4620-9B43-64B657BA2D42}" type="slidenum">
              <a:rPr lang="en-US" noProof="0" smtClean="0"/>
              <a:t>47</a:t>
            </a:fld>
            <a:endParaRPr lang="en-US" noProof="0" dirty="0"/>
          </a:p>
        </p:txBody>
      </p:sp>
    </p:spTree>
    <p:extLst>
      <p:ext uri="{BB962C8B-B14F-4D97-AF65-F5344CB8AC3E}">
        <p14:creationId xmlns:p14="http://schemas.microsoft.com/office/powerpoint/2010/main" val="36526521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99652-6805-4BCB-82F2-65ABD02EC79B}"/>
              </a:ext>
            </a:extLst>
          </p:cNvPr>
          <p:cNvSpPr>
            <a:spLocks noGrp="1"/>
          </p:cNvSpPr>
          <p:nvPr>
            <p:ph type="title"/>
          </p:nvPr>
        </p:nvSpPr>
        <p:spPr>
          <a:xfrm>
            <a:off x="386400" y="101456"/>
            <a:ext cx="10952018" cy="993054"/>
          </a:xfrm>
        </p:spPr>
        <p:txBody>
          <a:bodyPr>
            <a:normAutofit/>
          </a:bodyPr>
          <a:lstStyle/>
          <a:p>
            <a:r>
              <a:rPr lang="en-US" sz="5400" b="1" dirty="0">
                <a:latin typeface="Algerian" panose="04020705040A02060702" pitchFamily="82" charset="0"/>
              </a:rPr>
              <a:t>Thanks for attending….</a:t>
            </a:r>
          </a:p>
        </p:txBody>
      </p:sp>
      <p:grpSp>
        <p:nvGrpSpPr>
          <p:cNvPr id="5" name="Group 6"/>
          <p:cNvGrpSpPr>
            <a:grpSpLocks/>
          </p:cNvGrpSpPr>
          <p:nvPr/>
        </p:nvGrpSpPr>
        <p:grpSpPr bwMode="auto">
          <a:xfrm>
            <a:off x="4521201" y="914399"/>
            <a:ext cx="6091382" cy="5632317"/>
            <a:chOff x="432" y="1584"/>
            <a:chExt cx="3072" cy="2426"/>
          </a:xfrm>
        </p:grpSpPr>
        <p:sp>
          <p:nvSpPr>
            <p:cNvPr id="6" name="AutoShape 3"/>
            <p:cNvSpPr>
              <a:spLocks noChangeArrowheads="1"/>
            </p:cNvSpPr>
            <p:nvPr/>
          </p:nvSpPr>
          <p:spPr bwMode="auto">
            <a:xfrm>
              <a:off x="1296" y="1584"/>
              <a:ext cx="2208" cy="816"/>
            </a:xfrm>
            <a:prstGeom prst="cloudCallout">
              <a:avLst>
                <a:gd name="adj1" fmla="val -41574"/>
                <a:gd name="adj2" fmla="val 140565"/>
              </a:avLst>
            </a:prstGeom>
            <a:solidFill>
              <a:schemeClr val="accent3"/>
            </a:solid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endParaRPr lang="en-US" altLang="en-US"/>
            </a:p>
          </p:txBody>
        </p:sp>
        <p:pic>
          <p:nvPicPr>
            <p:cNvPr id="7" name="Picture 4" descr="j030125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 y="3024"/>
              <a:ext cx="1153" cy="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WordArt 5"/>
            <p:cNvSpPr>
              <a:spLocks noChangeArrowheads="1" noChangeShapeType="1" noTextEdit="1"/>
            </p:cNvSpPr>
            <p:nvPr/>
          </p:nvSpPr>
          <p:spPr bwMode="auto">
            <a:xfrm>
              <a:off x="2208" y="1728"/>
              <a:ext cx="421" cy="612"/>
            </a:xfrm>
            <a:prstGeom prst="rect">
              <a:avLst/>
            </a:prstGeom>
          </p:spPr>
          <p:txBody>
            <a:bodyPr wrap="none" fromWordArt="1">
              <a:prstTxWarp prst="textPlain">
                <a:avLst>
                  <a:gd name="adj" fmla="val 50000"/>
                </a:avLst>
              </a:prstTxWarp>
            </a:bodyPr>
            <a:lstStyle/>
            <a:p>
              <a:pPr algn="ctr"/>
              <a:r>
                <a:rPr lang="en-US" sz="4600" kern="10" dirty="0">
                  <a:ln w="9525">
                    <a:solidFill>
                      <a:schemeClr val="accent5">
                        <a:lumMod val="75000"/>
                      </a:schemeClr>
                    </a:solidFill>
                    <a:round/>
                    <a:headEnd/>
                    <a:tailEnd/>
                  </a:ln>
                  <a:solidFill>
                    <a:srgbClr val="00B050"/>
                  </a:solidFill>
                  <a:latin typeface="Arial Black"/>
                </a:rPr>
                <a:t>?</a:t>
              </a:r>
            </a:p>
          </p:txBody>
        </p:sp>
      </p:grpSp>
      <p:sp>
        <p:nvSpPr>
          <p:cNvPr id="3" name="Date Placeholder 2"/>
          <p:cNvSpPr>
            <a:spLocks noGrp="1"/>
          </p:cNvSpPr>
          <p:nvPr>
            <p:ph type="dt" sz="half" idx="10"/>
          </p:nvPr>
        </p:nvSpPr>
        <p:spPr/>
        <p:txBody>
          <a:bodyPr/>
          <a:lstStyle/>
          <a:p>
            <a:fld id="{9238FA2E-EF7F-4A21-A6E9-4228BCC9D0C4}" type="datetime3">
              <a:rPr lang="en-US" noProof="0" smtClean="0"/>
              <a:t>15 June 2026</a:t>
            </a:fld>
            <a:endParaRPr lang="en-US" noProof="0" dirty="0"/>
          </a:p>
        </p:txBody>
      </p:sp>
      <p:sp>
        <p:nvSpPr>
          <p:cNvPr id="4" name="Footer Placeholder 3"/>
          <p:cNvSpPr>
            <a:spLocks noGrp="1"/>
          </p:cNvSpPr>
          <p:nvPr>
            <p:ph type="ftr" sz="quarter" idx="11"/>
          </p:nvPr>
        </p:nvSpPr>
        <p:spPr/>
        <p:txBody>
          <a:bodyPr/>
          <a:lstStyle/>
          <a:p>
            <a:r>
              <a:rPr lang="en-US" noProof="0"/>
              <a:t>Course Teacher: Prof. Dr. Engr. Muhibul Haque Bhuyan</a:t>
            </a:r>
            <a:endParaRPr lang="en-US" noProof="0" dirty="0"/>
          </a:p>
        </p:txBody>
      </p:sp>
      <p:sp>
        <p:nvSpPr>
          <p:cNvPr id="9" name="Slide Number Placeholder 8"/>
          <p:cNvSpPr>
            <a:spLocks noGrp="1"/>
          </p:cNvSpPr>
          <p:nvPr>
            <p:ph type="sldNum" sz="quarter" idx="12"/>
          </p:nvPr>
        </p:nvSpPr>
        <p:spPr/>
        <p:txBody>
          <a:bodyPr/>
          <a:lstStyle/>
          <a:p>
            <a:fld id="{5D99DD2A-B520-4620-9B43-64B657BA2D42}" type="slidenum">
              <a:rPr lang="en-US" noProof="0" smtClean="0"/>
              <a:t>48</a:t>
            </a:fld>
            <a:endParaRPr lang="en-US" noProof="0" dirty="0"/>
          </a:p>
        </p:txBody>
      </p:sp>
    </p:spTree>
    <p:extLst>
      <p:ext uri="{BB962C8B-B14F-4D97-AF65-F5344CB8AC3E}">
        <p14:creationId xmlns:p14="http://schemas.microsoft.com/office/powerpoint/2010/main" val="26410015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Default">
      <a:majorFont>
        <a:latin typeface="Corbel"/>
        <a:ea typeface=""/>
        <a:cs typeface=""/>
      </a:majorFont>
      <a:minorFont>
        <a:latin typeface="Corbel"/>
        <a:ea typeface=""/>
        <a:cs typeface=""/>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spDef>
      <a:spPr>
        <a:ln>
          <a:noFill/>
        </a:ln>
      </a:spPr>
      <a:bodyPr rtlCol="0" anchor="ctr"/>
      <a:lstStyle>
        <a:defPPr algn="ctr">
          <a:defRPr/>
        </a:defPPr>
      </a:lstStyle>
      <a:style>
        <a:lnRef idx="2">
          <a:schemeClr val="accent3">
            <a:shade val="50000"/>
          </a:schemeClr>
        </a:lnRef>
        <a:fillRef idx="1">
          <a:schemeClr val="accent3"/>
        </a:fillRef>
        <a:effectRef idx="0">
          <a:schemeClr val="accent3"/>
        </a:effectRef>
        <a:fontRef idx="minor">
          <a:schemeClr val="lt1"/>
        </a:fontRef>
      </a:style>
    </a:spDef>
  </a:objectDefaults>
  <a:extraClrSchemeLst/>
  <a:extLst>
    <a:ext uri="{05A4C25C-085E-4340-85A3-A5531E510DB2}">
      <thm15:themeFamily xmlns:thm15="http://schemas.microsoft.com/office/thememl/2012/main" name="TF22736411_Famous event in history presentation_AAS_v4" id="{885A6F1E-651B-4F15-A7C5-F8866BEBEDBA}" vid="{A424914B-CB64-4CFE-A131-6ACB64D36AA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EC94942-C689-461B-8649-1FD863C6BA2B}">
  <ds:schemaRefs>
    <ds:schemaRef ds:uri="http://schemas.microsoft.com/office/infopath/2007/PartnerControls"/>
    <ds:schemaRef ds:uri="http://purl.org/dc/dcmitype/"/>
    <ds:schemaRef ds:uri="http://schemas.microsoft.com/office/2006/documentManagement/types"/>
    <ds:schemaRef ds:uri="http://purl.org/dc/elements/1.1/"/>
    <ds:schemaRef ds:uri="71af3243-3dd4-4a8d-8c0d-dd76da1f02a5"/>
    <ds:schemaRef ds:uri="http://schemas.openxmlformats.org/package/2006/metadata/core-properties"/>
    <ds:schemaRef ds:uri="http://purl.org/dc/terms/"/>
    <ds:schemaRef ds:uri="16c05727-aa75-4e4a-9b5f-8a80a1165891"/>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096277B9-27DA-47CA-9593-62E4BB44AB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C25A74-1E0C-4362-AFA3-6197BD285F3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Famous event in history presentation</Template>
  <TotalTime>2596</TotalTime>
  <Words>5450</Words>
  <Application>Microsoft Office PowerPoint</Application>
  <PresentationFormat>Widescreen</PresentationFormat>
  <Paragraphs>749</Paragraphs>
  <Slides>48</Slides>
  <Notes>25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48</vt:i4>
      </vt:variant>
    </vt:vector>
  </HeadingPairs>
  <TitlesOfParts>
    <vt:vector size="61" baseType="lpstr">
      <vt:lpstr>Algerian</vt:lpstr>
      <vt:lpstr>Arial</vt:lpstr>
      <vt:lpstr>Arial Black</vt:lpstr>
      <vt:lpstr>Arial Narrow</vt:lpstr>
      <vt:lpstr>Calibri</vt:lpstr>
      <vt:lpstr>Cambria Math</vt:lpstr>
      <vt:lpstr>Corbel</vt:lpstr>
      <vt:lpstr>Georgia</vt:lpstr>
      <vt:lpstr>Georgia Pro Cond</vt:lpstr>
      <vt:lpstr>Symbol</vt:lpstr>
      <vt:lpstr>Times New Roman</vt:lpstr>
      <vt:lpstr>Wingdings</vt:lpstr>
      <vt:lpstr>Celestial</vt:lpstr>
      <vt:lpstr>Lecture # 02M</vt:lpstr>
      <vt:lpstr>Introduction to Timers</vt:lpstr>
      <vt:lpstr>What is a Timer?</vt:lpstr>
      <vt:lpstr>What is a Timer?</vt:lpstr>
      <vt:lpstr>What is a Timer?</vt:lpstr>
      <vt:lpstr>Usefulness of Timer :</vt:lpstr>
      <vt:lpstr>Usefulness of Timer :</vt:lpstr>
      <vt:lpstr>Timer Basics: Overflow</vt:lpstr>
      <vt:lpstr>How Timer Works?</vt:lpstr>
      <vt:lpstr>Timer Basics: Registers (Timer0)</vt:lpstr>
      <vt:lpstr>Timer Basics: Registers (Timer0)</vt:lpstr>
      <vt:lpstr>Timer Basics: Registers (Timer0)</vt:lpstr>
      <vt:lpstr>Timer Basics: Registers (Timer0)</vt:lpstr>
      <vt:lpstr>Timer Basics: Registers (Timer0)</vt:lpstr>
      <vt:lpstr>Timer Basics: Registers (Timer1)</vt:lpstr>
      <vt:lpstr>Timer Basics: Registers (Timer1)</vt:lpstr>
      <vt:lpstr>Timer Basics: Terminology</vt:lpstr>
      <vt:lpstr>Timer Modes: Normal Mode</vt:lpstr>
      <vt:lpstr>PowerPoint Presentation</vt:lpstr>
      <vt:lpstr>PowerPoint Presentation</vt:lpstr>
      <vt:lpstr>PowerPoint Presentation</vt:lpstr>
      <vt:lpstr>PowerPoint Presentation</vt:lpstr>
      <vt:lpstr>Timer for Delay: Calculating Count</vt:lpstr>
      <vt:lpstr>Timer for Delay: Calculating Count</vt:lpstr>
      <vt:lpstr>Timer for Delay: Calculating Count</vt:lpstr>
      <vt:lpstr>Timer for Delay: Calculating Count</vt:lpstr>
      <vt:lpstr>Timer for Delay: Calculating Count</vt:lpstr>
      <vt:lpstr>Timer for Delay: Calculating Count</vt:lpstr>
      <vt:lpstr>Problem Statement 1</vt:lpstr>
      <vt:lpstr>Problem Statement 2</vt:lpstr>
      <vt:lpstr>Code:</vt:lpstr>
      <vt:lpstr>Old Code using the delay() Function for the Traffic Control </vt:lpstr>
      <vt:lpstr>Code for the Timer0 Function </vt:lpstr>
      <vt:lpstr>Modified Code using Timer0 for the Traffic Control </vt:lpstr>
      <vt:lpstr>Modified Code using Timer0 for the Traffic Control </vt:lpstr>
      <vt:lpstr>Example 1:</vt:lpstr>
      <vt:lpstr>Example 1:</vt:lpstr>
      <vt:lpstr>Example 2:</vt:lpstr>
      <vt:lpstr>PowerPoint Presentation</vt:lpstr>
      <vt:lpstr>Example 2:</vt:lpstr>
      <vt:lpstr>Example 3:</vt:lpstr>
      <vt:lpstr>Example 3:</vt:lpstr>
      <vt:lpstr>Example 4:</vt:lpstr>
      <vt:lpstr>Example 4:</vt:lpstr>
      <vt:lpstr>Example 4:</vt:lpstr>
      <vt:lpstr>Example 4:</vt:lpstr>
      <vt:lpstr>References</vt:lpstr>
      <vt:lpstr>Thanks for attending….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 02M</dc:title>
  <dc:creator>Muhibul Haque Bhuyan</dc:creator>
  <cp:lastModifiedBy>Md. Shaoran Sayem</cp:lastModifiedBy>
  <cp:revision>35</cp:revision>
  <dcterms:created xsi:type="dcterms:W3CDTF">2022-05-17T14:56:55Z</dcterms:created>
  <dcterms:modified xsi:type="dcterms:W3CDTF">2026-06-15T06:05:45Z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