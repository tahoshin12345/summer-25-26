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6"/>
  </p:notesMasterIdLst>
  <p:sldIdLst>
    <p:sldId id="368" r:id="rId2"/>
    <p:sldId id="313" r:id="rId3"/>
    <p:sldId id="319" r:id="rId4"/>
    <p:sldId id="363" r:id="rId5"/>
    <p:sldId id="341" r:id="rId6"/>
    <p:sldId id="342" r:id="rId7"/>
    <p:sldId id="343" r:id="rId8"/>
    <p:sldId id="345" r:id="rId9"/>
    <p:sldId id="347" r:id="rId10"/>
    <p:sldId id="346" r:id="rId11"/>
    <p:sldId id="316" r:id="rId12"/>
    <p:sldId id="317" r:id="rId13"/>
    <p:sldId id="355" r:id="rId14"/>
    <p:sldId id="356" r:id="rId15"/>
    <p:sldId id="365" r:id="rId16"/>
    <p:sldId id="357" r:id="rId17"/>
    <p:sldId id="364" r:id="rId18"/>
    <p:sldId id="358" r:id="rId19"/>
    <p:sldId id="359" r:id="rId20"/>
    <p:sldId id="360" r:id="rId21"/>
    <p:sldId id="369" r:id="rId22"/>
    <p:sldId id="361" r:id="rId23"/>
    <p:sldId id="362" r:id="rId24"/>
    <p:sldId id="370" r:id="rId25"/>
    <p:sldId id="380" r:id="rId26"/>
    <p:sldId id="382" r:id="rId27"/>
    <p:sldId id="321" r:id="rId28"/>
    <p:sldId id="372" r:id="rId29"/>
    <p:sldId id="373" r:id="rId30"/>
    <p:sldId id="374" r:id="rId31"/>
    <p:sldId id="375" r:id="rId32"/>
    <p:sldId id="376" r:id="rId33"/>
    <p:sldId id="377" r:id="rId34"/>
    <p:sldId id="378" r:id="rId35"/>
    <p:sldId id="379" r:id="rId36"/>
    <p:sldId id="371" r:id="rId37"/>
    <p:sldId id="366" r:id="rId38"/>
    <p:sldId id="367" r:id="rId39"/>
    <p:sldId id="348" r:id="rId40"/>
    <p:sldId id="349" r:id="rId41"/>
    <p:sldId id="350" r:id="rId42"/>
    <p:sldId id="354" r:id="rId43"/>
    <p:sldId id="312" r:id="rId44"/>
    <p:sldId id="340" r:id="rId45"/>
  </p:sldIdLst>
  <p:sldSz cx="14630400" cy="7772400"/>
  <p:notesSz cx="6858000" cy="9144000"/>
  <p:defaultTextStyle>
    <a:defPPr>
      <a:defRPr lang="en-US"/>
    </a:defPPr>
    <a:lvl1pPr marL="0" algn="l" defTabSz="1280160" rtl="0" eaLnBrk="1" latinLnBrk="0" hangingPunct="1">
      <a:defRPr sz="2520" kern="1200">
        <a:solidFill>
          <a:schemeClr val="tx1"/>
        </a:solidFill>
        <a:latin typeface="+mn-lt"/>
        <a:ea typeface="+mn-ea"/>
        <a:cs typeface="+mn-cs"/>
      </a:defRPr>
    </a:lvl1pPr>
    <a:lvl2pPr marL="640080" algn="l" defTabSz="1280160" rtl="0" eaLnBrk="1" latinLnBrk="0" hangingPunct="1">
      <a:defRPr sz="2520" kern="1200">
        <a:solidFill>
          <a:schemeClr val="tx1"/>
        </a:solidFill>
        <a:latin typeface="+mn-lt"/>
        <a:ea typeface="+mn-ea"/>
        <a:cs typeface="+mn-cs"/>
      </a:defRPr>
    </a:lvl2pPr>
    <a:lvl3pPr marL="1280160" algn="l" defTabSz="1280160" rtl="0" eaLnBrk="1" latinLnBrk="0" hangingPunct="1">
      <a:defRPr sz="2520" kern="1200">
        <a:solidFill>
          <a:schemeClr val="tx1"/>
        </a:solidFill>
        <a:latin typeface="+mn-lt"/>
        <a:ea typeface="+mn-ea"/>
        <a:cs typeface="+mn-cs"/>
      </a:defRPr>
    </a:lvl3pPr>
    <a:lvl4pPr marL="1920240" algn="l" defTabSz="1280160" rtl="0" eaLnBrk="1" latinLnBrk="0" hangingPunct="1">
      <a:defRPr sz="2520" kern="1200">
        <a:solidFill>
          <a:schemeClr val="tx1"/>
        </a:solidFill>
        <a:latin typeface="+mn-lt"/>
        <a:ea typeface="+mn-ea"/>
        <a:cs typeface="+mn-cs"/>
      </a:defRPr>
    </a:lvl4pPr>
    <a:lvl5pPr marL="2560320" algn="l" defTabSz="1280160" rtl="0" eaLnBrk="1" latinLnBrk="0" hangingPunct="1">
      <a:defRPr sz="2520" kern="1200">
        <a:solidFill>
          <a:schemeClr val="tx1"/>
        </a:solidFill>
        <a:latin typeface="+mn-lt"/>
        <a:ea typeface="+mn-ea"/>
        <a:cs typeface="+mn-cs"/>
      </a:defRPr>
    </a:lvl5pPr>
    <a:lvl6pPr marL="3200400" algn="l" defTabSz="1280160" rtl="0" eaLnBrk="1" latinLnBrk="0" hangingPunct="1">
      <a:defRPr sz="2520" kern="1200">
        <a:solidFill>
          <a:schemeClr val="tx1"/>
        </a:solidFill>
        <a:latin typeface="+mn-lt"/>
        <a:ea typeface="+mn-ea"/>
        <a:cs typeface="+mn-cs"/>
      </a:defRPr>
    </a:lvl6pPr>
    <a:lvl7pPr marL="3840480" algn="l" defTabSz="1280160" rtl="0" eaLnBrk="1" latinLnBrk="0" hangingPunct="1">
      <a:defRPr sz="2520" kern="1200">
        <a:solidFill>
          <a:schemeClr val="tx1"/>
        </a:solidFill>
        <a:latin typeface="+mn-lt"/>
        <a:ea typeface="+mn-ea"/>
        <a:cs typeface="+mn-cs"/>
      </a:defRPr>
    </a:lvl7pPr>
    <a:lvl8pPr marL="4480560" algn="l" defTabSz="1280160" rtl="0" eaLnBrk="1" latinLnBrk="0" hangingPunct="1">
      <a:defRPr sz="2520" kern="1200">
        <a:solidFill>
          <a:schemeClr val="tx1"/>
        </a:solidFill>
        <a:latin typeface="+mn-lt"/>
        <a:ea typeface="+mn-ea"/>
        <a:cs typeface="+mn-cs"/>
      </a:defRPr>
    </a:lvl8pPr>
    <a:lvl9pPr marL="5120640" algn="l" defTabSz="1280160" rtl="0" eaLnBrk="1" latinLnBrk="0" hangingPunct="1">
      <a:defRPr sz="252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460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44" autoAdjust="0"/>
    <p:restoredTop sz="94601" autoAdjust="0"/>
  </p:normalViewPr>
  <p:slideViewPr>
    <p:cSldViewPr>
      <p:cViewPr varScale="1">
        <p:scale>
          <a:sx n="64" d="100"/>
          <a:sy n="64" d="100"/>
        </p:scale>
        <p:origin x="64" y="140"/>
      </p:cViewPr>
      <p:guideLst>
        <p:guide orient="horz" pos="2448"/>
        <p:guide pos="460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8C3B376-41F8-407B-865F-003C89CFA985}" type="datetimeFigureOut">
              <a:rPr lang="en-US" smtClean="0"/>
              <a:pPr/>
              <a:t>6/15/2026</a:t>
            </a:fld>
            <a:endParaRPr lang="en-US"/>
          </a:p>
        </p:txBody>
      </p:sp>
      <p:sp>
        <p:nvSpPr>
          <p:cNvPr id="4" name="Slide Image Placeholder 3"/>
          <p:cNvSpPr>
            <a:spLocks noGrp="1" noRot="1" noChangeAspect="1"/>
          </p:cNvSpPr>
          <p:nvPr>
            <p:ph type="sldImg" idx="2"/>
          </p:nvPr>
        </p:nvSpPr>
        <p:spPr>
          <a:xfrm>
            <a:off x="203200" y="685800"/>
            <a:ext cx="64516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3F28183-2755-4A32-BE4D-8CF9D32630D9}" type="slidenum">
              <a:rPr lang="en-US" smtClean="0"/>
              <a:pPr/>
              <a:t>‹#›</a:t>
            </a:fld>
            <a:endParaRPr lang="en-US"/>
          </a:p>
        </p:txBody>
      </p:sp>
    </p:spTree>
    <p:extLst>
      <p:ext uri="{BB962C8B-B14F-4D97-AF65-F5344CB8AC3E}">
        <p14:creationId xmlns:p14="http://schemas.microsoft.com/office/powerpoint/2010/main" val="2575210134"/>
      </p:ext>
    </p:extLst>
  </p:cSld>
  <p:clrMap bg1="lt1" tx1="dk1" bg2="lt2" tx2="dk2" accent1="accent1" accent2="accent2" accent3="accent3" accent4="accent4" accent5="accent5" accent6="accent6" hlink="hlink" folHlink="folHlink"/>
  <p:notesStyle>
    <a:lvl1pPr marL="0" algn="l" defTabSz="1280160" rtl="0" eaLnBrk="1" latinLnBrk="0" hangingPunct="1">
      <a:defRPr sz="1680" kern="1200">
        <a:solidFill>
          <a:schemeClr val="tx1"/>
        </a:solidFill>
        <a:latin typeface="+mn-lt"/>
        <a:ea typeface="+mn-ea"/>
        <a:cs typeface="+mn-cs"/>
      </a:defRPr>
    </a:lvl1pPr>
    <a:lvl2pPr marL="640080" algn="l" defTabSz="1280160" rtl="0" eaLnBrk="1" latinLnBrk="0" hangingPunct="1">
      <a:defRPr sz="1680" kern="1200">
        <a:solidFill>
          <a:schemeClr val="tx1"/>
        </a:solidFill>
        <a:latin typeface="+mn-lt"/>
        <a:ea typeface="+mn-ea"/>
        <a:cs typeface="+mn-cs"/>
      </a:defRPr>
    </a:lvl2pPr>
    <a:lvl3pPr marL="1280160" algn="l" defTabSz="1280160" rtl="0" eaLnBrk="1" latinLnBrk="0" hangingPunct="1">
      <a:defRPr sz="1680" kern="1200">
        <a:solidFill>
          <a:schemeClr val="tx1"/>
        </a:solidFill>
        <a:latin typeface="+mn-lt"/>
        <a:ea typeface="+mn-ea"/>
        <a:cs typeface="+mn-cs"/>
      </a:defRPr>
    </a:lvl3pPr>
    <a:lvl4pPr marL="1920240" algn="l" defTabSz="1280160" rtl="0" eaLnBrk="1" latinLnBrk="0" hangingPunct="1">
      <a:defRPr sz="1680" kern="1200">
        <a:solidFill>
          <a:schemeClr val="tx1"/>
        </a:solidFill>
        <a:latin typeface="+mn-lt"/>
        <a:ea typeface="+mn-ea"/>
        <a:cs typeface="+mn-cs"/>
      </a:defRPr>
    </a:lvl4pPr>
    <a:lvl5pPr marL="2560320" algn="l" defTabSz="1280160" rtl="0" eaLnBrk="1" latinLnBrk="0" hangingPunct="1">
      <a:defRPr sz="1680" kern="1200">
        <a:solidFill>
          <a:schemeClr val="tx1"/>
        </a:solidFill>
        <a:latin typeface="+mn-lt"/>
        <a:ea typeface="+mn-ea"/>
        <a:cs typeface="+mn-cs"/>
      </a:defRPr>
    </a:lvl5pPr>
    <a:lvl6pPr marL="3200400" algn="l" defTabSz="1280160" rtl="0" eaLnBrk="1" latinLnBrk="0" hangingPunct="1">
      <a:defRPr sz="1680" kern="1200">
        <a:solidFill>
          <a:schemeClr val="tx1"/>
        </a:solidFill>
        <a:latin typeface="+mn-lt"/>
        <a:ea typeface="+mn-ea"/>
        <a:cs typeface="+mn-cs"/>
      </a:defRPr>
    </a:lvl6pPr>
    <a:lvl7pPr marL="3840480" algn="l" defTabSz="1280160" rtl="0" eaLnBrk="1" latinLnBrk="0" hangingPunct="1">
      <a:defRPr sz="1680" kern="1200">
        <a:solidFill>
          <a:schemeClr val="tx1"/>
        </a:solidFill>
        <a:latin typeface="+mn-lt"/>
        <a:ea typeface="+mn-ea"/>
        <a:cs typeface="+mn-cs"/>
      </a:defRPr>
    </a:lvl7pPr>
    <a:lvl8pPr marL="4480560" algn="l" defTabSz="1280160" rtl="0" eaLnBrk="1" latinLnBrk="0" hangingPunct="1">
      <a:defRPr sz="1680" kern="1200">
        <a:solidFill>
          <a:schemeClr val="tx1"/>
        </a:solidFill>
        <a:latin typeface="+mn-lt"/>
        <a:ea typeface="+mn-ea"/>
        <a:cs typeface="+mn-cs"/>
      </a:defRPr>
    </a:lvl8pPr>
    <a:lvl9pPr marL="5120640" algn="l" defTabSz="1280160" rtl="0" eaLnBrk="1" latinLnBrk="0" hangingPunct="1">
      <a:defRPr sz="168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0750">
              <a:spcBef>
                <a:spcPct val="30000"/>
              </a:spcBef>
              <a:defRPr>
                <a:solidFill>
                  <a:schemeClr val="tx1"/>
                </a:solidFill>
                <a:latin typeface="Times New Roman" panose="02020603050405020304" pitchFamily="18" charset="0"/>
              </a:defRPr>
            </a:lvl1pPr>
            <a:lvl2pPr marL="742950" indent="-285750" defTabSz="920750">
              <a:spcBef>
                <a:spcPct val="30000"/>
              </a:spcBef>
              <a:defRPr>
                <a:solidFill>
                  <a:schemeClr val="tx1"/>
                </a:solidFill>
                <a:latin typeface="Times New Roman" panose="02020603050405020304" pitchFamily="18" charset="0"/>
              </a:defRPr>
            </a:lvl2pPr>
            <a:lvl3pPr marL="1143000" indent="-228600" defTabSz="920750">
              <a:spcBef>
                <a:spcPct val="30000"/>
              </a:spcBef>
              <a:defRPr>
                <a:solidFill>
                  <a:schemeClr val="tx1"/>
                </a:solidFill>
                <a:latin typeface="Times New Roman" panose="02020603050405020304" pitchFamily="18" charset="0"/>
              </a:defRPr>
            </a:lvl3pPr>
            <a:lvl4pPr marL="1600200" indent="-228600" defTabSz="920750">
              <a:spcBef>
                <a:spcPct val="30000"/>
              </a:spcBef>
              <a:defRPr>
                <a:solidFill>
                  <a:schemeClr val="tx1"/>
                </a:solidFill>
                <a:latin typeface="Times New Roman" panose="02020603050405020304" pitchFamily="18" charset="0"/>
              </a:defRPr>
            </a:lvl4pPr>
            <a:lvl5pPr marL="2057400" indent="-228600" defTabSz="920750">
              <a:spcBef>
                <a:spcPct val="30000"/>
              </a:spcBef>
              <a:defRPr>
                <a:solidFill>
                  <a:schemeClr val="tx1"/>
                </a:solidFill>
                <a:latin typeface="Times New Roman" panose="02020603050405020304" pitchFamily="18" charset="0"/>
              </a:defRPr>
            </a:lvl5pPr>
            <a:lvl6pPr marL="2514600" indent="-228600" defTabSz="920750" eaLnBrk="0" fontAlgn="base" hangingPunct="0">
              <a:spcBef>
                <a:spcPct val="30000"/>
              </a:spcBef>
              <a:spcAft>
                <a:spcPct val="0"/>
              </a:spcAft>
              <a:defRPr>
                <a:solidFill>
                  <a:schemeClr val="tx1"/>
                </a:solidFill>
                <a:latin typeface="Times New Roman" panose="02020603050405020304" pitchFamily="18" charset="0"/>
              </a:defRPr>
            </a:lvl6pPr>
            <a:lvl7pPr marL="2971800" indent="-228600" defTabSz="920750" eaLnBrk="0" fontAlgn="base" hangingPunct="0">
              <a:spcBef>
                <a:spcPct val="30000"/>
              </a:spcBef>
              <a:spcAft>
                <a:spcPct val="0"/>
              </a:spcAft>
              <a:defRPr>
                <a:solidFill>
                  <a:schemeClr val="tx1"/>
                </a:solidFill>
                <a:latin typeface="Times New Roman" panose="02020603050405020304" pitchFamily="18" charset="0"/>
              </a:defRPr>
            </a:lvl7pPr>
            <a:lvl8pPr marL="3429000" indent="-228600" defTabSz="920750" eaLnBrk="0" fontAlgn="base" hangingPunct="0">
              <a:spcBef>
                <a:spcPct val="30000"/>
              </a:spcBef>
              <a:spcAft>
                <a:spcPct val="0"/>
              </a:spcAft>
              <a:defRPr>
                <a:solidFill>
                  <a:schemeClr val="tx1"/>
                </a:solidFill>
                <a:latin typeface="Times New Roman" panose="02020603050405020304" pitchFamily="18" charset="0"/>
              </a:defRPr>
            </a:lvl8pPr>
            <a:lvl9pPr marL="3886200" indent="-228600" defTabSz="920750" eaLnBrk="0" fontAlgn="base" hangingPunct="0">
              <a:spcBef>
                <a:spcPct val="30000"/>
              </a:spcBef>
              <a:spcAft>
                <a:spcPct val="0"/>
              </a:spcAft>
              <a:defRPr>
                <a:solidFill>
                  <a:schemeClr val="tx1"/>
                </a:solidFill>
                <a:latin typeface="Times New Roman" panose="02020603050405020304" pitchFamily="18" charset="0"/>
              </a:defRPr>
            </a:lvl9pPr>
          </a:lstStyle>
          <a:p>
            <a:pPr>
              <a:spcBef>
                <a:spcPct val="0"/>
              </a:spcBef>
            </a:pPr>
            <a:fld id="{197BAB13-D4A1-40A8-A557-79A139C3ED67}" type="slidenum">
              <a:rPr lang="en-US" altLang="en-US"/>
              <a:pPr>
                <a:spcBef>
                  <a:spcPct val="0"/>
                </a:spcBef>
              </a:pPr>
              <a:t>1</a:t>
            </a:fld>
            <a:endParaRPr lang="en-US" altLang="en-US"/>
          </a:p>
        </p:txBody>
      </p:sp>
      <p:sp>
        <p:nvSpPr>
          <p:cNvPr id="5123"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defRPr/>
            </a:pPr>
            <a:endParaRPr lang="en-US" altLang="en-US" sz="1851"/>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2</a:t>
            </a:fld>
            <a:endParaRPr lang="en-US"/>
          </a:p>
        </p:txBody>
      </p:sp>
    </p:spTree>
    <p:extLst>
      <p:ext uri="{BB962C8B-B14F-4D97-AF65-F5344CB8AC3E}">
        <p14:creationId xmlns:p14="http://schemas.microsoft.com/office/powerpoint/2010/main" val="24698394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3</a:t>
            </a:fld>
            <a:endParaRPr lang="en-US"/>
          </a:p>
        </p:txBody>
      </p:sp>
    </p:spTree>
    <p:extLst>
      <p:ext uri="{BB962C8B-B14F-4D97-AF65-F5344CB8AC3E}">
        <p14:creationId xmlns:p14="http://schemas.microsoft.com/office/powerpoint/2010/main" val="31905299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4</a:t>
            </a:fld>
            <a:endParaRPr lang="en-US"/>
          </a:p>
        </p:txBody>
      </p:sp>
    </p:spTree>
    <p:extLst>
      <p:ext uri="{BB962C8B-B14F-4D97-AF65-F5344CB8AC3E}">
        <p14:creationId xmlns:p14="http://schemas.microsoft.com/office/powerpoint/2010/main" val="4006908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5</a:t>
            </a:fld>
            <a:endParaRPr lang="en-US"/>
          </a:p>
        </p:txBody>
      </p:sp>
    </p:spTree>
    <p:extLst>
      <p:ext uri="{BB962C8B-B14F-4D97-AF65-F5344CB8AC3E}">
        <p14:creationId xmlns:p14="http://schemas.microsoft.com/office/powerpoint/2010/main" val="15491661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6</a:t>
            </a:fld>
            <a:endParaRPr lang="en-US"/>
          </a:p>
        </p:txBody>
      </p:sp>
    </p:spTree>
    <p:extLst>
      <p:ext uri="{BB962C8B-B14F-4D97-AF65-F5344CB8AC3E}">
        <p14:creationId xmlns:p14="http://schemas.microsoft.com/office/powerpoint/2010/main" val="4372050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7</a:t>
            </a:fld>
            <a:endParaRPr lang="en-US"/>
          </a:p>
        </p:txBody>
      </p:sp>
    </p:spTree>
    <p:extLst>
      <p:ext uri="{BB962C8B-B14F-4D97-AF65-F5344CB8AC3E}">
        <p14:creationId xmlns:p14="http://schemas.microsoft.com/office/powerpoint/2010/main" val="41856803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8</a:t>
            </a:fld>
            <a:endParaRPr lang="en-US"/>
          </a:p>
        </p:txBody>
      </p:sp>
    </p:spTree>
    <p:extLst>
      <p:ext uri="{BB962C8B-B14F-4D97-AF65-F5344CB8AC3E}">
        <p14:creationId xmlns:p14="http://schemas.microsoft.com/office/powerpoint/2010/main" val="2098503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9</a:t>
            </a:fld>
            <a:endParaRPr lang="en-US"/>
          </a:p>
        </p:txBody>
      </p:sp>
    </p:spTree>
    <p:extLst>
      <p:ext uri="{BB962C8B-B14F-4D97-AF65-F5344CB8AC3E}">
        <p14:creationId xmlns:p14="http://schemas.microsoft.com/office/powerpoint/2010/main" val="1959634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10</a:t>
            </a:fld>
            <a:endParaRPr lang="en-US"/>
          </a:p>
        </p:txBody>
      </p:sp>
    </p:spTree>
    <p:extLst>
      <p:ext uri="{BB962C8B-B14F-4D97-AF65-F5344CB8AC3E}">
        <p14:creationId xmlns:p14="http://schemas.microsoft.com/office/powerpoint/2010/main" val="15108115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11</a:t>
            </a:fld>
            <a:endParaRPr lang="en-US"/>
          </a:p>
        </p:txBody>
      </p:sp>
    </p:spTree>
    <p:extLst>
      <p:ext uri="{BB962C8B-B14F-4D97-AF65-F5344CB8AC3E}">
        <p14:creationId xmlns:p14="http://schemas.microsoft.com/office/powerpoint/2010/main" val="13662829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12</a:t>
            </a:fld>
            <a:endParaRPr lang="en-US"/>
          </a:p>
        </p:txBody>
      </p:sp>
    </p:spTree>
    <p:extLst>
      <p:ext uri="{BB962C8B-B14F-4D97-AF65-F5344CB8AC3E}">
        <p14:creationId xmlns:p14="http://schemas.microsoft.com/office/powerpoint/2010/main" val="6961584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13</a:t>
            </a:fld>
            <a:endParaRPr lang="en-US"/>
          </a:p>
        </p:txBody>
      </p:sp>
    </p:spTree>
    <p:extLst>
      <p:ext uri="{BB962C8B-B14F-4D97-AF65-F5344CB8AC3E}">
        <p14:creationId xmlns:p14="http://schemas.microsoft.com/office/powerpoint/2010/main" val="6679995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14</a:t>
            </a:fld>
            <a:endParaRPr lang="en-US"/>
          </a:p>
        </p:txBody>
      </p:sp>
    </p:spTree>
    <p:extLst>
      <p:ext uri="{BB962C8B-B14F-4D97-AF65-F5344CB8AC3E}">
        <p14:creationId xmlns:p14="http://schemas.microsoft.com/office/powerpoint/2010/main" val="14745427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15</a:t>
            </a:fld>
            <a:endParaRPr lang="en-US"/>
          </a:p>
        </p:txBody>
      </p:sp>
    </p:spTree>
    <p:extLst>
      <p:ext uri="{BB962C8B-B14F-4D97-AF65-F5344CB8AC3E}">
        <p14:creationId xmlns:p14="http://schemas.microsoft.com/office/powerpoint/2010/main" val="11486505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16</a:t>
            </a:fld>
            <a:endParaRPr lang="en-US"/>
          </a:p>
        </p:txBody>
      </p:sp>
    </p:spTree>
    <p:extLst>
      <p:ext uri="{BB962C8B-B14F-4D97-AF65-F5344CB8AC3E}">
        <p14:creationId xmlns:p14="http://schemas.microsoft.com/office/powerpoint/2010/main" val="37756316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17</a:t>
            </a:fld>
            <a:endParaRPr lang="en-US"/>
          </a:p>
        </p:txBody>
      </p:sp>
    </p:spTree>
    <p:extLst>
      <p:ext uri="{BB962C8B-B14F-4D97-AF65-F5344CB8AC3E}">
        <p14:creationId xmlns:p14="http://schemas.microsoft.com/office/powerpoint/2010/main" val="28496361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18</a:t>
            </a:fld>
            <a:endParaRPr lang="en-US"/>
          </a:p>
        </p:txBody>
      </p:sp>
    </p:spTree>
    <p:extLst>
      <p:ext uri="{BB962C8B-B14F-4D97-AF65-F5344CB8AC3E}">
        <p14:creationId xmlns:p14="http://schemas.microsoft.com/office/powerpoint/2010/main" val="38740802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19</a:t>
            </a:fld>
            <a:endParaRPr lang="en-US"/>
          </a:p>
        </p:txBody>
      </p:sp>
    </p:spTree>
    <p:extLst>
      <p:ext uri="{BB962C8B-B14F-4D97-AF65-F5344CB8AC3E}">
        <p14:creationId xmlns:p14="http://schemas.microsoft.com/office/powerpoint/2010/main" val="277558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20</a:t>
            </a:fld>
            <a:endParaRPr lang="en-US"/>
          </a:p>
        </p:txBody>
      </p:sp>
    </p:spTree>
    <p:extLst>
      <p:ext uri="{BB962C8B-B14F-4D97-AF65-F5344CB8AC3E}">
        <p14:creationId xmlns:p14="http://schemas.microsoft.com/office/powerpoint/2010/main" val="16519752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21</a:t>
            </a:fld>
            <a:endParaRPr lang="en-US"/>
          </a:p>
        </p:txBody>
      </p:sp>
    </p:spTree>
    <p:extLst>
      <p:ext uri="{BB962C8B-B14F-4D97-AF65-F5344CB8AC3E}">
        <p14:creationId xmlns:p14="http://schemas.microsoft.com/office/powerpoint/2010/main" val="15446217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22</a:t>
            </a:fld>
            <a:endParaRPr lang="en-US"/>
          </a:p>
        </p:txBody>
      </p:sp>
    </p:spTree>
    <p:extLst>
      <p:ext uri="{BB962C8B-B14F-4D97-AF65-F5344CB8AC3E}">
        <p14:creationId xmlns:p14="http://schemas.microsoft.com/office/powerpoint/2010/main" val="28408458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23</a:t>
            </a:fld>
            <a:endParaRPr lang="en-US"/>
          </a:p>
        </p:txBody>
      </p:sp>
    </p:spTree>
    <p:extLst>
      <p:ext uri="{BB962C8B-B14F-4D97-AF65-F5344CB8AC3E}">
        <p14:creationId xmlns:p14="http://schemas.microsoft.com/office/powerpoint/2010/main" val="7262960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24</a:t>
            </a:fld>
            <a:endParaRPr lang="en-US"/>
          </a:p>
        </p:txBody>
      </p:sp>
    </p:spTree>
    <p:extLst>
      <p:ext uri="{BB962C8B-B14F-4D97-AF65-F5344CB8AC3E}">
        <p14:creationId xmlns:p14="http://schemas.microsoft.com/office/powerpoint/2010/main" val="25459555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6D174-B759-550A-C21C-A895EA648B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B3AF2C-44B3-0629-888A-7BDDECDE8B5D}"/>
              </a:ext>
            </a:extLst>
          </p:cNvPr>
          <p:cNvSpPr>
            <a:spLocks noGrp="1" noRot="1" noChangeAspect="1"/>
          </p:cNvSpPr>
          <p:nvPr>
            <p:ph type="sldImg"/>
          </p:nvPr>
        </p:nvSpPr>
        <p:spPr>
          <a:xfrm>
            <a:off x="203200" y="685800"/>
            <a:ext cx="6451600" cy="3429000"/>
          </a:xfrm>
        </p:spPr>
      </p:sp>
      <p:sp>
        <p:nvSpPr>
          <p:cNvPr id="3" name="Notes Placeholder 2">
            <a:extLst>
              <a:ext uri="{FF2B5EF4-FFF2-40B4-BE49-F238E27FC236}">
                <a16:creationId xmlns:a16="http://schemas.microsoft.com/office/drawing/2014/main" id="{43412E36-1D0E-E5C5-2970-C29B9D91711E}"/>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28964999-CFED-FDB5-1A57-0EFBAE938158}"/>
              </a:ext>
            </a:extLst>
          </p:cNvPr>
          <p:cNvSpPr>
            <a:spLocks noGrp="1"/>
          </p:cNvSpPr>
          <p:nvPr>
            <p:ph type="sldNum" sz="quarter" idx="10"/>
          </p:nvPr>
        </p:nvSpPr>
        <p:spPr/>
        <p:txBody>
          <a:bodyPr/>
          <a:lstStyle/>
          <a:p>
            <a:fld id="{33F28183-2755-4A32-BE4D-8CF9D32630D9}" type="slidenum">
              <a:rPr lang="en-US" smtClean="0"/>
              <a:pPr/>
              <a:t>25</a:t>
            </a:fld>
            <a:endParaRPr lang="en-US"/>
          </a:p>
        </p:txBody>
      </p:sp>
    </p:spTree>
    <p:extLst>
      <p:ext uri="{BB962C8B-B14F-4D97-AF65-F5344CB8AC3E}">
        <p14:creationId xmlns:p14="http://schemas.microsoft.com/office/powerpoint/2010/main" val="15219108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F1529-FEA3-DEE1-CD6E-E5F34B044B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396AC2-A31C-B2D4-303A-BF34B408CA91}"/>
              </a:ext>
            </a:extLst>
          </p:cNvPr>
          <p:cNvSpPr>
            <a:spLocks noGrp="1" noRot="1" noChangeAspect="1"/>
          </p:cNvSpPr>
          <p:nvPr>
            <p:ph type="sldImg"/>
          </p:nvPr>
        </p:nvSpPr>
        <p:spPr>
          <a:xfrm>
            <a:off x="203200" y="685800"/>
            <a:ext cx="6451600" cy="3429000"/>
          </a:xfrm>
        </p:spPr>
      </p:sp>
      <p:sp>
        <p:nvSpPr>
          <p:cNvPr id="3" name="Notes Placeholder 2">
            <a:extLst>
              <a:ext uri="{FF2B5EF4-FFF2-40B4-BE49-F238E27FC236}">
                <a16:creationId xmlns:a16="http://schemas.microsoft.com/office/drawing/2014/main" id="{C983ABEE-5D74-AB26-80D6-2C3862DB2614}"/>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C6DA2EA9-FABC-1EAA-2DF1-EA98CBE61960}"/>
              </a:ext>
            </a:extLst>
          </p:cNvPr>
          <p:cNvSpPr>
            <a:spLocks noGrp="1"/>
          </p:cNvSpPr>
          <p:nvPr>
            <p:ph type="sldNum" sz="quarter" idx="10"/>
          </p:nvPr>
        </p:nvSpPr>
        <p:spPr/>
        <p:txBody>
          <a:bodyPr/>
          <a:lstStyle/>
          <a:p>
            <a:fld id="{33F28183-2755-4A32-BE4D-8CF9D32630D9}" type="slidenum">
              <a:rPr lang="en-US" smtClean="0"/>
              <a:pPr/>
              <a:t>26</a:t>
            </a:fld>
            <a:endParaRPr lang="en-US"/>
          </a:p>
        </p:txBody>
      </p:sp>
    </p:spTree>
    <p:extLst>
      <p:ext uri="{BB962C8B-B14F-4D97-AF65-F5344CB8AC3E}">
        <p14:creationId xmlns:p14="http://schemas.microsoft.com/office/powerpoint/2010/main" val="35361080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27</a:t>
            </a:fld>
            <a:endParaRPr lang="en-US"/>
          </a:p>
        </p:txBody>
      </p:sp>
    </p:spTree>
    <p:extLst>
      <p:ext uri="{BB962C8B-B14F-4D97-AF65-F5344CB8AC3E}">
        <p14:creationId xmlns:p14="http://schemas.microsoft.com/office/powerpoint/2010/main" val="1573908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A2883-A857-EFBC-91B6-4EABE49361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C4225D-F1B0-71FB-F3FA-30F4CE064695}"/>
              </a:ext>
            </a:extLst>
          </p:cNvPr>
          <p:cNvSpPr>
            <a:spLocks noGrp="1" noRot="1" noChangeAspect="1"/>
          </p:cNvSpPr>
          <p:nvPr>
            <p:ph type="sldImg"/>
          </p:nvPr>
        </p:nvSpPr>
        <p:spPr>
          <a:xfrm>
            <a:off x="203200" y="685800"/>
            <a:ext cx="6451600" cy="3429000"/>
          </a:xfrm>
        </p:spPr>
      </p:sp>
      <p:sp>
        <p:nvSpPr>
          <p:cNvPr id="3" name="Notes Placeholder 2">
            <a:extLst>
              <a:ext uri="{FF2B5EF4-FFF2-40B4-BE49-F238E27FC236}">
                <a16:creationId xmlns:a16="http://schemas.microsoft.com/office/drawing/2014/main" id="{E1BEAE96-C682-88D6-19BD-34FA5488188A}"/>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3781B4D6-3C3B-FD5F-5F70-7D0ABC1E5B55}"/>
              </a:ext>
            </a:extLst>
          </p:cNvPr>
          <p:cNvSpPr>
            <a:spLocks noGrp="1"/>
          </p:cNvSpPr>
          <p:nvPr>
            <p:ph type="sldNum" sz="quarter" idx="10"/>
          </p:nvPr>
        </p:nvSpPr>
        <p:spPr/>
        <p:txBody>
          <a:bodyPr/>
          <a:lstStyle/>
          <a:p>
            <a:fld id="{33F28183-2755-4A32-BE4D-8CF9D32630D9}" type="slidenum">
              <a:rPr lang="en-US" smtClean="0"/>
              <a:pPr/>
              <a:t>28</a:t>
            </a:fld>
            <a:endParaRPr lang="en-US"/>
          </a:p>
        </p:txBody>
      </p:sp>
    </p:spTree>
    <p:extLst>
      <p:ext uri="{BB962C8B-B14F-4D97-AF65-F5344CB8AC3E}">
        <p14:creationId xmlns:p14="http://schemas.microsoft.com/office/powerpoint/2010/main" val="34848075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B6499-1680-EF75-6550-02E7055CA7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4A1BD9-6A12-DD69-8CD5-6D258FBC33FB}"/>
              </a:ext>
            </a:extLst>
          </p:cNvPr>
          <p:cNvSpPr>
            <a:spLocks noGrp="1" noRot="1" noChangeAspect="1"/>
          </p:cNvSpPr>
          <p:nvPr>
            <p:ph type="sldImg"/>
          </p:nvPr>
        </p:nvSpPr>
        <p:spPr>
          <a:xfrm>
            <a:off x="203200" y="685800"/>
            <a:ext cx="6451600" cy="3429000"/>
          </a:xfrm>
        </p:spPr>
      </p:sp>
      <p:sp>
        <p:nvSpPr>
          <p:cNvPr id="3" name="Notes Placeholder 2">
            <a:extLst>
              <a:ext uri="{FF2B5EF4-FFF2-40B4-BE49-F238E27FC236}">
                <a16:creationId xmlns:a16="http://schemas.microsoft.com/office/drawing/2014/main" id="{B2143DDE-A771-FC15-A2E0-51B904AD38F7}"/>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4AB9AB33-F61F-8FC6-B564-7BE8629F213D}"/>
              </a:ext>
            </a:extLst>
          </p:cNvPr>
          <p:cNvSpPr>
            <a:spLocks noGrp="1"/>
          </p:cNvSpPr>
          <p:nvPr>
            <p:ph type="sldNum" sz="quarter" idx="10"/>
          </p:nvPr>
        </p:nvSpPr>
        <p:spPr/>
        <p:txBody>
          <a:bodyPr/>
          <a:lstStyle/>
          <a:p>
            <a:fld id="{33F28183-2755-4A32-BE4D-8CF9D32630D9}" type="slidenum">
              <a:rPr lang="en-US" smtClean="0"/>
              <a:pPr/>
              <a:t>29</a:t>
            </a:fld>
            <a:endParaRPr lang="en-US"/>
          </a:p>
        </p:txBody>
      </p:sp>
    </p:spTree>
    <p:extLst>
      <p:ext uri="{BB962C8B-B14F-4D97-AF65-F5344CB8AC3E}">
        <p14:creationId xmlns:p14="http://schemas.microsoft.com/office/powerpoint/2010/main" val="8327225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9ABD2-4898-7C62-9EEB-42139E421B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B856AF-B399-35BC-6C2D-9E3636CB798C}"/>
              </a:ext>
            </a:extLst>
          </p:cNvPr>
          <p:cNvSpPr>
            <a:spLocks noGrp="1" noRot="1" noChangeAspect="1"/>
          </p:cNvSpPr>
          <p:nvPr>
            <p:ph type="sldImg"/>
          </p:nvPr>
        </p:nvSpPr>
        <p:spPr>
          <a:xfrm>
            <a:off x="203200" y="685800"/>
            <a:ext cx="6451600" cy="3429000"/>
          </a:xfrm>
        </p:spPr>
      </p:sp>
      <p:sp>
        <p:nvSpPr>
          <p:cNvPr id="3" name="Notes Placeholder 2">
            <a:extLst>
              <a:ext uri="{FF2B5EF4-FFF2-40B4-BE49-F238E27FC236}">
                <a16:creationId xmlns:a16="http://schemas.microsoft.com/office/drawing/2014/main" id="{DC0EB99C-A54D-FAC7-B44A-963B95B51AF8}"/>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E34D1E50-3E3B-512D-330F-90F5BDD03060}"/>
              </a:ext>
            </a:extLst>
          </p:cNvPr>
          <p:cNvSpPr>
            <a:spLocks noGrp="1"/>
          </p:cNvSpPr>
          <p:nvPr>
            <p:ph type="sldNum" sz="quarter" idx="10"/>
          </p:nvPr>
        </p:nvSpPr>
        <p:spPr/>
        <p:txBody>
          <a:bodyPr/>
          <a:lstStyle/>
          <a:p>
            <a:fld id="{33F28183-2755-4A32-BE4D-8CF9D32630D9}" type="slidenum">
              <a:rPr lang="en-US" smtClean="0"/>
              <a:pPr/>
              <a:t>30</a:t>
            </a:fld>
            <a:endParaRPr lang="en-US"/>
          </a:p>
        </p:txBody>
      </p:sp>
    </p:spTree>
    <p:extLst>
      <p:ext uri="{BB962C8B-B14F-4D97-AF65-F5344CB8AC3E}">
        <p14:creationId xmlns:p14="http://schemas.microsoft.com/office/powerpoint/2010/main" val="343887869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DCD50-67E8-60AA-2C88-7A0296B15E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DFC55C-BBFE-2213-6AEF-310227F39436}"/>
              </a:ext>
            </a:extLst>
          </p:cNvPr>
          <p:cNvSpPr>
            <a:spLocks noGrp="1" noRot="1" noChangeAspect="1"/>
          </p:cNvSpPr>
          <p:nvPr>
            <p:ph type="sldImg"/>
          </p:nvPr>
        </p:nvSpPr>
        <p:spPr>
          <a:xfrm>
            <a:off x="203200" y="685800"/>
            <a:ext cx="6451600" cy="3429000"/>
          </a:xfrm>
        </p:spPr>
      </p:sp>
      <p:sp>
        <p:nvSpPr>
          <p:cNvPr id="3" name="Notes Placeholder 2">
            <a:extLst>
              <a:ext uri="{FF2B5EF4-FFF2-40B4-BE49-F238E27FC236}">
                <a16:creationId xmlns:a16="http://schemas.microsoft.com/office/drawing/2014/main" id="{CEA3B377-2AD8-81F8-082D-ED4D6374ED99}"/>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159C2A95-D87A-43A0-DD75-133D2E2FF1D2}"/>
              </a:ext>
            </a:extLst>
          </p:cNvPr>
          <p:cNvSpPr>
            <a:spLocks noGrp="1"/>
          </p:cNvSpPr>
          <p:nvPr>
            <p:ph type="sldNum" sz="quarter" idx="10"/>
          </p:nvPr>
        </p:nvSpPr>
        <p:spPr/>
        <p:txBody>
          <a:bodyPr/>
          <a:lstStyle/>
          <a:p>
            <a:fld id="{33F28183-2755-4A32-BE4D-8CF9D32630D9}" type="slidenum">
              <a:rPr lang="en-US" smtClean="0"/>
              <a:pPr/>
              <a:t>31</a:t>
            </a:fld>
            <a:endParaRPr lang="en-US"/>
          </a:p>
        </p:txBody>
      </p:sp>
    </p:spTree>
    <p:extLst>
      <p:ext uri="{BB962C8B-B14F-4D97-AF65-F5344CB8AC3E}">
        <p14:creationId xmlns:p14="http://schemas.microsoft.com/office/powerpoint/2010/main" val="106030723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78103-DFA9-F22A-880B-34269054A7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197921-F025-9F7B-6C35-2549B2B8A92D}"/>
              </a:ext>
            </a:extLst>
          </p:cNvPr>
          <p:cNvSpPr>
            <a:spLocks noGrp="1" noRot="1" noChangeAspect="1"/>
          </p:cNvSpPr>
          <p:nvPr>
            <p:ph type="sldImg"/>
          </p:nvPr>
        </p:nvSpPr>
        <p:spPr>
          <a:xfrm>
            <a:off x="203200" y="685800"/>
            <a:ext cx="6451600" cy="3429000"/>
          </a:xfrm>
        </p:spPr>
      </p:sp>
      <p:sp>
        <p:nvSpPr>
          <p:cNvPr id="3" name="Notes Placeholder 2">
            <a:extLst>
              <a:ext uri="{FF2B5EF4-FFF2-40B4-BE49-F238E27FC236}">
                <a16:creationId xmlns:a16="http://schemas.microsoft.com/office/drawing/2014/main" id="{E43D694D-5F50-580E-984F-7124644C0B51}"/>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D50F8E70-220D-DA29-29FC-9AC7E61A8E8B}"/>
              </a:ext>
            </a:extLst>
          </p:cNvPr>
          <p:cNvSpPr>
            <a:spLocks noGrp="1"/>
          </p:cNvSpPr>
          <p:nvPr>
            <p:ph type="sldNum" sz="quarter" idx="10"/>
          </p:nvPr>
        </p:nvSpPr>
        <p:spPr/>
        <p:txBody>
          <a:bodyPr/>
          <a:lstStyle/>
          <a:p>
            <a:fld id="{33F28183-2755-4A32-BE4D-8CF9D32630D9}" type="slidenum">
              <a:rPr lang="en-US" smtClean="0"/>
              <a:pPr/>
              <a:t>32</a:t>
            </a:fld>
            <a:endParaRPr lang="en-US"/>
          </a:p>
        </p:txBody>
      </p:sp>
    </p:spTree>
    <p:extLst>
      <p:ext uri="{BB962C8B-B14F-4D97-AF65-F5344CB8AC3E}">
        <p14:creationId xmlns:p14="http://schemas.microsoft.com/office/powerpoint/2010/main" val="17207242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478C6-0962-0DC9-D4B6-1560D5DFD5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E4E6C3-5193-EFBA-1F80-EFEA70D37F2D}"/>
              </a:ext>
            </a:extLst>
          </p:cNvPr>
          <p:cNvSpPr>
            <a:spLocks noGrp="1" noRot="1" noChangeAspect="1"/>
          </p:cNvSpPr>
          <p:nvPr>
            <p:ph type="sldImg"/>
          </p:nvPr>
        </p:nvSpPr>
        <p:spPr>
          <a:xfrm>
            <a:off x="203200" y="685800"/>
            <a:ext cx="6451600" cy="3429000"/>
          </a:xfrm>
        </p:spPr>
      </p:sp>
      <p:sp>
        <p:nvSpPr>
          <p:cNvPr id="3" name="Notes Placeholder 2">
            <a:extLst>
              <a:ext uri="{FF2B5EF4-FFF2-40B4-BE49-F238E27FC236}">
                <a16:creationId xmlns:a16="http://schemas.microsoft.com/office/drawing/2014/main" id="{C3A55B05-AF72-F930-C204-F17C2634EDA4}"/>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1915CB33-695B-B4DC-1AE3-EDAD5B63A6A2}"/>
              </a:ext>
            </a:extLst>
          </p:cNvPr>
          <p:cNvSpPr>
            <a:spLocks noGrp="1"/>
          </p:cNvSpPr>
          <p:nvPr>
            <p:ph type="sldNum" sz="quarter" idx="10"/>
          </p:nvPr>
        </p:nvSpPr>
        <p:spPr/>
        <p:txBody>
          <a:bodyPr/>
          <a:lstStyle/>
          <a:p>
            <a:fld id="{33F28183-2755-4A32-BE4D-8CF9D32630D9}" type="slidenum">
              <a:rPr lang="en-US" smtClean="0"/>
              <a:pPr/>
              <a:t>33</a:t>
            </a:fld>
            <a:endParaRPr lang="en-US"/>
          </a:p>
        </p:txBody>
      </p:sp>
    </p:spTree>
    <p:extLst>
      <p:ext uri="{BB962C8B-B14F-4D97-AF65-F5344CB8AC3E}">
        <p14:creationId xmlns:p14="http://schemas.microsoft.com/office/powerpoint/2010/main" val="29023589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789CF-6897-6412-4B8C-7B1EE00205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504B92-A80E-445C-CBF1-CF852C05DDD9}"/>
              </a:ext>
            </a:extLst>
          </p:cNvPr>
          <p:cNvSpPr>
            <a:spLocks noGrp="1" noRot="1" noChangeAspect="1"/>
          </p:cNvSpPr>
          <p:nvPr>
            <p:ph type="sldImg"/>
          </p:nvPr>
        </p:nvSpPr>
        <p:spPr>
          <a:xfrm>
            <a:off x="203200" y="685800"/>
            <a:ext cx="6451600" cy="3429000"/>
          </a:xfrm>
        </p:spPr>
      </p:sp>
      <p:sp>
        <p:nvSpPr>
          <p:cNvPr id="3" name="Notes Placeholder 2">
            <a:extLst>
              <a:ext uri="{FF2B5EF4-FFF2-40B4-BE49-F238E27FC236}">
                <a16:creationId xmlns:a16="http://schemas.microsoft.com/office/drawing/2014/main" id="{1D39EAE9-DB26-91D2-663C-699871F8A2D1}"/>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28D3ADF4-EA4A-6D2C-5A89-07E8817BFD7F}"/>
              </a:ext>
            </a:extLst>
          </p:cNvPr>
          <p:cNvSpPr>
            <a:spLocks noGrp="1"/>
          </p:cNvSpPr>
          <p:nvPr>
            <p:ph type="sldNum" sz="quarter" idx="10"/>
          </p:nvPr>
        </p:nvSpPr>
        <p:spPr/>
        <p:txBody>
          <a:bodyPr/>
          <a:lstStyle/>
          <a:p>
            <a:fld id="{33F28183-2755-4A32-BE4D-8CF9D32630D9}" type="slidenum">
              <a:rPr lang="en-US" smtClean="0"/>
              <a:pPr/>
              <a:t>34</a:t>
            </a:fld>
            <a:endParaRPr lang="en-US"/>
          </a:p>
        </p:txBody>
      </p:sp>
    </p:spTree>
    <p:extLst>
      <p:ext uri="{BB962C8B-B14F-4D97-AF65-F5344CB8AC3E}">
        <p14:creationId xmlns:p14="http://schemas.microsoft.com/office/powerpoint/2010/main" val="286311898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3495B-03F6-D39A-A58C-444080541A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7CE9BA-8620-07C5-C2DA-DB409B9E25F3}"/>
              </a:ext>
            </a:extLst>
          </p:cNvPr>
          <p:cNvSpPr>
            <a:spLocks noGrp="1" noRot="1" noChangeAspect="1"/>
          </p:cNvSpPr>
          <p:nvPr>
            <p:ph type="sldImg"/>
          </p:nvPr>
        </p:nvSpPr>
        <p:spPr>
          <a:xfrm>
            <a:off x="203200" y="685800"/>
            <a:ext cx="6451600" cy="3429000"/>
          </a:xfrm>
        </p:spPr>
      </p:sp>
      <p:sp>
        <p:nvSpPr>
          <p:cNvPr id="3" name="Notes Placeholder 2">
            <a:extLst>
              <a:ext uri="{FF2B5EF4-FFF2-40B4-BE49-F238E27FC236}">
                <a16:creationId xmlns:a16="http://schemas.microsoft.com/office/drawing/2014/main" id="{563267B0-B87A-207E-113E-8C995F5767C3}"/>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7033A7D7-8992-1116-A1FD-BA2FAF9989C0}"/>
              </a:ext>
            </a:extLst>
          </p:cNvPr>
          <p:cNvSpPr>
            <a:spLocks noGrp="1"/>
          </p:cNvSpPr>
          <p:nvPr>
            <p:ph type="sldNum" sz="quarter" idx="10"/>
          </p:nvPr>
        </p:nvSpPr>
        <p:spPr/>
        <p:txBody>
          <a:bodyPr/>
          <a:lstStyle/>
          <a:p>
            <a:fld id="{33F28183-2755-4A32-BE4D-8CF9D32630D9}" type="slidenum">
              <a:rPr lang="en-US" smtClean="0"/>
              <a:pPr/>
              <a:t>35</a:t>
            </a:fld>
            <a:endParaRPr lang="en-US"/>
          </a:p>
        </p:txBody>
      </p:sp>
    </p:spTree>
    <p:extLst>
      <p:ext uri="{BB962C8B-B14F-4D97-AF65-F5344CB8AC3E}">
        <p14:creationId xmlns:p14="http://schemas.microsoft.com/office/powerpoint/2010/main" val="370285135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14EA7-58B5-2DF9-0FFB-4AA265C6F6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489EAE-D563-9BB9-3BC4-BF75043AF4C1}"/>
              </a:ext>
            </a:extLst>
          </p:cNvPr>
          <p:cNvSpPr>
            <a:spLocks noGrp="1" noRot="1" noChangeAspect="1"/>
          </p:cNvSpPr>
          <p:nvPr>
            <p:ph type="sldImg"/>
          </p:nvPr>
        </p:nvSpPr>
        <p:spPr>
          <a:xfrm>
            <a:off x="203200" y="685800"/>
            <a:ext cx="6451600" cy="3429000"/>
          </a:xfrm>
        </p:spPr>
      </p:sp>
      <p:sp>
        <p:nvSpPr>
          <p:cNvPr id="3" name="Notes Placeholder 2">
            <a:extLst>
              <a:ext uri="{FF2B5EF4-FFF2-40B4-BE49-F238E27FC236}">
                <a16:creationId xmlns:a16="http://schemas.microsoft.com/office/drawing/2014/main" id="{CB77F8C3-DA58-70F5-BBB2-8ACAB71BD496}"/>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FB417DD6-3096-7743-C5FD-2E5790900CC4}"/>
              </a:ext>
            </a:extLst>
          </p:cNvPr>
          <p:cNvSpPr>
            <a:spLocks noGrp="1"/>
          </p:cNvSpPr>
          <p:nvPr>
            <p:ph type="sldNum" sz="quarter" idx="10"/>
          </p:nvPr>
        </p:nvSpPr>
        <p:spPr/>
        <p:txBody>
          <a:bodyPr/>
          <a:lstStyle/>
          <a:p>
            <a:fld id="{33F28183-2755-4A32-BE4D-8CF9D32630D9}" type="slidenum">
              <a:rPr lang="en-US" smtClean="0"/>
              <a:pPr/>
              <a:t>36</a:t>
            </a:fld>
            <a:endParaRPr lang="en-US"/>
          </a:p>
        </p:txBody>
      </p:sp>
    </p:spTree>
    <p:extLst>
      <p:ext uri="{BB962C8B-B14F-4D97-AF65-F5344CB8AC3E}">
        <p14:creationId xmlns:p14="http://schemas.microsoft.com/office/powerpoint/2010/main" val="86451840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37</a:t>
            </a:fld>
            <a:endParaRPr lang="en-US"/>
          </a:p>
        </p:txBody>
      </p:sp>
    </p:spTree>
    <p:extLst>
      <p:ext uri="{BB962C8B-B14F-4D97-AF65-F5344CB8AC3E}">
        <p14:creationId xmlns:p14="http://schemas.microsoft.com/office/powerpoint/2010/main" val="344832180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38</a:t>
            </a:fld>
            <a:endParaRPr lang="en-US"/>
          </a:p>
        </p:txBody>
      </p:sp>
    </p:spTree>
    <p:extLst>
      <p:ext uri="{BB962C8B-B14F-4D97-AF65-F5344CB8AC3E}">
        <p14:creationId xmlns:p14="http://schemas.microsoft.com/office/powerpoint/2010/main" val="30189784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3" name="Rectangle 22"/>
          <p:cNvSpPr/>
          <p:nvPr/>
        </p:nvSpPr>
        <p:spPr>
          <a:xfrm flipV="1">
            <a:off x="8656292" y="4318001"/>
            <a:ext cx="5974110" cy="1032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24" name="Rectangle 23"/>
          <p:cNvSpPr/>
          <p:nvPr/>
        </p:nvSpPr>
        <p:spPr>
          <a:xfrm flipV="1">
            <a:off x="8656321" y="4416611"/>
            <a:ext cx="5974082" cy="21762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25" name="Rectangle 24"/>
          <p:cNvSpPr/>
          <p:nvPr/>
        </p:nvSpPr>
        <p:spPr>
          <a:xfrm flipV="1">
            <a:off x="8656321" y="4663856"/>
            <a:ext cx="5974082" cy="10363"/>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26" name="Rectangle 25"/>
          <p:cNvSpPr/>
          <p:nvPr/>
        </p:nvSpPr>
        <p:spPr>
          <a:xfrm flipV="1">
            <a:off x="8656320" y="4719657"/>
            <a:ext cx="3145536" cy="20726"/>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27" name="Rectangle 26"/>
          <p:cNvSpPr/>
          <p:nvPr/>
        </p:nvSpPr>
        <p:spPr>
          <a:xfrm flipV="1">
            <a:off x="8656320" y="4759515"/>
            <a:ext cx="3145536" cy="10363"/>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useBgFill="1">
        <p:nvSpPr>
          <p:cNvPr id="30" name="Rounded Rectangle 29"/>
          <p:cNvSpPr/>
          <p:nvPr/>
        </p:nvSpPr>
        <p:spPr bwMode="white">
          <a:xfrm>
            <a:off x="8656320" y="4490720"/>
            <a:ext cx="4901184" cy="31090"/>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useBgFill="1">
        <p:nvSpPr>
          <p:cNvPr id="31" name="Rounded Rectangle 30"/>
          <p:cNvSpPr/>
          <p:nvPr/>
        </p:nvSpPr>
        <p:spPr bwMode="white">
          <a:xfrm>
            <a:off x="11802411" y="4602447"/>
            <a:ext cx="2560320" cy="41453"/>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7" name="Rectangle 6"/>
          <p:cNvSpPr/>
          <p:nvPr/>
        </p:nvSpPr>
        <p:spPr>
          <a:xfrm>
            <a:off x="2" y="4136284"/>
            <a:ext cx="14630400" cy="276726"/>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10" name="Rectangle 9"/>
          <p:cNvSpPr/>
          <p:nvPr/>
        </p:nvSpPr>
        <p:spPr>
          <a:xfrm>
            <a:off x="1" y="4165598"/>
            <a:ext cx="14630402" cy="159434"/>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11" name="Rectangle 10"/>
          <p:cNvSpPr/>
          <p:nvPr/>
        </p:nvSpPr>
        <p:spPr>
          <a:xfrm flipV="1">
            <a:off x="10262482" y="4128835"/>
            <a:ext cx="4367920" cy="281556"/>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19" name="Rectangle 18"/>
          <p:cNvSpPr/>
          <p:nvPr/>
        </p:nvSpPr>
        <p:spPr>
          <a:xfrm>
            <a:off x="0" y="0"/>
            <a:ext cx="14630400" cy="419526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8" name="Title 7"/>
          <p:cNvSpPr>
            <a:spLocks noGrp="1"/>
          </p:cNvSpPr>
          <p:nvPr>
            <p:ph type="ctrTitle"/>
          </p:nvPr>
        </p:nvSpPr>
        <p:spPr>
          <a:xfrm>
            <a:off x="731520" y="2722139"/>
            <a:ext cx="13533120" cy="1666028"/>
          </a:xfrm>
        </p:spPr>
        <p:txBody>
          <a:bodyPr anchor="b"/>
          <a:lstStyle>
            <a:lvl1pPr algn="ctr">
              <a:defRPr sz="4987">
                <a:solidFill>
                  <a:schemeClr val="bg1"/>
                </a:solidFill>
              </a:defRPr>
            </a:lvl1pPr>
          </a:lstStyle>
          <a:p>
            <a:r>
              <a:rPr kumimoji="0" lang="en-US" dirty="0"/>
              <a:t>Click to edit Master title style</a:t>
            </a:r>
          </a:p>
        </p:txBody>
      </p:sp>
      <p:sp>
        <p:nvSpPr>
          <p:cNvPr id="29" name="Slide Number Placeholder 28"/>
          <p:cNvSpPr>
            <a:spLocks noGrp="1"/>
          </p:cNvSpPr>
          <p:nvPr>
            <p:ph type="sldNum" sz="quarter" idx="12"/>
          </p:nvPr>
        </p:nvSpPr>
        <p:spPr>
          <a:xfrm>
            <a:off x="13312141" y="1287"/>
            <a:ext cx="1196339" cy="414528"/>
          </a:xfrm>
        </p:spPr>
        <p:txBody>
          <a:bodyPr/>
          <a:lstStyle>
            <a:lvl1pPr algn="r">
              <a:defRPr sz="2040">
                <a:solidFill>
                  <a:schemeClr val="bg1"/>
                </a:solidFill>
              </a:defRPr>
            </a:lvl1p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5E4E6CD-00ED-4015-81B3-C5B318E14F82}" type="datetime3">
              <a:rPr lang="en-US" smtClean="0"/>
              <a:t>15 June 2026</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5701" y="2245361"/>
            <a:ext cx="12435840" cy="1543685"/>
          </a:xfrm>
        </p:spPr>
        <p:txBody>
          <a:bodyPr anchor="b">
            <a:noAutofit/>
          </a:bodyPr>
          <a:lstStyle>
            <a:lvl1pPr algn="l">
              <a:buNone/>
              <a:defRPr sz="4873"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a:t>Click to edit Master title style</a:t>
            </a:r>
          </a:p>
        </p:txBody>
      </p:sp>
      <p:sp>
        <p:nvSpPr>
          <p:cNvPr id="3" name="Text Placeholder 2"/>
          <p:cNvSpPr>
            <a:spLocks noGrp="1"/>
          </p:cNvSpPr>
          <p:nvPr>
            <p:ph type="body" idx="1"/>
          </p:nvPr>
        </p:nvSpPr>
        <p:spPr>
          <a:xfrm>
            <a:off x="1155701" y="3816033"/>
            <a:ext cx="12435840" cy="1711007"/>
          </a:xfrm>
        </p:spPr>
        <p:txBody>
          <a:bodyPr anchor="t"/>
          <a:lstStyle>
            <a:lvl1pPr marL="51814" indent="0">
              <a:buNone/>
              <a:defRPr sz="2380" b="0">
                <a:solidFill>
                  <a:schemeClr val="tx2"/>
                </a:solidFill>
              </a:defRPr>
            </a:lvl1pPr>
            <a:lvl2pPr>
              <a:buNone/>
              <a:defRPr sz="2040">
                <a:solidFill>
                  <a:schemeClr val="tx1">
                    <a:tint val="75000"/>
                  </a:schemeClr>
                </a:solidFill>
              </a:defRPr>
            </a:lvl2pPr>
            <a:lvl3pPr>
              <a:buNone/>
              <a:defRPr sz="1813">
                <a:solidFill>
                  <a:schemeClr val="tx1">
                    <a:tint val="75000"/>
                  </a:schemeClr>
                </a:solidFill>
              </a:defRPr>
            </a:lvl3pPr>
            <a:lvl4pPr>
              <a:buNone/>
              <a:defRPr sz="1587">
                <a:solidFill>
                  <a:schemeClr val="tx1">
                    <a:tint val="75000"/>
                  </a:schemeClr>
                </a:solidFill>
              </a:defRPr>
            </a:lvl4pPr>
            <a:lvl5pPr>
              <a:buNone/>
              <a:defRPr sz="1587">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7B8F54A8-F711-4DA1-B950-0ECA79AA5C95}" type="datetime3">
              <a:rPr lang="en-US" smtClean="0"/>
              <a:t>15 June 2026</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731520" y="2549348"/>
            <a:ext cx="6461760" cy="5129425"/>
          </a:xfrm>
        </p:spPr>
        <p:txBody>
          <a:bodyPr/>
          <a:lstStyle>
            <a:lvl1pPr>
              <a:defRPr sz="2267"/>
            </a:lvl1pPr>
            <a:lvl2pPr>
              <a:defRPr sz="2153"/>
            </a:lvl2pPr>
            <a:lvl3pPr>
              <a:defRPr sz="2040"/>
            </a:lvl3pPr>
            <a:lvl4pPr>
              <a:defRPr sz="2040"/>
            </a:lvl4pPr>
            <a:lvl5pPr>
              <a:defRPr sz="204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7437120" y="2549348"/>
            <a:ext cx="6461760" cy="5129425"/>
          </a:xfrm>
        </p:spPr>
        <p:txBody>
          <a:bodyPr/>
          <a:lstStyle>
            <a:lvl1pPr>
              <a:defRPr sz="2267"/>
            </a:lvl1pPr>
            <a:lvl2pPr>
              <a:defRPr sz="2153"/>
            </a:lvl2pPr>
            <a:lvl3pPr>
              <a:defRPr sz="2040"/>
            </a:lvl3pPr>
            <a:lvl4pPr>
              <a:defRPr sz="2040"/>
            </a:lvl4pPr>
            <a:lvl5pPr>
              <a:defRPr sz="204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5C4004FD-1D7B-4000-8DBD-A2166ADD1C37}" type="datetime3">
              <a:rPr lang="en-US" smtClean="0"/>
              <a:t>15 June 2026</a:t>
            </a:fld>
            <a:endParaRPr lang="en-US"/>
          </a:p>
        </p:txBody>
      </p:sp>
      <p:sp>
        <p:nvSpPr>
          <p:cNvPr id="6" name="Footer Placeholder 5"/>
          <p:cNvSpPr>
            <a:spLocks noGrp="1"/>
          </p:cNvSpPr>
          <p:nvPr>
            <p:ph type="ftr" sz="quarter" idx="11"/>
          </p:nvPr>
        </p:nvSpPr>
        <p:spPr/>
        <p:txBody>
          <a:bodyPr/>
          <a:lstStyle/>
          <a:p>
            <a:r>
              <a:rPr lang="en-US"/>
              <a:t>Course Teacher: Prof. Dr. Engr. Muhibul Haque Bhuyan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1295400"/>
            <a:ext cx="13411200" cy="1212494"/>
          </a:xfrm>
        </p:spPr>
        <p:txBody>
          <a:bodyPr anchor="ctr"/>
          <a:lstStyle>
            <a:lvl1pPr>
              <a:defRPr sz="4533" b="0" i="0" cap="none" baseline="0"/>
            </a:lvl1pPr>
          </a:lstStyle>
          <a:p>
            <a:r>
              <a:rPr kumimoji="0" lang="en-US"/>
              <a:t>Click to edit Master title style</a:t>
            </a:r>
          </a:p>
        </p:txBody>
      </p:sp>
      <p:sp>
        <p:nvSpPr>
          <p:cNvPr id="3" name="Text Placeholder 2"/>
          <p:cNvSpPr>
            <a:spLocks noGrp="1"/>
          </p:cNvSpPr>
          <p:nvPr>
            <p:ph type="body" idx="1"/>
          </p:nvPr>
        </p:nvSpPr>
        <p:spPr>
          <a:xfrm>
            <a:off x="609600" y="2544299"/>
            <a:ext cx="6466637" cy="518160"/>
          </a:xfrm>
          <a:solidFill>
            <a:schemeClr val="accent2">
              <a:satMod val="150000"/>
              <a:alpha val="25000"/>
            </a:schemeClr>
          </a:solidFill>
          <a:ln w="12700">
            <a:solidFill>
              <a:schemeClr val="accent2"/>
            </a:solidFill>
          </a:ln>
        </p:spPr>
        <p:txBody>
          <a:bodyPr anchor="ctr">
            <a:noAutofit/>
          </a:bodyPr>
          <a:lstStyle>
            <a:lvl1pPr marL="51814" indent="0">
              <a:buNone/>
              <a:defRPr sz="2153" b="1">
                <a:solidFill>
                  <a:schemeClr val="tx1">
                    <a:tint val="95000"/>
                  </a:schemeClr>
                </a:solidFill>
              </a:defRPr>
            </a:lvl1pPr>
            <a:lvl2pPr>
              <a:buNone/>
              <a:defRPr sz="2267" b="1"/>
            </a:lvl2pPr>
            <a:lvl3pPr>
              <a:buNone/>
              <a:defRPr sz="2040" b="1"/>
            </a:lvl3pPr>
            <a:lvl4pPr>
              <a:buNone/>
              <a:defRPr sz="1813" b="1"/>
            </a:lvl4pPr>
            <a:lvl5pPr>
              <a:buNone/>
              <a:defRPr sz="1813"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7553961" y="2544299"/>
            <a:ext cx="6466840" cy="518160"/>
          </a:xfrm>
          <a:solidFill>
            <a:schemeClr val="accent2">
              <a:satMod val="150000"/>
              <a:alpha val="25000"/>
            </a:schemeClr>
          </a:solidFill>
          <a:ln w="12700">
            <a:solidFill>
              <a:schemeClr val="accent2"/>
            </a:solidFill>
          </a:ln>
        </p:spPr>
        <p:txBody>
          <a:bodyPr anchor="ctr">
            <a:noAutofit/>
          </a:bodyPr>
          <a:lstStyle>
            <a:lvl1pPr marL="51814" indent="0">
              <a:buNone/>
              <a:defRPr sz="2153" b="1">
                <a:solidFill>
                  <a:schemeClr val="tx1">
                    <a:tint val="95000"/>
                  </a:schemeClr>
                </a:solidFill>
              </a:defRPr>
            </a:lvl1pPr>
            <a:lvl2pPr>
              <a:buNone/>
              <a:defRPr sz="2267" b="1"/>
            </a:lvl2pPr>
            <a:lvl3pPr>
              <a:buNone/>
              <a:defRPr sz="2040" b="1"/>
            </a:lvl3pPr>
            <a:lvl4pPr>
              <a:buNone/>
              <a:defRPr sz="1813" b="1"/>
            </a:lvl4pPr>
            <a:lvl5pPr>
              <a:buNone/>
              <a:defRPr sz="1813"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600" y="3069655"/>
            <a:ext cx="6466637" cy="4404360"/>
          </a:xfrm>
        </p:spPr>
        <p:txBody>
          <a:bodyPr/>
          <a:lstStyle>
            <a:lvl1pPr>
              <a:defRPr sz="2267"/>
            </a:lvl1pPr>
            <a:lvl2pPr>
              <a:defRPr sz="2267"/>
            </a:lvl2pPr>
            <a:lvl3pPr>
              <a:defRPr sz="2040"/>
            </a:lvl3pPr>
            <a:lvl4pPr>
              <a:defRPr sz="1813"/>
            </a:lvl4pPr>
            <a:lvl5pPr>
              <a:defRPr sz="1813"/>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7549287" y="3069655"/>
            <a:ext cx="6466840" cy="4404360"/>
          </a:xfrm>
        </p:spPr>
        <p:txBody>
          <a:bodyPr/>
          <a:lstStyle>
            <a:lvl1pPr>
              <a:defRPr sz="2267"/>
            </a:lvl1pPr>
            <a:lvl2pPr>
              <a:defRPr sz="2267"/>
            </a:lvl2pPr>
            <a:lvl3pPr>
              <a:defRPr sz="2040"/>
            </a:lvl3pPr>
            <a:lvl4pPr>
              <a:defRPr sz="1813"/>
            </a:lvl4pPr>
            <a:lvl5pPr>
              <a:defRPr sz="1813"/>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Date Placeholder 25"/>
          <p:cNvSpPr>
            <a:spLocks noGrp="1"/>
          </p:cNvSpPr>
          <p:nvPr>
            <p:ph type="dt" sz="half" idx="10"/>
          </p:nvPr>
        </p:nvSpPr>
        <p:spPr/>
        <p:txBody>
          <a:bodyPr rtlCol="0"/>
          <a:lstStyle/>
          <a:p>
            <a:fld id="{A72F724B-6794-49EA-90F9-49408AE79D0C}" type="datetime3">
              <a:rPr lang="en-US" smtClean="0"/>
              <a:t>15 June 2026</a:t>
            </a:fld>
            <a:endParaRPr lang="en-US"/>
          </a:p>
        </p:txBody>
      </p:sp>
      <p:sp>
        <p:nvSpPr>
          <p:cNvPr id="27" name="Slide Number Placeholder 26"/>
          <p:cNvSpPr>
            <a:spLocks noGrp="1"/>
          </p:cNvSpPr>
          <p:nvPr>
            <p:ph type="sldNum" sz="quarter" idx="11"/>
          </p:nvPr>
        </p:nvSpPr>
        <p:spPr/>
        <p:txBody>
          <a:bodyPr rtlCol="0"/>
          <a:lstStyle/>
          <a:p>
            <a:fld id="{B6F15528-21DE-4FAA-801E-634DDDAF4B2B}" type="slidenum">
              <a:rPr lang="en-US" smtClean="0"/>
              <a:pPr/>
              <a:t>‹#›</a:t>
            </a:fld>
            <a:endParaRPr lang="en-US"/>
          </a:p>
        </p:txBody>
      </p:sp>
      <p:sp>
        <p:nvSpPr>
          <p:cNvPr id="28" name="Footer Placeholder 27"/>
          <p:cNvSpPr>
            <a:spLocks noGrp="1"/>
          </p:cNvSpPr>
          <p:nvPr>
            <p:ph type="ftr" sz="quarter" idx="12"/>
          </p:nvPr>
        </p:nvSpPr>
        <p:spPr/>
        <p:txBody>
          <a:bodyPr rtlCol="0"/>
          <a:lstStyle/>
          <a:p>
            <a:r>
              <a:rPr lang="en-US"/>
              <a:t>Course Teacher: Prof. Dr. Engr. Muhibul Haque Bhuyan</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31520" y="1295400"/>
            <a:ext cx="13167360" cy="1212494"/>
          </a:xfrm>
        </p:spPr>
        <p:txBody>
          <a:bodyPr anchor="ctr"/>
          <a:lstStyle>
            <a:lvl1pPr>
              <a:defRPr sz="4533">
                <a:solidFill>
                  <a:schemeClr val="tx2"/>
                </a:solidFill>
              </a:defRPr>
            </a:lvl1pPr>
          </a:lstStyle>
          <a:p>
            <a:r>
              <a:rPr kumimoji="0" lang="en-US"/>
              <a:t>Click to edit Master title style</a:t>
            </a:r>
          </a:p>
        </p:txBody>
      </p:sp>
      <p:sp>
        <p:nvSpPr>
          <p:cNvPr id="3" name="Date Placeholder 2"/>
          <p:cNvSpPr>
            <a:spLocks noGrp="1"/>
          </p:cNvSpPr>
          <p:nvPr>
            <p:ph type="dt" sz="half" idx="10"/>
          </p:nvPr>
        </p:nvSpPr>
        <p:spPr>
          <a:xfrm>
            <a:off x="10533888" y="694334"/>
            <a:ext cx="1531622" cy="518160"/>
          </a:xfrm>
        </p:spPr>
        <p:txBody>
          <a:bodyPr/>
          <a:lstStyle/>
          <a:p>
            <a:fld id="{DBBFC010-6ED9-4F4E-A615-B299FB648489}" type="datetime3">
              <a:rPr lang="en-US" smtClean="0"/>
              <a:t>15 June 2026</a:t>
            </a:fld>
            <a:endParaRPr lang="en-US"/>
          </a:p>
        </p:txBody>
      </p:sp>
      <p:sp>
        <p:nvSpPr>
          <p:cNvPr id="4" name="Footer Placeholder 3"/>
          <p:cNvSpPr>
            <a:spLocks noGrp="1"/>
          </p:cNvSpPr>
          <p:nvPr>
            <p:ph type="ftr" sz="quarter" idx="11"/>
          </p:nvPr>
        </p:nvSpPr>
        <p:spPr>
          <a:xfrm>
            <a:off x="8412480" y="694334"/>
            <a:ext cx="2121408" cy="518160"/>
          </a:xfrm>
        </p:spPr>
        <p:txBody>
          <a:bodyPr/>
          <a:lstStyle/>
          <a:p>
            <a:r>
              <a:rPr lang="en-US"/>
              <a:t>Course Teacher: Prof. Dr. Engr. Muhibul Haque Bhuyan</a:t>
            </a:r>
          </a:p>
        </p:txBody>
      </p:sp>
      <p:sp>
        <p:nvSpPr>
          <p:cNvPr id="5" name="Slide Number Placeholder 4"/>
          <p:cNvSpPr>
            <a:spLocks noGrp="1"/>
          </p:cNvSpPr>
          <p:nvPr>
            <p:ph type="sldNum" sz="quarter" idx="12"/>
          </p:nvPr>
        </p:nvSpPr>
        <p:spPr>
          <a:xfrm>
            <a:off x="13079578" y="2575"/>
            <a:ext cx="1219200" cy="414528"/>
          </a:xfr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34D9FD-962B-4902-8B6C-E2F31720CDD7}" type="datetime3">
              <a:rPr lang="en-US" smtClean="0"/>
              <a:t>15 June 2026</a:t>
            </a:fld>
            <a:endParaRPr lang="en-US"/>
          </a:p>
        </p:txBody>
      </p:sp>
      <p:sp>
        <p:nvSpPr>
          <p:cNvPr id="3" name="Footer Placeholder 2"/>
          <p:cNvSpPr>
            <a:spLocks noGrp="1"/>
          </p:cNvSpPr>
          <p:nvPr>
            <p:ph type="ftr" sz="quarter" idx="11"/>
          </p:nvPr>
        </p:nvSpPr>
        <p:spPr/>
        <p:txBody>
          <a:bodyPr/>
          <a:lstStyle/>
          <a:p>
            <a:r>
              <a:rPr lang="en-US"/>
              <a:t>Course Teacher: Prof. Dr. Engr. Muhibul Haque Bhuyan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5594" y="1248899"/>
            <a:ext cx="5413248" cy="994867"/>
          </a:xfrm>
        </p:spPr>
        <p:txBody>
          <a:bodyPr anchor="b"/>
          <a:lstStyle>
            <a:lvl1pPr algn="l">
              <a:buNone/>
              <a:defRPr sz="2040" b="1"/>
            </a:lvl1pPr>
          </a:lstStyle>
          <a:p>
            <a:r>
              <a:rPr kumimoji="0" lang="en-US"/>
              <a:t>Click to edit Master title style</a:t>
            </a:r>
          </a:p>
        </p:txBody>
      </p:sp>
      <p:sp>
        <p:nvSpPr>
          <p:cNvPr id="3" name="Text Placeholder 2"/>
          <p:cNvSpPr>
            <a:spLocks noGrp="1"/>
          </p:cNvSpPr>
          <p:nvPr>
            <p:ph type="body" idx="2"/>
          </p:nvPr>
        </p:nvSpPr>
        <p:spPr>
          <a:xfrm>
            <a:off x="8565594" y="2278824"/>
            <a:ext cx="5413248" cy="5233416"/>
          </a:xfrm>
        </p:spPr>
        <p:txBody>
          <a:bodyPr/>
          <a:lstStyle>
            <a:lvl1pPr marL="10363" indent="0">
              <a:buNone/>
              <a:defRPr sz="1587"/>
            </a:lvl1pPr>
            <a:lvl2pPr>
              <a:buNone/>
              <a:defRPr sz="1360"/>
            </a:lvl2pPr>
            <a:lvl3pPr>
              <a:buNone/>
              <a:defRPr sz="1133"/>
            </a:lvl3pPr>
            <a:lvl4pPr>
              <a:buNone/>
              <a:defRPr sz="1020"/>
            </a:lvl4pPr>
            <a:lvl5pPr>
              <a:buNone/>
              <a:defRPr sz="102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243840" y="879792"/>
            <a:ext cx="8163763" cy="6632448"/>
          </a:xfrm>
        </p:spPr>
        <p:txBody>
          <a:bodyPr/>
          <a:lstStyle>
            <a:lvl1pPr>
              <a:defRPr sz="3627"/>
            </a:lvl1pPr>
            <a:lvl2pPr>
              <a:defRPr sz="3173"/>
            </a:lvl2pPr>
            <a:lvl3pPr>
              <a:defRPr sz="2720"/>
            </a:lvl3pPr>
            <a:lvl4pPr>
              <a:defRPr sz="2267"/>
            </a:lvl4pPr>
            <a:lvl5pPr>
              <a:defRPr sz="2267"/>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906F0FA1-8CCD-44D5-B394-07473A178C0E}" type="datetime3">
              <a:rPr lang="en-US" smtClean="0"/>
              <a:t>15 June 2026</a:t>
            </a:fld>
            <a:endParaRPr lang="en-US"/>
          </a:p>
        </p:txBody>
      </p:sp>
      <p:sp>
        <p:nvSpPr>
          <p:cNvPr id="6" name="Footer Placeholder 5"/>
          <p:cNvSpPr>
            <a:spLocks noGrp="1"/>
          </p:cNvSpPr>
          <p:nvPr>
            <p:ph type="ftr" sz="quarter" idx="11"/>
          </p:nvPr>
        </p:nvSpPr>
        <p:spPr/>
        <p:txBody>
          <a:bodyPr/>
          <a:lstStyle/>
          <a:p>
            <a:r>
              <a:rPr lang="en-US"/>
              <a:t>Course Teacher: Prof. Dr. Engr. Muhibul Haque Bhuyan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704695" y="1257049"/>
            <a:ext cx="938885" cy="5305855"/>
          </a:xfrm>
        </p:spPr>
        <p:txBody>
          <a:bodyPr vert="vert270" lIns="45720" tIns="0" rIns="45720" anchor="t"/>
          <a:lstStyle>
            <a:lvl1pPr algn="ctr">
              <a:buNone/>
              <a:defRPr sz="2267" b="1"/>
            </a:lvl1pPr>
          </a:lstStyle>
          <a:p>
            <a:r>
              <a:rPr kumimoji="0" lang="en-US"/>
              <a:t>Click to edit Master title style</a:t>
            </a:r>
          </a:p>
        </p:txBody>
      </p:sp>
      <p:sp>
        <p:nvSpPr>
          <p:cNvPr id="3" name="Picture Placeholder 2"/>
          <p:cNvSpPr>
            <a:spLocks noGrp="1"/>
          </p:cNvSpPr>
          <p:nvPr>
            <p:ph type="pic" idx="1"/>
          </p:nvPr>
        </p:nvSpPr>
        <p:spPr>
          <a:xfrm>
            <a:off x="645874" y="1295400"/>
            <a:ext cx="7315200" cy="51816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627"/>
            </a:lvl1pPr>
          </a:lstStyle>
          <a:p>
            <a:r>
              <a:rPr kumimoji="0" lang="en-US"/>
              <a:t>Click icon to add picture</a:t>
            </a:r>
            <a:endParaRPr kumimoji="0" lang="en-US" dirty="0"/>
          </a:p>
        </p:txBody>
      </p:sp>
      <p:sp>
        <p:nvSpPr>
          <p:cNvPr id="4" name="Text Placeholder 3"/>
          <p:cNvSpPr>
            <a:spLocks noGrp="1"/>
          </p:cNvSpPr>
          <p:nvPr>
            <p:ph type="body" sz="half" idx="2"/>
          </p:nvPr>
        </p:nvSpPr>
        <p:spPr>
          <a:xfrm>
            <a:off x="9741509" y="3710883"/>
            <a:ext cx="4145280" cy="2852021"/>
          </a:xfrm>
        </p:spPr>
        <p:txBody>
          <a:bodyPr lIns="0" tIns="0" rIns="45720" anchor="t"/>
          <a:lstStyle>
            <a:lvl1pPr marL="0" indent="0">
              <a:lnSpc>
                <a:spcPct val="100000"/>
              </a:lnSpc>
              <a:spcBef>
                <a:spcPts val="0"/>
              </a:spcBef>
              <a:buFontTx/>
              <a:buNone/>
              <a:defRPr sz="1473"/>
            </a:lvl1pPr>
            <a:lvl2pPr>
              <a:buFontTx/>
              <a:buNone/>
              <a:defRPr sz="1360"/>
            </a:lvl2pPr>
            <a:lvl3pPr>
              <a:buFontTx/>
              <a:buNone/>
              <a:defRPr sz="1133"/>
            </a:lvl3pPr>
            <a:lvl4pPr>
              <a:buFontTx/>
              <a:buNone/>
              <a:defRPr sz="1020"/>
            </a:lvl4pPr>
            <a:lvl5pPr>
              <a:buFontTx/>
              <a:buNone/>
              <a:defRPr sz="102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76B01DD9-9385-4CA1-9FD2-5B7C2AD3E794}" type="datetime3">
              <a:rPr lang="en-US" smtClean="0"/>
              <a:t>15 June 2026</a:t>
            </a:fld>
            <a:endParaRPr lang="en-US"/>
          </a:p>
        </p:txBody>
      </p:sp>
      <p:sp>
        <p:nvSpPr>
          <p:cNvPr id="6" name="Footer Placeholder 5"/>
          <p:cNvSpPr>
            <a:spLocks noGrp="1"/>
          </p:cNvSpPr>
          <p:nvPr>
            <p:ph type="ftr" sz="quarter" idx="11"/>
          </p:nvPr>
        </p:nvSpPr>
        <p:spPr/>
        <p:txBody>
          <a:bodyPr/>
          <a:lstStyle/>
          <a:p>
            <a:r>
              <a:rPr lang="en-US"/>
              <a:t>Course Teacher: Prof. Dr. Engr. Muhibul Haque Bhuyan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917AAFF3-F672-4672-BEF0-EFC5D10CDB57}" type="datetime3">
              <a:rPr lang="en-US" smtClean="0"/>
              <a:t>15 June 2026</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850880" y="1295400"/>
            <a:ext cx="3048000" cy="6217920"/>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731520" y="1295400"/>
            <a:ext cx="9997440" cy="621792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222863AE-C753-4C55-8FCD-A4037E3CC9D4}" type="datetime3">
              <a:rPr lang="en-US" smtClean="0"/>
              <a:t>15 June 2026</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2414483"/>
            <a:ext cx="12435840" cy="1666028"/>
          </a:xfrm>
        </p:spPr>
        <p:txBody>
          <a:bodyPr/>
          <a:lstStyle/>
          <a:p>
            <a:r>
              <a:rPr lang="en-US"/>
              <a:t>Click to edit Master title style</a:t>
            </a:r>
          </a:p>
        </p:txBody>
      </p:sp>
      <p:sp>
        <p:nvSpPr>
          <p:cNvPr id="3" name="Subtitle 2"/>
          <p:cNvSpPr>
            <a:spLocks noGrp="1"/>
          </p:cNvSpPr>
          <p:nvPr>
            <p:ph type="subTitle" idx="1"/>
          </p:nvPr>
        </p:nvSpPr>
        <p:spPr>
          <a:xfrm>
            <a:off x="2194560" y="4404360"/>
            <a:ext cx="10241280" cy="1986280"/>
          </a:xfrm>
        </p:spPr>
        <p:txBody>
          <a:bodyPr/>
          <a:lstStyle>
            <a:lvl1pPr marL="0" indent="0" algn="ctr">
              <a:buNone/>
              <a:defRPr/>
            </a:lvl1pPr>
            <a:lvl2pPr marL="487686" indent="0" algn="ctr">
              <a:buNone/>
              <a:defRPr/>
            </a:lvl2pPr>
            <a:lvl3pPr marL="975372" indent="0" algn="ctr">
              <a:buNone/>
              <a:defRPr/>
            </a:lvl3pPr>
            <a:lvl4pPr marL="1463058" indent="0" algn="ctr">
              <a:buNone/>
              <a:defRPr/>
            </a:lvl4pPr>
            <a:lvl5pPr marL="1950744" indent="0" algn="ctr">
              <a:buNone/>
              <a:defRPr/>
            </a:lvl5pPr>
            <a:lvl6pPr marL="2438430" indent="0" algn="ctr">
              <a:buNone/>
              <a:defRPr/>
            </a:lvl6pPr>
            <a:lvl7pPr marL="2926117" indent="0" algn="ctr">
              <a:buNone/>
              <a:defRPr/>
            </a:lvl7pPr>
            <a:lvl8pPr marL="3413803" indent="0" algn="ctr">
              <a:buNone/>
              <a:defRPr/>
            </a:lvl8pPr>
            <a:lvl9pPr marL="3901489" indent="0" algn="ctr">
              <a:buNone/>
              <a:defRPr/>
            </a:lvl9pPr>
          </a:lstStyle>
          <a:p>
            <a:r>
              <a:rPr lang="en-US"/>
              <a:t>Click to edit Master subtitle style</a:t>
            </a:r>
          </a:p>
        </p:txBody>
      </p:sp>
      <p:sp>
        <p:nvSpPr>
          <p:cNvPr id="4" name="Rectangle 16"/>
          <p:cNvSpPr>
            <a:spLocks noGrp="1" noChangeArrowheads="1"/>
          </p:cNvSpPr>
          <p:nvPr>
            <p:ph type="dt" sz="half" idx="10"/>
          </p:nvPr>
        </p:nvSpPr>
        <p:spPr>
          <a:xfrm>
            <a:off x="91723" y="7484533"/>
            <a:ext cx="1581855" cy="263878"/>
          </a:xfrm>
          <a:ln/>
        </p:spPr>
        <p:txBody>
          <a:bodyPr/>
          <a:lstStyle>
            <a:lvl1pPr>
              <a:defRPr/>
            </a:lvl1pPr>
          </a:lstStyle>
          <a:p>
            <a:pPr>
              <a:defRPr/>
            </a:pPr>
            <a:fld id="{D772E854-8A5A-41DB-9951-5DFB5B9985DF}" type="datetime3">
              <a:rPr lang="en-US" smtClean="0"/>
              <a:t>15 June 2026</a:t>
            </a:fld>
            <a:endParaRPr lang="en-US" dirty="0"/>
          </a:p>
        </p:txBody>
      </p:sp>
    </p:spTree>
    <p:extLst>
      <p:ext uri="{BB962C8B-B14F-4D97-AF65-F5344CB8AC3E}">
        <p14:creationId xmlns:p14="http://schemas.microsoft.com/office/powerpoint/2010/main" val="3842806558"/>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2" y="415728"/>
            <a:ext cx="14630400" cy="95661"/>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29" name="Rectangle 28"/>
          <p:cNvSpPr/>
          <p:nvPr/>
        </p:nvSpPr>
        <p:spPr>
          <a:xfrm>
            <a:off x="0" y="-1"/>
            <a:ext cx="14630400" cy="352085"/>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30" name="Rectangle 29"/>
          <p:cNvSpPr/>
          <p:nvPr/>
        </p:nvSpPr>
        <p:spPr>
          <a:xfrm>
            <a:off x="1" y="349380"/>
            <a:ext cx="14630402" cy="103633"/>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31" name="Rectangle 30"/>
          <p:cNvSpPr/>
          <p:nvPr/>
        </p:nvSpPr>
        <p:spPr>
          <a:xfrm flipV="1">
            <a:off x="8656292" y="408279"/>
            <a:ext cx="5974110" cy="1032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32" name="Rectangle 31"/>
          <p:cNvSpPr/>
          <p:nvPr/>
        </p:nvSpPr>
        <p:spPr>
          <a:xfrm flipV="1">
            <a:off x="8656321" y="498794"/>
            <a:ext cx="5974082" cy="20404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useBgFill="1">
        <p:nvSpPr>
          <p:cNvPr id="33" name="Rounded Rectangle 32"/>
          <p:cNvSpPr/>
          <p:nvPr/>
        </p:nvSpPr>
        <p:spPr bwMode="white">
          <a:xfrm>
            <a:off x="8651742" y="563838"/>
            <a:ext cx="4901184" cy="31090"/>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useBgFill="1">
        <p:nvSpPr>
          <p:cNvPr id="34" name="Rounded Rectangle 33"/>
          <p:cNvSpPr/>
          <p:nvPr/>
        </p:nvSpPr>
        <p:spPr bwMode="white">
          <a:xfrm>
            <a:off x="11797834" y="667469"/>
            <a:ext cx="2560320" cy="41453"/>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35" name="Rectangle 34"/>
          <p:cNvSpPr/>
          <p:nvPr/>
        </p:nvSpPr>
        <p:spPr bwMode="invGray">
          <a:xfrm>
            <a:off x="14535945" y="-2268"/>
            <a:ext cx="92202" cy="704698"/>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dirty="0"/>
          </a:p>
        </p:txBody>
      </p:sp>
      <p:sp>
        <p:nvSpPr>
          <p:cNvPr id="36" name="Rectangle 35"/>
          <p:cNvSpPr/>
          <p:nvPr/>
        </p:nvSpPr>
        <p:spPr bwMode="invGray">
          <a:xfrm>
            <a:off x="14471170" y="-2268"/>
            <a:ext cx="43891" cy="704698"/>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dirty="0"/>
          </a:p>
        </p:txBody>
      </p:sp>
      <p:sp>
        <p:nvSpPr>
          <p:cNvPr id="37" name="Rectangle 36"/>
          <p:cNvSpPr/>
          <p:nvPr/>
        </p:nvSpPr>
        <p:spPr bwMode="invGray">
          <a:xfrm>
            <a:off x="14440685" y="-2268"/>
            <a:ext cx="14630" cy="704698"/>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38" name="Rectangle 37"/>
          <p:cNvSpPr/>
          <p:nvPr/>
        </p:nvSpPr>
        <p:spPr bwMode="invGray">
          <a:xfrm>
            <a:off x="14360677" y="-2268"/>
            <a:ext cx="43891" cy="704698"/>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39" name="Rectangle 38"/>
          <p:cNvSpPr/>
          <p:nvPr/>
        </p:nvSpPr>
        <p:spPr bwMode="invGray">
          <a:xfrm>
            <a:off x="14265083" y="431"/>
            <a:ext cx="87782" cy="663245"/>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40" name="Rectangle 39"/>
          <p:cNvSpPr/>
          <p:nvPr/>
        </p:nvSpPr>
        <p:spPr bwMode="invGray">
          <a:xfrm>
            <a:off x="14197560" y="431"/>
            <a:ext cx="14630" cy="663245"/>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dirty="0"/>
          </a:p>
        </p:txBody>
      </p:sp>
      <p:sp>
        <p:nvSpPr>
          <p:cNvPr id="22" name="Title Placeholder 21"/>
          <p:cNvSpPr>
            <a:spLocks noGrp="1"/>
          </p:cNvSpPr>
          <p:nvPr>
            <p:ph type="title"/>
          </p:nvPr>
        </p:nvSpPr>
        <p:spPr>
          <a:xfrm>
            <a:off x="731520" y="1295400"/>
            <a:ext cx="13167360" cy="120904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731520" y="2549347"/>
            <a:ext cx="13167360" cy="4901794"/>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3" name="Footer Placeholder 2"/>
          <p:cNvSpPr>
            <a:spLocks noGrp="1"/>
          </p:cNvSpPr>
          <p:nvPr>
            <p:ph type="ftr" sz="quarter" idx="3"/>
          </p:nvPr>
        </p:nvSpPr>
        <p:spPr>
          <a:xfrm>
            <a:off x="253181" y="7496048"/>
            <a:ext cx="4852219" cy="276352"/>
          </a:xfrm>
          <a:prstGeom prst="rect">
            <a:avLst/>
          </a:prstGeom>
        </p:spPr>
        <p:txBody>
          <a:bodyPr vert="horz"/>
          <a:lstStyle>
            <a:lvl1pPr algn="l" eaLnBrk="1" latinLnBrk="0" hangingPunct="1">
              <a:defRPr kumimoji="0" sz="1200">
                <a:solidFill>
                  <a:schemeClr val="accent2"/>
                </a:solidFill>
              </a:defRPr>
            </a:lvl1pPr>
          </a:lstStyle>
          <a:p>
            <a:r>
              <a:rPr lang="en-US" dirty="0"/>
              <a:t>Course Teacher: </a:t>
            </a:r>
            <a:r>
              <a:rPr lang="en-US" b="1" dirty="0"/>
              <a:t>Prof. Dr. Engr. </a:t>
            </a:r>
            <a:r>
              <a:rPr lang="en-US" b="1" dirty="0" err="1"/>
              <a:t>Muhibul</a:t>
            </a:r>
            <a:r>
              <a:rPr lang="en-US" b="1" dirty="0"/>
              <a:t> </a:t>
            </a:r>
            <a:r>
              <a:rPr lang="en-US" b="1" dirty="0" err="1"/>
              <a:t>Haque</a:t>
            </a:r>
            <a:r>
              <a:rPr lang="en-US" b="1" dirty="0"/>
              <a:t> </a:t>
            </a:r>
            <a:r>
              <a:rPr lang="en-US" b="1" dirty="0" err="1"/>
              <a:t>Bhuyan</a:t>
            </a:r>
            <a:endParaRPr lang="en-US" b="1" dirty="0"/>
          </a:p>
        </p:txBody>
      </p:sp>
      <p:sp>
        <p:nvSpPr>
          <p:cNvPr id="23" name="Slide Number Placeholder 22"/>
          <p:cNvSpPr>
            <a:spLocks noGrp="1"/>
          </p:cNvSpPr>
          <p:nvPr>
            <p:ph type="sldNum" sz="quarter" idx="4"/>
          </p:nvPr>
        </p:nvSpPr>
        <p:spPr>
          <a:xfrm>
            <a:off x="13182600" y="7451140"/>
            <a:ext cx="1388741" cy="321260"/>
          </a:xfrm>
          <a:prstGeom prst="rect">
            <a:avLst/>
          </a:prstGeom>
        </p:spPr>
        <p:txBody>
          <a:bodyPr vert="horz" anchor="b"/>
          <a:lstStyle>
            <a:lvl1pPr algn="r" eaLnBrk="1" latinLnBrk="0" hangingPunct="1">
              <a:defRPr kumimoji="0" sz="2000">
                <a:solidFill>
                  <a:srgbClr val="FF0000"/>
                </a:solidFill>
              </a:defRPr>
            </a:lvl1pPr>
          </a:lstStyle>
          <a:p>
            <a:fld id="{B6F15528-21DE-4FAA-801E-634DDDAF4B2B}" type="slidenum">
              <a:rPr lang="en-US" smtClean="0"/>
              <a:pPr/>
              <a:t>‹#›</a:t>
            </a:fld>
            <a:endParaRPr lang="en-US" dirty="0"/>
          </a:p>
        </p:txBody>
      </p:sp>
      <p:sp>
        <p:nvSpPr>
          <p:cNvPr id="14" name="Date Placeholder 13"/>
          <p:cNvSpPr>
            <a:spLocks noGrp="1"/>
          </p:cNvSpPr>
          <p:nvPr>
            <p:ph type="dt" sz="half" idx="2"/>
          </p:nvPr>
        </p:nvSpPr>
        <p:spPr>
          <a:xfrm>
            <a:off x="11102334" y="7496048"/>
            <a:ext cx="1531622" cy="276352"/>
          </a:xfrm>
          <a:prstGeom prst="rect">
            <a:avLst/>
          </a:prstGeom>
        </p:spPr>
        <p:txBody>
          <a:bodyPr vert="horz"/>
          <a:lstStyle>
            <a:lvl1pPr algn="r" eaLnBrk="1" latinLnBrk="0" hangingPunct="1">
              <a:defRPr kumimoji="0" sz="1200">
                <a:solidFill>
                  <a:srgbClr val="0070C0"/>
                </a:solidFill>
              </a:defRPr>
            </a:lvl1pPr>
          </a:lstStyle>
          <a:p>
            <a:fld id="{C157503E-10CB-491D-BC6E-485C5A287C09}" type="datetime3">
              <a:rPr lang="en-US" smtClean="0"/>
              <a:t>15 June 2026</a:t>
            </a:fld>
            <a:endParaRPr lang="en-US"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hdr="0"/>
  <p:txStyles>
    <p:titleStyle>
      <a:lvl1pPr algn="l" rtl="0" eaLnBrk="1" latinLnBrk="0" hangingPunct="1">
        <a:spcBef>
          <a:spcPct val="0"/>
        </a:spcBef>
        <a:buNone/>
        <a:defRPr kumimoji="0" sz="4533" kern="1200">
          <a:solidFill>
            <a:schemeClr val="tx2"/>
          </a:solidFill>
          <a:latin typeface="+mj-lt"/>
          <a:ea typeface="+mj-ea"/>
          <a:cs typeface="+mj-cs"/>
        </a:defRPr>
      </a:lvl1pPr>
    </p:titleStyle>
    <p:bodyStyle>
      <a:lvl1pPr marL="414516" indent="-290161" algn="l" rtl="0" eaLnBrk="1" latinLnBrk="0" hangingPunct="1">
        <a:spcBef>
          <a:spcPts val="340"/>
        </a:spcBef>
        <a:buClr>
          <a:schemeClr val="accent3"/>
        </a:buClr>
        <a:buFont typeface="Georgia"/>
        <a:buChar char="•"/>
        <a:defRPr kumimoji="0" sz="3173" kern="1200">
          <a:solidFill>
            <a:schemeClr val="tx1"/>
          </a:solidFill>
          <a:latin typeface="+mn-lt"/>
          <a:ea typeface="+mn-ea"/>
          <a:cs typeface="+mn-cs"/>
        </a:defRPr>
      </a:lvl1pPr>
      <a:lvl2pPr marL="746128" indent="-279798" algn="l" rtl="0" eaLnBrk="1" latinLnBrk="0" hangingPunct="1">
        <a:spcBef>
          <a:spcPts val="340"/>
        </a:spcBef>
        <a:buClr>
          <a:schemeClr val="accent2"/>
        </a:buClr>
        <a:buFont typeface="Georgia"/>
        <a:buChar char="▫"/>
        <a:defRPr kumimoji="0" sz="2947" kern="1200">
          <a:solidFill>
            <a:schemeClr val="accent2"/>
          </a:solidFill>
          <a:latin typeface="+mn-lt"/>
          <a:ea typeface="+mn-ea"/>
          <a:cs typeface="+mn-cs"/>
        </a:defRPr>
      </a:lvl2pPr>
      <a:lvl3pPr marL="1046652" indent="-248709" algn="l" rtl="0" eaLnBrk="1" latinLnBrk="0" hangingPunct="1">
        <a:spcBef>
          <a:spcPts val="340"/>
        </a:spcBef>
        <a:buClr>
          <a:schemeClr val="accent1"/>
        </a:buClr>
        <a:buFont typeface="Wingdings 2"/>
        <a:buChar char=""/>
        <a:defRPr kumimoji="0" sz="2720" kern="1200">
          <a:solidFill>
            <a:schemeClr val="accent1"/>
          </a:solidFill>
          <a:latin typeface="+mn-lt"/>
          <a:ea typeface="+mn-ea"/>
          <a:cs typeface="+mn-cs"/>
        </a:defRPr>
      </a:lvl3pPr>
      <a:lvl4pPr marL="1336813" indent="-227984" algn="l" rtl="0" eaLnBrk="1" latinLnBrk="0" hangingPunct="1">
        <a:spcBef>
          <a:spcPts val="340"/>
        </a:spcBef>
        <a:buClr>
          <a:schemeClr val="accent1"/>
        </a:buClr>
        <a:buFont typeface="Wingdings 2"/>
        <a:buChar char=""/>
        <a:defRPr kumimoji="0" sz="2493" kern="1200">
          <a:solidFill>
            <a:schemeClr val="accent1"/>
          </a:solidFill>
          <a:latin typeface="+mn-lt"/>
          <a:ea typeface="+mn-ea"/>
          <a:cs typeface="+mn-cs"/>
        </a:defRPr>
      </a:lvl4pPr>
      <a:lvl5pPr marL="1575160" indent="-207258" algn="l" rtl="0" eaLnBrk="1" latinLnBrk="0" hangingPunct="1">
        <a:spcBef>
          <a:spcPts val="340"/>
        </a:spcBef>
        <a:buClr>
          <a:schemeClr val="accent3"/>
        </a:buClr>
        <a:buFont typeface="Georgia"/>
        <a:buChar char="▫"/>
        <a:defRPr kumimoji="0" sz="2267" kern="1200">
          <a:solidFill>
            <a:schemeClr val="accent3"/>
          </a:solidFill>
          <a:latin typeface="+mn-lt"/>
          <a:ea typeface="+mn-ea"/>
          <a:cs typeface="+mn-cs"/>
        </a:defRPr>
      </a:lvl5pPr>
      <a:lvl6pPr marL="1823870" indent="-207258" algn="l" rtl="0" eaLnBrk="1" latinLnBrk="0" hangingPunct="1">
        <a:spcBef>
          <a:spcPts val="340"/>
        </a:spcBef>
        <a:buClr>
          <a:schemeClr val="accent3"/>
        </a:buClr>
        <a:buFont typeface="Georgia"/>
        <a:buChar char="▫"/>
        <a:defRPr kumimoji="0" sz="2040" kern="1200">
          <a:solidFill>
            <a:schemeClr val="accent3"/>
          </a:solidFill>
          <a:latin typeface="+mn-lt"/>
          <a:ea typeface="+mn-ea"/>
          <a:cs typeface="+mn-cs"/>
        </a:defRPr>
      </a:lvl6pPr>
      <a:lvl7pPr marL="2072579" indent="-207258" algn="l" rtl="0" eaLnBrk="1" latinLnBrk="0" hangingPunct="1">
        <a:spcBef>
          <a:spcPts val="340"/>
        </a:spcBef>
        <a:buClr>
          <a:schemeClr val="accent3"/>
        </a:buClr>
        <a:buFont typeface="Georgia"/>
        <a:buChar char="▫"/>
        <a:defRPr kumimoji="0" sz="1813" kern="1200">
          <a:solidFill>
            <a:schemeClr val="accent3"/>
          </a:solidFill>
          <a:latin typeface="+mn-lt"/>
          <a:ea typeface="+mn-ea"/>
          <a:cs typeface="+mn-cs"/>
        </a:defRPr>
      </a:lvl7pPr>
      <a:lvl8pPr marL="2300563" indent="-207258" algn="l" rtl="0" eaLnBrk="1" latinLnBrk="0" hangingPunct="1">
        <a:spcBef>
          <a:spcPts val="340"/>
        </a:spcBef>
        <a:buClr>
          <a:schemeClr val="accent3"/>
        </a:buClr>
        <a:buFont typeface="Georgia"/>
        <a:buChar char="◦"/>
        <a:defRPr kumimoji="0" sz="1700" kern="1200">
          <a:solidFill>
            <a:schemeClr val="accent3"/>
          </a:solidFill>
          <a:latin typeface="+mn-lt"/>
          <a:ea typeface="+mn-ea"/>
          <a:cs typeface="+mn-cs"/>
        </a:defRPr>
      </a:lvl8pPr>
      <a:lvl9pPr marL="2538909" indent="-207258" algn="l" rtl="0" eaLnBrk="1" latinLnBrk="0" hangingPunct="1">
        <a:spcBef>
          <a:spcPts val="340"/>
        </a:spcBef>
        <a:buClr>
          <a:schemeClr val="accent3"/>
        </a:buClr>
        <a:buFont typeface="Georgia"/>
        <a:buChar char="◦"/>
        <a:defRPr kumimoji="0" sz="1587"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518145" algn="l" rtl="0" eaLnBrk="1" latinLnBrk="0" hangingPunct="1">
        <a:defRPr kumimoji="0" kern="1200">
          <a:solidFill>
            <a:schemeClr val="tx1"/>
          </a:solidFill>
          <a:latin typeface="+mn-lt"/>
          <a:ea typeface="+mn-ea"/>
          <a:cs typeface="+mn-cs"/>
        </a:defRPr>
      </a:lvl2pPr>
      <a:lvl3pPr marL="1036290" algn="l" rtl="0" eaLnBrk="1" latinLnBrk="0" hangingPunct="1">
        <a:defRPr kumimoji="0" kern="1200">
          <a:solidFill>
            <a:schemeClr val="tx1"/>
          </a:solidFill>
          <a:latin typeface="+mn-lt"/>
          <a:ea typeface="+mn-ea"/>
          <a:cs typeface="+mn-cs"/>
        </a:defRPr>
      </a:lvl3pPr>
      <a:lvl4pPr marL="1554434" algn="l" rtl="0" eaLnBrk="1" latinLnBrk="0" hangingPunct="1">
        <a:defRPr kumimoji="0" kern="1200">
          <a:solidFill>
            <a:schemeClr val="tx1"/>
          </a:solidFill>
          <a:latin typeface="+mn-lt"/>
          <a:ea typeface="+mn-ea"/>
          <a:cs typeface="+mn-cs"/>
        </a:defRPr>
      </a:lvl4pPr>
      <a:lvl5pPr marL="2072579" algn="l" rtl="0" eaLnBrk="1" latinLnBrk="0" hangingPunct="1">
        <a:defRPr kumimoji="0" kern="1200">
          <a:solidFill>
            <a:schemeClr val="tx1"/>
          </a:solidFill>
          <a:latin typeface="+mn-lt"/>
          <a:ea typeface="+mn-ea"/>
          <a:cs typeface="+mn-cs"/>
        </a:defRPr>
      </a:lvl5pPr>
      <a:lvl6pPr marL="2590724" algn="l" rtl="0" eaLnBrk="1" latinLnBrk="0" hangingPunct="1">
        <a:defRPr kumimoji="0" kern="1200">
          <a:solidFill>
            <a:schemeClr val="tx1"/>
          </a:solidFill>
          <a:latin typeface="+mn-lt"/>
          <a:ea typeface="+mn-ea"/>
          <a:cs typeface="+mn-cs"/>
        </a:defRPr>
      </a:lvl6pPr>
      <a:lvl7pPr marL="3108869" algn="l" rtl="0" eaLnBrk="1" latinLnBrk="0" hangingPunct="1">
        <a:defRPr kumimoji="0" kern="1200">
          <a:solidFill>
            <a:schemeClr val="tx1"/>
          </a:solidFill>
          <a:latin typeface="+mn-lt"/>
          <a:ea typeface="+mn-ea"/>
          <a:cs typeface="+mn-cs"/>
        </a:defRPr>
      </a:lvl7pPr>
      <a:lvl8pPr marL="3627013" algn="l" rtl="0" eaLnBrk="1" latinLnBrk="0" hangingPunct="1">
        <a:defRPr kumimoji="0" kern="1200">
          <a:solidFill>
            <a:schemeClr val="tx1"/>
          </a:solidFill>
          <a:latin typeface="+mn-lt"/>
          <a:ea typeface="+mn-ea"/>
          <a:cs typeface="+mn-cs"/>
        </a:defRPr>
      </a:lvl8pPr>
      <a:lvl9pPr marL="4145158"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microsoft.com/office/2007/relationships/hdphoto" Target="../media/hdphoto2.wdp"/></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microsoft.com/office/2007/relationships/hdphoto" Target="../media/hdphoto2.wdp"/></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0.png"/></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7.emf"/></Relationships>
</file>

<file path=ppt/slides/_rels/slide30.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35.emf"/></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mansfield-devine.com/speculatrix/2018/04/debouncing-fun-with-schmitt-triggers-and-capacitors/" TargetMode="External"/><Relationship Id="rId2" Type="http://schemas.openxmlformats.org/officeDocument/2006/relationships/hyperlink" Target="http://www.ganssle.com/debouncing-pt2.htm"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5793353" y="567267"/>
            <a:ext cx="8632237" cy="5283200"/>
          </a:xfrm>
          <a:prstGeom prst="rect">
            <a:avLst/>
          </a:prstGeom>
        </p:spPr>
      </p:pic>
      <p:sp>
        <p:nvSpPr>
          <p:cNvPr id="4098" name="Rectangle 2"/>
          <p:cNvSpPr>
            <a:spLocks noGrp="1" noChangeArrowheads="1"/>
          </p:cNvSpPr>
          <p:nvPr>
            <p:ph type="ctrTitle"/>
          </p:nvPr>
        </p:nvSpPr>
        <p:spPr>
          <a:xfrm>
            <a:off x="5757334" y="567267"/>
            <a:ext cx="8602133" cy="2980267"/>
          </a:xfrm>
        </p:spPr>
        <p:txBody>
          <a:bodyPr anchor="t"/>
          <a:lstStyle/>
          <a:p>
            <a:pPr algn="l" eaLnBrk="1" hangingPunct="1"/>
            <a:r>
              <a:rPr lang="en-US" altLang="en-US" sz="5400" dirty="0">
                <a:solidFill>
                  <a:srgbClr val="FFFF00"/>
                </a:solidFill>
                <a:latin typeface="Amasis MT Pro Black" panose="02040A04050005020304" pitchFamily="18" charset="0"/>
              </a:rPr>
              <a:t>Lecture # 04M: </a:t>
            </a:r>
            <a:br>
              <a:rPr lang="en-US" altLang="en-US" sz="5400" dirty="0">
                <a:solidFill>
                  <a:schemeClr val="tx1"/>
                </a:solidFill>
              </a:rPr>
            </a:br>
            <a:r>
              <a:rPr lang="en-US" altLang="en-US" sz="7200" dirty="0">
                <a:solidFill>
                  <a:srgbClr val="FF0000"/>
                </a:solidFill>
                <a:latin typeface="+mn-lt"/>
              </a:rPr>
              <a:t>Switch Debouncing</a:t>
            </a:r>
            <a:endParaRPr lang="en-US" altLang="en-US" sz="4267" dirty="0">
              <a:solidFill>
                <a:srgbClr val="FF0000"/>
              </a:solidFill>
              <a:latin typeface="+mn-lt"/>
            </a:endParaRPr>
          </a:p>
        </p:txBody>
      </p:sp>
      <p:sp>
        <p:nvSpPr>
          <p:cNvPr id="4100" name="Rectangle 5"/>
          <p:cNvSpPr>
            <a:spLocks noChangeAspect="1" noChangeArrowheads="1"/>
          </p:cNvSpPr>
          <p:nvPr/>
        </p:nvSpPr>
        <p:spPr bwMode="auto">
          <a:xfrm>
            <a:off x="5823456" y="6003338"/>
            <a:ext cx="8602133" cy="1340556"/>
          </a:xfrm>
          <a:prstGeom prst="rect">
            <a:avLst/>
          </a:prstGeom>
          <a:solidFill>
            <a:schemeClr val="bg1"/>
          </a:solidFill>
          <a:ln w="28575">
            <a:solidFill>
              <a:srgbClr val="0070C0"/>
            </a:solidFill>
            <a:miter lim="800000"/>
            <a:headEnd/>
            <a:tailEnd/>
          </a:ln>
        </p:spPr>
        <p:txBody>
          <a:bodyPr lIns="104170" tIns="0" rIns="104170" bIns="0"/>
          <a:lstStyle>
            <a:lvl1pPr>
              <a:spcBef>
                <a:spcPct val="20000"/>
              </a:spcBef>
              <a:buFont typeface="Wingdings" panose="05000000000000000000" pitchFamily="2" charset="2"/>
              <a:buChar char="q"/>
              <a:defRPr sz="28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800">
                <a:solidFill>
                  <a:schemeClr val="tx1"/>
                </a:solidFill>
                <a:latin typeface="Arial" panose="020B0604020202020204" pitchFamily="34" charset="0"/>
              </a:defRPr>
            </a:lvl3pPr>
            <a:lvl4pPr marL="1600200" indent="-228600">
              <a:spcBef>
                <a:spcPct val="20000"/>
              </a:spcBef>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eaLnBrk="1" hangingPunct="1">
              <a:spcBef>
                <a:spcPct val="0"/>
              </a:spcBef>
              <a:buFontTx/>
              <a:buNone/>
            </a:pPr>
            <a:r>
              <a:rPr lang="en-US" altLang="en-US" sz="2133" dirty="0">
                <a:cs typeface="Arial" panose="020B0604020202020204" pitchFamily="34" charset="0"/>
              </a:rPr>
              <a:t>Course Teacher:</a:t>
            </a:r>
            <a:r>
              <a:rPr lang="en-US" altLang="en-US" sz="2133" b="1" dirty="0">
                <a:solidFill>
                  <a:srgbClr val="0000FF"/>
                </a:solidFill>
                <a:cs typeface="Arial" panose="020B0604020202020204" pitchFamily="34" charset="0"/>
              </a:rPr>
              <a:t> Prof. Dr. Engr. </a:t>
            </a:r>
            <a:r>
              <a:rPr lang="en-US" altLang="en-US" sz="2133" b="1" dirty="0" err="1">
                <a:solidFill>
                  <a:srgbClr val="0000FF"/>
                </a:solidFill>
                <a:cs typeface="Arial" panose="020B0604020202020204" pitchFamily="34" charset="0"/>
              </a:rPr>
              <a:t>Muhibul</a:t>
            </a:r>
            <a:r>
              <a:rPr lang="en-US" altLang="en-US" sz="2133" b="1" dirty="0">
                <a:solidFill>
                  <a:srgbClr val="0000FF"/>
                </a:solidFill>
                <a:cs typeface="Arial" panose="020B0604020202020204" pitchFamily="34" charset="0"/>
              </a:rPr>
              <a:t> </a:t>
            </a:r>
            <a:r>
              <a:rPr lang="en-US" altLang="en-US" sz="2133" b="1" dirty="0" err="1">
                <a:solidFill>
                  <a:srgbClr val="0000FF"/>
                </a:solidFill>
                <a:cs typeface="Arial" panose="020B0604020202020204" pitchFamily="34" charset="0"/>
              </a:rPr>
              <a:t>Haque</a:t>
            </a:r>
            <a:r>
              <a:rPr lang="en-US" altLang="en-US" sz="2133" b="1" dirty="0">
                <a:solidFill>
                  <a:srgbClr val="0000FF"/>
                </a:solidFill>
                <a:cs typeface="Arial" panose="020B0604020202020204" pitchFamily="34" charset="0"/>
              </a:rPr>
              <a:t> </a:t>
            </a:r>
            <a:r>
              <a:rPr lang="en-US" altLang="en-US" sz="2133" b="1" dirty="0" err="1">
                <a:solidFill>
                  <a:srgbClr val="0000FF"/>
                </a:solidFill>
                <a:cs typeface="Arial" panose="020B0604020202020204" pitchFamily="34" charset="0"/>
              </a:rPr>
              <a:t>Bhuyan</a:t>
            </a:r>
            <a:endParaRPr lang="en-US" altLang="en-US" sz="2133" b="1" dirty="0">
              <a:solidFill>
                <a:srgbClr val="0000FF"/>
              </a:solidFill>
              <a:cs typeface="Arial" panose="020B0604020202020204" pitchFamily="34" charset="0"/>
            </a:endParaRPr>
          </a:p>
          <a:p>
            <a:pPr eaLnBrk="1" hangingPunct="1">
              <a:spcBef>
                <a:spcPct val="0"/>
              </a:spcBef>
              <a:buFontTx/>
              <a:buNone/>
            </a:pPr>
            <a:r>
              <a:rPr lang="en-US" altLang="en-US" sz="2133" b="1" dirty="0">
                <a:solidFill>
                  <a:srgbClr val="FF0000"/>
                </a:solidFill>
                <a:cs typeface="Arial" panose="020B0604020202020204" pitchFamily="34" charset="0"/>
              </a:rPr>
              <a:t>Professor, Department of EEE</a:t>
            </a:r>
          </a:p>
          <a:p>
            <a:pPr eaLnBrk="1" hangingPunct="1">
              <a:spcBef>
                <a:spcPct val="0"/>
              </a:spcBef>
              <a:buFontTx/>
              <a:buNone/>
            </a:pPr>
            <a:r>
              <a:rPr lang="en-US" altLang="en-US" sz="2133" b="1" dirty="0">
                <a:solidFill>
                  <a:srgbClr val="008000"/>
                </a:solidFill>
                <a:cs typeface="Arial" panose="020B0604020202020204" pitchFamily="34" charset="0"/>
              </a:rPr>
              <a:t>American International University-Bangladesh (AIUB)</a:t>
            </a:r>
          </a:p>
          <a:p>
            <a:pPr eaLnBrk="1" hangingPunct="1">
              <a:spcBef>
                <a:spcPct val="0"/>
              </a:spcBef>
              <a:buFontTx/>
              <a:buNone/>
            </a:pPr>
            <a:r>
              <a:rPr lang="en-US" altLang="en-US" sz="2133" b="1" dirty="0">
                <a:solidFill>
                  <a:srgbClr val="008000"/>
                </a:solidFill>
                <a:cs typeface="Arial" panose="020B0604020202020204" pitchFamily="34" charset="0"/>
              </a:rPr>
              <a:t>Dhaka, Bangladesh</a:t>
            </a:r>
          </a:p>
        </p:txBody>
      </p:sp>
      <p:pic>
        <p:nvPicPr>
          <p:cNvPr id="6" name="Picture 5"/>
          <p:cNvPicPr>
            <a:picLocks noChangeAspect="1"/>
          </p:cNvPicPr>
          <p:nvPr/>
        </p:nvPicPr>
        <p:blipFill>
          <a:blip r:embed="rId4"/>
          <a:stretch>
            <a:fillRect/>
          </a:stretch>
        </p:blipFill>
        <p:spPr>
          <a:xfrm>
            <a:off x="338667" y="567266"/>
            <a:ext cx="5352544" cy="6776627"/>
          </a:xfrm>
          <a:prstGeom prst="rect">
            <a:avLst/>
          </a:prstGeom>
        </p:spPr>
      </p:pic>
    </p:spTree>
  </p:cSld>
  <p:clrMapOvr>
    <a:masterClrMapping/>
  </p:clrMapOvr>
  <p:transition advTm="7000">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8807" y="381000"/>
            <a:ext cx="9326880" cy="867867"/>
          </a:xfrm>
        </p:spPr>
        <p:txBody>
          <a:bodyPr>
            <a:normAutofit/>
          </a:bodyPr>
          <a:lstStyle/>
          <a:p>
            <a:r>
              <a:rPr lang="en-US" sz="4800" b="1" dirty="0"/>
              <a:t>What is Debouncing?</a:t>
            </a:r>
          </a:p>
        </p:txBody>
      </p:sp>
      <p:sp>
        <p:nvSpPr>
          <p:cNvPr id="3" name="Content Placeholder 2"/>
          <p:cNvSpPr>
            <a:spLocks noGrp="1"/>
          </p:cNvSpPr>
          <p:nvPr>
            <p:ph idx="1"/>
          </p:nvPr>
        </p:nvSpPr>
        <p:spPr>
          <a:xfrm>
            <a:off x="152400" y="1172668"/>
            <a:ext cx="14249400" cy="2878850"/>
          </a:xfrm>
        </p:spPr>
        <p:txBody>
          <a:bodyPr lIns="0" tIns="0" rIns="0" bIns="0">
            <a:noAutofit/>
          </a:bodyPr>
          <a:lstStyle/>
          <a:p>
            <a:pPr marL="124355" indent="0">
              <a:buNone/>
            </a:pPr>
            <a:r>
              <a:rPr lang="en-US" sz="3000" dirty="0">
                <a:cs typeface="Arial" panose="020B0604020202020204" pitchFamily="34" charset="0"/>
              </a:rPr>
              <a:t>When the state of a mechanical switch is changed from open to closed and vice versa, there is often a short period of time when the input voltage jumps between HIGH and LOW levels a couple of times before it settles. These transitions are called </a:t>
            </a:r>
            <a:r>
              <a:rPr lang="en-US" sz="3000" b="1" dirty="0">
                <a:solidFill>
                  <a:srgbClr val="FF0000"/>
                </a:solidFill>
                <a:cs typeface="Arial" panose="020B0604020202020204" pitchFamily="34" charset="0"/>
              </a:rPr>
              <a:t>bouncing </a:t>
            </a:r>
            <a:r>
              <a:rPr lang="en-US" sz="3000" dirty="0">
                <a:cs typeface="Arial" panose="020B0604020202020204" pitchFamily="34" charset="0"/>
              </a:rPr>
              <a:t>and getting rid of the effect of these transitions is called </a:t>
            </a:r>
            <a:r>
              <a:rPr lang="en-US" sz="3000" b="1" dirty="0">
                <a:solidFill>
                  <a:srgbClr val="0070C0"/>
                </a:solidFill>
                <a:cs typeface="Arial" panose="020B0604020202020204" pitchFamily="34" charset="0"/>
              </a:rPr>
              <a:t>debouncing</a:t>
            </a:r>
            <a:r>
              <a:rPr lang="en-US" sz="3000" dirty="0">
                <a:cs typeface="Arial" panose="020B0604020202020204" pitchFamily="34" charset="0"/>
              </a:rPr>
              <a:t>. To apply a manual switch signal into a digital circuit, we need to </a:t>
            </a:r>
            <a:r>
              <a:rPr lang="en-US" sz="3000" b="1" dirty="0">
                <a:solidFill>
                  <a:srgbClr val="FF0000"/>
                </a:solidFill>
                <a:cs typeface="Arial" panose="020B0604020202020204" pitchFamily="34" charset="0"/>
              </a:rPr>
              <a:t>debounce the signal, </a:t>
            </a:r>
            <a:r>
              <a:rPr lang="en-US" sz="3000" dirty="0">
                <a:cs typeface="Arial" panose="020B0604020202020204" pitchFamily="34" charset="0"/>
              </a:rPr>
              <a:t>so a single press doesn’t appear as multiple presses.</a:t>
            </a:r>
          </a:p>
          <a:p>
            <a:endParaRPr lang="en-US" sz="3000" dirty="0">
              <a:cs typeface="Arial" panose="020B0604020202020204" pitchFamily="34" charset="0"/>
            </a:endParaRPr>
          </a:p>
        </p:txBody>
      </p:sp>
      <p:sp>
        <p:nvSpPr>
          <p:cNvPr id="4" name="Footer Placeholder 3"/>
          <p:cNvSpPr>
            <a:spLocks noGrp="1"/>
          </p:cNvSpPr>
          <p:nvPr>
            <p:ph type="ftr" sz="quarter" idx="11"/>
          </p:nvPr>
        </p:nvSpPr>
        <p:spPr/>
        <p:txBody>
          <a:bodyPr/>
          <a:lstStyle/>
          <a:p>
            <a:r>
              <a:rPr lang="en-US"/>
              <a:t>Course Teacher: Prof. Dr. Engr. Muhibul Haque Bhuyan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a:t>
            </a:fld>
            <a:endParaRPr lang="en-US"/>
          </a:p>
        </p:txBody>
      </p:sp>
      <p:sp>
        <p:nvSpPr>
          <p:cNvPr id="6" name="Date Placeholder 5"/>
          <p:cNvSpPr>
            <a:spLocks noGrp="1"/>
          </p:cNvSpPr>
          <p:nvPr>
            <p:ph type="dt" sz="half" idx="10"/>
          </p:nvPr>
        </p:nvSpPr>
        <p:spPr/>
        <p:txBody>
          <a:bodyPr/>
          <a:lstStyle/>
          <a:p>
            <a:fld id="{4DD5C02E-441B-488C-B76E-D84297B26DB2}" type="datetime3">
              <a:rPr lang="en-US" smtClean="0"/>
              <a:t>15 June 2026</a:t>
            </a:fld>
            <a:endParaRPr lang="en-US"/>
          </a:p>
        </p:txBody>
      </p:sp>
      <p:sp>
        <p:nvSpPr>
          <p:cNvPr id="8" name="Rectangle 7"/>
          <p:cNvSpPr/>
          <p:nvPr/>
        </p:nvSpPr>
        <p:spPr>
          <a:xfrm>
            <a:off x="159902" y="4051518"/>
            <a:ext cx="14249400" cy="1815882"/>
          </a:xfrm>
          <a:prstGeom prst="rect">
            <a:avLst/>
          </a:prstGeom>
          <a:solidFill>
            <a:schemeClr val="accent6">
              <a:lumMod val="20000"/>
              <a:lumOff val="80000"/>
            </a:schemeClr>
          </a:solidFill>
        </p:spPr>
        <p:txBody>
          <a:bodyPr wrap="square">
            <a:spAutoFit/>
          </a:bodyPr>
          <a:lstStyle/>
          <a:p>
            <a:r>
              <a:rPr lang="en-US" sz="2800" dirty="0"/>
              <a:t>Alternatively, when a mechanical switch is flipped/pressed, the metal contacts inside may not open or close cleanly. In the microseconds before the switch achieves a </a:t>
            </a:r>
            <a:r>
              <a:rPr lang="en-US" sz="2800" b="1" dirty="0">
                <a:solidFill>
                  <a:srgbClr val="FF0000"/>
                </a:solidFill>
              </a:rPr>
              <a:t>good solid connection</a:t>
            </a:r>
            <a:r>
              <a:rPr lang="en-US" sz="2800" dirty="0"/>
              <a:t>, the switch's contacts may "</a:t>
            </a:r>
            <a:r>
              <a:rPr lang="en-US" sz="2800" b="1" dirty="0">
                <a:solidFill>
                  <a:srgbClr val="FF0000"/>
                </a:solidFill>
              </a:rPr>
              <a:t>bounce</a:t>
            </a:r>
            <a:r>
              <a:rPr lang="en-US" sz="2800" dirty="0"/>
              <a:t>" against each other, turning the </a:t>
            </a:r>
            <a:r>
              <a:rPr lang="en-US" sz="2800" b="1" dirty="0">
                <a:solidFill>
                  <a:srgbClr val="FF0000"/>
                </a:solidFill>
              </a:rPr>
              <a:t>switch on and off </a:t>
            </a:r>
            <a:r>
              <a:rPr lang="en-US" sz="2800" dirty="0"/>
              <a:t>in rapid succession.</a:t>
            </a:r>
          </a:p>
        </p:txBody>
      </p:sp>
      <p:sp>
        <p:nvSpPr>
          <p:cNvPr id="9" name="TextBox 8">
            <a:extLst>
              <a:ext uri="{FF2B5EF4-FFF2-40B4-BE49-F238E27FC236}">
                <a16:creationId xmlns:a16="http://schemas.microsoft.com/office/drawing/2014/main" id="{AA6E9296-AC7F-66A4-D37E-EAB4328526B1}"/>
              </a:ext>
            </a:extLst>
          </p:cNvPr>
          <p:cNvSpPr txBox="1"/>
          <p:nvPr/>
        </p:nvSpPr>
        <p:spPr>
          <a:xfrm>
            <a:off x="186748" y="5943600"/>
            <a:ext cx="14256903" cy="1569660"/>
          </a:xfrm>
          <a:prstGeom prst="rect">
            <a:avLst/>
          </a:prstGeom>
          <a:solidFill>
            <a:schemeClr val="accent4">
              <a:lumMod val="20000"/>
              <a:lumOff val="80000"/>
            </a:schemeClr>
          </a:solidFill>
        </p:spPr>
        <p:txBody>
          <a:bodyPr wrap="square">
            <a:spAutoFit/>
          </a:bodyPr>
          <a:lstStyle/>
          <a:p>
            <a:r>
              <a:rPr lang="en-US" sz="2400" b="1" dirty="0">
                <a:solidFill>
                  <a:srgbClr val="00B050"/>
                </a:solidFill>
                <a:cs typeface="Arial" panose="020B0604020202020204" pitchFamily="34" charset="0"/>
              </a:rPr>
              <a:t>Example 1: </a:t>
            </a:r>
            <a:r>
              <a:rPr lang="en-US" sz="2400" dirty="0">
                <a:cs typeface="Arial" panose="020B0604020202020204" pitchFamily="34" charset="0"/>
              </a:rPr>
              <a:t>If we connect the switch button to a pin with an external interrupt enabled, we will get </a:t>
            </a:r>
            <a:r>
              <a:rPr lang="en-US" sz="2400" dirty="0">
                <a:solidFill>
                  <a:srgbClr val="FF0000"/>
                </a:solidFill>
                <a:cs typeface="Arial" panose="020B0604020202020204" pitchFamily="34" charset="0"/>
              </a:rPr>
              <a:t>several interrupts </a:t>
            </a:r>
            <a:r>
              <a:rPr lang="en-US" sz="2400" dirty="0">
                <a:cs typeface="Arial" panose="020B0604020202020204" pitchFamily="34" charset="0"/>
              </a:rPr>
              <a:t>from pressing the button just once. This behavior causes </a:t>
            </a:r>
            <a:r>
              <a:rPr lang="en-US" sz="2400" dirty="0">
                <a:solidFill>
                  <a:srgbClr val="FF0000"/>
                </a:solidFill>
                <a:cs typeface="Arial" panose="020B0604020202020204" pitchFamily="34" charset="0"/>
              </a:rPr>
              <a:t>multiple false button presses</a:t>
            </a:r>
            <a:r>
              <a:rPr lang="en-US" sz="2400" dirty="0">
                <a:cs typeface="Arial" panose="020B0604020202020204" pitchFamily="34" charset="0"/>
              </a:rPr>
              <a:t>. </a:t>
            </a:r>
          </a:p>
          <a:p>
            <a:r>
              <a:rPr lang="en-US" sz="2400" b="1" dirty="0">
                <a:solidFill>
                  <a:srgbClr val="00B050"/>
                </a:solidFill>
                <a:cs typeface="Arial" panose="020B0604020202020204" pitchFamily="34" charset="0"/>
              </a:rPr>
              <a:t>Example 2: </a:t>
            </a:r>
            <a:r>
              <a:rPr lang="en-US" sz="2400" dirty="0">
                <a:cs typeface="Arial" panose="020B0604020202020204" pitchFamily="34" charset="0"/>
              </a:rPr>
              <a:t>Imagine using a button in a </a:t>
            </a:r>
            <a:r>
              <a:rPr lang="en-US" sz="2400" dirty="0">
                <a:solidFill>
                  <a:srgbClr val="FF0000"/>
                </a:solidFill>
                <a:cs typeface="Arial" panose="020B0604020202020204" pitchFamily="34" charset="0"/>
              </a:rPr>
              <a:t>TV remote controller </a:t>
            </a:r>
            <a:r>
              <a:rPr lang="en-US" sz="2400" dirty="0">
                <a:cs typeface="Arial" panose="020B0604020202020204" pitchFamily="34" charset="0"/>
              </a:rPr>
              <a:t>for the selection of a channel. If the </a:t>
            </a:r>
            <a:r>
              <a:rPr lang="en-US" sz="2400" dirty="0">
                <a:solidFill>
                  <a:srgbClr val="FF0000"/>
                </a:solidFill>
                <a:cs typeface="Arial" panose="020B0604020202020204" pitchFamily="34" charset="0"/>
              </a:rPr>
              <a:t>button is not being debounced</a:t>
            </a:r>
            <a:r>
              <a:rPr lang="en-US" sz="2400" dirty="0">
                <a:cs typeface="Arial" panose="020B0604020202020204" pitchFamily="34" charset="0"/>
              </a:rPr>
              <a:t>, one press can cause the remote to </a:t>
            </a:r>
            <a:r>
              <a:rPr lang="en-US" sz="2400" dirty="0">
                <a:solidFill>
                  <a:srgbClr val="FF0000"/>
                </a:solidFill>
                <a:cs typeface="Arial" panose="020B0604020202020204" pitchFamily="34" charset="0"/>
              </a:rPr>
              <a:t>skip one or more channels</a:t>
            </a:r>
            <a:r>
              <a:rPr lang="en-US" sz="2400" dirty="0">
                <a:cs typeface="Arial" panose="020B0604020202020204" pitchFamily="34" charset="0"/>
              </a:rPr>
              <a:t>. </a:t>
            </a:r>
          </a:p>
        </p:txBody>
      </p:sp>
    </p:spTree>
    <p:extLst>
      <p:ext uri="{BB962C8B-B14F-4D97-AF65-F5344CB8AC3E}">
        <p14:creationId xmlns:p14="http://schemas.microsoft.com/office/powerpoint/2010/main" val="1321484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471" y="381000"/>
            <a:ext cx="9326880" cy="1209040"/>
          </a:xfrm>
        </p:spPr>
        <p:txBody>
          <a:bodyPr>
            <a:normAutofit/>
          </a:bodyPr>
          <a:lstStyle/>
          <a:p>
            <a:r>
              <a:rPr lang="en-US" sz="5400" b="1" dirty="0"/>
              <a:t>Why does Bouncing Happen?</a:t>
            </a:r>
          </a:p>
        </p:txBody>
      </p:sp>
      <p:pic>
        <p:nvPicPr>
          <p:cNvPr id="6" name="Picture 5">
            <a:extLst>
              <a:ext uri="{FF2B5EF4-FFF2-40B4-BE49-F238E27FC236}">
                <a16:creationId xmlns:a16="http://schemas.microsoft.com/office/drawing/2014/main" id="{6E9ADB4A-2DCE-4239-B05E-46C936179F3B}"/>
              </a:ext>
            </a:extLst>
          </p:cNvPr>
          <p:cNvPicPr>
            <a:picLocks noChangeAspect="1"/>
          </p:cNvPicPr>
          <p:nvPr/>
        </p:nvPicPr>
        <p:blipFill rotWithShape="1">
          <a:blip r:embed="rId3">
            <a:extLst>
              <a:ext uri="{BEBA8EAE-BF5A-486C-A8C5-ECC9F3942E4B}">
                <a14:imgProps xmlns:a14="http://schemas.microsoft.com/office/drawing/2010/main">
                  <a14:imgLayer r:embed="rId4">
                    <a14:imgEffect>
                      <a14:brightnessContrast contrast="20000"/>
                    </a14:imgEffect>
                  </a14:imgLayer>
                </a14:imgProps>
              </a:ext>
            </a:extLst>
          </a:blip>
          <a:srcRect l="5333" t="9547" r="2667" b="9272"/>
          <a:stretch/>
        </p:blipFill>
        <p:spPr>
          <a:xfrm>
            <a:off x="4892044" y="3960368"/>
            <a:ext cx="9662156" cy="3812033"/>
          </a:xfrm>
          <a:prstGeom prst="rect">
            <a:avLst/>
          </a:prstGeom>
        </p:spPr>
      </p:pic>
      <p:sp>
        <p:nvSpPr>
          <p:cNvPr id="3" name="Content Placeholder 2"/>
          <p:cNvSpPr>
            <a:spLocks noGrp="1"/>
          </p:cNvSpPr>
          <p:nvPr>
            <p:ph idx="1"/>
          </p:nvPr>
        </p:nvSpPr>
        <p:spPr>
          <a:xfrm>
            <a:off x="125507" y="1371600"/>
            <a:ext cx="14352494" cy="2588768"/>
          </a:xfrm>
        </p:spPr>
        <p:txBody>
          <a:bodyPr lIns="0" rIns="0">
            <a:noAutofit/>
          </a:bodyPr>
          <a:lstStyle/>
          <a:p>
            <a:r>
              <a:rPr lang="en-US" sz="3200" dirty="0">
                <a:latin typeface="Arial" panose="020B0604020202020204" pitchFamily="34" charset="0"/>
                <a:cs typeface="Arial" panose="020B0604020202020204" pitchFamily="34" charset="0"/>
              </a:rPr>
              <a:t>Bouncing is a result of the </a:t>
            </a:r>
            <a:r>
              <a:rPr lang="en-US" sz="3200" b="1" dirty="0">
                <a:solidFill>
                  <a:srgbClr val="FF0000"/>
                </a:solidFill>
                <a:latin typeface="Arial" panose="020B0604020202020204" pitchFamily="34" charset="0"/>
                <a:cs typeface="Arial" panose="020B0604020202020204" pitchFamily="34" charset="0"/>
              </a:rPr>
              <a:t>physical property of mechanical switches</a:t>
            </a:r>
            <a:r>
              <a:rPr lang="en-US" sz="3200" b="1" dirty="0">
                <a:latin typeface="Arial" panose="020B0604020202020204" pitchFamily="34" charset="0"/>
                <a:cs typeface="Arial" panose="020B0604020202020204" pitchFamily="34" charset="0"/>
              </a:rPr>
              <a:t>.</a:t>
            </a:r>
          </a:p>
          <a:p>
            <a:r>
              <a:rPr lang="en-US" sz="3200" dirty="0">
                <a:latin typeface="Arial" panose="020B0604020202020204" pitchFamily="34" charset="0"/>
                <a:cs typeface="Arial" panose="020B0604020202020204" pitchFamily="34" charset="0"/>
              </a:rPr>
              <a:t>Switch and relay contacts are usually made of metallic springs so when a switch is pressed, it is essential that two metal parts come together. But, this does not happen immediately, it bounces between in-contact (</a:t>
            </a:r>
            <a:r>
              <a:rPr lang="en-US" sz="3200" dirty="0">
                <a:solidFill>
                  <a:srgbClr val="FF0000"/>
                </a:solidFill>
                <a:latin typeface="Arial" panose="020B0604020202020204" pitchFamily="34" charset="0"/>
                <a:cs typeface="Arial" panose="020B0604020202020204" pitchFamily="34" charset="0"/>
              </a:rPr>
              <a:t>close the contact</a:t>
            </a:r>
            <a:r>
              <a:rPr lang="en-US" sz="3200" dirty="0">
                <a:latin typeface="Arial" panose="020B0604020202020204" pitchFamily="34" charset="0"/>
                <a:cs typeface="Arial" panose="020B0604020202020204" pitchFamily="34" charset="0"/>
              </a:rPr>
              <a:t>) and not-in-contact (</a:t>
            </a:r>
            <a:r>
              <a:rPr lang="en-US" sz="3200" dirty="0">
                <a:solidFill>
                  <a:srgbClr val="FF0000"/>
                </a:solidFill>
                <a:latin typeface="Arial" panose="020B0604020202020204" pitchFamily="34" charset="0"/>
                <a:cs typeface="Arial" panose="020B0604020202020204" pitchFamily="34" charset="0"/>
              </a:rPr>
              <a:t>open the contact</a:t>
            </a:r>
            <a:r>
              <a:rPr lang="en-US" sz="3200" dirty="0">
                <a:latin typeface="Arial" panose="020B0604020202020204" pitchFamily="34" charset="0"/>
                <a:cs typeface="Arial" panose="020B0604020202020204" pitchFamily="34" charset="0"/>
              </a:rPr>
              <a:t>) until it finally settles down.</a:t>
            </a:r>
          </a:p>
        </p:txBody>
      </p:sp>
      <p:sp>
        <p:nvSpPr>
          <p:cNvPr id="4" name="Footer Placeholder 3"/>
          <p:cNvSpPr>
            <a:spLocks noGrp="1"/>
          </p:cNvSpPr>
          <p:nvPr>
            <p:ph type="ftr" sz="quarter" idx="11"/>
          </p:nvPr>
        </p:nvSpPr>
        <p:spPr/>
        <p:txBody>
          <a:bodyPr/>
          <a:lstStyle/>
          <a:p>
            <a:r>
              <a:rPr lang="en-US"/>
              <a:t>Course Teacher: Prof. Dr. Engr. Muhibul Haque Bhuyan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3</a:t>
            </a:fld>
            <a:endParaRPr lang="en-US"/>
          </a:p>
        </p:txBody>
      </p:sp>
      <p:sp>
        <p:nvSpPr>
          <p:cNvPr id="7" name="Date Placeholder 6"/>
          <p:cNvSpPr>
            <a:spLocks noGrp="1"/>
          </p:cNvSpPr>
          <p:nvPr>
            <p:ph type="dt" sz="half" idx="10"/>
          </p:nvPr>
        </p:nvSpPr>
        <p:spPr/>
        <p:txBody>
          <a:bodyPr/>
          <a:lstStyle/>
          <a:p>
            <a:fld id="{16D92D30-AEB9-4783-BA09-B945A9BDDE2C}" type="datetime3">
              <a:rPr lang="en-US" smtClean="0"/>
              <a:t>15 June 2026</a:t>
            </a:fld>
            <a:endParaRPr lang="en-US"/>
          </a:p>
        </p:txBody>
      </p:sp>
      <p:sp>
        <p:nvSpPr>
          <p:cNvPr id="8" name="TextBox 7">
            <a:extLst>
              <a:ext uri="{FF2B5EF4-FFF2-40B4-BE49-F238E27FC236}">
                <a16:creationId xmlns:a16="http://schemas.microsoft.com/office/drawing/2014/main" id="{77E90630-629C-01C9-25EE-0BAC72D0D366}"/>
              </a:ext>
            </a:extLst>
          </p:cNvPr>
          <p:cNvSpPr txBox="1"/>
          <p:nvPr/>
        </p:nvSpPr>
        <p:spPr>
          <a:xfrm>
            <a:off x="3733800" y="6408003"/>
            <a:ext cx="1676400" cy="830997"/>
          </a:xfrm>
          <a:prstGeom prst="rect">
            <a:avLst/>
          </a:prstGeom>
          <a:noFill/>
        </p:spPr>
        <p:txBody>
          <a:bodyPr wrap="square">
            <a:spAutoFit/>
          </a:bodyPr>
          <a:lstStyle/>
          <a:p>
            <a:pPr algn="r"/>
            <a:r>
              <a:rPr lang="en-US" sz="2400" dirty="0">
                <a:solidFill>
                  <a:srgbClr val="0070C0"/>
                </a:solidFill>
                <a:latin typeface="Arial" panose="020B0604020202020204" pitchFamily="34" charset="0"/>
                <a:cs typeface="Arial" panose="020B0604020202020204" pitchFamily="34" charset="0"/>
              </a:rPr>
              <a:t>Pull-down Resistor </a:t>
            </a:r>
            <a:endParaRPr lang="en-US" sz="2400" dirty="0">
              <a:solidFill>
                <a:srgbClr val="0070C0"/>
              </a:solidFill>
            </a:endParaRPr>
          </a:p>
        </p:txBody>
      </p:sp>
      <p:sp>
        <p:nvSpPr>
          <p:cNvPr id="10" name="TextBox 9">
            <a:extLst>
              <a:ext uri="{FF2B5EF4-FFF2-40B4-BE49-F238E27FC236}">
                <a16:creationId xmlns:a16="http://schemas.microsoft.com/office/drawing/2014/main" id="{CE251165-9263-037E-B0EC-F892F7A4FE75}"/>
              </a:ext>
            </a:extLst>
          </p:cNvPr>
          <p:cNvSpPr txBox="1"/>
          <p:nvPr/>
        </p:nvSpPr>
        <p:spPr>
          <a:xfrm>
            <a:off x="442160" y="3948780"/>
            <a:ext cx="3901240" cy="3539430"/>
          </a:xfrm>
          <a:prstGeom prst="rect">
            <a:avLst/>
          </a:prstGeom>
          <a:noFill/>
        </p:spPr>
        <p:txBody>
          <a:bodyPr wrap="square">
            <a:spAutoFit/>
          </a:bodyPr>
          <a:lstStyle/>
          <a:p>
            <a:r>
              <a:rPr lang="en-US" sz="2800" dirty="0">
                <a:latin typeface="Arial" panose="020B0604020202020204" pitchFamily="34" charset="0"/>
                <a:cs typeface="Arial" panose="020B0604020202020204" pitchFamily="34" charset="0"/>
              </a:rPr>
              <a:t>Figure shows a simple push switch with a pull-down resistor and at its right, the output signal, </a:t>
            </a:r>
            <a:r>
              <a:rPr lang="en-US" sz="2800" dirty="0" err="1">
                <a:latin typeface="Arial" panose="020B0604020202020204" pitchFamily="34" charset="0"/>
                <a:cs typeface="Arial" panose="020B0604020202020204" pitchFamily="34" charset="0"/>
              </a:rPr>
              <a:t>V</a:t>
            </a:r>
            <a:r>
              <a:rPr lang="en-US" sz="2800" baseline="-25000" dirty="0" err="1">
                <a:latin typeface="Arial" panose="020B0604020202020204" pitchFamily="34" charset="0"/>
                <a:cs typeface="Arial" panose="020B0604020202020204" pitchFamily="34" charset="0"/>
              </a:rPr>
              <a:t>out</a:t>
            </a:r>
            <a:r>
              <a:rPr lang="en-US" sz="2800" baseline="-25000" dirty="0">
                <a:latin typeface="Arial" panose="020B0604020202020204" pitchFamily="34" charset="0"/>
                <a:cs typeface="Arial" panose="020B0604020202020204" pitchFamily="34" charset="0"/>
              </a:rPr>
              <a:t> </a:t>
            </a:r>
            <a:r>
              <a:rPr lang="en-US" sz="2800" dirty="0">
                <a:latin typeface="Arial" panose="020B0604020202020204" pitchFamily="34" charset="0"/>
                <a:cs typeface="Arial" panose="020B0604020202020204" pitchFamily="34" charset="0"/>
              </a:rPr>
              <a:t>shows the signal bounces when the switch is pressed or depressed. </a:t>
            </a:r>
            <a:endParaRPr lang="en-US" dirty="0"/>
          </a:p>
        </p:txBody>
      </p:sp>
    </p:spTree>
    <p:extLst>
      <p:ext uri="{BB962C8B-B14F-4D97-AF65-F5344CB8AC3E}">
        <p14:creationId xmlns:p14="http://schemas.microsoft.com/office/powerpoint/2010/main" val="10951535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471" y="228600"/>
            <a:ext cx="9326880" cy="1209040"/>
          </a:xfrm>
        </p:spPr>
        <p:txBody>
          <a:bodyPr>
            <a:normAutofit/>
          </a:bodyPr>
          <a:lstStyle/>
          <a:p>
            <a:r>
              <a:rPr lang="en-US" sz="5400" b="1" dirty="0"/>
              <a:t>Why does Bouncing Happen?</a:t>
            </a:r>
          </a:p>
        </p:txBody>
      </p:sp>
      <p:sp>
        <p:nvSpPr>
          <p:cNvPr id="3" name="Content Placeholder 2"/>
          <p:cNvSpPr>
            <a:spLocks noGrp="1"/>
          </p:cNvSpPr>
          <p:nvPr>
            <p:ph idx="1"/>
          </p:nvPr>
        </p:nvSpPr>
        <p:spPr>
          <a:xfrm>
            <a:off x="125507" y="1295400"/>
            <a:ext cx="14352494" cy="2588768"/>
          </a:xfrm>
        </p:spPr>
        <p:txBody>
          <a:bodyPr lIns="0" rIns="0">
            <a:noAutofit/>
          </a:bodyPr>
          <a:lstStyle/>
          <a:p>
            <a:r>
              <a:rPr lang="en-US" sz="3200" dirty="0">
                <a:latin typeface="Arial" panose="020B0604020202020204" pitchFamily="34" charset="0"/>
                <a:cs typeface="Arial" panose="020B0604020202020204" pitchFamily="34" charset="0"/>
              </a:rPr>
              <a:t>Figure shows a simple push switch with a pull-up resistor and at its right side, the trace shows the output signal, </a:t>
            </a:r>
            <a:r>
              <a:rPr lang="en-US" sz="3200" dirty="0" err="1">
                <a:latin typeface="Arial" panose="020B0604020202020204" pitchFamily="34" charset="0"/>
                <a:cs typeface="Arial" panose="020B0604020202020204" pitchFamily="34" charset="0"/>
              </a:rPr>
              <a:t>V</a:t>
            </a:r>
            <a:r>
              <a:rPr lang="en-US" sz="3200" baseline="-25000" dirty="0" err="1">
                <a:latin typeface="Arial" panose="020B0604020202020204" pitchFamily="34" charset="0"/>
                <a:cs typeface="Arial" panose="020B0604020202020204" pitchFamily="34" charset="0"/>
              </a:rPr>
              <a:t>out</a:t>
            </a:r>
            <a:r>
              <a:rPr lang="en-US" sz="3200" dirty="0">
                <a:latin typeface="Arial" panose="020B0604020202020204" pitchFamily="34" charset="0"/>
                <a:cs typeface="Arial" panose="020B0604020202020204" pitchFamily="34" charset="0"/>
              </a:rPr>
              <a:t>, when the switch is pressed. As can be seen, pressing the switch does not provide a clean edge. If this signal is used as an input to a digital counter, for example, you will get multiple counts rather than the expected single count.</a:t>
            </a:r>
          </a:p>
        </p:txBody>
      </p:sp>
      <p:sp>
        <p:nvSpPr>
          <p:cNvPr id="4" name="Footer Placeholder 3"/>
          <p:cNvSpPr>
            <a:spLocks noGrp="1"/>
          </p:cNvSpPr>
          <p:nvPr>
            <p:ph type="ftr" sz="quarter" idx="11"/>
          </p:nvPr>
        </p:nvSpPr>
        <p:spPr/>
        <p:txBody>
          <a:bodyPr/>
          <a:lstStyle/>
          <a:p>
            <a:r>
              <a:rPr lang="en-US"/>
              <a:t>Course Teacher: Prof. Dr. Engr. Muhibul Haque Bhuyan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4</a:t>
            </a:fld>
            <a:endParaRPr lang="en-US"/>
          </a:p>
        </p:txBody>
      </p:sp>
      <p:sp>
        <p:nvSpPr>
          <p:cNvPr id="7" name="Date Placeholder 6"/>
          <p:cNvSpPr>
            <a:spLocks noGrp="1"/>
          </p:cNvSpPr>
          <p:nvPr>
            <p:ph type="dt" sz="half" idx="10"/>
          </p:nvPr>
        </p:nvSpPr>
        <p:spPr/>
        <p:txBody>
          <a:bodyPr/>
          <a:lstStyle/>
          <a:p>
            <a:fld id="{16D92D30-AEB9-4783-BA09-B945A9BDDE2C}" type="datetime3">
              <a:rPr lang="en-US" smtClean="0"/>
              <a:t>15 June 2026</a:t>
            </a:fld>
            <a:endParaRPr lang="en-US"/>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4941" y="4038600"/>
            <a:ext cx="2627659" cy="3457448"/>
          </a:xfrm>
          <a:prstGeom prst="rect">
            <a:avLst/>
          </a:prstGeom>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92352" y="3899829"/>
            <a:ext cx="4735082" cy="3551311"/>
          </a:xfrm>
          <a:prstGeom prst="rect">
            <a:avLst/>
          </a:prstGeom>
        </p:spPr>
      </p:pic>
      <p:sp>
        <p:nvSpPr>
          <p:cNvPr id="12" name="Rectangle 11"/>
          <p:cNvSpPr/>
          <p:nvPr/>
        </p:nvSpPr>
        <p:spPr>
          <a:xfrm>
            <a:off x="253181" y="3448514"/>
            <a:ext cx="6452418" cy="3970318"/>
          </a:xfrm>
          <a:prstGeom prst="rect">
            <a:avLst/>
          </a:prstGeom>
        </p:spPr>
        <p:txBody>
          <a:bodyPr wrap="square">
            <a:spAutoFit/>
          </a:bodyPr>
          <a:lstStyle/>
          <a:p>
            <a:pPr marL="457200" indent="-457200">
              <a:buFont typeface="Arial" panose="020B0604020202020204" pitchFamily="34" charset="0"/>
              <a:buChar char="•"/>
            </a:pPr>
            <a:endParaRPr lang="en-US" sz="28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2800" dirty="0">
                <a:solidFill>
                  <a:srgbClr val="FF0000"/>
                </a:solidFill>
                <a:latin typeface="Arial" panose="020B0604020202020204" pitchFamily="34" charset="0"/>
                <a:cs typeface="Arial" panose="020B0604020202020204" pitchFamily="34" charset="0"/>
              </a:rPr>
              <a:t>The same can also occur on the release of a switch.</a:t>
            </a:r>
          </a:p>
          <a:p>
            <a:pPr marL="457200"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The problem is that the </a:t>
            </a:r>
            <a:r>
              <a:rPr lang="en-US" sz="2800" dirty="0">
                <a:solidFill>
                  <a:srgbClr val="FF0000"/>
                </a:solidFill>
                <a:latin typeface="Arial" panose="020B0604020202020204" pitchFamily="34" charset="0"/>
                <a:cs typeface="Arial" panose="020B0604020202020204" pitchFamily="34" charset="0"/>
              </a:rPr>
              <a:t>contacts within the switch don't make contact cleanly</a:t>
            </a:r>
            <a:r>
              <a:rPr lang="en-US" sz="2800" dirty="0">
                <a:latin typeface="Arial" panose="020B0604020202020204" pitchFamily="34" charset="0"/>
                <a:cs typeface="Arial" panose="020B0604020202020204" pitchFamily="34" charset="0"/>
              </a:rPr>
              <a:t>, but slightly 'bounce'. The bounce is quite slow, so you can recreate the trace, and the problem quite easily.</a:t>
            </a:r>
          </a:p>
        </p:txBody>
      </p:sp>
      <p:sp>
        <p:nvSpPr>
          <p:cNvPr id="13" name="TextBox 12">
            <a:extLst>
              <a:ext uri="{FF2B5EF4-FFF2-40B4-BE49-F238E27FC236}">
                <a16:creationId xmlns:a16="http://schemas.microsoft.com/office/drawing/2014/main" id="{F0FEB6DC-9D31-5DD5-FBC0-91746E0027D5}"/>
              </a:ext>
            </a:extLst>
          </p:cNvPr>
          <p:cNvSpPr txBox="1"/>
          <p:nvPr/>
        </p:nvSpPr>
        <p:spPr>
          <a:xfrm>
            <a:off x="7674965" y="4719935"/>
            <a:ext cx="2383435" cy="461665"/>
          </a:xfrm>
          <a:prstGeom prst="rect">
            <a:avLst/>
          </a:prstGeom>
          <a:noFill/>
        </p:spPr>
        <p:txBody>
          <a:bodyPr wrap="square">
            <a:spAutoFit/>
          </a:bodyPr>
          <a:lstStyle/>
          <a:p>
            <a:r>
              <a:rPr lang="en-US" sz="2400" dirty="0">
                <a:solidFill>
                  <a:srgbClr val="0070C0"/>
                </a:solidFill>
                <a:latin typeface="Arial" panose="020B0604020202020204" pitchFamily="34" charset="0"/>
                <a:cs typeface="Arial" panose="020B0604020202020204" pitchFamily="34" charset="0"/>
              </a:rPr>
              <a:t>Pull-up Resistor </a:t>
            </a:r>
            <a:endParaRPr lang="en-US" sz="2400" dirty="0">
              <a:solidFill>
                <a:srgbClr val="0070C0"/>
              </a:solidFill>
            </a:endParaRPr>
          </a:p>
        </p:txBody>
      </p:sp>
    </p:spTree>
    <p:extLst>
      <p:ext uri="{BB962C8B-B14F-4D97-AF65-F5344CB8AC3E}">
        <p14:creationId xmlns:p14="http://schemas.microsoft.com/office/powerpoint/2010/main" val="109572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471" y="381000"/>
            <a:ext cx="9326880" cy="1209040"/>
          </a:xfrm>
        </p:spPr>
        <p:txBody>
          <a:bodyPr>
            <a:normAutofit/>
          </a:bodyPr>
          <a:lstStyle/>
          <a:p>
            <a:r>
              <a:rPr lang="en-US" sz="5400" b="1" dirty="0"/>
              <a:t>Why does Bouncing Happen?</a:t>
            </a:r>
          </a:p>
        </p:txBody>
      </p:sp>
      <p:sp>
        <p:nvSpPr>
          <p:cNvPr id="3" name="Content Placeholder 2"/>
          <p:cNvSpPr>
            <a:spLocks noGrp="1"/>
          </p:cNvSpPr>
          <p:nvPr>
            <p:ph idx="1"/>
          </p:nvPr>
        </p:nvSpPr>
        <p:spPr>
          <a:xfrm>
            <a:off x="125507" y="1449832"/>
            <a:ext cx="14352494" cy="6001308"/>
          </a:xfrm>
        </p:spPr>
        <p:txBody>
          <a:bodyPr lIns="0" rIns="0">
            <a:noAutofit/>
          </a:bodyPr>
          <a:lstStyle/>
          <a:p>
            <a:r>
              <a:rPr lang="en-US" sz="3200" dirty="0">
                <a:latin typeface="Arial" panose="020B0604020202020204" pitchFamily="34" charset="0"/>
                <a:cs typeface="Arial" panose="020B0604020202020204" pitchFamily="34" charset="0"/>
              </a:rPr>
              <a:t>The bouncing phenomenon is associated with the </a:t>
            </a:r>
            <a:r>
              <a:rPr lang="en-US" sz="3200" b="1" dirty="0">
                <a:solidFill>
                  <a:srgbClr val="0070C0"/>
                </a:solidFill>
                <a:latin typeface="Arial" panose="020B0604020202020204" pitchFamily="34" charset="0"/>
                <a:cs typeface="Arial" panose="020B0604020202020204" pitchFamily="34" charset="0"/>
              </a:rPr>
              <a:t>Single Pole Single Throw (SPST)</a:t>
            </a:r>
            <a:r>
              <a:rPr lang="en-US" sz="3200" dirty="0">
                <a:latin typeface="Arial" panose="020B0604020202020204" pitchFamily="34" charset="0"/>
                <a:cs typeface="Arial" panose="020B0604020202020204" pitchFamily="34" charset="0"/>
              </a:rPr>
              <a:t>, </a:t>
            </a:r>
            <a:r>
              <a:rPr lang="en-US" sz="3200" b="1" dirty="0">
                <a:solidFill>
                  <a:srgbClr val="0070C0"/>
                </a:solidFill>
                <a:latin typeface="Arial" panose="020B0604020202020204" pitchFamily="34" charset="0"/>
                <a:cs typeface="Arial" panose="020B0604020202020204" pitchFamily="34" charset="0"/>
              </a:rPr>
              <a:t>Single Pole Double Throw (SPDT)</a:t>
            </a:r>
            <a:r>
              <a:rPr lang="en-US" sz="3200" dirty="0">
                <a:latin typeface="Arial" panose="020B0604020202020204" pitchFamily="34" charset="0"/>
                <a:cs typeface="Arial" panose="020B0604020202020204" pitchFamily="34" charset="0"/>
              </a:rPr>
              <a:t>,</a:t>
            </a:r>
            <a:r>
              <a:rPr lang="en-US" sz="3200" b="1" dirty="0">
                <a:solidFill>
                  <a:srgbClr val="0070C0"/>
                </a:solidFill>
                <a:latin typeface="Arial" panose="020B0604020202020204" pitchFamily="34" charset="0"/>
                <a:cs typeface="Arial" panose="020B0604020202020204" pitchFamily="34" charset="0"/>
              </a:rPr>
              <a:t> </a:t>
            </a:r>
            <a:r>
              <a:rPr lang="en-US" sz="3200" dirty="0">
                <a:latin typeface="Arial" panose="020B0604020202020204" pitchFamily="34" charset="0"/>
                <a:cs typeface="Arial" panose="020B0604020202020204" pitchFamily="34" charset="0"/>
              </a:rPr>
              <a:t>and similar other types of toggle switches. The </a:t>
            </a:r>
            <a:r>
              <a:rPr lang="en-US" sz="3200" b="1" dirty="0">
                <a:solidFill>
                  <a:srgbClr val="FF0000"/>
                </a:solidFill>
                <a:latin typeface="Arial" panose="020B0604020202020204" pitchFamily="34" charset="0"/>
                <a:cs typeface="Arial" panose="020B0604020202020204" pitchFamily="34" charset="0"/>
              </a:rPr>
              <a:t>bouncing case data may be analyzed </a:t>
            </a:r>
            <a:r>
              <a:rPr lang="en-US" sz="3200" dirty="0">
                <a:latin typeface="Arial" panose="020B0604020202020204" pitchFamily="34" charset="0"/>
                <a:cs typeface="Arial" panose="020B0604020202020204" pitchFamily="34" charset="0"/>
              </a:rPr>
              <a:t>to see </a:t>
            </a:r>
            <a:r>
              <a:rPr lang="en-US" sz="3200" b="1" dirty="0">
                <a:solidFill>
                  <a:srgbClr val="FF0000"/>
                </a:solidFill>
                <a:latin typeface="Arial" panose="020B0604020202020204" pitchFamily="34" charset="0"/>
                <a:cs typeface="Arial" panose="020B0604020202020204" pitchFamily="34" charset="0"/>
              </a:rPr>
              <a:t>how long </a:t>
            </a:r>
            <a:r>
              <a:rPr lang="en-US" sz="3200" dirty="0">
                <a:latin typeface="Arial" panose="020B0604020202020204" pitchFamily="34" charset="0"/>
                <a:cs typeface="Arial" panose="020B0604020202020204" pitchFamily="34" charset="0"/>
              </a:rPr>
              <a:t>the switch </a:t>
            </a:r>
            <a:r>
              <a:rPr lang="en-US" sz="3200" b="1" dirty="0">
                <a:solidFill>
                  <a:srgbClr val="FF0000"/>
                </a:solidFill>
                <a:latin typeface="Arial" panose="020B0604020202020204" pitchFamily="34" charset="0"/>
                <a:cs typeface="Arial" panose="020B0604020202020204" pitchFamily="34" charset="0"/>
              </a:rPr>
              <a:t>bounce persists</a:t>
            </a:r>
            <a:r>
              <a:rPr lang="en-US" sz="3200" dirty="0">
                <a:latin typeface="Arial" panose="020B0604020202020204" pitchFamily="34" charset="0"/>
                <a:cs typeface="Arial" panose="020B0604020202020204" pitchFamily="34" charset="0"/>
              </a:rPr>
              <a:t>, </a:t>
            </a:r>
            <a:r>
              <a:rPr lang="en-US" sz="3200" b="1" dirty="0">
                <a:solidFill>
                  <a:srgbClr val="FF0000"/>
                </a:solidFill>
                <a:latin typeface="Arial" panose="020B0604020202020204" pitchFamily="34" charset="0"/>
                <a:cs typeface="Arial" panose="020B0604020202020204" pitchFamily="34" charset="0"/>
              </a:rPr>
              <a:t>how wide </a:t>
            </a:r>
            <a:r>
              <a:rPr lang="en-US" sz="3200" dirty="0">
                <a:latin typeface="Arial" panose="020B0604020202020204" pitchFamily="34" charset="0"/>
                <a:cs typeface="Arial" panose="020B0604020202020204" pitchFamily="34" charset="0"/>
              </a:rPr>
              <a:t>the individual </a:t>
            </a:r>
            <a:r>
              <a:rPr lang="en-US" sz="3200" b="1" dirty="0">
                <a:solidFill>
                  <a:srgbClr val="FF0000"/>
                </a:solidFill>
                <a:latin typeface="Arial" panose="020B0604020202020204" pitchFamily="34" charset="0"/>
                <a:cs typeface="Arial" panose="020B0604020202020204" pitchFamily="34" charset="0"/>
              </a:rPr>
              <a:t>bounce pulses </a:t>
            </a:r>
            <a:r>
              <a:rPr lang="en-US" sz="3200" dirty="0">
                <a:latin typeface="Arial" panose="020B0604020202020204" pitchFamily="34" charset="0"/>
                <a:cs typeface="Arial" panose="020B0604020202020204" pitchFamily="34" charset="0"/>
              </a:rPr>
              <a:t>are, and </a:t>
            </a:r>
            <a:r>
              <a:rPr lang="en-US" sz="3200" b="1" dirty="0">
                <a:solidFill>
                  <a:srgbClr val="FF0000"/>
                </a:solidFill>
                <a:latin typeface="Arial" panose="020B0604020202020204" pitchFamily="34" charset="0"/>
                <a:cs typeface="Arial" panose="020B0604020202020204" pitchFamily="34" charset="0"/>
              </a:rPr>
              <a:t>how many bounces </a:t>
            </a:r>
            <a:r>
              <a:rPr lang="en-US" sz="3200" dirty="0">
                <a:latin typeface="Arial" panose="020B0604020202020204" pitchFamily="34" charset="0"/>
                <a:cs typeface="Arial" panose="020B0604020202020204" pitchFamily="34" charset="0"/>
              </a:rPr>
              <a:t>are observed.</a:t>
            </a:r>
          </a:p>
          <a:p>
            <a:r>
              <a:rPr lang="en-US" sz="3200" dirty="0">
                <a:latin typeface="Arial" panose="020B0604020202020204" pitchFamily="34" charset="0"/>
                <a:cs typeface="Arial" panose="020B0604020202020204" pitchFamily="34" charset="0"/>
              </a:rPr>
              <a:t>It is essential that the technique is not fooled by the occasional noise “</a:t>
            </a:r>
            <a:r>
              <a:rPr lang="en-US" sz="3200" dirty="0">
                <a:solidFill>
                  <a:srgbClr val="FF0000"/>
                </a:solidFill>
                <a:latin typeface="Arial" panose="020B0604020202020204" pitchFamily="34" charset="0"/>
                <a:cs typeface="Arial" panose="020B0604020202020204" pitchFamily="34" charset="0"/>
              </a:rPr>
              <a:t>glitch</a:t>
            </a:r>
            <a:r>
              <a:rPr lang="en-US" sz="3200" dirty="0">
                <a:latin typeface="Arial" panose="020B0604020202020204" pitchFamily="34" charset="0"/>
                <a:cs typeface="Arial" panose="020B0604020202020204" pitchFamily="34" charset="0"/>
              </a:rPr>
              <a:t>” or “</a:t>
            </a:r>
            <a:r>
              <a:rPr lang="en-US" sz="3200" dirty="0">
                <a:solidFill>
                  <a:srgbClr val="FF0000"/>
                </a:solidFill>
                <a:latin typeface="Arial" panose="020B0604020202020204" pitchFamily="34" charset="0"/>
                <a:cs typeface="Arial" panose="020B0604020202020204" pitchFamily="34" charset="0"/>
              </a:rPr>
              <a:t>spike</a:t>
            </a:r>
            <a:r>
              <a:rPr lang="en-US" sz="3200" dirty="0">
                <a:latin typeface="Arial" panose="020B0604020202020204" pitchFamily="34" charset="0"/>
                <a:cs typeface="Arial" panose="020B0604020202020204" pitchFamily="34" charset="0"/>
              </a:rPr>
              <a:t>” caused by other electrical, electronic, or electromagnetic signals, such as</a:t>
            </a:r>
          </a:p>
          <a:p>
            <a:pPr lvl="2"/>
            <a:r>
              <a:rPr lang="en-US" sz="2800" dirty="0">
                <a:latin typeface="Arial" panose="020B0604020202020204" pitchFamily="34" charset="0"/>
                <a:cs typeface="Arial" panose="020B0604020202020204" pitchFamily="34" charset="0"/>
              </a:rPr>
              <a:t>Crosstalk, </a:t>
            </a:r>
          </a:p>
          <a:p>
            <a:pPr lvl="2"/>
            <a:r>
              <a:rPr lang="en-US" sz="2800" dirty="0">
                <a:latin typeface="Arial" panose="020B0604020202020204" pitchFamily="34" charset="0"/>
                <a:cs typeface="Arial" panose="020B0604020202020204" pitchFamily="34" charset="0"/>
              </a:rPr>
              <a:t>EMI (electromagnetic interference)</a:t>
            </a:r>
          </a:p>
          <a:p>
            <a:pPr lvl="2"/>
            <a:r>
              <a:rPr lang="en-US" sz="2800" dirty="0">
                <a:latin typeface="Arial" panose="020B0604020202020204" pitchFamily="34" charset="0"/>
                <a:cs typeface="Arial" panose="020B0604020202020204" pitchFamily="34" charset="0"/>
              </a:rPr>
              <a:t>RFI (radio frequency interference)</a:t>
            </a:r>
          </a:p>
          <a:p>
            <a:pPr lvl="2"/>
            <a:r>
              <a:rPr lang="en-US" sz="2800" dirty="0">
                <a:latin typeface="Arial" panose="020B0604020202020204" pitchFamily="34" charset="0"/>
                <a:cs typeface="Arial" panose="020B0604020202020204" pitchFamily="34" charset="0"/>
              </a:rPr>
              <a:t>ESD (electrostatic discharge).</a:t>
            </a:r>
          </a:p>
        </p:txBody>
      </p:sp>
      <p:sp>
        <p:nvSpPr>
          <p:cNvPr id="4" name="Footer Placeholder 3"/>
          <p:cNvSpPr>
            <a:spLocks noGrp="1"/>
          </p:cNvSpPr>
          <p:nvPr>
            <p:ph type="ftr" sz="quarter" idx="11"/>
          </p:nvPr>
        </p:nvSpPr>
        <p:spPr/>
        <p:txBody>
          <a:bodyPr/>
          <a:lstStyle/>
          <a:p>
            <a:r>
              <a:rPr lang="en-US"/>
              <a:t>Course Teacher: Prof. Dr. Engr. Muhibul Haque Bhuyan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5</a:t>
            </a:fld>
            <a:endParaRPr lang="en-US"/>
          </a:p>
        </p:txBody>
      </p:sp>
      <p:sp>
        <p:nvSpPr>
          <p:cNvPr id="7" name="Date Placeholder 6"/>
          <p:cNvSpPr>
            <a:spLocks noGrp="1"/>
          </p:cNvSpPr>
          <p:nvPr>
            <p:ph type="dt" sz="half" idx="10"/>
          </p:nvPr>
        </p:nvSpPr>
        <p:spPr/>
        <p:txBody>
          <a:bodyPr/>
          <a:lstStyle/>
          <a:p>
            <a:fld id="{16D92D30-AEB9-4783-BA09-B945A9BDDE2C}" type="datetime3">
              <a:rPr lang="en-US" smtClean="0"/>
              <a:t>15 June 2026</a:t>
            </a:fld>
            <a:endParaRPr lang="en-US"/>
          </a:p>
        </p:txBody>
      </p:sp>
    </p:spTree>
    <p:extLst>
      <p:ext uri="{BB962C8B-B14F-4D97-AF65-F5344CB8AC3E}">
        <p14:creationId xmlns:p14="http://schemas.microsoft.com/office/powerpoint/2010/main" val="364249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5335083" y="1371600"/>
            <a:ext cx="9134068" cy="6172200"/>
          </a:xfrm>
          <a:prstGeom prst="rect">
            <a:avLst/>
          </a:prstGeom>
        </p:spPr>
      </p:pic>
      <p:sp>
        <p:nvSpPr>
          <p:cNvPr id="3" name="Content Placeholder 2"/>
          <p:cNvSpPr>
            <a:spLocks noGrp="1"/>
          </p:cNvSpPr>
          <p:nvPr>
            <p:ph idx="1"/>
          </p:nvPr>
        </p:nvSpPr>
        <p:spPr>
          <a:xfrm>
            <a:off x="125507" y="1219200"/>
            <a:ext cx="8408893" cy="3579368"/>
          </a:xfrm>
        </p:spPr>
        <p:txBody>
          <a:bodyPr lIns="0" rIns="0">
            <a:noAutofit/>
          </a:bodyPr>
          <a:lstStyle/>
          <a:p>
            <a:r>
              <a:rPr lang="en-US" sz="3200" dirty="0">
                <a:cs typeface="Arial" panose="020B0604020202020204" pitchFamily="34" charset="0"/>
              </a:rPr>
              <a:t>In this diagram, resistor R</a:t>
            </a:r>
            <a:r>
              <a:rPr lang="en-US" sz="3200" baseline="-25000" dirty="0">
                <a:cs typeface="Arial" panose="020B0604020202020204" pitchFamily="34" charset="0"/>
              </a:rPr>
              <a:t>1</a:t>
            </a:r>
            <a:r>
              <a:rPr lang="en-US" sz="3200" dirty="0">
                <a:cs typeface="Arial" panose="020B0604020202020204" pitchFamily="34" charset="0"/>
              </a:rPr>
              <a:t> is acting as a </a:t>
            </a:r>
            <a:r>
              <a:rPr lang="en-US" sz="3200" dirty="0">
                <a:solidFill>
                  <a:srgbClr val="FF0000"/>
                </a:solidFill>
                <a:cs typeface="Arial" panose="020B0604020202020204" pitchFamily="34" charset="0"/>
              </a:rPr>
              <a:t>pull-up resistor</a:t>
            </a:r>
            <a:r>
              <a:rPr lang="en-US" sz="3200" dirty="0">
                <a:cs typeface="Arial" panose="020B0604020202020204" pitchFamily="34" charset="0"/>
              </a:rPr>
              <a:t>.</a:t>
            </a:r>
          </a:p>
          <a:p>
            <a:pPr lvl="1">
              <a:buFont typeface="Georgia" panose="02040502050405020303" pitchFamily="18" charset="0"/>
              <a:buChar char="√"/>
            </a:pPr>
            <a:r>
              <a:rPr lang="en-US" sz="2800" dirty="0">
                <a:cs typeface="Arial" panose="020B0604020202020204" pitchFamily="34" charset="0"/>
              </a:rPr>
              <a:t>When the switch is open, R</a:t>
            </a:r>
            <a:r>
              <a:rPr lang="en-US" sz="2800" baseline="-25000" dirty="0">
                <a:cs typeface="Arial" panose="020B0604020202020204" pitchFamily="34" charset="0"/>
              </a:rPr>
              <a:t>1</a:t>
            </a:r>
            <a:r>
              <a:rPr lang="en-US" sz="2800" dirty="0">
                <a:cs typeface="Arial" panose="020B0604020202020204" pitchFamily="34" charset="0"/>
              </a:rPr>
              <a:t> pulls the NO (Normally Open) contact to a positive (logic 1) value, usually +5 V.</a:t>
            </a:r>
          </a:p>
          <a:p>
            <a:pPr lvl="1">
              <a:buFont typeface="Georgia" panose="02040502050405020303" pitchFamily="18" charset="0"/>
              <a:buChar char="√"/>
            </a:pPr>
            <a:r>
              <a:rPr lang="en-US" sz="2800" dirty="0">
                <a:cs typeface="Arial" panose="020B0604020202020204" pitchFamily="34" charset="0"/>
              </a:rPr>
              <a:t>When the switch is closed, it shorts the NO contact to 0 V (logic 0). </a:t>
            </a:r>
          </a:p>
        </p:txBody>
      </p:sp>
      <p:sp>
        <p:nvSpPr>
          <p:cNvPr id="4" name="Footer Placeholder 3"/>
          <p:cNvSpPr>
            <a:spLocks noGrp="1"/>
          </p:cNvSpPr>
          <p:nvPr>
            <p:ph type="ftr" sz="quarter" idx="11"/>
          </p:nvPr>
        </p:nvSpPr>
        <p:spPr/>
        <p:txBody>
          <a:bodyPr/>
          <a:lstStyle/>
          <a:p>
            <a:r>
              <a:rPr lang="en-US"/>
              <a:t>Course Teacher: Prof. Dr. Engr. Muhibul Haque Bhuyan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6</a:t>
            </a:fld>
            <a:endParaRPr lang="en-US"/>
          </a:p>
        </p:txBody>
      </p:sp>
      <p:sp>
        <p:nvSpPr>
          <p:cNvPr id="7" name="Date Placeholder 6"/>
          <p:cNvSpPr>
            <a:spLocks noGrp="1"/>
          </p:cNvSpPr>
          <p:nvPr>
            <p:ph type="dt" sz="half" idx="10"/>
          </p:nvPr>
        </p:nvSpPr>
        <p:spPr/>
        <p:txBody>
          <a:bodyPr/>
          <a:lstStyle/>
          <a:p>
            <a:fld id="{16D92D30-AEB9-4783-BA09-B945A9BDDE2C}" type="datetime3">
              <a:rPr lang="en-US" smtClean="0"/>
              <a:t>15 June 2026</a:t>
            </a:fld>
            <a:endParaRPr lang="en-US"/>
          </a:p>
        </p:txBody>
      </p:sp>
      <p:sp>
        <p:nvSpPr>
          <p:cNvPr id="10" name="Title 1">
            <a:extLst>
              <a:ext uri="{FF2B5EF4-FFF2-40B4-BE49-F238E27FC236}">
                <a16:creationId xmlns:a16="http://schemas.microsoft.com/office/drawing/2014/main" id="{E08F566B-4390-71EA-D5B4-CC6AB27769FF}"/>
              </a:ext>
            </a:extLst>
          </p:cNvPr>
          <p:cNvSpPr>
            <a:spLocks noGrp="1"/>
          </p:cNvSpPr>
          <p:nvPr>
            <p:ph type="title"/>
          </p:nvPr>
        </p:nvSpPr>
        <p:spPr>
          <a:xfrm>
            <a:off x="161249" y="423863"/>
            <a:ext cx="13166725" cy="947737"/>
          </a:xfrm>
        </p:spPr>
        <p:txBody>
          <a:bodyPr>
            <a:normAutofit/>
          </a:bodyPr>
          <a:lstStyle/>
          <a:p>
            <a:r>
              <a:rPr lang="en-US" sz="5400" b="1" dirty="0"/>
              <a:t>How does Bouncing Happen?</a:t>
            </a:r>
          </a:p>
        </p:txBody>
      </p:sp>
      <p:sp>
        <p:nvSpPr>
          <p:cNvPr id="8" name="TextBox 7">
            <a:extLst>
              <a:ext uri="{FF2B5EF4-FFF2-40B4-BE49-F238E27FC236}">
                <a16:creationId xmlns:a16="http://schemas.microsoft.com/office/drawing/2014/main" id="{ADC9326E-61B9-3446-9FCE-B90B5DAB5D04}"/>
              </a:ext>
            </a:extLst>
          </p:cNvPr>
          <p:cNvSpPr txBox="1"/>
          <p:nvPr/>
        </p:nvSpPr>
        <p:spPr>
          <a:xfrm>
            <a:off x="355190" y="4402485"/>
            <a:ext cx="5298854" cy="3108543"/>
          </a:xfrm>
          <a:prstGeom prst="rect">
            <a:avLst/>
          </a:prstGeom>
          <a:noFill/>
        </p:spPr>
        <p:txBody>
          <a:bodyPr wrap="square">
            <a:spAutoFit/>
          </a:bodyPr>
          <a:lstStyle/>
          <a:p>
            <a:r>
              <a:rPr lang="en-US" sz="2800" dirty="0">
                <a:latin typeface="Arial" panose="020B0604020202020204" pitchFamily="34" charset="0"/>
                <a:cs typeface="Arial" panose="020B0604020202020204" pitchFamily="34" charset="0"/>
              </a:rPr>
              <a:t>We intend to get an output voltage of 5 V (logic 1) when the switch is not pressed, and 0 V (logic 0) when it is pressed. </a:t>
            </a:r>
          </a:p>
          <a:p>
            <a:r>
              <a:rPr lang="en-US" sz="2800" dirty="0">
                <a:latin typeface="Arial" panose="020B0604020202020204" pitchFamily="34" charset="0"/>
                <a:cs typeface="Arial" panose="020B0604020202020204" pitchFamily="34" charset="0"/>
              </a:rPr>
              <a:t>But before the signal settles, </a:t>
            </a:r>
            <a:r>
              <a:rPr lang="en-US" sz="2800" dirty="0">
                <a:solidFill>
                  <a:srgbClr val="FF0000"/>
                </a:solidFill>
                <a:latin typeface="Arial" panose="020B0604020202020204" pitchFamily="34" charset="0"/>
                <a:cs typeface="Arial" panose="020B0604020202020204" pitchFamily="34" charset="0"/>
              </a:rPr>
              <a:t>it bounces between the two logic states several times</a:t>
            </a:r>
            <a:r>
              <a:rPr lang="en-US" sz="2800" dirty="0">
                <a:latin typeface="Arial" panose="020B0604020202020204" pitchFamily="34" charset="0"/>
                <a:cs typeface="Arial" panose="020B0604020202020204" pitchFamily="34" charset="0"/>
              </a:rPr>
              <a:t>.</a:t>
            </a:r>
            <a:endParaRPr lang="en-US" dirty="0"/>
          </a:p>
        </p:txBody>
      </p:sp>
    </p:spTree>
    <p:extLst>
      <p:ext uri="{BB962C8B-B14F-4D97-AF65-F5344CB8AC3E}">
        <p14:creationId xmlns:p14="http://schemas.microsoft.com/office/powerpoint/2010/main" val="27370755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471" y="381000"/>
            <a:ext cx="9326880" cy="1209040"/>
          </a:xfrm>
        </p:spPr>
        <p:txBody>
          <a:bodyPr>
            <a:normAutofit/>
          </a:bodyPr>
          <a:lstStyle/>
          <a:p>
            <a:r>
              <a:rPr lang="en-US" sz="5400" b="1" dirty="0"/>
              <a:t>How to Avoid Bouncing?</a:t>
            </a:r>
          </a:p>
        </p:txBody>
      </p:sp>
      <p:sp>
        <p:nvSpPr>
          <p:cNvPr id="3" name="Content Placeholder 2"/>
          <p:cNvSpPr>
            <a:spLocks noGrp="1"/>
          </p:cNvSpPr>
          <p:nvPr>
            <p:ph idx="1"/>
          </p:nvPr>
        </p:nvSpPr>
        <p:spPr>
          <a:xfrm>
            <a:off x="152401" y="1447800"/>
            <a:ext cx="14325600" cy="6096000"/>
          </a:xfrm>
        </p:spPr>
        <p:txBody>
          <a:bodyPr lIns="0" rIns="0">
            <a:noAutofit/>
          </a:bodyPr>
          <a:lstStyle/>
          <a:p>
            <a:r>
              <a:rPr lang="en-US" sz="3200" dirty="0">
                <a:latin typeface="Arial" panose="020B0604020202020204" pitchFamily="34" charset="0"/>
                <a:cs typeface="Arial" panose="020B0604020202020204" pitchFamily="34" charset="0"/>
              </a:rPr>
              <a:t>The digital circuits and microcontrollers don’t like its input signals wandering around the </a:t>
            </a:r>
            <a:r>
              <a:rPr lang="en-US" sz="3200" b="1" dirty="0">
                <a:solidFill>
                  <a:srgbClr val="FF0000"/>
                </a:solidFill>
                <a:latin typeface="Arial" panose="020B0604020202020204" pitchFamily="34" charset="0"/>
                <a:cs typeface="Arial" panose="020B0604020202020204" pitchFamily="34" charset="0"/>
              </a:rPr>
              <a:t>undefined region </a:t>
            </a:r>
            <a:r>
              <a:rPr lang="en-US" sz="3200" dirty="0">
                <a:latin typeface="Arial" panose="020B0604020202020204" pitchFamily="34" charset="0"/>
                <a:cs typeface="Arial" panose="020B0604020202020204" pitchFamily="34" charset="0"/>
              </a:rPr>
              <a:t>between a “good” logic 0 and a “good” logic 1.</a:t>
            </a:r>
          </a:p>
          <a:p>
            <a:r>
              <a:rPr lang="en-US" sz="3200" dirty="0">
                <a:latin typeface="Arial" panose="020B0604020202020204" pitchFamily="34" charset="0"/>
                <a:cs typeface="Arial" panose="020B0604020202020204" pitchFamily="34" charset="0"/>
              </a:rPr>
              <a:t>A standard buffer has </a:t>
            </a:r>
            <a:r>
              <a:rPr lang="en-US" sz="3200" b="1" dirty="0">
                <a:solidFill>
                  <a:srgbClr val="FF0000"/>
                </a:solidFill>
                <a:latin typeface="Arial" panose="020B0604020202020204" pitchFamily="34" charset="0"/>
                <a:cs typeface="Arial" panose="020B0604020202020204" pitchFamily="34" charset="0"/>
              </a:rPr>
              <a:t>single switching threshold</a:t>
            </a:r>
            <a:r>
              <a:rPr lang="en-US" sz="3200" dirty="0">
                <a:latin typeface="Arial" panose="020B0604020202020204" pitchFamily="34" charset="0"/>
                <a:cs typeface="Arial" panose="020B0604020202020204" pitchFamily="34" charset="0"/>
              </a:rPr>
              <a:t>, so a noisy signal or a signal with a bit of ripples on it, can result in </a:t>
            </a:r>
            <a:r>
              <a:rPr lang="en-US" sz="3200" dirty="0">
                <a:solidFill>
                  <a:srgbClr val="FF0000"/>
                </a:solidFill>
                <a:latin typeface="Arial" panose="020B0604020202020204" pitchFamily="34" charset="0"/>
                <a:cs typeface="Arial" panose="020B0604020202020204" pitchFamily="34" charset="0"/>
              </a:rPr>
              <a:t>multiple transitions </a:t>
            </a:r>
            <a:r>
              <a:rPr lang="en-US" sz="3200" dirty="0">
                <a:latin typeface="Arial" panose="020B0604020202020204" pitchFamily="34" charset="0"/>
                <a:cs typeface="Arial" panose="020B0604020202020204" pitchFamily="34" charset="0"/>
              </a:rPr>
              <a:t>at the output.</a:t>
            </a:r>
          </a:p>
          <a:p>
            <a:r>
              <a:rPr lang="en-US" sz="3200" dirty="0">
                <a:latin typeface="Arial" panose="020B0604020202020204" pitchFamily="34" charset="0"/>
                <a:cs typeface="Arial" panose="020B0604020202020204" pitchFamily="34" charset="0"/>
              </a:rPr>
              <a:t>In 1934, a young graduate student named </a:t>
            </a:r>
            <a:r>
              <a:rPr lang="en-US" sz="3200" b="1" dirty="0">
                <a:solidFill>
                  <a:srgbClr val="FF0000"/>
                </a:solidFill>
                <a:latin typeface="Arial" panose="020B0604020202020204" pitchFamily="34" charset="0"/>
                <a:cs typeface="Arial" panose="020B0604020202020204" pitchFamily="34" charset="0"/>
              </a:rPr>
              <a:t>Otto Herbert Schmitt </a:t>
            </a:r>
            <a:r>
              <a:rPr lang="en-US" sz="3200" dirty="0">
                <a:latin typeface="Arial" panose="020B0604020202020204" pitchFamily="34" charset="0"/>
                <a:cs typeface="Arial" panose="020B0604020202020204" pitchFamily="34" charset="0"/>
              </a:rPr>
              <a:t>invented a circuit known as the </a:t>
            </a:r>
            <a:r>
              <a:rPr lang="en-US" sz="3200" b="1" dirty="0">
                <a:solidFill>
                  <a:srgbClr val="FF0000"/>
                </a:solidFill>
                <a:latin typeface="Arial" panose="020B0604020202020204" pitchFamily="34" charset="0"/>
                <a:cs typeface="Arial" panose="020B0604020202020204" pitchFamily="34" charset="0"/>
              </a:rPr>
              <a:t>Schmitt trigger</a:t>
            </a:r>
            <a:r>
              <a:rPr lang="en-US" sz="3200" dirty="0">
                <a:latin typeface="Arial" panose="020B0604020202020204" pitchFamily="34" charset="0"/>
                <a:cs typeface="Arial" panose="020B0604020202020204" pitchFamily="34" charset="0"/>
              </a:rPr>
              <a:t> (this invention was a result of Otto’s study into the propagation of neural impulses in the nerves of </a:t>
            </a:r>
            <a:r>
              <a:rPr lang="en-US" sz="3200" dirty="0">
                <a:solidFill>
                  <a:srgbClr val="00B0F0"/>
                </a:solidFill>
                <a:latin typeface="Arial" panose="020B0604020202020204" pitchFamily="34" charset="0"/>
                <a:cs typeface="Arial" panose="020B0604020202020204" pitchFamily="34" charset="0"/>
              </a:rPr>
              <a:t>squids- a kind of sea fish</a:t>
            </a:r>
            <a:r>
              <a:rPr lang="en-US" sz="3200" dirty="0">
                <a:latin typeface="Arial" panose="020B0604020202020204" pitchFamily="34" charset="0"/>
                <a:cs typeface="Arial" panose="020B0604020202020204" pitchFamily="34" charset="0"/>
              </a:rPr>
              <a:t>) that has </a:t>
            </a:r>
            <a:r>
              <a:rPr lang="en-US" sz="3200" b="1" dirty="0">
                <a:solidFill>
                  <a:srgbClr val="0070C0"/>
                </a:solidFill>
                <a:latin typeface="Arial" panose="020B0604020202020204" pitchFamily="34" charset="0"/>
                <a:cs typeface="Arial" panose="020B0604020202020204" pitchFamily="34" charset="0"/>
              </a:rPr>
              <a:t>two thresholds</a:t>
            </a:r>
            <a:r>
              <a:rPr lang="en-US" sz="3200" dirty="0">
                <a:latin typeface="Arial" panose="020B0604020202020204" pitchFamily="34" charset="0"/>
                <a:cs typeface="Arial" panose="020B0604020202020204" pitchFamily="34" charset="0"/>
              </a:rPr>
              <a:t>. The output changes only when the input crosses the upper threshold (during upward transition) or the lower threshold (during downward transition) . This </a:t>
            </a:r>
            <a:r>
              <a:rPr lang="en-US" sz="3200" b="1" dirty="0">
                <a:solidFill>
                  <a:srgbClr val="0070C0"/>
                </a:solidFill>
                <a:latin typeface="Arial" panose="020B0604020202020204" pitchFamily="34" charset="0"/>
                <a:cs typeface="Arial" panose="020B0604020202020204" pitchFamily="34" charset="0"/>
              </a:rPr>
              <a:t>dual-threshold action </a:t>
            </a:r>
            <a:r>
              <a:rPr lang="en-US" sz="3200" dirty="0">
                <a:latin typeface="Arial" panose="020B0604020202020204" pitchFamily="34" charset="0"/>
                <a:cs typeface="Arial" panose="020B0604020202020204" pitchFamily="34" charset="0"/>
              </a:rPr>
              <a:t>is called </a:t>
            </a:r>
            <a:r>
              <a:rPr lang="en-US" sz="3200" b="1" dirty="0">
                <a:solidFill>
                  <a:srgbClr val="0070C0"/>
                </a:solidFill>
                <a:latin typeface="Arial" panose="020B0604020202020204" pitchFamily="34" charset="0"/>
                <a:cs typeface="Arial" panose="020B0604020202020204" pitchFamily="34" charset="0"/>
              </a:rPr>
              <a:t>hysteresis</a:t>
            </a:r>
            <a:r>
              <a:rPr lang="en-US" sz="3200" dirty="0">
                <a:latin typeface="Arial" panose="020B0604020202020204" pitchFamily="34" charset="0"/>
                <a:cs typeface="Arial" panose="020B0604020202020204" pitchFamily="34" charset="0"/>
              </a:rPr>
              <a:t> (the dependence of the state of a system on its history), which implies that the trigger possesses </a:t>
            </a:r>
            <a:r>
              <a:rPr lang="en-US" sz="3200" b="1" dirty="0">
                <a:solidFill>
                  <a:srgbClr val="00B050"/>
                </a:solidFill>
                <a:latin typeface="Arial" panose="020B0604020202020204" pitchFamily="34" charset="0"/>
                <a:cs typeface="Arial" panose="020B0604020202020204" pitchFamily="34" charset="0"/>
              </a:rPr>
              <a:t>memory</a:t>
            </a:r>
            <a:r>
              <a:rPr lang="en-US" sz="3200" dirty="0">
                <a:latin typeface="Arial" panose="020B0604020202020204" pitchFamily="34" charset="0"/>
                <a:cs typeface="Arial" panose="020B0604020202020204" pitchFamily="34" charset="0"/>
              </a:rPr>
              <a:t>.</a:t>
            </a:r>
          </a:p>
        </p:txBody>
      </p:sp>
      <p:sp>
        <p:nvSpPr>
          <p:cNvPr id="4" name="Footer Placeholder 3"/>
          <p:cNvSpPr>
            <a:spLocks noGrp="1"/>
          </p:cNvSpPr>
          <p:nvPr>
            <p:ph type="ftr" sz="quarter" idx="11"/>
          </p:nvPr>
        </p:nvSpPr>
        <p:spPr/>
        <p:txBody>
          <a:bodyPr/>
          <a:lstStyle/>
          <a:p>
            <a:r>
              <a:rPr lang="en-US"/>
              <a:t>Course Teacher: Prof. Dr. Engr. Muhibul Haque Bhuyan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7</a:t>
            </a:fld>
            <a:endParaRPr lang="en-US"/>
          </a:p>
        </p:txBody>
      </p:sp>
      <p:sp>
        <p:nvSpPr>
          <p:cNvPr id="7" name="Date Placeholder 6"/>
          <p:cNvSpPr>
            <a:spLocks noGrp="1"/>
          </p:cNvSpPr>
          <p:nvPr>
            <p:ph type="dt" sz="half" idx="10"/>
          </p:nvPr>
        </p:nvSpPr>
        <p:spPr/>
        <p:txBody>
          <a:bodyPr/>
          <a:lstStyle/>
          <a:p>
            <a:fld id="{16D92D30-AEB9-4783-BA09-B945A9BDDE2C}" type="datetime3">
              <a:rPr lang="en-US" smtClean="0"/>
              <a:t>15 June 2026</a:t>
            </a:fld>
            <a:endParaRPr lang="en-US"/>
          </a:p>
        </p:txBody>
      </p:sp>
    </p:spTree>
    <p:extLst>
      <p:ext uri="{BB962C8B-B14F-4D97-AF65-F5344CB8AC3E}">
        <p14:creationId xmlns:p14="http://schemas.microsoft.com/office/powerpoint/2010/main" val="29947926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471" y="381000"/>
            <a:ext cx="9326880" cy="1209040"/>
          </a:xfrm>
        </p:spPr>
        <p:txBody>
          <a:bodyPr>
            <a:normAutofit/>
          </a:bodyPr>
          <a:lstStyle/>
          <a:p>
            <a:r>
              <a:rPr lang="en-US" sz="5400" b="1" dirty="0"/>
              <a:t>How to Avoid Bouncing?</a:t>
            </a:r>
          </a:p>
        </p:txBody>
      </p:sp>
      <p:sp>
        <p:nvSpPr>
          <p:cNvPr id="4" name="Footer Placeholder 3"/>
          <p:cNvSpPr>
            <a:spLocks noGrp="1"/>
          </p:cNvSpPr>
          <p:nvPr>
            <p:ph type="ftr" sz="quarter" idx="11"/>
          </p:nvPr>
        </p:nvSpPr>
        <p:spPr/>
        <p:txBody>
          <a:bodyPr/>
          <a:lstStyle/>
          <a:p>
            <a:r>
              <a:rPr lang="en-US"/>
              <a:t>Course Teacher: Prof. Dr. Engr. Muhibul Haque Bhuyan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8</a:t>
            </a:fld>
            <a:endParaRPr lang="en-US"/>
          </a:p>
        </p:txBody>
      </p:sp>
      <p:sp>
        <p:nvSpPr>
          <p:cNvPr id="7" name="Date Placeholder 6"/>
          <p:cNvSpPr>
            <a:spLocks noGrp="1"/>
          </p:cNvSpPr>
          <p:nvPr>
            <p:ph type="dt" sz="half" idx="10"/>
          </p:nvPr>
        </p:nvSpPr>
        <p:spPr/>
        <p:txBody>
          <a:bodyPr/>
          <a:lstStyle/>
          <a:p>
            <a:fld id="{16D92D30-AEB9-4783-BA09-B945A9BDDE2C}" type="datetime3">
              <a:rPr lang="en-US" smtClean="0"/>
              <a:t>15 June 2026</a:t>
            </a:fld>
            <a:endParaRPr lang="en-US"/>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5795" y="1590040"/>
            <a:ext cx="14301775" cy="5725160"/>
          </a:xfrm>
          <a:prstGeom prst="rect">
            <a:avLst/>
          </a:prstGeom>
        </p:spPr>
      </p:pic>
      <p:cxnSp>
        <p:nvCxnSpPr>
          <p:cNvPr id="6" name="Straight Arrow Connector 5">
            <a:extLst>
              <a:ext uri="{FF2B5EF4-FFF2-40B4-BE49-F238E27FC236}">
                <a16:creationId xmlns:a16="http://schemas.microsoft.com/office/drawing/2014/main" id="{1138348D-1372-584E-6CCC-207D7FB14EC1}"/>
              </a:ext>
            </a:extLst>
          </p:cNvPr>
          <p:cNvCxnSpPr/>
          <p:nvPr/>
        </p:nvCxnSpPr>
        <p:spPr>
          <a:xfrm flipV="1">
            <a:off x="5791200" y="2209800"/>
            <a:ext cx="609600" cy="1600200"/>
          </a:xfrm>
          <a:prstGeom prst="straightConnector1">
            <a:avLst/>
          </a:prstGeom>
          <a:ln w="38100">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78B84F8-0140-FEE1-05F6-459D9AA8DF21}"/>
              </a:ext>
            </a:extLst>
          </p:cNvPr>
          <p:cNvCxnSpPr>
            <a:cxnSpLocks/>
          </p:cNvCxnSpPr>
          <p:nvPr/>
        </p:nvCxnSpPr>
        <p:spPr>
          <a:xfrm flipV="1">
            <a:off x="11563345" y="2286000"/>
            <a:ext cx="1619255" cy="1371600"/>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7C05A7E5-38D0-47BC-DF0D-014647BBDD7D}"/>
              </a:ext>
            </a:extLst>
          </p:cNvPr>
          <p:cNvCxnSpPr>
            <a:cxnSpLocks/>
          </p:cNvCxnSpPr>
          <p:nvPr/>
        </p:nvCxnSpPr>
        <p:spPr>
          <a:xfrm flipH="1" flipV="1">
            <a:off x="13258800" y="2286000"/>
            <a:ext cx="526244" cy="1828800"/>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98A4D517-6819-FD78-A0AF-F4EBCFC5E7F6}"/>
              </a:ext>
            </a:extLst>
          </p:cNvPr>
          <p:cNvSpPr txBox="1"/>
          <p:nvPr/>
        </p:nvSpPr>
        <p:spPr>
          <a:xfrm>
            <a:off x="5791200" y="1828800"/>
            <a:ext cx="2133600" cy="400110"/>
          </a:xfrm>
          <a:prstGeom prst="rect">
            <a:avLst/>
          </a:prstGeom>
          <a:noFill/>
        </p:spPr>
        <p:txBody>
          <a:bodyPr wrap="square" rtlCol="0">
            <a:spAutoFit/>
          </a:bodyPr>
          <a:lstStyle/>
          <a:p>
            <a:pPr algn="ctr"/>
            <a:r>
              <a:rPr lang="en-US" sz="2000" dirty="0">
                <a:solidFill>
                  <a:srgbClr val="0070C0"/>
                </a:solidFill>
              </a:rPr>
              <a:t>Single threshold</a:t>
            </a:r>
          </a:p>
        </p:txBody>
      </p:sp>
      <p:sp>
        <p:nvSpPr>
          <p:cNvPr id="17" name="TextBox 16">
            <a:extLst>
              <a:ext uri="{FF2B5EF4-FFF2-40B4-BE49-F238E27FC236}">
                <a16:creationId xmlns:a16="http://schemas.microsoft.com/office/drawing/2014/main" id="{E7D40683-8611-7861-91EC-36F84700431F}"/>
              </a:ext>
            </a:extLst>
          </p:cNvPr>
          <p:cNvSpPr txBox="1"/>
          <p:nvPr/>
        </p:nvSpPr>
        <p:spPr>
          <a:xfrm>
            <a:off x="12191999" y="1885890"/>
            <a:ext cx="2262605" cy="400110"/>
          </a:xfrm>
          <a:prstGeom prst="rect">
            <a:avLst/>
          </a:prstGeom>
          <a:noFill/>
        </p:spPr>
        <p:txBody>
          <a:bodyPr wrap="square" rtlCol="0">
            <a:spAutoFit/>
          </a:bodyPr>
          <a:lstStyle/>
          <a:p>
            <a:pPr algn="ctr"/>
            <a:r>
              <a:rPr lang="en-US" sz="2000" dirty="0">
                <a:solidFill>
                  <a:srgbClr val="FF0000"/>
                </a:solidFill>
              </a:rPr>
              <a:t>Dual thresholds</a:t>
            </a:r>
          </a:p>
        </p:txBody>
      </p:sp>
      <p:sp>
        <p:nvSpPr>
          <p:cNvPr id="18" name="Left Brace 17">
            <a:extLst>
              <a:ext uri="{FF2B5EF4-FFF2-40B4-BE49-F238E27FC236}">
                <a16:creationId xmlns:a16="http://schemas.microsoft.com/office/drawing/2014/main" id="{B30C6C37-F614-FD16-8437-AB3E664E90FE}"/>
              </a:ext>
            </a:extLst>
          </p:cNvPr>
          <p:cNvSpPr/>
          <p:nvPr/>
        </p:nvSpPr>
        <p:spPr>
          <a:xfrm>
            <a:off x="8686800" y="3733800"/>
            <a:ext cx="228601" cy="400110"/>
          </a:xfrm>
          <a:prstGeom prst="leftBrace">
            <a:avLst>
              <a:gd name="adj1" fmla="val 20136"/>
              <a:gd name="adj2" fmla="val 55902"/>
            </a:avLst>
          </a:pr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TextBox 19">
            <a:extLst>
              <a:ext uri="{FF2B5EF4-FFF2-40B4-BE49-F238E27FC236}">
                <a16:creationId xmlns:a16="http://schemas.microsoft.com/office/drawing/2014/main" id="{958BDB5A-1656-D576-1D2E-3F0F7333D8B8}"/>
              </a:ext>
            </a:extLst>
          </p:cNvPr>
          <p:cNvSpPr txBox="1"/>
          <p:nvPr/>
        </p:nvSpPr>
        <p:spPr>
          <a:xfrm>
            <a:off x="6850914" y="3333690"/>
            <a:ext cx="1524000" cy="400110"/>
          </a:xfrm>
          <a:prstGeom prst="rect">
            <a:avLst/>
          </a:prstGeom>
          <a:noFill/>
        </p:spPr>
        <p:txBody>
          <a:bodyPr wrap="square">
            <a:spAutoFit/>
          </a:bodyPr>
          <a:lstStyle/>
          <a:p>
            <a:pPr algn="r"/>
            <a:r>
              <a:rPr lang="en-US" sz="2000" b="1" dirty="0">
                <a:solidFill>
                  <a:srgbClr val="00B050"/>
                </a:solidFill>
                <a:latin typeface="Arial" panose="020B0604020202020204" pitchFamily="34" charset="0"/>
                <a:cs typeface="Arial" panose="020B0604020202020204" pitchFamily="34" charset="0"/>
              </a:rPr>
              <a:t>Hysteresis</a:t>
            </a:r>
            <a:endParaRPr lang="en-US" sz="2000" dirty="0">
              <a:solidFill>
                <a:srgbClr val="00B050"/>
              </a:solidFill>
            </a:endParaRPr>
          </a:p>
        </p:txBody>
      </p:sp>
      <p:cxnSp>
        <p:nvCxnSpPr>
          <p:cNvPr id="10" name="Straight Arrow Connector 9">
            <a:extLst>
              <a:ext uri="{FF2B5EF4-FFF2-40B4-BE49-F238E27FC236}">
                <a16:creationId xmlns:a16="http://schemas.microsoft.com/office/drawing/2014/main" id="{FE8F9BEE-7709-26F5-0C77-4C71D4E05290}"/>
              </a:ext>
            </a:extLst>
          </p:cNvPr>
          <p:cNvCxnSpPr>
            <a:cxnSpLocks/>
          </p:cNvCxnSpPr>
          <p:nvPr/>
        </p:nvCxnSpPr>
        <p:spPr>
          <a:xfrm>
            <a:off x="8229602" y="3662531"/>
            <a:ext cx="457198" cy="299869"/>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49825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470" y="381000"/>
            <a:ext cx="14212529" cy="1209040"/>
          </a:xfrm>
        </p:spPr>
        <p:txBody>
          <a:bodyPr>
            <a:noAutofit/>
          </a:bodyPr>
          <a:lstStyle/>
          <a:p>
            <a:r>
              <a:rPr lang="en-US" sz="4800" b="1" dirty="0"/>
              <a:t>How to Avoid Bouncing?</a:t>
            </a:r>
          </a:p>
        </p:txBody>
      </p:sp>
      <p:sp>
        <p:nvSpPr>
          <p:cNvPr id="3" name="Content Placeholder 2"/>
          <p:cNvSpPr>
            <a:spLocks noGrp="1"/>
          </p:cNvSpPr>
          <p:nvPr>
            <p:ph idx="1"/>
          </p:nvPr>
        </p:nvSpPr>
        <p:spPr>
          <a:xfrm>
            <a:off x="152401" y="1449832"/>
            <a:ext cx="14325600" cy="1979168"/>
          </a:xfrm>
        </p:spPr>
        <p:txBody>
          <a:bodyPr lIns="0" rIns="0">
            <a:noAutofit/>
          </a:bodyPr>
          <a:lstStyle/>
          <a:p>
            <a:r>
              <a:rPr lang="en-US" sz="3600" dirty="0">
                <a:latin typeface="Arial" panose="020B0604020202020204" pitchFamily="34" charset="0"/>
                <a:cs typeface="Arial" panose="020B0604020202020204" pitchFamily="34" charset="0"/>
              </a:rPr>
              <a:t>In the RC network, we use a simple SPST switch debounce circuit, we would add a </a:t>
            </a:r>
            <a:r>
              <a:rPr lang="en-US" sz="3600" b="1" dirty="0">
                <a:solidFill>
                  <a:srgbClr val="00B050"/>
                </a:solidFill>
                <a:latin typeface="Arial" panose="020B0604020202020204" pitchFamily="34" charset="0"/>
                <a:cs typeface="Arial" panose="020B0604020202020204" pitchFamily="34" charset="0"/>
              </a:rPr>
              <a:t>Schmitt trigger buffer </a:t>
            </a:r>
            <a:r>
              <a:rPr lang="en-US" sz="3600" dirty="0">
                <a:latin typeface="Arial" panose="020B0604020202020204" pitchFamily="34" charset="0"/>
                <a:cs typeface="Arial" panose="020B0604020202020204" pitchFamily="34" charset="0"/>
              </a:rPr>
              <a:t>between the RC network and the microcontroller as illustrated below.</a:t>
            </a:r>
          </a:p>
        </p:txBody>
      </p:sp>
      <p:sp>
        <p:nvSpPr>
          <p:cNvPr id="4" name="Footer Placeholder 3"/>
          <p:cNvSpPr>
            <a:spLocks noGrp="1"/>
          </p:cNvSpPr>
          <p:nvPr>
            <p:ph type="ftr" sz="quarter" idx="11"/>
          </p:nvPr>
        </p:nvSpPr>
        <p:spPr/>
        <p:txBody>
          <a:bodyPr/>
          <a:lstStyle/>
          <a:p>
            <a:r>
              <a:rPr lang="en-US"/>
              <a:t>Course Teacher: Prof. Dr. Engr. Muhibul Haque Bhuyan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9</a:t>
            </a:fld>
            <a:endParaRPr lang="en-US"/>
          </a:p>
        </p:txBody>
      </p:sp>
      <p:sp>
        <p:nvSpPr>
          <p:cNvPr id="7" name="Date Placeholder 6"/>
          <p:cNvSpPr>
            <a:spLocks noGrp="1"/>
          </p:cNvSpPr>
          <p:nvPr>
            <p:ph type="dt" sz="half" idx="10"/>
          </p:nvPr>
        </p:nvSpPr>
        <p:spPr/>
        <p:txBody>
          <a:bodyPr/>
          <a:lstStyle/>
          <a:p>
            <a:fld id="{16D92D30-AEB9-4783-BA09-B945A9BDDE2C}" type="datetime3">
              <a:rPr lang="en-US" smtClean="0"/>
              <a:t>15 June 2026</a:t>
            </a:fld>
            <a:endParaRPr lang="en-US"/>
          </a:p>
        </p:txBody>
      </p:sp>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b="59852"/>
          <a:stretch/>
        </p:blipFill>
        <p:spPr>
          <a:xfrm>
            <a:off x="1143000" y="3200400"/>
            <a:ext cx="12685664" cy="4250740"/>
          </a:xfrm>
          <a:prstGeom prst="rect">
            <a:avLst/>
          </a:prstGeom>
        </p:spPr>
      </p:pic>
    </p:spTree>
    <p:extLst>
      <p:ext uri="{BB962C8B-B14F-4D97-AF65-F5344CB8AC3E}">
        <p14:creationId xmlns:p14="http://schemas.microsoft.com/office/powerpoint/2010/main" val="25871413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471" y="381000"/>
            <a:ext cx="9326880" cy="1209040"/>
          </a:xfrm>
        </p:spPr>
        <p:txBody>
          <a:bodyPr>
            <a:normAutofit/>
          </a:bodyPr>
          <a:lstStyle/>
          <a:p>
            <a:r>
              <a:rPr lang="en-US" sz="5400" b="1" dirty="0"/>
              <a:t>How to Avoid Bouncing?</a:t>
            </a:r>
          </a:p>
        </p:txBody>
      </p:sp>
      <p:sp>
        <p:nvSpPr>
          <p:cNvPr id="3" name="Content Placeholder 2"/>
          <p:cNvSpPr>
            <a:spLocks noGrp="1"/>
          </p:cNvSpPr>
          <p:nvPr>
            <p:ph idx="1"/>
          </p:nvPr>
        </p:nvSpPr>
        <p:spPr>
          <a:xfrm>
            <a:off x="228600" y="1449832"/>
            <a:ext cx="4852219" cy="6001308"/>
          </a:xfrm>
        </p:spPr>
        <p:txBody>
          <a:bodyPr lIns="0" rIns="0">
            <a:noAutofit/>
          </a:bodyPr>
          <a:lstStyle/>
          <a:p>
            <a:r>
              <a:rPr lang="en-US" sz="3200" dirty="0">
                <a:latin typeface="Arial" panose="020B0604020202020204" pitchFamily="34" charset="0"/>
                <a:cs typeface="Arial" panose="020B0604020202020204" pitchFamily="34" charset="0"/>
              </a:rPr>
              <a:t>We have shown a </a:t>
            </a:r>
            <a:r>
              <a:rPr lang="en-US" sz="3200" b="1" dirty="0">
                <a:solidFill>
                  <a:srgbClr val="00B050"/>
                </a:solidFill>
                <a:latin typeface="Arial" panose="020B0604020202020204" pitchFamily="34" charset="0"/>
                <a:cs typeface="Arial" panose="020B0604020202020204" pitchFamily="34" charset="0"/>
              </a:rPr>
              <a:t>non-inverting Schmitt trigger buffer </a:t>
            </a:r>
            <a:r>
              <a:rPr lang="en-US" sz="3200" dirty="0">
                <a:latin typeface="Arial" panose="020B0604020202020204" pitchFamily="34" charset="0"/>
                <a:cs typeface="Arial" panose="020B0604020202020204" pitchFamily="34" charset="0"/>
              </a:rPr>
              <a:t>to keep things simple.</a:t>
            </a:r>
          </a:p>
          <a:p>
            <a:r>
              <a:rPr lang="en-US" sz="3200" dirty="0">
                <a:latin typeface="Arial" panose="020B0604020202020204" pitchFamily="34" charset="0"/>
                <a:cs typeface="Arial" panose="020B0604020202020204" pitchFamily="34" charset="0"/>
              </a:rPr>
              <a:t>It is common to use an </a:t>
            </a:r>
            <a:r>
              <a:rPr lang="en-US" sz="3200" b="1" dirty="0">
                <a:solidFill>
                  <a:srgbClr val="FF0000"/>
                </a:solidFill>
                <a:latin typeface="Arial" panose="020B0604020202020204" pitchFamily="34" charset="0"/>
                <a:cs typeface="Arial" panose="020B0604020202020204" pitchFamily="34" charset="0"/>
              </a:rPr>
              <a:t>inverting Schmitt trigger buffer</a:t>
            </a:r>
            <a:r>
              <a:rPr lang="en-US" sz="3200" dirty="0">
                <a:latin typeface="Arial" panose="020B0604020202020204" pitchFamily="34" charset="0"/>
                <a:cs typeface="Arial" panose="020B0604020202020204" pitchFamily="34" charset="0"/>
              </a:rPr>
              <a:t> because </a:t>
            </a:r>
            <a:r>
              <a:rPr lang="en-US" sz="3200" dirty="0">
                <a:solidFill>
                  <a:srgbClr val="00B050"/>
                </a:solidFill>
                <a:latin typeface="Arial" panose="020B0604020202020204" pitchFamily="34" charset="0"/>
                <a:cs typeface="Arial" panose="020B0604020202020204" pitchFamily="34" charset="0"/>
              </a:rPr>
              <a:t>inverting functions are faster than their non-inverting counterparts.</a:t>
            </a:r>
          </a:p>
        </p:txBody>
      </p:sp>
      <p:sp>
        <p:nvSpPr>
          <p:cNvPr id="4" name="Footer Placeholder 3"/>
          <p:cNvSpPr>
            <a:spLocks noGrp="1"/>
          </p:cNvSpPr>
          <p:nvPr>
            <p:ph type="ftr" sz="quarter" idx="11"/>
          </p:nvPr>
        </p:nvSpPr>
        <p:spPr/>
        <p:txBody>
          <a:bodyPr/>
          <a:lstStyle/>
          <a:p>
            <a:r>
              <a:rPr lang="en-US" dirty="0"/>
              <a:t>Course Teacher: Prof. Dr. Engr. </a:t>
            </a:r>
            <a:r>
              <a:rPr lang="en-US" dirty="0" err="1"/>
              <a:t>Muhibul</a:t>
            </a:r>
            <a:r>
              <a:rPr lang="en-US" dirty="0"/>
              <a:t> </a:t>
            </a:r>
            <a:r>
              <a:rPr lang="en-US" dirty="0" err="1"/>
              <a:t>Haque</a:t>
            </a:r>
            <a:r>
              <a:rPr lang="en-US" dirty="0"/>
              <a:t> </a:t>
            </a:r>
            <a:r>
              <a:rPr lang="en-US" dirty="0" err="1"/>
              <a:t>Bhuyan</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10</a:t>
            </a:fld>
            <a:endParaRPr lang="en-US"/>
          </a:p>
        </p:txBody>
      </p:sp>
      <p:sp>
        <p:nvSpPr>
          <p:cNvPr id="7" name="Date Placeholder 6"/>
          <p:cNvSpPr>
            <a:spLocks noGrp="1"/>
          </p:cNvSpPr>
          <p:nvPr>
            <p:ph type="dt" sz="half" idx="10"/>
          </p:nvPr>
        </p:nvSpPr>
        <p:spPr/>
        <p:txBody>
          <a:bodyPr/>
          <a:lstStyle/>
          <a:p>
            <a:fld id="{16D92D30-AEB9-4783-BA09-B945A9BDDE2C}" type="datetime3">
              <a:rPr lang="en-US" smtClean="0"/>
              <a:t>15 June 2026</a:t>
            </a:fld>
            <a:endParaRPr lang="en-US"/>
          </a:p>
        </p:txBody>
      </p:sp>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l="10094" t="44529" r="16529" b="3090"/>
          <a:stretch/>
        </p:blipFill>
        <p:spPr>
          <a:xfrm>
            <a:off x="4876800" y="1449832"/>
            <a:ext cx="9694541" cy="6001308"/>
          </a:xfrm>
          <a:prstGeom prst="rect">
            <a:avLst/>
          </a:prstGeom>
        </p:spPr>
      </p:pic>
      <p:cxnSp>
        <p:nvCxnSpPr>
          <p:cNvPr id="8" name="Straight Arrow Connector 7">
            <a:extLst>
              <a:ext uri="{FF2B5EF4-FFF2-40B4-BE49-F238E27FC236}">
                <a16:creationId xmlns:a16="http://schemas.microsoft.com/office/drawing/2014/main" id="{EE4750FF-4DC9-64F4-784D-DE84692064C0}"/>
              </a:ext>
            </a:extLst>
          </p:cNvPr>
          <p:cNvCxnSpPr>
            <a:cxnSpLocks/>
          </p:cNvCxnSpPr>
          <p:nvPr/>
        </p:nvCxnSpPr>
        <p:spPr>
          <a:xfrm flipH="1">
            <a:off x="8077200" y="4648200"/>
            <a:ext cx="990602" cy="833269"/>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1AA7E5D6-FCED-F689-380F-90726A1BCA5C}"/>
              </a:ext>
            </a:extLst>
          </p:cNvPr>
          <p:cNvCxnSpPr>
            <a:cxnSpLocks/>
          </p:cNvCxnSpPr>
          <p:nvPr/>
        </p:nvCxnSpPr>
        <p:spPr>
          <a:xfrm>
            <a:off x="11335363" y="4648200"/>
            <a:ext cx="1085237" cy="528469"/>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1669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down)">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3180" y="386163"/>
            <a:ext cx="13167360" cy="1209040"/>
          </a:xfrm>
        </p:spPr>
        <p:txBody>
          <a:bodyPr>
            <a:normAutofit/>
          </a:bodyPr>
          <a:lstStyle/>
          <a:p>
            <a:r>
              <a:rPr lang="en-US" sz="5400" b="1" dirty="0"/>
              <a:t>Types of Debouncing</a:t>
            </a:r>
          </a:p>
        </p:txBody>
      </p:sp>
      <p:sp>
        <p:nvSpPr>
          <p:cNvPr id="3" name="Content Placeholder 2"/>
          <p:cNvSpPr>
            <a:spLocks noGrp="1"/>
          </p:cNvSpPr>
          <p:nvPr>
            <p:ph idx="1"/>
          </p:nvPr>
        </p:nvSpPr>
        <p:spPr>
          <a:xfrm>
            <a:off x="152400" y="1371600"/>
            <a:ext cx="14325600" cy="4876800"/>
          </a:xfrm>
        </p:spPr>
        <p:txBody>
          <a:bodyPr lIns="0" rIns="0">
            <a:noAutofit/>
          </a:bodyPr>
          <a:lstStyle/>
          <a:p>
            <a:pPr>
              <a:spcBef>
                <a:spcPts val="0"/>
              </a:spcBef>
            </a:pPr>
            <a:r>
              <a:rPr lang="en-US" sz="3200" dirty="0">
                <a:cs typeface="Arial" panose="020B0604020202020204" pitchFamily="34" charset="0"/>
              </a:rPr>
              <a:t>We can remedy this problem by debouncing the switch. There are many ways to do this. There are </a:t>
            </a:r>
            <a:r>
              <a:rPr lang="en-US" sz="3200" b="1" dirty="0">
                <a:solidFill>
                  <a:srgbClr val="FF0000"/>
                </a:solidFill>
                <a:cs typeface="Arial" panose="020B0604020202020204" pitchFamily="34" charset="0"/>
              </a:rPr>
              <a:t>two general ways </a:t>
            </a:r>
            <a:r>
              <a:rPr lang="en-US" sz="3200" dirty="0">
                <a:cs typeface="Arial" panose="020B0604020202020204" pitchFamily="34" charset="0"/>
              </a:rPr>
              <a:t>of getting rid of the bounces:</a:t>
            </a:r>
          </a:p>
          <a:p>
            <a:pPr lvl="1">
              <a:spcBef>
                <a:spcPts val="0"/>
              </a:spcBef>
            </a:pPr>
            <a:r>
              <a:rPr lang="en-US" sz="3000" b="1" dirty="0">
                <a:solidFill>
                  <a:srgbClr val="FF0000"/>
                </a:solidFill>
                <a:cs typeface="Arial" panose="020B0604020202020204" pitchFamily="34" charset="0"/>
              </a:rPr>
              <a:t>Hardware debouncing:</a:t>
            </a:r>
            <a:r>
              <a:rPr lang="en-US" sz="3000" b="1" dirty="0">
                <a:solidFill>
                  <a:schemeClr val="tx1"/>
                </a:solidFill>
                <a:cs typeface="Arial" panose="020B0604020202020204" pitchFamily="34" charset="0"/>
              </a:rPr>
              <a:t> </a:t>
            </a:r>
            <a:r>
              <a:rPr lang="en-US" sz="3000" dirty="0">
                <a:solidFill>
                  <a:schemeClr val="tx1"/>
                </a:solidFill>
                <a:cs typeface="Arial" panose="020B0604020202020204" pitchFamily="34" charset="0"/>
              </a:rPr>
              <a:t>adding circuitry that gets rid of the unwanted transitions.</a:t>
            </a:r>
          </a:p>
          <a:p>
            <a:pPr lvl="1">
              <a:spcBef>
                <a:spcPts val="0"/>
              </a:spcBef>
            </a:pPr>
            <a:r>
              <a:rPr lang="en-US" sz="3000" b="1" dirty="0">
                <a:solidFill>
                  <a:srgbClr val="FF0000"/>
                </a:solidFill>
                <a:cs typeface="Arial" panose="020B0604020202020204" pitchFamily="34" charset="0"/>
              </a:rPr>
              <a:t>Software debouncing: </a:t>
            </a:r>
            <a:r>
              <a:rPr lang="en-US" sz="3000" dirty="0">
                <a:solidFill>
                  <a:schemeClr val="tx1"/>
                </a:solidFill>
                <a:cs typeface="Arial" panose="020B0604020202020204" pitchFamily="34" charset="0"/>
              </a:rPr>
              <a:t>adding code/program that causes the application to ignore the bounces.</a:t>
            </a:r>
          </a:p>
          <a:p>
            <a:pPr>
              <a:spcBef>
                <a:spcPts val="0"/>
              </a:spcBef>
            </a:pPr>
            <a:r>
              <a:rPr lang="en-US" sz="3200" dirty="0">
                <a:cs typeface="Arial" panose="020B0604020202020204" pitchFamily="34" charset="0"/>
              </a:rPr>
              <a:t>Besides, we can debounce the signals using the following techniques as well</a:t>
            </a:r>
            <a:endParaRPr lang="en-US" sz="3200" dirty="0">
              <a:solidFill>
                <a:schemeClr val="tx1"/>
              </a:solidFill>
              <a:cs typeface="Arial" panose="020B0604020202020204" pitchFamily="34" charset="0"/>
            </a:endParaRPr>
          </a:p>
          <a:p>
            <a:pPr lvl="1">
              <a:spcBef>
                <a:spcPts val="0"/>
              </a:spcBef>
            </a:pPr>
            <a:r>
              <a:rPr lang="en-US" sz="3000" b="1" dirty="0">
                <a:solidFill>
                  <a:srgbClr val="FF0000"/>
                </a:solidFill>
                <a:cs typeface="Arial" panose="020B0604020202020204" pitchFamily="34" charset="0"/>
              </a:rPr>
              <a:t>Digital Switch Debouncing: </a:t>
            </a:r>
            <a:r>
              <a:rPr lang="en-US" sz="3000" dirty="0">
                <a:solidFill>
                  <a:schemeClr val="tx1"/>
                </a:solidFill>
                <a:cs typeface="Arial" panose="020B0604020202020204" pitchFamily="34" charset="0"/>
              </a:rPr>
              <a:t>achieved in the same way as the software approaches</a:t>
            </a:r>
          </a:p>
          <a:p>
            <a:pPr lvl="1">
              <a:spcBef>
                <a:spcPts val="0"/>
              </a:spcBef>
            </a:pPr>
            <a:r>
              <a:rPr lang="en-US" sz="3000" b="1" dirty="0">
                <a:solidFill>
                  <a:srgbClr val="FF0000"/>
                </a:solidFill>
                <a:cs typeface="Arial" panose="020B0604020202020204" pitchFamily="34" charset="0"/>
              </a:rPr>
              <a:t>Switch </a:t>
            </a:r>
            <a:r>
              <a:rPr lang="en-US" sz="3000" b="1" dirty="0" err="1">
                <a:solidFill>
                  <a:srgbClr val="FF0000"/>
                </a:solidFill>
                <a:cs typeface="Arial" panose="020B0604020202020204" pitchFamily="34" charset="0"/>
              </a:rPr>
              <a:t>Debouncer</a:t>
            </a:r>
            <a:r>
              <a:rPr lang="en-US" sz="3000" b="1" dirty="0">
                <a:solidFill>
                  <a:srgbClr val="FF0000"/>
                </a:solidFill>
                <a:cs typeface="Arial" panose="020B0604020202020204" pitchFamily="34" charset="0"/>
              </a:rPr>
              <a:t> using VHDL: </a:t>
            </a:r>
            <a:r>
              <a:rPr lang="en-US" sz="3000" dirty="0">
                <a:solidFill>
                  <a:schemeClr val="tx1"/>
                </a:solidFill>
                <a:cs typeface="Arial" panose="020B0604020202020204" pitchFamily="34" charset="0"/>
              </a:rPr>
              <a:t>The VHDL entity description is used. </a:t>
            </a:r>
          </a:p>
        </p:txBody>
      </p:sp>
      <p:sp>
        <p:nvSpPr>
          <p:cNvPr id="4" name="Footer Placeholder 3"/>
          <p:cNvSpPr>
            <a:spLocks noGrp="1"/>
          </p:cNvSpPr>
          <p:nvPr>
            <p:ph type="ftr" sz="quarter" idx="11"/>
          </p:nvPr>
        </p:nvSpPr>
        <p:spPr/>
        <p:txBody>
          <a:bodyPr/>
          <a:lstStyle/>
          <a:p>
            <a:r>
              <a:rPr lang="en-US" dirty="0"/>
              <a:t>Course Teacher: Prof. Dr. Engr. </a:t>
            </a:r>
            <a:r>
              <a:rPr lang="en-US" dirty="0" err="1"/>
              <a:t>Muhibul</a:t>
            </a:r>
            <a:r>
              <a:rPr lang="en-US" dirty="0"/>
              <a:t> </a:t>
            </a:r>
            <a:r>
              <a:rPr lang="en-US" dirty="0" err="1"/>
              <a:t>Haque</a:t>
            </a:r>
            <a:r>
              <a:rPr lang="en-US" dirty="0"/>
              <a:t> </a:t>
            </a:r>
            <a:r>
              <a:rPr lang="en-US" dirty="0" err="1"/>
              <a:t>Bhuyan</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11</a:t>
            </a:fld>
            <a:endParaRPr lang="en-US" dirty="0"/>
          </a:p>
        </p:txBody>
      </p:sp>
      <p:sp>
        <p:nvSpPr>
          <p:cNvPr id="6" name="Date Placeholder 5"/>
          <p:cNvSpPr>
            <a:spLocks noGrp="1"/>
          </p:cNvSpPr>
          <p:nvPr>
            <p:ph type="dt" sz="half" idx="10"/>
          </p:nvPr>
        </p:nvSpPr>
        <p:spPr/>
        <p:txBody>
          <a:bodyPr/>
          <a:lstStyle/>
          <a:p>
            <a:fld id="{4F86F2FE-FA1D-4511-BA48-EF66ABA1AFF5}" type="datetime3">
              <a:rPr lang="en-US" smtClean="0"/>
              <a:t>15 June 2026</a:t>
            </a:fld>
            <a:endParaRPr lang="en-US"/>
          </a:p>
        </p:txBody>
      </p:sp>
    </p:spTree>
    <p:extLst>
      <p:ext uri="{BB962C8B-B14F-4D97-AF65-F5344CB8AC3E}">
        <p14:creationId xmlns:p14="http://schemas.microsoft.com/office/powerpoint/2010/main" val="5804770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554" y="391160"/>
            <a:ext cx="13167360" cy="1132840"/>
          </a:xfrm>
        </p:spPr>
        <p:txBody>
          <a:bodyPr>
            <a:normAutofit/>
          </a:bodyPr>
          <a:lstStyle/>
          <a:p>
            <a:r>
              <a:rPr lang="en-US" sz="5400" b="1" dirty="0"/>
              <a:t>Hardware Debouncing</a:t>
            </a:r>
          </a:p>
        </p:txBody>
      </p:sp>
      <p:sp>
        <p:nvSpPr>
          <p:cNvPr id="3" name="Content Placeholder 2"/>
          <p:cNvSpPr>
            <a:spLocks noGrp="1"/>
          </p:cNvSpPr>
          <p:nvPr>
            <p:ph idx="1"/>
          </p:nvPr>
        </p:nvSpPr>
        <p:spPr>
          <a:xfrm>
            <a:off x="253181" y="1371600"/>
            <a:ext cx="14148619" cy="3581400"/>
          </a:xfrm>
        </p:spPr>
        <p:txBody>
          <a:bodyPr>
            <a:normAutofit/>
          </a:bodyPr>
          <a:lstStyle/>
          <a:p>
            <a:pPr>
              <a:spcBef>
                <a:spcPts val="0"/>
              </a:spcBef>
            </a:pPr>
            <a:r>
              <a:rPr lang="en-US" sz="3200" dirty="0">
                <a:cs typeface="Arial" panose="020B0604020202020204" pitchFamily="34" charset="0"/>
              </a:rPr>
              <a:t>There are </a:t>
            </a:r>
            <a:r>
              <a:rPr lang="en-US" sz="3200" dirty="0">
                <a:solidFill>
                  <a:srgbClr val="FF0000"/>
                </a:solidFill>
                <a:cs typeface="Arial" panose="020B0604020202020204" pitchFamily="34" charset="0"/>
              </a:rPr>
              <a:t>various implementations of circuits </a:t>
            </a:r>
            <a:r>
              <a:rPr lang="en-US" sz="3200" dirty="0">
                <a:cs typeface="Arial" panose="020B0604020202020204" pitchFamily="34" charset="0"/>
              </a:rPr>
              <a:t>that can be used for </a:t>
            </a:r>
            <a:r>
              <a:rPr lang="en-US" sz="3200" dirty="0">
                <a:solidFill>
                  <a:srgbClr val="FF0000"/>
                </a:solidFill>
                <a:cs typeface="Arial" panose="020B0604020202020204" pitchFamily="34" charset="0"/>
              </a:rPr>
              <a:t>eliminating the effect of switch debouncing </a:t>
            </a:r>
            <a:r>
              <a:rPr lang="en-US" sz="3200" dirty="0">
                <a:cs typeface="Arial" panose="020B0604020202020204" pitchFamily="34" charset="0"/>
              </a:rPr>
              <a:t>right at the </a:t>
            </a:r>
            <a:r>
              <a:rPr lang="en-US" sz="3200" b="1" dirty="0">
                <a:solidFill>
                  <a:srgbClr val="00B050"/>
                </a:solidFill>
                <a:cs typeface="Arial" panose="020B0604020202020204" pitchFamily="34" charset="0"/>
              </a:rPr>
              <a:t>hardware level</a:t>
            </a:r>
            <a:r>
              <a:rPr lang="en-US" sz="3200" dirty="0">
                <a:cs typeface="Arial" panose="020B0604020202020204" pitchFamily="34" charset="0"/>
              </a:rPr>
              <a:t>. </a:t>
            </a:r>
          </a:p>
          <a:p>
            <a:pPr>
              <a:spcBef>
                <a:spcPts val="0"/>
              </a:spcBef>
            </a:pPr>
            <a:r>
              <a:rPr lang="en-US" sz="3200" dirty="0">
                <a:solidFill>
                  <a:srgbClr val="FF0000"/>
                </a:solidFill>
                <a:cs typeface="Arial" panose="020B0604020202020204" pitchFamily="34" charset="0"/>
              </a:rPr>
              <a:t>One of the most popular solutions using hardware </a:t>
            </a:r>
            <a:r>
              <a:rPr lang="en-US" sz="3200" dirty="0">
                <a:cs typeface="Arial" panose="020B0604020202020204" pitchFamily="34" charset="0"/>
              </a:rPr>
              <a:t>is to employ a </a:t>
            </a:r>
            <a:r>
              <a:rPr lang="en-US" sz="3200" b="1" dirty="0">
                <a:solidFill>
                  <a:srgbClr val="0070C0"/>
                </a:solidFill>
                <a:cs typeface="Arial" panose="020B0604020202020204" pitchFamily="34" charset="0"/>
              </a:rPr>
              <a:t>resistor/capacitor network </a:t>
            </a:r>
            <a:r>
              <a:rPr lang="en-US" sz="3200" dirty="0">
                <a:cs typeface="Arial" panose="020B0604020202020204" pitchFamily="34" charset="0"/>
              </a:rPr>
              <a:t>with a </a:t>
            </a:r>
            <a:r>
              <a:rPr lang="en-US" sz="3200" b="1" dirty="0">
                <a:solidFill>
                  <a:srgbClr val="0070C0"/>
                </a:solidFill>
                <a:cs typeface="Arial" panose="020B0604020202020204" pitchFamily="34" charset="0"/>
              </a:rPr>
              <a:t>time constant (</a:t>
            </a:r>
            <a:r>
              <a:rPr lang="en-US" sz="3200" b="1" dirty="0">
                <a:solidFill>
                  <a:srgbClr val="0070C0"/>
                </a:solidFill>
                <a:latin typeface="Symbol" panose="05050102010706020507" pitchFamily="18" charset="2"/>
                <a:cs typeface="Arial" panose="020B0604020202020204" pitchFamily="34" charset="0"/>
              </a:rPr>
              <a:t>t</a:t>
            </a:r>
            <a:r>
              <a:rPr lang="en-US" sz="3200" b="1" dirty="0">
                <a:solidFill>
                  <a:srgbClr val="0070C0"/>
                </a:solidFill>
                <a:cs typeface="Arial" panose="020B0604020202020204" pitchFamily="34" charset="0"/>
              </a:rPr>
              <a:t>)</a:t>
            </a:r>
            <a:r>
              <a:rPr lang="en-US" sz="3200" dirty="0">
                <a:solidFill>
                  <a:srgbClr val="002060"/>
                </a:solidFill>
                <a:cs typeface="Arial" panose="020B0604020202020204" pitchFamily="34" charset="0"/>
              </a:rPr>
              <a:t> longer than the time it takes the bouncing contacts to stop, i.e., </a:t>
            </a:r>
            <a:r>
              <a:rPr lang="en-US" sz="3200" b="1" dirty="0">
                <a:solidFill>
                  <a:srgbClr val="00B050"/>
                </a:solidFill>
                <a:latin typeface="Symbol" panose="05050102010706020507" pitchFamily="18" charset="2"/>
                <a:cs typeface="Arial" panose="020B0604020202020204" pitchFamily="34" charset="0"/>
              </a:rPr>
              <a:t>t</a:t>
            </a:r>
            <a:r>
              <a:rPr lang="en-US" sz="3200" b="1" dirty="0">
                <a:solidFill>
                  <a:srgbClr val="00B050"/>
                </a:solidFill>
                <a:cs typeface="Arial" panose="020B0604020202020204" pitchFamily="34" charset="0"/>
              </a:rPr>
              <a:t> &gt; </a:t>
            </a:r>
            <a:r>
              <a:rPr lang="en-US" sz="3200" b="1" i="1" dirty="0" err="1">
                <a:solidFill>
                  <a:srgbClr val="00B050"/>
                </a:solidFill>
                <a:cs typeface="Arial" panose="020B0604020202020204" pitchFamily="34" charset="0"/>
              </a:rPr>
              <a:t>t</a:t>
            </a:r>
            <a:r>
              <a:rPr lang="en-US" sz="3200" b="1" i="1" baseline="-25000" dirty="0" err="1">
                <a:solidFill>
                  <a:srgbClr val="00B050"/>
                </a:solidFill>
                <a:cs typeface="Arial" panose="020B0604020202020204" pitchFamily="34" charset="0"/>
              </a:rPr>
              <a:t>bounce</a:t>
            </a:r>
            <a:r>
              <a:rPr lang="en-US" sz="3200" dirty="0">
                <a:cs typeface="Arial" panose="020B0604020202020204" pitchFamily="34" charset="0"/>
              </a:rPr>
              <a:t>.</a:t>
            </a:r>
          </a:p>
          <a:p>
            <a:pPr>
              <a:spcBef>
                <a:spcPts val="0"/>
              </a:spcBef>
            </a:pPr>
            <a:r>
              <a:rPr lang="en-US" sz="3200" dirty="0">
                <a:cs typeface="Arial" panose="020B0604020202020204" pitchFamily="34" charset="0"/>
              </a:rPr>
              <a:t>Often it is also followed by a Schmitt trigger to get rid of the capacitor voltage values midway between </a:t>
            </a:r>
            <a:r>
              <a:rPr lang="en-US" sz="3200" b="1" dirty="0">
                <a:solidFill>
                  <a:srgbClr val="00B050"/>
                </a:solidFill>
                <a:cs typeface="Arial" panose="020B0604020202020204" pitchFamily="34" charset="0"/>
              </a:rPr>
              <a:t>HIGH</a:t>
            </a:r>
            <a:r>
              <a:rPr lang="en-US" sz="3200" dirty="0">
                <a:cs typeface="Arial" panose="020B0604020202020204" pitchFamily="34" charset="0"/>
              </a:rPr>
              <a:t> and </a:t>
            </a:r>
            <a:r>
              <a:rPr lang="en-US" sz="3200" b="1" dirty="0">
                <a:solidFill>
                  <a:srgbClr val="FF0000"/>
                </a:solidFill>
                <a:cs typeface="Arial" panose="020B0604020202020204" pitchFamily="34" charset="0"/>
              </a:rPr>
              <a:t>LOW</a:t>
            </a:r>
            <a:r>
              <a:rPr lang="en-US" sz="3200" dirty="0">
                <a:cs typeface="Arial" panose="020B0604020202020204" pitchFamily="34" charset="0"/>
              </a:rPr>
              <a:t> logic.</a:t>
            </a:r>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sp>
        <p:nvSpPr>
          <p:cNvPr id="7" name="Date Placeholder 6"/>
          <p:cNvSpPr>
            <a:spLocks noGrp="1"/>
          </p:cNvSpPr>
          <p:nvPr>
            <p:ph type="dt" sz="half" idx="10"/>
          </p:nvPr>
        </p:nvSpPr>
        <p:spPr/>
        <p:txBody>
          <a:bodyPr/>
          <a:lstStyle/>
          <a:p>
            <a:fld id="{386C4CD3-1055-4803-8131-20120CCD2DA4}" type="datetime3">
              <a:rPr lang="en-US" smtClean="0"/>
              <a:t>15 June 2026</a:t>
            </a:fld>
            <a:endParaRPr lang="en-US"/>
          </a:p>
        </p:txBody>
      </p:sp>
      <p:sp>
        <p:nvSpPr>
          <p:cNvPr id="8" name="Rectangle 7"/>
          <p:cNvSpPr/>
          <p:nvPr/>
        </p:nvSpPr>
        <p:spPr>
          <a:xfrm>
            <a:off x="127727" y="5024497"/>
            <a:ext cx="14274073" cy="2062103"/>
          </a:xfrm>
          <a:prstGeom prst="rect">
            <a:avLst/>
          </a:prstGeom>
        </p:spPr>
        <p:txBody>
          <a:bodyPr wrap="square">
            <a:spAutoFit/>
          </a:bodyPr>
          <a:lstStyle/>
          <a:p>
            <a:pPr marL="457200" indent="-457200">
              <a:spcBef>
                <a:spcPts val="0"/>
              </a:spcBef>
              <a:buFont typeface="Arial" panose="020B0604020202020204" pitchFamily="34" charset="0"/>
              <a:buChar char="•"/>
            </a:pPr>
            <a:r>
              <a:rPr lang="en-US" sz="3200" dirty="0">
                <a:cs typeface="Arial" panose="020B0604020202020204" pitchFamily="34" charset="0"/>
              </a:rPr>
              <a:t>If we wish to </a:t>
            </a:r>
            <a:r>
              <a:rPr lang="en-US" sz="3200" b="1" dirty="0">
                <a:solidFill>
                  <a:srgbClr val="0070C0"/>
                </a:solidFill>
                <a:cs typeface="Arial" panose="020B0604020202020204" pitchFamily="34" charset="0"/>
              </a:rPr>
              <a:t>preserve program execution cycles</a:t>
            </a:r>
            <a:r>
              <a:rPr lang="en-US" sz="3200" dirty="0">
                <a:cs typeface="Arial" panose="020B0604020202020204" pitchFamily="34" charset="0"/>
              </a:rPr>
              <a:t>, the best way is to use the </a:t>
            </a:r>
            <a:r>
              <a:rPr lang="en-US" sz="3200" b="1" dirty="0">
                <a:solidFill>
                  <a:srgbClr val="0070C0"/>
                </a:solidFill>
                <a:cs typeface="Arial" panose="020B0604020202020204" pitchFamily="34" charset="0"/>
              </a:rPr>
              <a:t>hardware debouncing </a:t>
            </a:r>
            <a:r>
              <a:rPr lang="en-US" sz="3200" dirty="0">
                <a:cs typeface="Arial" panose="020B0604020202020204" pitchFamily="34" charset="0"/>
              </a:rPr>
              <a:t>approach.</a:t>
            </a:r>
          </a:p>
          <a:p>
            <a:pPr marL="457200" indent="-457200">
              <a:buFont typeface="Arial" panose="020B0604020202020204" pitchFamily="34" charset="0"/>
              <a:buChar char="•"/>
            </a:pPr>
            <a:r>
              <a:rPr lang="en-US" sz="3200" dirty="0">
                <a:cs typeface="Arial" panose="020B0604020202020204" pitchFamily="34" charset="0"/>
              </a:rPr>
              <a:t>In hardware debouncing, we may use a flip-flop to ‘latch’ the signal, using a capacitor to </a:t>
            </a:r>
            <a:r>
              <a:rPr lang="en-US" sz="3200" b="1" dirty="0">
                <a:solidFill>
                  <a:srgbClr val="0070C0"/>
                </a:solidFill>
                <a:cs typeface="Arial" panose="020B0604020202020204" pitchFamily="34" charset="0"/>
              </a:rPr>
              <a:t>absorb the bouncing periods</a:t>
            </a:r>
            <a:r>
              <a:rPr lang="en-US" sz="3200" dirty="0">
                <a:cs typeface="Arial" panose="020B0604020202020204" pitchFamily="34" charset="0"/>
              </a:rPr>
              <a:t>. </a:t>
            </a:r>
          </a:p>
        </p:txBody>
      </p:sp>
    </p:spTree>
    <p:extLst>
      <p:ext uri="{BB962C8B-B14F-4D97-AF65-F5344CB8AC3E}">
        <p14:creationId xmlns:p14="http://schemas.microsoft.com/office/powerpoint/2010/main" val="22771911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46A70E6-0F02-0988-D81B-1B3CEA3C5A67}"/>
              </a:ext>
            </a:extLst>
          </p:cNvPr>
          <p:cNvPicPr>
            <a:picLocks noChangeAspect="1"/>
          </p:cNvPicPr>
          <p:nvPr/>
        </p:nvPicPr>
        <p:blipFill rotWithShape="1">
          <a:blip r:embed="rId3">
            <a:duotone>
              <a:schemeClr val="accent3">
                <a:shade val="45000"/>
                <a:satMod val="135000"/>
              </a:schemeClr>
              <a:prstClr val="white"/>
            </a:duotone>
            <a:extLst>
              <a:ext uri="{BEBA8EAE-BF5A-486C-A8C5-ECC9F3942E4B}">
                <a14:imgProps xmlns:a14="http://schemas.microsoft.com/office/drawing/2010/main">
                  <a14:imgLayer r:embed="rId4">
                    <a14:imgEffect>
                      <a14:artisticPhotocopy/>
                    </a14:imgEffect>
                  </a14:imgLayer>
                </a14:imgProps>
              </a:ext>
            </a:extLst>
          </a:blip>
          <a:srcRect l="5790" t="2973" r="4653" b="4277"/>
          <a:stretch/>
        </p:blipFill>
        <p:spPr>
          <a:xfrm>
            <a:off x="9203060" y="3124200"/>
            <a:ext cx="5274941" cy="4495800"/>
          </a:xfrm>
          <a:prstGeom prst="rect">
            <a:avLst/>
          </a:prstGeom>
        </p:spPr>
      </p:pic>
      <p:sp>
        <p:nvSpPr>
          <p:cNvPr id="2" name="Title 1"/>
          <p:cNvSpPr>
            <a:spLocks noGrp="1"/>
          </p:cNvSpPr>
          <p:nvPr>
            <p:ph type="title"/>
          </p:nvPr>
        </p:nvSpPr>
        <p:spPr>
          <a:xfrm>
            <a:off x="260554" y="391160"/>
            <a:ext cx="13167360" cy="1132840"/>
          </a:xfrm>
        </p:spPr>
        <p:txBody>
          <a:bodyPr>
            <a:normAutofit/>
          </a:bodyPr>
          <a:lstStyle/>
          <a:p>
            <a:r>
              <a:rPr lang="en-US" sz="5400" b="1" dirty="0"/>
              <a:t>Hardware Debouncing Circuit</a:t>
            </a:r>
          </a:p>
        </p:txBody>
      </p:sp>
      <p:sp>
        <p:nvSpPr>
          <p:cNvPr id="3" name="Content Placeholder 2"/>
          <p:cNvSpPr>
            <a:spLocks noGrp="1"/>
          </p:cNvSpPr>
          <p:nvPr>
            <p:ph idx="1"/>
          </p:nvPr>
        </p:nvSpPr>
        <p:spPr>
          <a:xfrm>
            <a:off x="152401" y="1371600"/>
            <a:ext cx="14249400" cy="1828800"/>
          </a:xfrm>
        </p:spPr>
        <p:txBody>
          <a:bodyPr lIns="0" rIns="0">
            <a:noAutofit/>
          </a:bodyPr>
          <a:lstStyle/>
          <a:p>
            <a:pPr algn="just">
              <a:spcBef>
                <a:spcPts val="0"/>
              </a:spcBef>
            </a:pPr>
            <a:r>
              <a:rPr lang="en-US" sz="2800" dirty="0">
                <a:cs typeface="Arial" panose="020B0604020202020204" pitchFamily="34" charset="0"/>
              </a:rPr>
              <a:t>The following circuit is a simple </a:t>
            </a:r>
            <a:r>
              <a:rPr lang="en-US" sz="2800" dirty="0">
                <a:solidFill>
                  <a:srgbClr val="0070C0"/>
                </a:solidFill>
                <a:cs typeface="Arial" panose="020B0604020202020204" pitchFamily="34" charset="0"/>
              </a:rPr>
              <a:t>hardware debouncing circuit with a switch </a:t>
            </a:r>
            <a:r>
              <a:rPr lang="en-US" sz="2800" dirty="0">
                <a:cs typeface="Arial" panose="020B0604020202020204" pitchFamily="34" charset="0"/>
              </a:rPr>
              <a:t>for digital logic. When the switch is closed, the voltage is pulled down </a:t>
            </a:r>
            <a:r>
              <a:rPr lang="en-US" sz="2800" dirty="0">
                <a:solidFill>
                  <a:srgbClr val="FF0000"/>
                </a:solidFill>
                <a:cs typeface="Arial" panose="020B0604020202020204" pitchFamily="34" charset="0"/>
              </a:rPr>
              <a:t>LOW</a:t>
            </a:r>
            <a:r>
              <a:rPr lang="en-US" sz="2800" dirty="0">
                <a:cs typeface="Arial" panose="020B0604020202020204" pitchFamily="34" charset="0"/>
              </a:rPr>
              <a:t> through the switch, and when the switch is open, the output voltage is pulled up </a:t>
            </a:r>
            <a:r>
              <a:rPr lang="en-US" sz="2800" dirty="0">
                <a:solidFill>
                  <a:srgbClr val="00B050"/>
                </a:solidFill>
                <a:cs typeface="Arial" panose="020B0604020202020204" pitchFamily="34" charset="0"/>
              </a:rPr>
              <a:t>HIGH</a:t>
            </a:r>
            <a:r>
              <a:rPr lang="en-US" sz="2800" dirty="0">
                <a:cs typeface="Arial" panose="020B0604020202020204" pitchFamily="34" charset="0"/>
              </a:rPr>
              <a:t> through the resistors </a:t>
            </a:r>
            <a:r>
              <a:rPr lang="en-US" sz="2800" i="1" dirty="0">
                <a:cs typeface="Arial" panose="020B0604020202020204" pitchFamily="34" charset="0"/>
              </a:rPr>
              <a:t>R</a:t>
            </a:r>
            <a:r>
              <a:rPr lang="en-US" sz="2800" dirty="0">
                <a:cs typeface="Arial" panose="020B0604020202020204" pitchFamily="34" charset="0"/>
              </a:rPr>
              <a:t>1 and </a:t>
            </a:r>
            <a:r>
              <a:rPr lang="en-US" sz="2800" i="1" dirty="0">
                <a:cs typeface="Arial" panose="020B0604020202020204" pitchFamily="34" charset="0"/>
              </a:rPr>
              <a:t>R</a:t>
            </a:r>
            <a:r>
              <a:rPr lang="en-US" sz="2800" dirty="0">
                <a:cs typeface="Arial" panose="020B0604020202020204" pitchFamily="34" charset="0"/>
              </a:rPr>
              <a:t>2. The </a:t>
            </a:r>
            <a:r>
              <a:rPr lang="en-US" sz="2800" dirty="0">
                <a:solidFill>
                  <a:srgbClr val="FF0000"/>
                </a:solidFill>
                <a:cs typeface="Arial" panose="020B0604020202020204" pitchFamily="34" charset="0"/>
              </a:rPr>
              <a:t>resistor </a:t>
            </a:r>
            <a:r>
              <a:rPr lang="en-US" sz="2800" i="1" dirty="0">
                <a:solidFill>
                  <a:srgbClr val="FF0000"/>
                </a:solidFill>
                <a:cs typeface="Arial" panose="020B0604020202020204" pitchFamily="34" charset="0"/>
              </a:rPr>
              <a:t>R</a:t>
            </a:r>
            <a:r>
              <a:rPr lang="en-US" sz="2800" dirty="0">
                <a:solidFill>
                  <a:srgbClr val="FF0000"/>
                </a:solidFill>
                <a:cs typeface="Arial" panose="020B0604020202020204" pitchFamily="34" charset="0"/>
              </a:rPr>
              <a:t>2 prevents a short circuit </a:t>
            </a:r>
            <a:r>
              <a:rPr lang="en-US" sz="2800" dirty="0">
                <a:cs typeface="Arial" panose="020B0604020202020204" pitchFamily="34" charset="0"/>
              </a:rPr>
              <a:t>when the switch is closed. </a:t>
            </a:r>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sp>
        <p:nvSpPr>
          <p:cNvPr id="7" name="Date Placeholder 6"/>
          <p:cNvSpPr>
            <a:spLocks noGrp="1"/>
          </p:cNvSpPr>
          <p:nvPr>
            <p:ph type="dt" sz="half" idx="10"/>
          </p:nvPr>
        </p:nvSpPr>
        <p:spPr/>
        <p:txBody>
          <a:bodyPr/>
          <a:lstStyle/>
          <a:p>
            <a:fld id="{386C4CD3-1055-4803-8131-20120CCD2DA4}" type="datetime3">
              <a:rPr lang="en-US" smtClean="0"/>
              <a:t>15 June 2026</a:t>
            </a:fld>
            <a:endParaRPr lang="en-US"/>
          </a:p>
        </p:txBody>
      </p:sp>
      <p:sp>
        <p:nvSpPr>
          <p:cNvPr id="9" name="TextBox 8">
            <a:extLst>
              <a:ext uri="{FF2B5EF4-FFF2-40B4-BE49-F238E27FC236}">
                <a16:creationId xmlns:a16="http://schemas.microsoft.com/office/drawing/2014/main" id="{C7BE72D0-AC09-6D70-DE1F-8E3547136FCE}"/>
              </a:ext>
            </a:extLst>
          </p:cNvPr>
          <p:cNvSpPr txBox="1"/>
          <p:nvPr/>
        </p:nvSpPr>
        <p:spPr>
          <a:xfrm>
            <a:off x="253181" y="3318570"/>
            <a:ext cx="8949879" cy="3908762"/>
          </a:xfrm>
          <a:prstGeom prst="rect">
            <a:avLst/>
          </a:prstGeom>
          <a:noFill/>
        </p:spPr>
        <p:txBody>
          <a:bodyPr wrap="square">
            <a:spAutoFit/>
          </a:bodyPr>
          <a:lstStyle/>
          <a:p>
            <a:pPr marL="457200" indent="-457200">
              <a:buFont typeface="Arial" panose="020B0604020202020204" pitchFamily="34" charset="0"/>
              <a:buChar char="•"/>
            </a:pPr>
            <a:r>
              <a:rPr lang="en-US" sz="2800" dirty="0">
                <a:cs typeface="Arial" panose="020B0604020202020204" pitchFamily="34" charset="0"/>
              </a:rPr>
              <a:t>The capacitor absorbs the bounces when the switch changes states. Keep in mind that this circuit will cause a </a:t>
            </a:r>
            <a:r>
              <a:rPr lang="en-US" sz="2800" dirty="0">
                <a:solidFill>
                  <a:srgbClr val="FF0000"/>
                </a:solidFill>
                <a:cs typeface="Arial" panose="020B0604020202020204" pitchFamily="34" charset="0"/>
              </a:rPr>
              <a:t>short delay in switching </a:t>
            </a:r>
            <a:r>
              <a:rPr lang="en-US" sz="2800" dirty="0">
                <a:cs typeface="Arial" panose="020B0604020202020204" pitchFamily="34" charset="0"/>
              </a:rPr>
              <a:t>because the capacitor takes time to charge and discharge through the resistors.</a:t>
            </a:r>
          </a:p>
          <a:p>
            <a:endParaRPr lang="en-US" sz="2400" dirty="0">
              <a:cs typeface="Arial" panose="020B0604020202020204" pitchFamily="34" charset="0"/>
            </a:endParaRPr>
          </a:p>
          <a:p>
            <a:pPr marL="457200" indent="-457200">
              <a:buFont typeface="Arial" panose="020B0604020202020204" pitchFamily="34" charset="0"/>
              <a:buChar char="•"/>
            </a:pPr>
            <a:r>
              <a:rPr lang="en-US" sz="2800" dirty="0">
                <a:cs typeface="Arial" panose="020B0604020202020204" pitchFamily="34" charset="0"/>
              </a:rPr>
              <a:t>The delay can be minimized by varying the values of the capacitor and resistor, but if the resistor is too small, it may not be sufficient to absorb the bounces. </a:t>
            </a:r>
            <a:endParaRPr lang="en-US" sz="2800" dirty="0"/>
          </a:p>
        </p:txBody>
      </p:sp>
    </p:spTree>
    <p:extLst>
      <p:ext uri="{BB962C8B-B14F-4D97-AF65-F5344CB8AC3E}">
        <p14:creationId xmlns:p14="http://schemas.microsoft.com/office/powerpoint/2010/main" val="17769614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554" y="391160"/>
            <a:ext cx="13167360" cy="1132840"/>
          </a:xfrm>
        </p:spPr>
        <p:txBody>
          <a:bodyPr>
            <a:normAutofit/>
          </a:bodyPr>
          <a:lstStyle/>
          <a:p>
            <a:r>
              <a:rPr lang="en-US" sz="5400" b="1" dirty="0"/>
              <a:t>Hardware Debouncing Circuit</a:t>
            </a:r>
          </a:p>
        </p:txBody>
      </p:sp>
      <p:sp>
        <p:nvSpPr>
          <p:cNvPr id="3" name="Content Placeholder 2"/>
          <p:cNvSpPr>
            <a:spLocks noGrp="1"/>
          </p:cNvSpPr>
          <p:nvPr>
            <p:ph idx="1"/>
          </p:nvPr>
        </p:nvSpPr>
        <p:spPr>
          <a:xfrm>
            <a:off x="253181" y="1371600"/>
            <a:ext cx="14148619" cy="2057400"/>
          </a:xfrm>
        </p:spPr>
        <p:txBody>
          <a:bodyPr>
            <a:noAutofit/>
          </a:bodyPr>
          <a:lstStyle/>
          <a:p>
            <a:pPr marL="124355" indent="0" algn="just">
              <a:spcBef>
                <a:spcPts val="0"/>
              </a:spcBef>
              <a:buNone/>
            </a:pPr>
            <a:r>
              <a:rPr lang="en-US" sz="3200" dirty="0"/>
              <a:t>It is to be noted that the capacitor exhibits a curve when charging, and parts of this curve fall in the region where the logic circuit is undecided whether to treat it as a HIGH or LOW signals. To fix this problem, a </a:t>
            </a:r>
            <a:r>
              <a:rPr lang="en-US" sz="3200" b="1" dirty="0">
                <a:solidFill>
                  <a:srgbClr val="FF0000"/>
                </a:solidFill>
              </a:rPr>
              <a:t>Schmitt trigger </a:t>
            </a:r>
            <a:r>
              <a:rPr lang="en-US" sz="3200" dirty="0"/>
              <a:t>is added to the output of the RC network.</a:t>
            </a:r>
            <a:endParaRPr lang="en-US" sz="3200" dirty="0">
              <a:solidFill>
                <a:srgbClr val="FF0000"/>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sp>
        <p:nvSpPr>
          <p:cNvPr id="7" name="Date Placeholder 6"/>
          <p:cNvSpPr>
            <a:spLocks noGrp="1"/>
          </p:cNvSpPr>
          <p:nvPr>
            <p:ph type="dt" sz="half" idx="10"/>
          </p:nvPr>
        </p:nvSpPr>
        <p:spPr/>
        <p:txBody>
          <a:bodyPr/>
          <a:lstStyle/>
          <a:p>
            <a:fld id="{386C4CD3-1055-4803-8131-20120CCD2DA4}" type="datetime3">
              <a:rPr lang="en-US" smtClean="0"/>
              <a:t>15 June 2026</a:t>
            </a:fld>
            <a:endParaRPr lang="en-US"/>
          </a:p>
        </p:txBody>
      </p:sp>
      <p:pic>
        <p:nvPicPr>
          <p:cNvPr id="4" name="Picture 3"/>
          <p:cNvPicPr>
            <a:picLocks noChangeAspect="1"/>
          </p:cNvPicPr>
          <p:nvPr/>
        </p:nvPicPr>
        <p:blipFill rotWithShape="1">
          <a:blip r:embed="rId3">
            <a:duotone>
              <a:schemeClr val="accent3">
                <a:shade val="45000"/>
                <a:satMod val="135000"/>
              </a:schemeClr>
              <a:prstClr val="white"/>
            </a:duotone>
            <a:extLst>
              <a:ext uri="{BEBA8EAE-BF5A-486C-A8C5-ECC9F3942E4B}">
                <a14:imgProps xmlns:a14="http://schemas.microsoft.com/office/drawing/2010/main">
                  <a14:imgLayer r:embed="rId4">
                    <a14:imgEffect>
                      <a14:artisticPhotocopy/>
                    </a14:imgEffect>
                  </a14:imgLayer>
                </a14:imgProps>
              </a:ext>
            </a:extLst>
          </a:blip>
          <a:srcRect l="5790" t="2973" r="4653" b="4277"/>
          <a:stretch/>
        </p:blipFill>
        <p:spPr>
          <a:xfrm>
            <a:off x="9296400" y="2934930"/>
            <a:ext cx="5181601" cy="4347170"/>
          </a:xfrm>
          <a:prstGeom prst="rect">
            <a:avLst/>
          </a:prstGeom>
        </p:spPr>
      </p:pic>
      <p:sp>
        <p:nvSpPr>
          <p:cNvPr id="8" name="Rectangle 7"/>
          <p:cNvSpPr/>
          <p:nvPr/>
        </p:nvSpPr>
        <p:spPr>
          <a:xfrm>
            <a:off x="76200" y="3562290"/>
            <a:ext cx="5368777" cy="400110"/>
          </a:xfrm>
          <a:prstGeom prst="rect">
            <a:avLst/>
          </a:prstGeom>
        </p:spPr>
        <p:txBody>
          <a:bodyPr wrap="none">
            <a:spAutoFit/>
          </a:bodyPr>
          <a:lstStyle/>
          <a:p>
            <a:r>
              <a:rPr lang="en-US" sz="2000" dirty="0">
                <a:solidFill>
                  <a:srgbClr val="FF0000"/>
                </a:solidFill>
              </a:rPr>
              <a:t>Without Schmitt trigger RC network output </a:t>
            </a:r>
          </a:p>
        </p:txBody>
      </p:sp>
      <p:pic>
        <p:nvPicPr>
          <p:cNvPr id="9" name="Picture 8"/>
          <p:cNvPicPr>
            <a:picLocks noChangeAspect="1"/>
          </p:cNvPicPr>
          <p:nvPr/>
        </p:nvPicPr>
        <p:blipFill rotWithShape="1">
          <a:blip r:embed="rId5"/>
          <a:srcRect l="766" t="907" r="1534" b="4387"/>
          <a:stretch/>
        </p:blipFill>
        <p:spPr>
          <a:xfrm>
            <a:off x="381000" y="4057723"/>
            <a:ext cx="4194681" cy="3029241"/>
          </a:xfrm>
          <a:prstGeom prst="rect">
            <a:avLst/>
          </a:prstGeom>
        </p:spPr>
      </p:pic>
      <p:sp>
        <p:nvSpPr>
          <p:cNvPr id="10" name="Rectangle 9"/>
          <p:cNvSpPr/>
          <p:nvPr/>
        </p:nvSpPr>
        <p:spPr>
          <a:xfrm>
            <a:off x="5039247" y="3581400"/>
            <a:ext cx="4180953" cy="400110"/>
          </a:xfrm>
          <a:prstGeom prst="rect">
            <a:avLst/>
          </a:prstGeom>
        </p:spPr>
        <p:txBody>
          <a:bodyPr wrap="none">
            <a:spAutoFit/>
          </a:bodyPr>
          <a:lstStyle/>
          <a:p>
            <a:r>
              <a:rPr lang="en-US" sz="2000" dirty="0">
                <a:solidFill>
                  <a:srgbClr val="00B050"/>
                </a:solidFill>
              </a:rPr>
              <a:t>With Schmitt trigger digital output </a:t>
            </a:r>
          </a:p>
        </p:txBody>
      </p:sp>
      <p:pic>
        <p:nvPicPr>
          <p:cNvPr id="11" name="Picture 10"/>
          <p:cNvPicPr>
            <a:picLocks noChangeAspect="1"/>
          </p:cNvPicPr>
          <p:nvPr/>
        </p:nvPicPr>
        <p:blipFill rotWithShape="1">
          <a:blip r:embed="rId6"/>
          <a:srcRect l="2067" r="1915" b="4427"/>
          <a:stretch/>
        </p:blipFill>
        <p:spPr>
          <a:xfrm>
            <a:off x="4841823" y="4030369"/>
            <a:ext cx="4149777" cy="3056595"/>
          </a:xfrm>
          <a:prstGeom prst="rect">
            <a:avLst/>
          </a:prstGeom>
        </p:spPr>
      </p:pic>
      <p:sp>
        <p:nvSpPr>
          <p:cNvPr id="12" name="Rectangle 11"/>
          <p:cNvSpPr/>
          <p:nvPr/>
        </p:nvSpPr>
        <p:spPr>
          <a:xfrm>
            <a:off x="76200" y="7080140"/>
            <a:ext cx="9984658" cy="523220"/>
          </a:xfrm>
          <a:prstGeom prst="rect">
            <a:avLst/>
          </a:prstGeom>
        </p:spPr>
        <p:txBody>
          <a:bodyPr wrap="square">
            <a:spAutoFit/>
          </a:bodyPr>
          <a:lstStyle/>
          <a:p>
            <a:r>
              <a:rPr lang="en-US" sz="2800" dirty="0">
                <a:solidFill>
                  <a:srgbClr val="FF0000"/>
                </a:solidFill>
              </a:rPr>
              <a:t>Remember that the 7414 Schmitt trigger will invert the signal. </a:t>
            </a:r>
          </a:p>
        </p:txBody>
      </p:sp>
      <p:sp>
        <p:nvSpPr>
          <p:cNvPr id="13" name="Rectangle 12">
            <a:extLst>
              <a:ext uri="{FF2B5EF4-FFF2-40B4-BE49-F238E27FC236}">
                <a16:creationId xmlns:a16="http://schemas.microsoft.com/office/drawing/2014/main" id="{9A70FD1B-AE10-ED9A-82FA-7C23F4885458}"/>
              </a:ext>
            </a:extLst>
          </p:cNvPr>
          <p:cNvSpPr/>
          <p:nvPr/>
        </p:nvSpPr>
        <p:spPr>
          <a:xfrm>
            <a:off x="9067800" y="4323112"/>
            <a:ext cx="1466430" cy="584775"/>
          </a:xfrm>
          <a:prstGeom prst="rect">
            <a:avLst/>
          </a:prstGeom>
        </p:spPr>
        <p:txBody>
          <a:bodyPr wrap="square">
            <a:spAutoFit/>
          </a:bodyPr>
          <a:lstStyle/>
          <a:p>
            <a:r>
              <a:rPr lang="en-US" sz="1600" b="1" dirty="0">
                <a:solidFill>
                  <a:srgbClr val="7030A0"/>
                </a:solidFill>
              </a:rPr>
              <a:t>RC network output</a:t>
            </a:r>
          </a:p>
        </p:txBody>
      </p:sp>
    </p:spTree>
    <p:extLst>
      <p:ext uri="{BB962C8B-B14F-4D97-AF65-F5344CB8AC3E}">
        <p14:creationId xmlns:p14="http://schemas.microsoft.com/office/powerpoint/2010/main" val="22176381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554" y="391160"/>
            <a:ext cx="13167360" cy="1132840"/>
          </a:xfrm>
        </p:spPr>
        <p:txBody>
          <a:bodyPr>
            <a:normAutofit/>
          </a:bodyPr>
          <a:lstStyle/>
          <a:p>
            <a:r>
              <a:rPr lang="en-US" sz="5400" b="1" dirty="0"/>
              <a:t>Hardware Debouncing</a:t>
            </a:r>
          </a:p>
        </p:txBody>
      </p:sp>
      <p:sp>
        <p:nvSpPr>
          <p:cNvPr id="3" name="Content Placeholder 2"/>
          <p:cNvSpPr>
            <a:spLocks noGrp="1"/>
          </p:cNvSpPr>
          <p:nvPr>
            <p:ph idx="1"/>
          </p:nvPr>
        </p:nvSpPr>
        <p:spPr>
          <a:xfrm>
            <a:off x="253181" y="1371600"/>
            <a:ext cx="14148619" cy="2971800"/>
          </a:xfrm>
        </p:spPr>
        <p:txBody>
          <a:bodyPr lIns="0" rIns="0">
            <a:noAutofit/>
          </a:bodyPr>
          <a:lstStyle/>
          <a:p>
            <a:pPr marL="124355" indent="0" algn="just">
              <a:spcBef>
                <a:spcPts val="0"/>
              </a:spcBef>
              <a:buNone/>
            </a:pPr>
            <a:r>
              <a:rPr lang="en-US" sz="3200" dirty="0">
                <a:cs typeface="Arial" panose="020B0604020202020204" pitchFamily="34" charset="0"/>
              </a:rPr>
              <a:t>Circuit Design using the IC 7414 is a </a:t>
            </a:r>
            <a:r>
              <a:rPr lang="en-US" sz="3200" b="1" dirty="0">
                <a:solidFill>
                  <a:srgbClr val="FF0000"/>
                </a:solidFill>
                <a:cs typeface="Arial" panose="020B0604020202020204" pitchFamily="34" charset="0"/>
              </a:rPr>
              <a:t>Schmitt trigger (inverting type buffer) </a:t>
            </a:r>
            <a:r>
              <a:rPr lang="en-US" sz="3200" dirty="0">
                <a:cs typeface="Arial" panose="020B0604020202020204" pitchFamily="34" charset="0"/>
              </a:rPr>
              <a:t>with the </a:t>
            </a:r>
            <a:r>
              <a:rPr lang="en-US" sz="3200" b="1" dirty="0">
                <a:solidFill>
                  <a:srgbClr val="FF0000"/>
                </a:solidFill>
                <a:cs typeface="Arial" panose="020B0604020202020204" pitchFamily="34" charset="0"/>
              </a:rPr>
              <a:t>input hysteresis.</a:t>
            </a:r>
            <a:endParaRPr lang="en-US" sz="3200" dirty="0">
              <a:cs typeface="Arial" panose="020B0604020202020204" pitchFamily="34" charset="0"/>
            </a:endParaRPr>
          </a:p>
          <a:p>
            <a:pPr marL="124355" indent="0" algn="just">
              <a:spcBef>
                <a:spcPts val="0"/>
              </a:spcBef>
              <a:buNone/>
            </a:pPr>
            <a:r>
              <a:rPr lang="en-US" sz="3200" dirty="0">
                <a:cs typeface="Arial" panose="020B0604020202020204" pitchFamily="34" charset="0"/>
              </a:rPr>
              <a:t>A CMOS device like the 74AHCT14 dribbles about a </a:t>
            </a:r>
            <a:r>
              <a:rPr lang="en-US" sz="3200" dirty="0">
                <a:latin typeface="Symbol" panose="05050102010706020507" pitchFamily="18" charset="2"/>
                <a:cs typeface="Arial" panose="020B0604020202020204" pitchFamily="34" charset="0"/>
              </a:rPr>
              <a:t>m</a:t>
            </a:r>
            <a:r>
              <a:rPr lang="en-US" sz="3200" dirty="0">
                <a:cs typeface="Arial" panose="020B0604020202020204" pitchFamily="34" charset="0"/>
              </a:rPr>
              <a:t>A from the inputs. </a:t>
            </a:r>
          </a:p>
          <a:p>
            <a:pPr marL="124355" indent="0">
              <a:spcBef>
                <a:spcPts val="0"/>
              </a:spcBef>
              <a:buNone/>
            </a:pPr>
            <a:r>
              <a:rPr lang="en-US" sz="3200" dirty="0">
                <a:cs typeface="Arial" panose="020B0604020202020204" pitchFamily="34" charset="0"/>
              </a:rPr>
              <a:t>Resistances </a:t>
            </a:r>
            <a:r>
              <a:rPr lang="en-US" sz="3200" i="1" dirty="0">
                <a:cs typeface="Arial" panose="020B0604020202020204" pitchFamily="34" charset="0"/>
              </a:rPr>
              <a:t>R</a:t>
            </a:r>
            <a:r>
              <a:rPr lang="en-US" sz="3200" baseline="-25000" dirty="0">
                <a:cs typeface="Arial" panose="020B0604020202020204" pitchFamily="34" charset="0"/>
              </a:rPr>
              <a:t>1</a:t>
            </a:r>
            <a:r>
              <a:rPr lang="en-US" sz="3200" dirty="0">
                <a:cs typeface="Arial" panose="020B0604020202020204" pitchFamily="34" charset="0"/>
              </a:rPr>
              <a:t> and </a:t>
            </a:r>
            <a:r>
              <a:rPr lang="en-US" sz="3200" i="1" dirty="0">
                <a:cs typeface="Arial" panose="020B0604020202020204" pitchFamily="34" charset="0"/>
              </a:rPr>
              <a:t>R</a:t>
            </a:r>
            <a:r>
              <a:rPr lang="en-US" sz="3200" baseline="-25000" dirty="0">
                <a:cs typeface="Arial" panose="020B0604020202020204" pitchFamily="34" charset="0"/>
              </a:rPr>
              <a:t>2</a:t>
            </a:r>
            <a:r>
              <a:rPr lang="en-US" sz="3200" dirty="0">
                <a:cs typeface="Arial" panose="020B0604020202020204" pitchFamily="34" charset="0"/>
              </a:rPr>
              <a:t> control the capacitor’s charging-discharging time and thus set the </a:t>
            </a:r>
            <a:r>
              <a:rPr lang="en-US" sz="3200" b="1" dirty="0">
                <a:solidFill>
                  <a:srgbClr val="FF0000"/>
                </a:solidFill>
                <a:cs typeface="Arial" panose="020B0604020202020204" pitchFamily="34" charset="0"/>
              </a:rPr>
              <a:t>debounce period </a:t>
            </a:r>
            <a:r>
              <a:rPr lang="en-US" sz="3200" dirty="0">
                <a:cs typeface="Arial" panose="020B0604020202020204" pitchFamily="34" charset="0"/>
              </a:rPr>
              <a:t>for the </a:t>
            </a:r>
            <a:r>
              <a:rPr lang="en-US" sz="3200" b="1" dirty="0">
                <a:solidFill>
                  <a:srgbClr val="FF0000"/>
                </a:solidFill>
                <a:cs typeface="Arial" panose="020B0604020202020204" pitchFamily="34" charset="0"/>
              </a:rPr>
              <a:t>switch open state</a:t>
            </a:r>
            <a:r>
              <a:rPr lang="en-US" sz="3200" dirty="0">
                <a:cs typeface="Arial" panose="020B0604020202020204" pitchFamily="34" charset="0"/>
              </a:rPr>
              <a:t>. </a:t>
            </a:r>
          </a:p>
          <a:p>
            <a:pPr marL="124355" indent="0">
              <a:spcBef>
                <a:spcPts val="0"/>
              </a:spcBef>
              <a:buNone/>
            </a:pPr>
            <a:r>
              <a:rPr lang="en-US" sz="3200" dirty="0">
                <a:cs typeface="Arial" panose="020B0604020202020204" pitchFamily="34" charset="0"/>
              </a:rPr>
              <a:t>The equation for charging is: </a:t>
            </a:r>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sp>
        <p:nvSpPr>
          <p:cNvPr id="7" name="Date Placeholder 6"/>
          <p:cNvSpPr>
            <a:spLocks noGrp="1"/>
          </p:cNvSpPr>
          <p:nvPr>
            <p:ph type="dt" sz="half" idx="10"/>
          </p:nvPr>
        </p:nvSpPr>
        <p:spPr/>
        <p:txBody>
          <a:bodyPr/>
          <a:lstStyle/>
          <a:p>
            <a:fld id="{386C4CD3-1055-4803-8131-20120CCD2DA4}" type="datetime3">
              <a:rPr lang="en-US" smtClean="0"/>
              <a:t>15 June 2026</a:t>
            </a:fld>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620A91A-7793-1FEF-6ECB-72A681199268}"/>
                  </a:ext>
                </a:extLst>
              </p:cNvPr>
              <p:cNvSpPr txBox="1"/>
              <p:nvPr/>
            </p:nvSpPr>
            <p:spPr>
              <a:xfrm>
                <a:off x="4038600" y="4464031"/>
                <a:ext cx="5288691" cy="71756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4000" i="1" smtClean="0">
                              <a:latin typeface="Cambria Math" panose="02040503050406030204" pitchFamily="18" charset="0"/>
                            </a:rPr>
                          </m:ctrlPr>
                        </m:sSubPr>
                        <m:e>
                          <m:r>
                            <a:rPr lang="en-US" sz="4000" b="0" i="1" smtClean="0">
                              <a:latin typeface="Cambria Math" panose="02040503050406030204" pitchFamily="18" charset="0"/>
                            </a:rPr>
                            <m:t>𝑣</m:t>
                          </m:r>
                        </m:e>
                        <m:sub>
                          <m:r>
                            <a:rPr lang="en-US" sz="4000" b="0" i="1" smtClean="0">
                              <a:latin typeface="Cambria Math" panose="02040503050406030204" pitchFamily="18" charset="0"/>
                            </a:rPr>
                            <m:t>𝑐</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𝑉</m:t>
                          </m:r>
                        </m:e>
                        <m:sub>
                          <m:r>
                            <a:rPr lang="en-US" sz="4000" b="0" i="1" smtClean="0">
                              <a:latin typeface="Cambria Math" panose="02040503050406030204" pitchFamily="18" charset="0"/>
                            </a:rPr>
                            <m:t>𝑓𝑖𝑛𝑎𝑙</m:t>
                          </m:r>
                        </m:sub>
                      </m:sSub>
                      <m:d>
                        <m:dPr>
                          <m:ctrlPr>
                            <a:rPr lang="en-US" sz="4000" b="0" i="1" smtClean="0">
                              <a:latin typeface="Cambria Math" panose="02040503050406030204" pitchFamily="18" charset="0"/>
                            </a:rPr>
                          </m:ctrlPr>
                        </m:dPr>
                        <m:e>
                          <m:r>
                            <a:rPr lang="en-US" sz="4000" b="0" i="1" smtClean="0">
                              <a:latin typeface="Cambria Math" panose="02040503050406030204" pitchFamily="18" charset="0"/>
                            </a:rPr>
                            <m:t>1−</m:t>
                          </m:r>
                          <m:sSup>
                            <m:sSupPr>
                              <m:ctrlPr>
                                <a:rPr lang="en-US" sz="4000" i="1">
                                  <a:latin typeface="Cambria Math" panose="02040503050406030204" pitchFamily="18" charset="0"/>
                                </a:rPr>
                              </m:ctrlPr>
                            </m:sSupPr>
                            <m:e>
                              <m:r>
                                <a:rPr lang="en-US" sz="4000" i="1">
                                  <a:latin typeface="Cambria Math" panose="02040503050406030204" pitchFamily="18" charset="0"/>
                                </a:rPr>
                                <m:t>𝑒</m:t>
                              </m:r>
                            </m:e>
                            <m:sup>
                              <m:r>
                                <a:rPr lang="en-US" sz="4000" i="1">
                                  <a:latin typeface="Cambria Math" panose="02040503050406030204" pitchFamily="18" charset="0"/>
                                </a:rPr>
                                <m:t>−</m:t>
                              </m:r>
                              <m:f>
                                <m:fPr>
                                  <m:type m:val="lin"/>
                                  <m:ctrlPr>
                                    <a:rPr lang="en-US" sz="4000" i="1">
                                      <a:latin typeface="Cambria Math" panose="02040503050406030204" pitchFamily="18" charset="0"/>
                                    </a:rPr>
                                  </m:ctrlPr>
                                </m:fPr>
                                <m:num>
                                  <m:r>
                                    <a:rPr lang="en-US" sz="4000" i="1">
                                      <a:latin typeface="Cambria Math" panose="02040503050406030204" pitchFamily="18" charset="0"/>
                                    </a:rPr>
                                    <m:t>𝑡</m:t>
                                  </m:r>
                                </m:num>
                                <m:den>
                                  <m:r>
                                    <a:rPr lang="en-US" sz="4000" i="1">
                                      <a:latin typeface="Cambria Math" panose="02040503050406030204" pitchFamily="18" charset="0"/>
                                    </a:rPr>
                                    <m:t>𝑅𝐶</m:t>
                                  </m:r>
                                </m:den>
                              </m:f>
                            </m:sup>
                          </m:sSup>
                        </m:e>
                      </m:d>
                    </m:oMath>
                  </m:oMathPara>
                </a14:m>
                <a:endParaRPr lang="en-US" sz="4000" dirty="0"/>
              </a:p>
            </p:txBody>
          </p:sp>
        </mc:Choice>
        <mc:Fallback xmlns="">
          <p:sp>
            <p:nvSpPr>
              <p:cNvPr id="9" name="TextBox 8">
                <a:extLst>
                  <a:ext uri="{FF2B5EF4-FFF2-40B4-BE49-F238E27FC236}">
                    <a16:creationId xmlns:a16="http://schemas.microsoft.com/office/drawing/2014/main" id="{0620A91A-7793-1FEF-6ECB-72A681199268}"/>
                  </a:ext>
                </a:extLst>
              </p:cNvPr>
              <p:cNvSpPr txBox="1">
                <a:spLocks noRot="1" noChangeAspect="1" noMove="1" noResize="1" noEditPoints="1" noAdjustHandles="1" noChangeArrowheads="1" noChangeShapeType="1" noTextEdit="1"/>
              </p:cNvSpPr>
              <p:nvPr/>
            </p:nvSpPr>
            <p:spPr>
              <a:xfrm>
                <a:off x="4038600" y="4464031"/>
                <a:ext cx="5288691" cy="717569"/>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FE6CAE9-6309-385B-C411-170453BC0ED3}"/>
                  </a:ext>
                </a:extLst>
              </p:cNvPr>
              <p:cNvSpPr txBox="1"/>
              <p:nvPr/>
            </p:nvSpPr>
            <p:spPr>
              <a:xfrm>
                <a:off x="235692" y="5284148"/>
                <a:ext cx="14166108" cy="1116652"/>
              </a:xfrm>
              <a:prstGeom prst="rect">
                <a:avLst/>
              </a:prstGeom>
              <a:noFill/>
            </p:spPr>
            <p:txBody>
              <a:bodyPr wrap="square">
                <a:spAutoFit/>
              </a:bodyPr>
              <a:lstStyle/>
              <a:p>
                <a:pPr marL="124355" indent="0">
                  <a:spcBef>
                    <a:spcPts val="0"/>
                  </a:spcBef>
                  <a:buNone/>
                </a:pPr>
                <a14:m>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𝑉</m:t>
                        </m:r>
                      </m:e>
                      <m:sub>
                        <m:r>
                          <a:rPr lang="en-US" sz="3200" b="0" i="1" smtClean="0">
                            <a:latin typeface="Cambria Math" panose="02040503050406030204" pitchFamily="18" charset="0"/>
                          </a:rPr>
                          <m:t>𝑓𝑖𝑛𝑎𝑙</m:t>
                        </m:r>
                      </m:sub>
                    </m:sSub>
                    <m:r>
                      <a:rPr lang="en-US" sz="3200" b="0" i="1" smtClean="0">
                        <a:latin typeface="Cambria Math" panose="02040503050406030204" pitchFamily="18" charset="0"/>
                      </a:rPr>
                      <m:t> </m:t>
                    </m:r>
                  </m:oMath>
                </a14:m>
                <a:r>
                  <a:rPr lang="en-US" sz="3200" dirty="0">
                    <a:cs typeface="Arial" panose="020B0604020202020204" pitchFamily="34" charset="0"/>
                  </a:rPr>
                  <a:t>is the voltage towards which the capacitor will reach after the capacitor is completely charged. This is the supply voltage,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𝑉</m:t>
                        </m:r>
                      </m:e>
                      <m:sub>
                        <m:r>
                          <a:rPr lang="en-US" sz="3200" b="0" i="1" smtClean="0">
                            <a:latin typeface="Cambria Math" panose="02040503050406030204" pitchFamily="18" charset="0"/>
                          </a:rPr>
                          <m:t>𝐶𝐶</m:t>
                        </m:r>
                      </m:sub>
                    </m:sSub>
                    <m:r>
                      <a:rPr lang="en-US" sz="3200" i="1">
                        <a:latin typeface="Cambria Math" panose="02040503050406030204" pitchFamily="18" charset="0"/>
                      </a:rPr>
                      <m:t> </m:t>
                    </m:r>
                  </m:oMath>
                </a14:m>
                <a:r>
                  <a:rPr lang="en-US" sz="3200" dirty="0">
                    <a:cs typeface="Arial" panose="020B0604020202020204" pitchFamily="34" charset="0"/>
                  </a:rPr>
                  <a:t>in this case.</a:t>
                </a:r>
              </a:p>
            </p:txBody>
          </p:sp>
        </mc:Choice>
        <mc:Fallback xmlns="">
          <p:sp>
            <p:nvSpPr>
              <p:cNvPr id="8" name="TextBox 7">
                <a:extLst>
                  <a:ext uri="{FF2B5EF4-FFF2-40B4-BE49-F238E27FC236}">
                    <a16:creationId xmlns:a16="http://schemas.microsoft.com/office/drawing/2014/main" id="{4FE6CAE9-6309-385B-C411-170453BC0ED3}"/>
                  </a:ext>
                </a:extLst>
              </p:cNvPr>
              <p:cNvSpPr txBox="1">
                <a:spLocks noRot="1" noChangeAspect="1" noMove="1" noResize="1" noEditPoints="1" noAdjustHandles="1" noChangeArrowheads="1" noChangeShapeType="1" noTextEdit="1"/>
              </p:cNvSpPr>
              <p:nvPr/>
            </p:nvSpPr>
            <p:spPr>
              <a:xfrm>
                <a:off x="235692" y="5284148"/>
                <a:ext cx="14166108" cy="1116652"/>
              </a:xfrm>
              <a:prstGeom prst="rect">
                <a:avLst/>
              </a:prstGeom>
              <a:blipFill>
                <a:blip r:embed="rId4"/>
                <a:stretch>
                  <a:fillRect l="-258" t="-7104" r="-904" b="-17486"/>
                </a:stretch>
              </a:blipFill>
            </p:spPr>
            <p:txBody>
              <a:bodyPr/>
              <a:lstStyle/>
              <a:p>
                <a:r>
                  <a:rPr lang="en-US">
                    <a:noFill/>
                  </a:rPr>
                  <a:t> </a:t>
                </a:r>
              </a:p>
            </p:txBody>
          </p:sp>
        </mc:Fallback>
      </mc:AlternateContent>
    </p:spTree>
    <p:extLst>
      <p:ext uri="{BB962C8B-B14F-4D97-AF65-F5344CB8AC3E}">
        <p14:creationId xmlns:p14="http://schemas.microsoft.com/office/powerpoint/2010/main" val="10609621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554" y="391160"/>
            <a:ext cx="13167360" cy="1132840"/>
          </a:xfrm>
        </p:spPr>
        <p:txBody>
          <a:bodyPr>
            <a:normAutofit/>
          </a:bodyPr>
          <a:lstStyle/>
          <a:p>
            <a:r>
              <a:rPr lang="en-US" sz="5400" b="1" dirty="0"/>
              <a:t>Hardware Debouncing Circuit Design</a:t>
            </a:r>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sp>
        <p:nvSpPr>
          <p:cNvPr id="7" name="Date Placeholder 6"/>
          <p:cNvSpPr>
            <a:spLocks noGrp="1"/>
          </p:cNvSpPr>
          <p:nvPr>
            <p:ph type="dt" sz="half" idx="10"/>
          </p:nvPr>
        </p:nvSpPr>
        <p:spPr/>
        <p:txBody>
          <a:bodyPr/>
          <a:lstStyle/>
          <a:p>
            <a:fld id="{386C4CD3-1055-4803-8131-20120CCD2DA4}" type="datetime3">
              <a:rPr lang="en-US" smtClean="0"/>
              <a:t>15 June 2026</a:t>
            </a:fld>
            <a:endParaRPr lang="en-US"/>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58200" y="2504440"/>
            <a:ext cx="6082637" cy="4981388"/>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1351808-A264-27B8-5644-9FC2EC9D3534}"/>
                  </a:ext>
                </a:extLst>
              </p:cNvPr>
              <p:cNvSpPr txBox="1"/>
              <p:nvPr/>
            </p:nvSpPr>
            <p:spPr>
              <a:xfrm>
                <a:off x="609600" y="2476042"/>
                <a:ext cx="6522447" cy="71756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4000" i="1" smtClean="0">
                              <a:latin typeface="Cambria Math" panose="02040503050406030204" pitchFamily="18" charset="0"/>
                            </a:rPr>
                          </m:ctrlPr>
                        </m:sSubPr>
                        <m:e>
                          <m:r>
                            <a:rPr lang="en-US" sz="4000" i="1">
                              <a:latin typeface="Cambria Math" panose="02040503050406030204" pitchFamily="18" charset="0"/>
                            </a:rPr>
                            <m:t>𝑣</m:t>
                          </m:r>
                        </m:e>
                        <m:sub>
                          <m:r>
                            <a:rPr lang="en-US" sz="4000" b="0" i="1" smtClean="0">
                              <a:latin typeface="Cambria Math" panose="02040503050406030204" pitchFamily="18" charset="0"/>
                            </a:rPr>
                            <m:t>𝑐</m:t>
                          </m:r>
                        </m:sub>
                      </m:sSub>
                      <m:r>
                        <a:rPr lang="en-US" sz="4000" i="1">
                          <a:latin typeface="Cambria Math" panose="02040503050406030204" pitchFamily="18" charset="0"/>
                        </a:rPr>
                        <m:t>=</m:t>
                      </m:r>
                      <m:sSub>
                        <m:sSubPr>
                          <m:ctrlPr>
                            <a:rPr lang="en-US" sz="4000" i="1" smtClean="0">
                              <a:latin typeface="Cambria Math" panose="02040503050406030204" pitchFamily="18" charset="0"/>
                            </a:rPr>
                          </m:ctrlPr>
                        </m:sSubPr>
                        <m:e>
                          <m:r>
                            <a:rPr lang="en-US" sz="4000" b="0" i="1" smtClean="0">
                              <a:latin typeface="Cambria Math" panose="02040503050406030204" pitchFamily="18" charset="0"/>
                            </a:rPr>
                            <m:t>𝑣</m:t>
                          </m:r>
                        </m:e>
                        <m:sub>
                          <m:r>
                            <a:rPr lang="en-US" sz="4000" b="0" i="1" smtClean="0">
                              <a:latin typeface="Cambria Math" panose="02040503050406030204" pitchFamily="18" charset="0"/>
                            </a:rPr>
                            <m:t>𝑡h</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𝑉</m:t>
                          </m:r>
                        </m:e>
                        <m:sub>
                          <m:r>
                            <a:rPr lang="en-US" sz="4000" b="0" i="1" smtClean="0">
                              <a:latin typeface="Cambria Math" panose="02040503050406030204" pitchFamily="18" charset="0"/>
                            </a:rPr>
                            <m:t>𝑓𝑖𝑛𝑎𝑙</m:t>
                          </m:r>
                        </m:sub>
                      </m:sSub>
                      <m:sSup>
                        <m:sSupPr>
                          <m:ctrlPr>
                            <a:rPr lang="en-US" sz="4000" b="0" i="1" smtClean="0">
                              <a:latin typeface="Cambria Math" panose="02040503050406030204" pitchFamily="18" charset="0"/>
                            </a:rPr>
                          </m:ctrlPr>
                        </m:sSupPr>
                        <m:e>
                          <m:r>
                            <a:rPr lang="en-US" sz="4000" b="0" i="1" smtClean="0">
                              <a:latin typeface="Cambria Math" panose="02040503050406030204" pitchFamily="18" charset="0"/>
                            </a:rPr>
                            <m:t>𝑒</m:t>
                          </m:r>
                        </m:e>
                        <m:sup>
                          <m:r>
                            <a:rPr lang="en-US" sz="4000" b="0" i="1" smtClean="0">
                              <a:latin typeface="Cambria Math" panose="02040503050406030204" pitchFamily="18" charset="0"/>
                            </a:rPr>
                            <m:t>−</m:t>
                          </m:r>
                          <m:f>
                            <m:fPr>
                              <m:type m:val="lin"/>
                              <m:ctrlPr>
                                <a:rPr lang="en-US" sz="4000" b="0" i="1" smtClean="0">
                                  <a:latin typeface="Cambria Math" panose="02040503050406030204" pitchFamily="18" charset="0"/>
                                </a:rPr>
                              </m:ctrlPr>
                            </m:fPr>
                            <m:num>
                              <m:r>
                                <a:rPr lang="en-US" sz="4000" b="0" i="1" smtClean="0">
                                  <a:latin typeface="Cambria Math" panose="02040503050406030204" pitchFamily="18" charset="0"/>
                                </a:rPr>
                                <m:t>𝑡</m:t>
                              </m:r>
                            </m:num>
                            <m:den>
                              <m:r>
                                <a:rPr lang="en-US" sz="4000" b="0" i="1" smtClean="0">
                                  <a:latin typeface="Cambria Math" panose="02040503050406030204" pitchFamily="18" charset="0"/>
                                </a:rPr>
                                <m:t>𝑅𝐶</m:t>
                              </m:r>
                            </m:den>
                          </m:f>
                        </m:sup>
                      </m:sSup>
                    </m:oMath>
                  </m:oMathPara>
                </a14:m>
                <a:endParaRPr lang="en-US" sz="4000" dirty="0"/>
              </a:p>
            </p:txBody>
          </p:sp>
        </mc:Choice>
        <mc:Fallback xmlns="">
          <p:sp>
            <p:nvSpPr>
              <p:cNvPr id="8" name="TextBox 7">
                <a:extLst>
                  <a:ext uri="{FF2B5EF4-FFF2-40B4-BE49-F238E27FC236}">
                    <a16:creationId xmlns:a16="http://schemas.microsoft.com/office/drawing/2014/main" id="{01351808-A264-27B8-5644-9FC2EC9D3534}"/>
                  </a:ext>
                </a:extLst>
              </p:cNvPr>
              <p:cNvSpPr txBox="1">
                <a:spLocks noRot="1" noChangeAspect="1" noMove="1" noResize="1" noEditPoints="1" noAdjustHandles="1" noChangeArrowheads="1" noChangeShapeType="1" noTextEdit="1"/>
              </p:cNvSpPr>
              <p:nvPr/>
            </p:nvSpPr>
            <p:spPr>
              <a:xfrm>
                <a:off x="609600" y="2476042"/>
                <a:ext cx="6522447" cy="717569"/>
              </a:xfrm>
              <a:prstGeom prst="rect">
                <a:avLst/>
              </a:prstGeom>
              <a:blipFill>
                <a:blip r:embed="rId4"/>
                <a:stretch>
                  <a:fillRect/>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74D3327C-157B-C6C2-9E5D-5BF64899D32F}"/>
              </a:ext>
            </a:extLst>
          </p:cNvPr>
          <p:cNvSpPr txBox="1"/>
          <p:nvPr/>
        </p:nvSpPr>
        <p:spPr>
          <a:xfrm>
            <a:off x="252663" y="1447800"/>
            <a:ext cx="7900738" cy="1077218"/>
          </a:xfrm>
          <a:prstGeom prst="rect">
            <a:avLst/>
          </a:prstGeom>
          <a:noFill/>
        </p:spPr>
        <p:txBody>
          <a:bodyPr wrap="square" lIns="0" rIns="0">
            <a:spAutoFit/>
          </a:bodyPr>
          <a:lstStyle/>
          <a:p>
            <a:pPr marL="124355" indent="0">
              <a:spcBef>
                <a:spcPts val="0"/>
              </a:spcBef>
              <a:buNone/>
            </a:pPr>
            <a:r>
              <a:rPr lang="en-US" sz="3200" dirty="0">
                <a:cs typeface="Arial" panose="020B0604020202020204" pitchFamily="34" charset="0"/>
              </a:rPr>
              <a:t>The equation for discharging a capacitor is given by</a:t>
            </a:r>
          </a:p>
        </p:txBody>
      </p:sp>
      <p:sp>
        <p:nvSpPr>
          <p:cNvPr id="13" name="TextBox 12">
            <a:extLst>
              <a:ext uri="{FF2B5EF4-FFF2-40B4-BE49-F238E27FC236}">
                <a16:creationId xmlns:a16="http://schemas.microsoft.com/office/drawing/2014/main" id="{4BBC07D4-2A99-5BF3-0A15-75B0AEC79C5B}"/>
              </a:ext>
            </a:extLst>
          </p:cNvPr>
          <p:cNvSpPr txBox="1"/>
          <p:nvPr/>
        </p:nvSpPr>
        <p:spPr>
          <a:xfrm>
            <a:off x="1143000" y="6513493"/>
            <a:ext cx="7284696" cy="954107"/>
          </a:xfrm>
          <a:prstGeom prst="rect">
            <a:avLst/>
          </a:prstGeom>
          <a:noFill/>
        </p:spPr>
        <p:txBody>
          <a:bodyPr wrap="square">
            <a:spAutoFit/>
          </a:bodyPr>
          <a:lstStyle/>
          <a:p>
            <a:pPr algn="r"/>
            <a:r>
              <a:rPr lang="en-US" sz="2800" dirty="0">
                <a:solidFill>
                  <a:srgbClr val="002060"/>
                </a:solidFill>
                <a:cs typeface="Arial" panose="020B0604020202020204" pitchFamily="34" charset="0"/>
              </a:rPr>
              <a:t>Debouncing circuit design using the IC 7414 Schmitt trigger (inverting type buffer)</a:t>
            </a:r>
            <a:endParaRPr lang="en-US" dirty="0">
              <a:solidFill>
                <a:srgbClr val="002060"/>
              </a:solidFill>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25F75E2-3F6A-9A74-3B08-6F5159A2B715}"/>
                  </a:ext>
                </a:extLst>
              </p:cNvPr>
              <p:cNvSpPr txBox="1"/>
              <p:nvPr/>
            </p:nvSpPr>
            <p:spPr>
              <a:xfrm>
                <a:off x="183096" y="3244456"/>
                <a:ext cx="8579904" cy="1609095"/>
              </a:xfrm>
              <a:prstGeom prst="rect">
                <a:avLst/>
              </a:prstGeom>
              <a:noFill/>
            </p:spPr>
            <p:txBody>
              <a:bodyPr wrap="square" lIns="0" rIns="0">
                <a:spAutoFit/>
              </a:bodyPr>
              <a:lstStyle/>
              <a:p>
                <a:pPr marL="124355" indent="0">
                  <a:spcBef>
                    <a:spcPts val="0"/>
                  </a:spcBef>
                  <a:buNone/>
                </a:pPr>
                <a14:m>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𝑉</m:t>
                        </m:r>
                      </m:e>
                      <m:sub>
                        <m:r>
                          <a:rPr lang="en-US" sz="3200" b="0" i="1" smtClean="0">
                            <a:latin typeface="Cambria Math" panose="02040503050406030204" pitchFamily="18" charset="0"/>
                          </a:rPr>
                          <m:t>𝑓𝑖𝑛𝑎𝑙</m:t>
                        </m:r>
                      </m:sub>
                    </m:sSub>
                    <m:r>
                      <a:rPr lang="en-US" sz="3200" b="0" i="1" smtClean="0">
                        <a:latin typeface="Cambria Math" panose="02040503050406030204" pitchFamily="18" charset="0"/>
                      </a:rPr>
                      <m:t> </m:t>
                    </m:r>
                  </m:oMath>
                </a14:m>
                <a:r>
                  <a:rPr lang="en-US" sz="3200" dirty="0">
                    <a:cs typeface="Arial" panose="020B0604020202020204" pitchFamily="34" charset="0"/>
                  </a:rPr>
                  <a:t>is the voltage from where the capacitor starts to discharge after the capacitor is completely charged.</a:t>
                </a:r>
              </a:p>
            </p:txBody>
          </p:sp>
        </mc:Choice>
        <mc:Fallback xmlns="">
          <p:sp>
            <p:nvSpPr>
              <p:cNvPr id="12" name="TextBox 11">
                <a:extLst>
                  <a:ext uri="{FF2B5EF4-FFF2-40B4-BE49-F238E27FC236}">
                    <a16:creationId xmlns:a16="http://schemas.microsoft.com/office/drawing/2014/main" id="{A25F75E2-3F6A-9A74-3B08-6F5159A2B715}"/>
                  </a:ext>
                </a:extLst>
              </p:cNvPr>
              <p:cNvSpPr txBox="1">
                <a:spLocks noRot="1" noChangeAspect="1" noMove="1" noResize="1" noEditPoints="1" noAdjustHandles="1" noChangeArrowheads="1" noChangeShapeType="1" noTextEdit="1"/>
              </p:cNvSpPr>
              <p:nvPr/>
            </p:nvSpPr>
            <p:spPr>
              <a:xfrm>
                <a:off x="183096" y="3244456"/>
                <a:ext cx="8579904" cy="1609095"/>
              </a:xfrm>
              <a:prstGeom prst="rect">
                <a:avLst/>
              </a:prstGeom>
              <a:blipFill>
                <a:blip r:embed="rId5"/>
                <a:stretch>
                  <a:fillRect l="-1420" t="-4924" b="-11742"/>
                </a:stretch>
              </a:blipFill>
            </p:spPr>
            <p:txBody>
              <a:bodyPr/>
              <a:lstStyle/>
              <a:p>
                <a:r>
                  <a:rPr lang="en-US">
                    <a:noFill/>
                  </a:rPr>
                  <a:t> </a:t>
                </a:r>
              </a:p>
            </p:txBody>
          </p:sp>
        </mc:Fallback>
      </mc:AlternateContent>
    </p:spTree>
    <p:extLst>
      <p:ext uri="{BB962C8B-B14F-4D97-AF65-F5344CB8AC3E}">
        <p14:creationId xmlns:p14="http://schemas.microsoft.com/office/powerpoint/2010/main" val="39503078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554" y="228600"/>
            <a:ext cx="13167360" cy="1132840"/>
          </a:xfrm>
        </p:spPr>
        <p:txBody>
          <a:bodyPr>
            <a:normAutofit/>
          </a:bodyPr>
          <a:lstStyle/>
          <a:p>
            <a:r>
              <a:rPr lang="en-US" sz="5400" b="1" dirty="0"/>
              <a:t>Hardware Debouncing Circuit Operation</a:t>
            </a:r>
          </a:p>
        </p:txBody>
      </p:sp>
      <p:sp>
        <p:nvSpPr>
          <p:cNvPr id="3" name="Content Placeholder 2"/>
          <p:cNvSpPr>
            <a:spLocks noGrp="1"/>
          </p:cNvSpPr>
          <p:nvPr>
            <p:ph idx="1"/>
          </p:nvPr>
        </p:nvSpPr>
        <p:spPr>
          <a:xfrm>
            <a:off x="253181" y="1104900"/>
            <a:ext cx="14148619" cy="1145988"/>
          </a:xfrm>
        </p:spPr>
        <p:txBody>
          <a:bodyPr lIns="0" rIns="0">
            <a:noAutofit/>
          </a:bodyPr>
          <a:lstStyle/>
          <a:p>
            <a:pPr marL="124355" indent="0" algn="just">
              <a:spcBef>
                <a:spcPts val="0"/>
              </a:spcBef>
              <a:buNone/>
            </a:pPr>
            <a:r>
              <a:rPr lang="en-US" sz="3200" dirty="0">
                <a:cs typeface="Arial" panose="020B0604020202020204" pitchFamily="34" charset="0"/>
              </a:rPr>
              <a:t>The circuit’s operation can be explained by looking at the equivalent circuits formed in the two switching states, e.g., open and closed.</a:t>
            </a:r>
          </a:p>
        </p:txBody>
      </p:sp>
      <p:sp>
        <p:nvSpPr>
          <p:cNvPr id="5" name="Footer Placeholder 4"/>
          <p:cNvSpPr>
            <a:spLocks noGrp="1"/>
          </p:cNvSpPr>
          <p:nvPr>
            <p:ph type="ftr" sz="quarter" idx="11"/>
          </p:nvPr>
        </p:nvSpPr>
        <p:spPr/>
        <p:txBody>
          <a:bodyPr/>
          <a:lstStyle/>
          <a:p>
            <a:r>
              <a:rPr lang="en-US" dirty="0"/>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sp>
        <p:nvSpPr>
          <p:cNvPr id="7" name="Date Placeholder 6"/>
          <p:cNvSpPr>
            <a:spLocks noGrp="1"/>
          </p:cNvSpPr>
          <p:nvPr>
            <p:ph type="dt" sz="half" idx="10"/>
          </p:nvPr>
        </p:nvSpPr>
        <p:spPr/>
        <p:txBody>
          <a:bodyPr/>
          <a:lstStyle/>
          <a:p>
            <a:fld id="{386C4CD3-1055-4803-8131-20120CCD2DA4}" type="datetime3">
              <a:rPr lang="en-US" smtClean="0"/>
              <a:t>15 June 2026</a:t>
            </a:fld>
            <a:endParaRPr lang="en-US"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 y="3895480"/>
            <a:ext cx="8431162" cy="3495920"/>
          </a:xfrm>
          <a:prstGeom prst="rect">
            <a:avLst/>
          </a:prstGeom>
        </p:spPr>
      </p:pic>
      <mc:AlternateContent xmlns:mc="http://schemas.openxmlformats.org/markup-compatibility/2006" xmlns:a14="http://schemas.microsoft.com/office/drawing/2010/main">
        <mc:Choice Requires="a14">
          <p:sp>
            <p:nvSpPr>
              <p:cNvPr id="9" name="Rectangle 8"/>
              <p:cNvSpPr/>
              <p:nvPr/>
            </p:nvSpPr>
            <p:spPr>
              <a:xfrm>
                <a:off x="8735962" y="4038600"/>
                <a:ext cx="5729685" cy="3610604"/>
              </a:xfrm>
              <a:prstGeom prst="rect">
                <a:avLst/>
              </a:prstGeom>
            </p:spPr>
            <p:txBody>
              <a:bodyPr wrap="square">
                <a:spAutoFit/>
              </a:bodyPr>
              <a:lstStyle/>
              <a:p>
                <a:r>
                  <a:rPr lang="en-US" sz="2800" dirty="0">
                    <a:solidFill>
                      <a:srgbClr val="0070C0"/>
                    </a:solidFill>
                  </a:rPr>
                  <a:t>Now, </a:t>
                </a:r>
                <a:r>
                  <a:rPr lang="en-US" sz="2800" b="1" dirty="0">
                    <a:solidFill>
                      <a:srgbClr val="0070C0"/>
                    </a:solidFill>
                  </a:rPr>
                  <a:t>CLOSE</a:t>
                </a:r>
                <a:r>
                  <a:rPr lang="en-US" sz="2800" dirty="0">
                    <a:solidFill>
                      <a:srgbClr val="0070C0"/>
                    </a:solidFill>
                  </a:rPr>
                  <a:t> the switch:</a:t>
                </a:r>
              </a:p>
              <a:p>
                <a:pPr marL="342900" indent="-342900">
                  <a:buFont typeface="Arial" panose="020B0604020202020204" pitchFamily="34" charset="0"/>
                  <a:buChar char="•"/>
                </a:pPr>
                <a:r>
                  <a:rPr lang="en-US" sz="2800" dirty="0"/>
                  <a:t>The capacitor will </a:t>
                </a:r>
                <a:r>
                  <a:rPr lang="en-US" sz="2800" b="1" dirty="0">
                    <a:solidFill>
                      <a:srgbClr val="0070C0"/>
                    </a:solidFill>
                  </a:rPr>
                  <a:t>discharge</a:t>
                </a:r>
                <a:r>
                  <a:rPr lang="en-US" sz="2800" dirty="0"/>
                  <a:t> via R</a:t>
                </a:r>
                <a:r>
                  <a:rPr lang="en-US" sz="2800" baseline="-25000" dirty="0"/>
                  <a:t>2 </a:t>
                </a:r>
                <a:r>
                  <a:rPr lang="en-US" sz="2800" dirty="0"/>
                  <a:t>as per equation</a:t>
                </a:r>
                <a14:m>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 </m:t>
                        </m:r>
                        <m:r>
                          <a:rPr lang="en-US" sz="2400" i="1">
                            <a:latin typeface="Cambria Math" panose="02040503050406030204" pitchFamily="18" charset="0"/>
                          </a:rPr>
                          <m:t>𝑉</m:t>
                        </m:r>
                      </m:e>
                      <m:sub>
                        <m:r>
                          <a:rPr lang="en-US" sz="2400" i="1">
                            <a:latin typeface="Cambria Math" panose="02040503050406030204" pitchFamily="18" charset="0"/>
                          </a:rPr>
                          <m:t>𝑓𝑖𝑛𝑎𝑙</m:t>
                        </m:r>
                      </m:sub>
                    </m:sSub>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m:t>
                        </m:r>
                        <m:f>
                          <m:fPr>
                            <m:type m:val="lin"/>
                            <m:ctrlPr>
                              <a:rPr lang="en-US" sz="2400" i="1">
                                <a:latin typeface="Cambria Math" panose="02040503050406030204" pitchFamily="18" charset="0"/>
                              </a:rPr>
                            </m:ctrlPr>
                          </m:fPr>
                          <m:num>
                            <m:r>
                              <a:rPr lang="en-US" sz="2400" i="1">
                                <a:latin typeface="Cambria Math" panose="02040503050406030204" pitchFamily="18" charset="0"/>
                              </a:rPr>
                              <m:t>𝑡</m:t>
                            </m:r>
                          </m:num>
                          <m:den>
                            <m:r>
                              <a:rPr lang="en-US" sz="2400" i="1">
                                <a:latin typeface="Cambria Math" panose="02040503050406030204" pitchFamily="18" charset="0"/>
                              </a:rPr>
                              <m:t>𝑅𝐶</m:t>
                            </m:r>
                          </m:den>
                        </m:f>
                      </m:sup>
                    </m:sSup>
                  </m:oMath>
                </a14:m>
                <a:r>
                  <a:rPr lang="en-US" sz="2800" dirty="0"/>
                  <a:t>.</a:t>
                </a:r>
              </a:p>
              <a:p>
                <a:pPr marL="342900" indent="-342900">
                  <a:buFont typeface="Arial" panose="020B0604020202020204" pitchFamily="34" charset="0"/>
                  <a:buChar char="•"/>
                </a:pPr>
                <a:r>
                  <a:rPr lang="en-US" sz="2800" dirty="0"/>
                  <a:t>In time, C</a:t>
                </a:r>
                <a:r>
                  <a:rPr lang="en-US" sz="2800" baseline="-25000" dirty="0"/>
                  <a:t>1</a:t>
                </a:r>
                <a:r>
                  <a:rPr lang="en-US" sz="2800" dirty="0"/>
                  <a:t> will discharge and </a:t>
                </a:r>
                <a:r>
                  <a:rPr lang="en-US" sz="2800" dirty="0" err="1">
                    <a:solidFill>
                      <a:srgbClr val="0070C0"/>
                    </a:solidFill>
                  </a:rPr>
                  <a:t>V</a:t>
                </a:r>
                <a:r>
                  <a:rPr lang="en-US" sz="2800" baseline="-25000" dirty="0" err="1">
                    <a:solidFill>
                      <a:srgbClr val="0070C0"/>
                    </a:solidFill>
                  </a:rPr>
                  <a:t>b</a:t>
                </a:r>
                <a:r>
                  <a:rPr lang="en-US" sz="2800" dirty="0">
                    <a:solidFill>
                      <a:srgbClr val="0070C0"/>
                    </a:solidFill>
                  </a:rPr>
                  <a:t> will reach 0 V</a:t>
                </a:r>
                <a:r>
                  <a:rPr lang="en-US" sz="2800" dirty="0"/>
                  <a:t>.</a:t>
                </a:r>
              </a:p>
              <a:p>
                <a:pPr marL="342900" indent="-342900">
                  <a:buFont typeface="Arial" panose="020B0604020202020204" pitchFamily="34" charset="0"/>
                  <a:buChar char="•"/>
                </a:pPr>
                <a:r>
                  <a:rPr lang="en-US" sz="2800" dirty="0"/>
                  <a:t>Therefore, </a:t>
                </a:r>
                <a:r>
                  <a:rPr lang="en-US" sz="2800" dirty="0">
                    <a:solidFill>
                      <a:srgbClr val="0070C0"/>
                    </a:solidFill>
                  </a:rPr>
                  <a:t>the output of the inverting Schmitt trigger </a:t>
                </a:r>
                <a:r>
                  <a:rPr lang="en-US" sz="2800" dirty="0"/>
                  <a:t>will be a </a:t>
                </a:r>
                <a:r>
                  <a:rPr lang="en-US" sz="2800" dirty="0">
                    <a:solidFill>
                      <a:srgbClr val="0070C0"/>
                    </a:solidFill>
                  </a:rPr>
                  <a:t>logic 1</a:t>
                </a:r>
                <a:r>
                  <a:rPr lang="en-US" sz="2800" dirty="0"/>
                  <a:t>.</a:t>
                </a:r>
              </a:p>
            </p:txBody>
          </p:sp>
        </mc:Choice>
        <mc:Fallback xmlns="">
          <p:sp>
            <p:nvSpPr>
              <p:cNvPr id="9" name="Rectangle 8"/>
              <p:cNvSpPr>
                <a:spLocks noRot="1" noChangeAspect="1" noMove="1" noResize="1" noEditPoints="1" noAdjustHandles="1" noChangeArrowheads="1" noChangeShapeType="1" noTextEdit="1"/>
              </p:cNvSpPr>
              <p:nvPr/>
            </p:nvSpPr>
            <p:spPr>
              <a:xfrm>
                <a:off x="8735962" y="4038600"/>
                <a:ext cx="5729685" cy="3610604"/>
              </a:xfrm>
              <a:prstGeom prst="rect">
                <a:avLst/>
              </a:prstGeom>
              <a:blipFill>
                <a:blip r:embed="rId4"/>
                <a:stretch>
                  <a:fillRect l="-2128" t="-1858" r="-3617" b="-16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408038" y="2066546"/>
                <a:ext cx="13307962" cy="1815882"/>
              </a:xfrm>
              <a:prstGeom prst="rect">
                <a:avLst/>
              </a:prstGeom>
            </p:spPr>
            <p:txBody>
              <a:bodyPr wrap="square">
                <a:spAutoFit/>
              </a:bodyPr>
              <a:lstStyle/>
              <a:p>
                <a:r>
                  <a:rPr lang="en-US" sz="2800" dirty="0">
                    <a:solidFill>
                      <a:srgbClr val="FF0000"/>
                    </a:solidFill>
                  </a:rPr>
                  <a:t>Starting with the switch </a:t>
                </a:r>
                <a:r>
                  <a:rPr lang="en-US" sz="2800" b="1" dirty="0">
                    <a:solidFill>
                      <a:srgbClr val="FF0000"/>
                    </a:solidFill>
                  </a:rPr>
                  <a:t>OPEN</a:t>
                </a:r>
                <a:r>
                  <a:rPr lang="en-US" sz="2800" dirty="0">
                    <a:solidFill>
                      <a:srgbClr val="FF0000"/>
                    </a:solidFill>
                  </a:rPr>
                  <a:t>:</a:t>
                </a:r>
              </a:p>
              <a:p>
                <a:pPr marL="342900" indent="-342900">
                  <a:buFont typeface="Arial" panose="020B0604020202020204" pitchFamily="34" charset="0"/>
                  <a:buChar char="•"/>
                </a:pPr>
                <a:r>
                  <a:rPr lang="en-US" sz="2800" dirty="0"/>
                  <a:t>The capacitor </a:t>
                </a:r>
                <a:r>
                  <a:rPr lang="en-US" sz="2800" i="1" dirty="0"/>
                  <a:t>C</a:t>
                </a:r>
                <a:r>
                  <a:rPr lang="en-US" sz="2800" baseline="-25000" dirty="0"/>
                  <a:t>1</a:t>
                </a:r>
                <a:r>
                  <a:rPr lang="en-US" sz="2800" dirty="0"/>
                  <a:t> will </a:t>
                </a:r>
                <a:r>
                  <a:rPr lang="en-US" sz="2800" b="1" dirty="0">
                    <a:solidFill>
                      <a:srgbClr val="FF0000"/>
                    </a:solidFill>
                  </a:rPr>
                  <a:t>charge</a:t>
                </a:r>
                <a:r>
                  <a:rPr lang="en-US" sz="2800" dirty="0"/>
                  <a:t> via </a:t>
                </a:r>
                <a:r>
                  <a:rPr lang="en-US" sz="2800" i="1" dirty="0"/>
                  <a:t>R</a:t>
                </a:r>
                <a:r>
                  <a:rPr lang="en-US" sz="2800" baseline="-25000" dirty="0"/>
                  <a:t>1</a:t>
                </a:r>
                <a:r>
                  <a:rPr lang="en-US" sz="2800" dirty="0"/>
                  <a:t> and </a:t>
                </a:r>
                <a:r>
                  <a:rPr lang="en-US" sz="2800" i="1" dirty="0"/>
                  <a:t>D</a:t>
                </a:r>
                <a:r>
                  <a:rPr lang="en-US" sz="2800" baseline="-25000" dirty="0"/>
                  <a:t>1 </a:t>
                </a:r>
                <a:r>
                  <a:rPr lang="en-US" sz="2800" dirty="0"/>
                  <a:t>as per equation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𝑣</m:t>
                        </m:r>
                      </m:e>
                      <m:sub>
                        <m:r>
                          <a:rPr lang="en-US" sz="2400" i="1">
                            <a:latin typeface="Cambria Math" panose="02040503050406030204" pitchFamily="18" charset="0"/>
                          </a:rPr>
                          <m:t>𝑐</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𝑓𝑖𝑛𝑎𝑙</m:t>
                        </m:r>
                      </m:sub>
                    </m:sSub>
                    <m:d>
                      <m:dPr>
                        <m:ctrlPr>
                          <a:rPr lang="en-US" sz="2400" i="1">
                            <a:latin typeface="Cambria Math" panose="02040503050406030204" pitchFamily="18" charset="0"/>
                          </a:rPr>
                        </m:ctrlPr>
                      </m:dPr>
                      <m:e>
                        <m:r>
                          <a:rPr lang="en-US" sz="2400" i="1">
                            <a:latin typeface="Cambria Math" panose="02040503050406030204" pitchFamily="18" charset="0"/>
                          </a:rPr>
                          <m:t>1−</m:t>
                        </m:r>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m:t>
                            </m:r>
                            <m:f>
                              <m:fPr>
                                <m:type m:val="lin"/>
                                <m:ctrlPr>
                                  <a:rPr lang="en-US" sz="2400" i="1">
                                    <a:latin typeface="Cambria Math" panose="02040503050406030204" pitchFamily="18" charset="0"/>
                                  </a:rPr>
                                </m:ctrlPr>
                              </m:fPr>
                              <m:num>
                                <m:r>
                                  <a:rPr lang="en-US" sz="2400" i="1">
                                    <a:latin typeface="Cambria Math" panose="02040503050406030204" pitchFamily="18" charset="0"/>
                                  </a:rPr>
                                  <m:t>𝑡</m:t>
                                </m:r>
                              </m:num>
                              <m:den>
                                <m:r>
                                  <a:rPr lang="en-US" sz="2400" i="1">
                                    <a:latin typeface="Cambria Math" panose="02040503050406030204" pitchFamily="18" charset="0"/>
                                  </a:rPr>
                                  <m:t>𝑅𝐶</m:t>
                                </m:r>
                              </m:den>
                            </m:f>
                          </m:sup>
                        </m:sSup>
                      </m:e>
                    </m:d>
                  </m:oMath>
                </a14:m>
                <a:r>
                  <a:rPr lang="en-US" sz="2800" dirty="0"/>
                  <a:t>.</a:t>
                </a:r>
              </a:p>
              <a:p>
                <a:pPr marL="342900" indent="-342900">
                  <a:buFont typeface="Arial" panose="020B0604020202020204" pitchFamily="34" charset="0"/>
                  <a:buChar char="•"/>
                </a:pPr>
                <a:r>
                  <a:rPr lang="en-US" sz="2800" dirty="0"/>
                  <a:t>In time, </a:t>
                </a:r>
                <a:r>
                  <a:rPr lang="en-US" sz="2800" i="1" dirty="0"/>
                  <a:t>C</a:t>
                </a:r>
                <a:r>
                  <a:rPr lang="en-US" sz="2800" baseline="-25000" dirty="0"/>
                  <a:t>1</a:t>
                </a:r>
                <a:r>
                  <a:rPr lang="en-US" sz="2800" dirty="0"/>
                  <a:t> will charge and </a:t>
                </a:r>
                <a:r>
                  <a:rPr lang="en-US" sz="2800" i="1" dirty="0" err="1">
                    <a:solidFill>
                      <a:srgbClr val="FF0000"/>
                    </a:solidFill>
                  </a:rPr>
                  <a:t>V</a:t>
                </a:r>
                <a:r>
                  <a:rPr lang="en-US" sz="2800" i="1" baseline="-25000" dirty="0" err="1">
                    <a:solidFill>
                      <a:srgbClr val="FF0000"/>
                    </a:solidFill>
                  </a:rPr>
                  <a:t>b</a:t>
                </a:r>
                <a:r>
                  <a:rPr lang="en-US" sz="2800" dirty="0">
                    <a:solidFill>
                      <a:srgbClr val="FF0000"/>
                    </a:solidFill>
                  </a:rPr>
                  <a:t> will reach within 0. 7 V </a:t>
                </a:r>
                <a:r>
                  <a:rPr lang="en-US" sz="2800" dirty="0"/>
                  <a:t>of </a:t>
                </a:r>
                <a:r>
                  <a:rPr lang="en-US" sz="2800" i="1" dirty="0" err="1"/>
                  <a:t>V</a:t>
                </a:r>
                <a:r>
                  <a:rPr lang="en-US" sz="2800" i="1" baseline="-25000" dirty="0" err="1"/>
                  <a:t>cc</a:t>
                </a:r>
                <a:r>
                  <a:rPr lang="en-US" sz="2800" dirty="0"/>
                  <a:t>.</a:t>
                </a:r>
              </a:p>
              <a:p>
                <a:pPr marL="342900" indent="-342900">
                  <a:buFont typeface="Arial" panose="020B0604020202020204" pitchFamily="34" charset="0"/>
                  <a:buChar char="•"/>
                </a:pPr>
                <a:r>
                  <a:rPr lang="en-US" sz="2800" dirty="0"/>
                  <a:t>Therefore, the output of the </a:t>
                </a:r>
                <a:r>
                  <a:rPr lang="en-US" sz="2800" dirty="0">
                    <a:solidFill>
                      <a:srgbClr val="FF0000"/>
                    </a:solidFill>
                  </a:rPr>
                  <a:t>inverting Schmitt trigger </a:t>
                </a:r>
                <a:r>
                  <a:rPr lang="en-US" sz="2800" dirty="0"/>
                  <a:t>will be a </a:t>
                </a:r>
                <a:r>
                  <a:rPr lang="en-US" sz="2800" dirty="0">
                    <a:solidFill>
                      <a:srgbClr val="FF0000"/>
                    </a:solidFill>
                  </a:rPr>
                  <a:t>logic 0</a:t>
                </a:r>
                <a:r>
                  <a:rPr lang="en-US" sz="2800" dirty="0"/>
                  <a:t>.</a:t>
                </a:r>
              </a:p>
            </p:txBody>
          </p:sp>
        </mc:Choice>
        <mc:Fallback xmlns="">
          <p:sp>
            <p:nvSpPr>
              <p:cNvPr id="10" name="Rectangle 9"/>
              <p:cNvSpPr>
                <a:spLocks noRot="1" noChangeAspect="1" noMove="1" noResize="1" noEditPoints="1" noAdjustHandles="1" noChangeArrowheads="1" noChangeShapeType="1" noTextEdit="1"/>
              </p:cNvSpPr>
              <p:nvPr/>
            </p:nvSpPr>
            <p:spPr>
              <a:xfrm>
                <a:off x="408038" y="2066546"/>
                <a:ext cx="13307962" cy="1815882"/>
              </a:xfrm>
              <a:prstGeom prst="rect">
                <a:avLst/>
              </a:prstGeom>
              <a:blipFill>
                <a:blip r:embed="rId5"/>
                <a:stretch>
                  <a:fillRect l="-962" t="-3356" b="-8389"/>
                </a:stretch>
              </a:blipFill>
            </p:spPr>
            <p:txBody>
              <a:bodyPr/>
              <a:lstStyle/>
              <a:p>
                <a:r>
                  <a:rPr lang="en-US">
                    <a:noFill/>
                  </a:rPr>
                  <a:t> </a:t>
                </a:r>
              </a:p>
            </p:txBody>
          </p:sp>
        </mc:Fallback>
      </mc:AlternateContent>
      <p:cxnSp>
        <p:nvCxnSpPr>
          <p:cNvPr id="11" name="Connector: Elbow 10">
            <a:extLst>
              <a:ext uri="{FF2B5EF4-FFF2-40B4-BE49-F238E27FC236}">
                <a16:creationId xmlns:a16="http://schemas.microsoft.com/office/drawing/2014/main" id="{597D686E-A44E-C363-E539-440E780BB4E8}"/>
              </a:ext>
            </a:extLst>
          </p:cNvPr>
          <p:cNvCxnSpPr>
            <a:cxnSpLocks/>
          </p:cNvCxnSpPr>
          <p:nvPr/>
        </p:nvCxnSpPr>
        <p:spPr>
          <a:xfrm rot="16200000" flipH="1">
            <a:off x="659100" y="4621500"/>
            <a:ext cx="2720400" cy="1600200"/>
          </a:xfrm>
          <a:prstGeom prst="bentConnector3">
            <a:avLst>
              <a:gd name="adj1" fmla="val 53306"/>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7" name="Freeform: Shape 16">
            <a:extLst>
              <a:ext uri="{FF2B5EF4-FFF2-40B4-BE49-F238E27FC236}">
                <a16:creationId xmlns:a16="http://schemas.microsoft.com/office/drawing/2014/main" id="{8B6E0230-2C9A-D167-9834-DC8BEB8F54AE}"/>
              </a:ext>
            </a:extLst>
          </p:cNvPr>
          <p:cNvSpPr/>
          <p:nvPr/>
        </p:nvSpPr>
        <p:spPr>
          <a:xfrm>
            <a:off x="5562600" y="6102246"/>
            <a:ext cx="1143000" cy="831954"/>
          </a:xfrm>
          <a:custGeom>
            <a:avLst/>
            <a:gdLst>
              <a:gd name="connsiteX0" fmla="*/ 1189853 w 1303922"/>
              <a:gd name="connsiteY0" fmla="*/ 918814 h 918814"/>
              <a:gd name="connsiteX1" fmla="*/ 1204843 w 1303922"/>
              <a:gd name="connsiteY1" fmla="*/ 139326 h 918814"/>
              <a:gd name="connsiteX2" fmla="*/ 125551 w 1303922"/>
              <a:gd name="connsiteY2" fmla="*/ 64375 h 918814"/>
              <a:gd name="connsiteX3" fmla="*/ 65591 w 1303922"/>
              <a:gd name="connsiteY3" fmla="*/ 828873 h 918814"/>
            </a:gdLst>
            <a:ahLst/>
            <a:cxnLst>
              <a:cxn ang="0">
                <a:pos x="connsiteX0" y="connsiteY0"/>
              </a:cxn>
              <a:cxn ang="0">
                <a:pos x="connsiteX1" y="connsiteY1"/>
              </a:cxn>
              <a:cxn ang="0">
                <a:pos x="connsiteX2" y="connsiteY2"/>
              </a:cxn>
              <a:cxn ang="0">
                <a:pos x="connsiteX3" y="connsiteY3"/>
              </a:cxn>
            </a:cxnLst>
            <a:rect l="l" t="t" r="r" b="b"/>
            <a:pathLst>
              <a:path w="1303922" h="918814">
                <a:moveTo>
                  <a:pt x="1189853" y="918814"/>
                </a:moveTo>
                <a:cubicBezTo>
                  <a:pt x="1286040" y="600273"/>
                  <a:pt x="1382227" y="281732"/>
                  <a:pt x="1204843" y="139326"/>
                </a:cubicBezTo>
                <a:cubicBezTo>
                  <a:pt x="1027459" y="-3080"/>
                  <a:pt x="315426" y="-50550"/>
                  <a:pt x="125551" y="64375"/>
                </a:cubicBezTo>
                <a:cubicBezTo>
                  <a:pt x="-64324" y="179299"/>
                  <a:pt x="633" y="504086"/>
                  <a:pt x="65591" y="828873"/>
                </a:cubicBezTo>
              </a:path>
            </a:pathLst>
          </a:custGeom>
          <a:noFill/>
          <a:ln w="28575">
            <a:solidFill>
              <a:srgbClr val="0070C0"/>
            </a:solidFill>
            <a:prstDash val="dash"/>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35058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up)">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additive="base">
                                        <p:cTn id="18" dur="500" fill="hold"/>
                                        <p:tgtEl>
                                          <p:spTgt spid="9"/>
                                        </p:tgtEl>
                                        <p:attrNameLst>
                                          <p:attrName>ppt_x</p:attrName>
                                        </p:attrNameLst>
                                      </p:cBhvr>
                                      <p:tavLst>
                                        <p:tav tm="0">
                                          <p:val>
                                            <p:strVal val="#ppt_x"/>
                                          </p:val>
                                        </p:tav>
                                        <p:tav tm="100000">
                                          <p:val>
                                            <p:strVal val="#ppt_x"/>
                                          </p:val>
                                        </p:tav>
                                      </p:tavLst>
                                    </p:anim>
                                    <p:anim calcmode="lin" valueType="num">
                                      <p:cBhvr additive="base">
                                        <p:cTn id="19"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2"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wipe(right)">
                                      <p:cBhvr>
                                        <p:cTn id="2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554" y="391160"/>
            <a:ext cx="13167360" cy="1132840"/>
          </a:xfrm>
        </p:spPr>
        <p:txBody>
          <a:bodyPr>
            <a:normAutofit/>
          </a:bodyPr>
          <a:lstStyle/>
          <a:p>
            <a:r>
              <a:rPr lang="en-US" sz="5400" b="1" dirty="0"/>
              <a:t>Hardware Debouncing Circuit Design</a:t>
            </a:r>
          </a:p>
        </p:txBody>
      </p:sp>
      <p:sp>
        <p:nvSpPr>
          <p:cNvPr id="3" name="Content Placeholder 2"/>
          <p:cNvSpPr>
            <a:spLocks noGrp="1"/>
          </p:cNvSpPr>
          <p:nvPr>
            <p:ph idx="1"/>
          </p:nvPr>
        </p:nvSpPr>
        <p:spPr>
          <a:xfrm>
            <a:off x="253181" y="1301700"/>
            <a:ext cx="14148619" cy="6079540"/>
          </a:xfrm>
        </p:spPr>
        <p:txBody>
          <a:bodyPr>
            <a:noAutofit/>
          </a:bodyPr>
          <a:lstStyle/>
          <a:p>
            <a:pPr marL="124355" indent="0" algn="just">
              <a:spcBef>
                <a:spcPts val="0"/>
              </a:spcBef>
              <a:buNone/>
            </a:pPr>
            <a:r>
              <a:rPr lang="en-US" sz="3200" dirty="0">
                <a:solidFill>
                  <a:srgbClr val="FF0000"/>
                </a:solidFill>
                <a:cs typeface="Arial" panose="020B0604020202020204" pitchFamily="34" charset="0"/>
              </a:rPr>
              <a:t>What happens when the bounce occurs?</a:t>
            </a:r>
          </a:p>
          <a:p>
            <a:pPr marL="124355" indent="0">
              <a:spcBef>
                <a:spcPts val="0"/>
              </a:spcBef>
              <a:spcAft>
                <a:spcPts val="1200"/>
              </a:spcAft>
              <a:buNone/>
            </a:pPr>
            <a:r>
              <a:rPr lang="en-US" sz="3200" dirty="0">
                <a:cs typeface="Arial" panose="020B0604020202020204" pitchFamily="34" charset="0"/>
              </a:rPr>
              <a:t>If bounce occurs and there are short periods of switch closure or opening, the capacitor will stop the voltage at </a:t>
            </a:r>
            <a:r>
              <a:rPr lang="en-US" sz="3200" i="1" dirty="0" err="1">
                <a:cs typeface="Arial" panose="020B0604020202020204" pitchFamily="34" charset="0"/>
              </a:rPr>
              <a:t>V</a:t>
            </a:r>
            <a:r>
              <a:rPr lang="en-US" sz="3200" i="1" baseline="-25000" dirty="0" err="1">
                <a:cs typeface="Arial" panose="020B0604020202020204" pitchFamily="34" charset="0"/>
              </a:rPr>
              <a:t>b</a:t>
            </a:r>
            <a:r>
              <a:rPr lang="en-US" sz="3200" dirty="0">
                <a:cs typeface="Arial" panose="020B0604020202020204" pitchFamily="34" charset="0"/>
              </a:rPr>
              <a:t> from immediately reaching </a:t>
            </a:r>
            <a:r>
              <a:rPr lang="en-US" sz="3200" i="1" dirty="0" err="1">
                <a:cs typeface="Arial" panose="020B0604020202020204" pitchFamily="34" charset="0"/>
              </a:rPr>
              <a:t>V</a:t>
            </a:r>
            <a:r>
              <a:rPr lang="en-US" sz="3200" i="1" baseline="-25000" dirty="0" err="1">
                <a:cs typeface="Arial" panose="020B0604020202020204" pitchFamily="34" charset="0"/>
              </a:rPr>
              <a:t>cc</a:t>
            </a:r>
            <a:r>
              <a:rPr lang="en-US" sz="3200" dirty="0">
                <a:cs typeface="Arial" panose="020B0604020202020204" pitchFamily="34" charset="0"/>
              </a:rPr>
              <a:t> or GND. Although bouncing causes slight charging and discharging of the capacitor, the hysteresis of the Schmitt trigger input stops the output from switching.</a:t>
            </a:r>
          </a:p>
          <a:p>
            <a:pPr marL="124355" indent="0" algn="just">
              <a:spcBef>
                <a:spcPts val="0"/>
              </a:spcBef>
              <a:buNone/>
            </a:pPr>
            <a:r>
              <a:rPr lang="en-US" sz="3200" dirty="0">
                <a:solidFill>
                  <a:srgbClr val="FF0000"/>
                </a:solidFill>
                <a:cs typeface="Arial" panose="020B0604020202020204" pitchFamily="34" charset="0"/>
              </a:rPr>
              <a:t>Why is a diode used?</a:t>
            </a:r>
          </a:p>
          <a:p>
            <a:pPr marL="124355" indent="0">
              <a:spcBef>
                <a:spcPts val="0"/>
              </a:spcBef>
              <a:buNone/>
            </a:pPr>
            <a:r>
              <a:rPr lang="en-US" sz="3200" dirty="0">
                <a:cs typeface="Arial" panose="020B0604020202020204" pitchFamily="34" charset="0"/>
              </a:rPr>
              <a:t>The resistor </a:t>
            </a:r>
            <a:r>
              <a:rPr lang="en-US" sz="3200" i="1" dirty="0">
                <a:cs typeface="Arial" panose="020B0604020202020204" pitchFamily="34" charset="0"/>
              </a:rPr>
              <a:t>R</a:t>
            </a:r>
            <a:r>
              <a:rPr lang="en-US" sz="3200" baseline="-25000" dirty="0">
                <a:cs typeface="Arial" panose="020B0604020202020204" pitchFamily="34" charset="0"/>
              </a:rPr>
              <a:t>2</a:t>
            </a:r>
            <a:r>
              <a:rPr lang="en-US" sz="3200" dirty="0">
                <a:cs typeface="Arial" panose="020B0604020202020204" pitchFamily="34" charset="0"/>
              </a:rPr>
              <a:t> is required as a discharge path for the capacitor. Without it, </a:t>
            </a:r>
            <a:r>
              <a:rPr lang="en-US" sz="3200" i="1" dirty="0">
                <a:cs typeface="Arial" panose="020B0604020202020204" pitchFamily="34" charset="0"/>
              </a:rPr>
              <a:t>C</a:t>
            </a:r>
            <a:r>
              <a:rPr lang="en-US" sz="3200" baseline="-25000" dirty="0">
                <a:cs typeface="Arial" panose="020B0604020202020204" pitchFamily="34" charset="0"/>
              </a:rPr>
              <a:t>1</a:t>
            </a:r>
            <a:r>
              <a:rPr lang="en-US" sz="3200" dirty="0">
                <a:cs typeface="Arial" panose="020B0604020202020204" pitchFamily="34" charset="0"/>
              </a:rPr>
              <a:t> will be shorted when the switch is closed. Without the diode, </a:t>
            </a:r>
            <a:r>
              <a:rPr lang="en-US" sz="3200" i="1" dirty="0">
                <a:cs typeface="Arial" panose="020B0604020202020204" pitchFamily="34" charset="0"/>
              </a:rPr>
              <a:t>D</a:t>
            </a:r>
            <a:r>
              <a:rPr lang="en-US" sz="3200" baseline="-25000" dirty="0">
                <a:cs typeface="Arial" panose="020B0604020202020204" pitchFamily="34" charset="0"/>
              </a:rPr>
              <a:t>1</a:t>
            </a:r>
            <a:r>
              <a:rPr lang="en-US" sz="3200" dirty="0">
                <a:cs typeface="Arial" panose="020B0604020202020204" pitchFamily="34" charset="0"/>
              </a:rPr>
              <a:t>, both </a:t>
            </a:r>
            <a:r>
              <a:rPr lang="en-US" sz="3200" i="1" dirty="0">
                <a:cs typeface="Arial" panose="020B0604020202020204" pitchFamily="34" charset="0"/>
              </a:rPr>
              <a:t>R</a:t>
            </a:r>
            <a:r>
              <a:rPr lang="en-US" sz="3200" baseline="-25000" dirty="0">
                <a:cs typeface="Arial" panose="020B0604020202020204" pitchFamily="34" charset="0"/>
              </a:rPr>
              <a:t>1</a:t>
            </a:r>
            <a:r>
              <a:rPr lang="en-US" sz="3200" i="1" dirty="0">
                <a:cs typeface="Arial" panose="020B0604020202020204" pitchFamily="34" charset="0"/>
              </a:rPr>
              <a:t> </a:t>
            </a:r>
            <a:r>
              <a:rPr lang="en-US" sz="3200" dirty="0">
                <a:cs typeface="Arial" panose="020B0604020202020204" pitchFamily="34" charset="0"/>
              </a:rPr>
              <a:t>and </a:t>
            </a:r>
            <a:r>
              <a:rPr lang="en-US" sz="3200" i="1" dirty="0">
                <a:cs typeface="Arial" panose="020B0604020202020204" pitchFamily="34" charset="0"/>
              </a:rPr>
              <a:t>R</a:t>
            </a:r>
            <a:r>
              <a:rPr lang="en-US" sz="3200" baseline="-25000" dirty="0">
                <a:cs typeface="Arial" panose="020B0604020202020204" pitchFamily="34" charset="0"/>
              </a:rPr>
              <a:t>2</a:t>
            </a:r>
            <a:r>
              <a:rPr lang="en-US" sz="3200" dirty="0">
                <a:cs typeface="Arial" panose="020B0604020202020204" pitchFamily="34" charset="0"/>
              </a:rPr>
              <a:t> would form the capacitor’s charging path when the switch is open. The combination of </a:t>
            </a:r>
            <a:r>
              <a:rPr lang="en-US" sz="3200" i="1" dirty="0">
                <a:cs typeface="Arial" panose="020B0604020202020204" pitchFamily="34" charset="0"/>
              </a:rPr>
              <a:t>R</a:t>
            </a:r>
            <a:r>
              <a:rPr lang="en-US" sz="3200" baseline="-25000" dirty="0">
                <a:cs typeface="Arial" panose="020B0604020202020204" pitchFamily="34" charset="0"/>
              </a:rPr>
              <a:t>1</a:t>
            </a:r>
            <a:r>
              <a:rPr lang="en-US" sz="3200" dirty="0">
                <a:cs typeface="Arial" panose="020B0604020202020204" pitchFamily="34" charset="0"/>
              </a:rPr>
              <a:t> and </a:t>
            </a:r>
            <a:r>
              <a:rPr lang="en-US" sz="3200" i="1" dirty="0">
                <a:cs typeface="Arial" panose="020B0604020202020204" pitchFamily="34" charset="0"/>
              </a:rPr>
              <a:t>R</a:t>
            </a:r>
            <a:r>
              <a:rPr lang="en-US" sz="3200" baseline="-25000" dirty="0">
                <a:cs typeface="Arial" panose="020B0604020202020204" pitchFamily="34" charset="0"/>
              </a:rPr>
              <a:t>2</a:t>
            </a:r>
            <a:r>
              <a:rPr lang="en-US" sz="3200" dirty="0">
                <a:cs typeface="Arial" panose="020B0604020202020204" pitchFamily="34" charset="0"/>
              </a:rPr>
              <a:t> increases the capacitor’s charging time and thus slows down the circuit. With a diode, when the switch is closed, </a:t>
            </a:r>
            <a:r>
              <a:rPr lang="en-US" sz="3200" i="1" dirty="0">
                <a:cs typeface="Arial" panose="020B0604020202020204" pitchFamily="34" charset="0"/>
              </a:rPr>
              <a:t>R</a:t>
            </a:r>
            <a:r>
              <a:rPr lang="en-US" sz="3200" baseline="-25000" dirty="0">
                <a:cs typeface="Arial" panose="020B0604020202020204" pitchFamily="34" charset="0"/>
              </a:rPr>
              <a:t>1</a:t>
            </a:r>
            <a:r>
              <a:rPr lang="en-US" sz="3200" i="1" dirty="0">
                <a:cs typeface="Arial" panose="020B0604020202020204" pitchFamily="34" charset="0"/>
              </a:rPr>
              <a:t> </a:t>
            </a:r>
            <a:r>
              <a:rPr lang="en-US" sz="3200" dirty="0">
                <a:cs typeface="Arial" panose="020B0604020202020204" pitchFamily="34" charset="0"/>
              </a:rPr>
              <a:t>limits the current flow, and the diode bypasses R2 as it is forward biased.</a:t>
            </a:r>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sp>
        <p:nvSpPr>
          <p:cNvPr id="7" name="Date Placeholder 6"/>
          <p:cNvSpPr>
            <a:spLocks noGrp="1"/>
          </p:cNvSpPr>
          <p:nvPr>
            <p:ph type="dt" sz="half" idx="10"/>
          </p:nvPr>
        </p:nvSpPr>
        <p:spPr/>
        <p:txBody>
          <a:bodyPr/>
          <a:lstStyle/>
          <a:p>
            <a:fld id="{386C4CD3-1055-4803-8131-20120CCD2DA4}" type="datetime3">
              <a:rPr lang="en-US" smtClean="0"/>
              <a:t>15 June 2026</a:t>
            </a:fld>
            <a:endParaRPr lang="en-US"/>
          </a:p>
        </p:txBody>
      </p:sp>
    </p:spTree>
    <p:extLst>
      <p:ext uri="{BB962C8B-B14F-4D97-AF65-F5344CB8AC3E}">
        <p14:creationId xmlns:p14="http://schemas.microsoft.com/office/powerpoint/2010/main" val="6180645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554" y="391160"/>
            <a:ext cx="13167360" cy="1132840"/>
          </a:xfrm>
        </p:spPr>
        <p:txBody>
          <a:bodyPr>
            <a:normAutofit/>
          </a:bodyPr>
          <a:lstStyle/>
          <a:p>
            <a:r>
              <a:rPr lang="en-US" sz="5400" b="1" dirty="0"/>
              <a:t>Hardware Debouncing Circuit Design</a:t>
            </a:r>
          </a:p>
        </p:txBody>
      </p:sp>
      <p:sp>
        <p:nvSpPr>
          <p:cNvPr id="3" name="Content Placeholder 2"/>
          <p:cNvSpPr>
            <a:spLocks noGrp="1"/>
          </p:cNvSpPr>
          <p:nvPr>
            <p:ph idx="1"/>
          </p:nvPr>
        </p:nvSpPr>
        <p:spPr>
          <a:xfrm>
            <a:off x="253181" y="1371600"/>
            <a:ext cx="14148619" cy="4720956"/>
          </a:xfrm>
        </p:spPr>
        <p:txBody>
          <a:bodyPr lIns="0" rIns="0">
            <a:noAutofit/>
          </a:bodyPr>
          <a:lstStyle/>
          <a:p>
            <a:pPr marL="124355" indent="0" algn="just">
              <a:spcBef>
                <a:spcPts val="0"/>
              </a:spcBef>
              <a:spcAft>
                <a:spcPts val="1200"/>
              </a:spcAft>
              <a:buNone/>
            </a:pPr>
            <a:r>
              <a:rPr lang="en-US" sz="3200" dirty="0">
                <a:cs typeface="Arial" panose="020B0604020202020204" pitchFamily="34" charset="0"/>
              </a:rPr>
              <a:t>The </a:t>
            </a:r>
            <a:r>
              <a:rPr lang="en-US" sz="3200" b="1" dirty="0">
                <a:solidFill>
                  <a:srgbClr val="FF0000"/>
                </a:solidFill>
                <a:cs typeface="Arial" panose="020B0604020202020204" pitchFamily="34" charset="0"/>
              </a:rPr>
              <a:t>goal of the debouncing circuit design is to select </a:t>
            </a:r>
            <a:r>
              <a:rPr lang="en-US" sz="3200" b="1" i="1" dirty="0">
                <a:solidFill>
                  <a:srgbClr val="FF0000"/>
                </a:solidFill>
                <a:cs typeface="Arial" panose="020B0604020202020204" pitchFamily="34" charset="0"/>
              </a:rPr>
              <a:t>R-C</a:t>
            </a:r>
            <a:r>
              <a:rPr lang="en-US" sz="3200" b="1" dirty="0">
                <a:solidFill>
                  <a:srgbClr val="FF0000"/>
                </a:solidFill>
                <a:cs typeface="Arial" panose="020B0604020202020204" pitchFamily="34" charset="0"/>
              </a:rPr>
              <a:t> values </a:t>
            </a:r>
            <a:r>
              <a:rPr lang="en-US" sz="3200" dirty="0">
                <a:cs typeface="Arial" panose="020B0604020202020204" pitchFamily="34" charset="0"/>
              </a:rPr>
              <a:t>that ensure the capacitor’s voltage stays above the threshold voltage, </a:t>
            </a:r>
            <a:r>
              <a:rPr lang="en-US" sz="3200" i="1" dirty="0">
                <a:cs typeface="Arial" panose="020B0604020202020204" pitchFamily="34" charset="0"/>
              </a:rPr>
              <a:t>V</a:t>
            </a:r>
            <a:r>
              <a:rPr lang="en-US" sz="3200" i="1" baseline="-25000" dirty="0">
                <a:cs typeface="Arial" panose="020B0604020202020204" pitchFamily="34" charset="0"/>
              </a:rPr>
              <a:t>th</a:t>
            </a:r>
            <a:r>
              <a:rPr lang="en-US" sz="3200" dirty="0">
                <a:cs typeface="Arial" panose="020B0604020202020204" pitchFamily="34" charset="0"/>
              </a:rPr>
              <a:t> </a:t>
            </a:r>
            <a:r>
              <a:rPr lang="en-US" sz="3200" dirty="0">
                <a:solidFill>
                  <a:srgbClr val="002060"/>
                </a:solidFill>
                <a:cs typeface="Arial" panose="020B0604020202020204" pitchFamily="34" charset="0"/>
              </a:rPr>
              <a:t>around which the signal switches till the switch stops bouncing</a:t>
            </a:r>
            <a:r>
              <a:rPr lang="en-US" sz="3200" dirty="0">
                <a:cs typeface="Arial" panose="020B0604020202020204" pitchFamily="34" charset="0"/>
              </a:rPr>
              <a:t>. </a:t>
            </a:r>
          </a:p>
          <a:p>
            <a:pPr marL="124355" indent="0" algn="just">
              <a:spcBef>
                <a:spcPts val="0"/>
              </a:spcBef>
              <a:buNone/>
            </a:pPr>
            <a:r>
              <a:rPr lang="en-US" sz="3200" dirty="0">
                <a:cs typeface="Arial" panose="020B0604020202020204" pitchFamily="34" charset="0"/>
              </a:rPr>
              <a:t>Most of the switches exhibit </a:t>
            </a:r>
            <a:r>
              <a:rPr lang="en-US" sz="3200" b="1" dirty="0">
                <a:solidFill>
                  <a:srgbClr val="7030A0"/>
                </a:solidFill>
                <a:cs typeface="Arial" panose="020B0604020202020204" pitchFamily="34" charset="0"/>
              </a:rPr>
              <a:t>bounce times well under 10 </a:t>
            </a:r>
            <a:r>
              <a:rPr lang="en-US" sz="3200" b="1" dirty="0" err="1">
                <a:solidFill>
                  <a:srgbClr val="7030A0"/>
                </a:solidFill>
                <a:cs typeface="Arial" panose="020B0604020202020204" pitchFamily="34" charset="0"/>
              </a:rPr>
              <a:t>ms</a:t>
            </a:r>
            <a:r>
              <a:rPr lang="en-US" sz="3200" dirty="0">
                <a:cs typeface="Arial" panose="020B0604020202020204" pitchFamily="34" charset="0"/>
              </a:rPr>
              <a:t>, making the use of this value a </a:t>
            </a:r>
            <a:r>
              <a:rPr lang="en-US" sz="3200" b="1" dirty="0">
                <a:solidFill>
                  <a:srgbClr val="FF0000"/>
                </a:solidFill>
                <a:cs typeface="Arial" panose="020B0604020202020204" pitchFamily="34" charset="0"/>
              </a:rPr>
              <a:t>conservative choice</a:t>
            </a:r>
            <a:r>
              <a:rPr lang="en-US" sz="3200" dirty="0">
                <a:cs typeface="Arial" panose="020B0604020202020204" pitchFamily="34" charset="0"/>
              </a:rPr>
              <a:t>.</a:t>
            </a:r>
          </a:p>
          <a:p>
            <a:pPr marL="124355" indent="0" algn="just">
              <a:spcBef>
                <a:spcPts val="0"/>
              </a:spcBef>
              <a:buNone/>
            </a:pPr>
            <a:r>
              <a:rPr lang="en-US" sz="3200" dirty="0">
                <a:cs typeface="Arial" panose="020B0604020202020204" pitchFamily="34" charset="0"/>
              </a:rPr>
              <a:t>To calculate the </a:t>
            </a:r>
            <a:r>
              <a:rPr lang="en-US" sz="3200" i="1" dirty="0">
                <a:cs typeface="Arial" panose="020B0604020202020204" pitchFamily="34" charset="0"/>
              </a:rPr>
              <a:t>R-C</a:t>
            </a:r>
            <a:r>
              <a:rPr lang="en-US" sz="3200" dirty="0">
                <a:cs typeface="Arial" panose="020B0604020202020204" pitchFamily="34" charset="0"/>
              </a:rPr>
              <a:t> values considering this bounce time, we rearrange the </a:t>
            </a:r>
            <a:r>
              <a:rPr lang="en-US" sz="3200" b="1" dirty="0">
                <a:solidFill>
                  <a:srgbClr val="0070C0"/>
                </a:solidFill>
                <a:cs typeface="Arial" panose="020B0604020202020204" pitchFamily="34" charset="0"/>
              </a:rPr>
              <a:t>capacitor’s charging-discharging formula</a:t>
            </a:r>
            <a:r>
              <a:rPr lang="en-US" sz="3200" dirty="0">
                <a:cs typeface="Arial" panose="020B0604020202020204" pitchFamily="34" charset="0"/>
              </a:rPr>
              <a:t> as follows to solve for </a:t>
            </a:r>
            <a:r>
              <a:rPr lang="en-US" sz="3200" i="1" dirty="0">
                <a:cs typeface="Arial" panose="020B0604020202020204" pitchFamily="34" charset="0"/>
              </a:rPr>
              <a:t>R</a:t>
            </a:r>
            <a:r>
              <a:rPr lang="en-US" sz="3200" dirty="0">
                <a:cs typeface="Arial" panose="020B0604020202020204" pitchFamily="34" charset="0"/>
              </a:rPr>
              <a:t> (</a:t>
            </a:r>
            <a:r>
              <a:rPr lang="en-US" sz="3200" dirty="0">
                <a:solidFill>
                  <a:srgbClr val="FF0000"/>
                </a:solidFill>
                <a:cs typeface="Arial" panose="020B0604020202020204" pitchFamily="34" charset="0"/>
              </a:rPr>
              <a:t>the cost and size of capacitors vary widely, so it is the best option to select a value for </a:t>
            </a:r>
            <a:r>
              <a:rPr lang="en-US" sz="3200" i="1" dirty="0">
                <a:solidFill>
                  <a:srgbClr val="FF0000"/>
                </a:solidFill>
                <a:cs typeface="Arial" panose="020B0604020202020204" pitchFamily="34" charset="0"/>
              </a:rPr>
              <a:t>C</a:t>
            </a:r>
            <a:r>
              <a:rPr lang="en-US" sz="3200" dirty="0">
                <a:solidFill>
                  <a:srgbClr val="FF0000"/>
                </a:solidFill>
                <a:cs typeface="Arial" panose="020B0604020202020204" pitchFamily="34" charset="0"/>
              </a:rPr>
              <a:t> arbitrarily and then compute </a:t>
            </a:r>
            <a:r>
              <a:rPr lang="en-US" sz="3200" i="1" dirty="0">
                <a:solidFill>
                  <a:srgbClr val="FF0000"/>
                </a:solidFill>
                <a:cs typeface="Arial" panose="020B0604020202020204" pitchFamily="34" charset="0"/>
              </a:rPr>
              <a:t>R</a:t>
            </a:r>
            <a:r>
              <a:rPr lang="en-US" sz="3200" dirty="0">
                <a:cs typeface="Arial" panose="020B0604020202020204" pitchFamily="34" charset="0"/>
              </a:rPr>
              <a:t>)</a:t>
            </a:r>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sp>
        <p:nvSpPr>
          <p:cNvPr id="7" name="Date Placeholder 6"/>
          <p:cNvSpPr>
            <a:spLocks noGrp="1"/>
          </p:cNvSpPr>
          <p:nvPr>
            <p:ph type="dt" sz="half" idx="10"/>
          </p:nvPr>
        </p:nvSpPr>
        <p:spPr/>
        <p:txBody>
          <a:bodyPr/>
          <a:lstStyle/>
          <a:p>
            <a:fld id="{386C4CD3-1055-4803-8131-20120CCD2DA4}" type="datetime3">
              <a:rPr lang="en-US" smtClean="0"/>
              <a:t>15 June 2026</a:t>
            </a:fld>
            <a:endParaRPr lang="en-US"/>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A40B0B6-796D-D8A8-7FA0-52BD5B9A4E38}"/>
                  </a:ext>
                </a:extLst>
              </p:cNvPr>
              <p:cNvSpPr txBox="1"/>
              <p:nvPr/>
            </p:nvSpPr>
            <p:spPr>
              <a:xfrm>
                <a:off x="11216110" y="6263641"/>
                <a:ext cx="2576090" cy="128015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70C0"/>
                          </a:solidFill>
                          <a:latin typeface="Cambria Math" panose="02040503050406030204" pitchFamily="18" charset="0"/>
                        </a:rPr>
                        <m:t>𝑅</m:t>
                      </m:r>
                      <m:r>
                        <a:rPr lang="en-US" sz="2800" b="0" i="1" smtClean="0">
                          <a:solidFill>
                            <a:srgbClr val="0070C0"/>
                          </a:solidFill>
                          <a:latin typeface="Cambria Math" panose="02040503050406030204" pitchFamily="18" charset="0"/>
                        </a:rPr>
                        <m:t>=−</m:t>
                      </m:r>
                      <m:f>
                        <m:fPr>
                          <m:ctrlPr>
                            <a:rPr lang="en-US" sz="2800" b="0" i="1" smtClean="0">
                              <a:solidFill>
                                <a:srgbClr val="0070C0"/>
                              </a:solidFill>
                              <a:latin typeface="Cambria Math" panose="02040503050406030204" pitchFamily="18" charset="0"/>
                            </a:rPr>
                          </m:ctrlPr>
                        </m:fPr>
                        <m:num>
                          <m:r>
                            <a:rPr lang="en-US" sz="2800" b="0" i="1" smtClean="0">
                              <a:solidFill>
                                <a:srgbClr val="0070C0"/>
                              </a:solidFill>
                              <a:latin typeface="Cambria Math" panose="02040503050406030204" pitchFamily="18" charset="0"/>
                            </a:rPr>
                            <m:t>𝑡</m:t>
                          </m:r>
                        </m:num>
                        <m:den>
                          <m:r>
                            <a:rPr lang="en-US" sz="2800" b="0" i="1" smtClean="0">
                              <a:solidFill>
                                <a:srgbClr val="0070C0"/>
                              </a:solidFill>
                              <a:latin typeface="Cambria Math" panose="02040503050406030204" pitchFamily="18" charset="0"/>
                            </a:rPr>
                            <m:t>𝐶𝑙𝑛</m:t>
                          </m:r>
                          <m:f>
                            <m:fPr>
                              <m:ctrlPr>
                                <a:rPr lang="en-US" sz="2800" b="0" i="1" smtClean="0">
                                  <a:solidFill>
                                    <a:srgbClr val="0070C0"/>
                                  </a:solidFill>
                                  <a:latin typeface="Cambria Math" panose="02040503050406030204" pitchFamily="18" charset="0"/>
                                </a:rPr>
                              </m:ctrlPr>
                            </m:fPr>
                            <m:num>
                              <m:sSub>
                                <m:sSubPr>
                                  <m:ctrlPr>
                                    <a:rPr lang="en-US" sz="2800" i="1">
                                      <a:solidFill>
                                        <a:srgbClr val="0070C0"/>
                                      </a:solidFill>
                                      <a:latin typeface="Cambria Math" panose="02040503050406030204" pitchFamily="18" charset="0"/>
                                    </a:rPr>
                                  </m:ctrlPr>
                                </m:sSubPr>
                                <m:e>
                                  <m:r>
                                    <a:rPr lang="en-US" sz="2800" i="1">
                                      <a:solidFill>
                                        <a:srgbClr val="0070C0"/>
                                      </a:solidFill>
                                      <a:latin typeface="Cambria Math" panose="02040503050406030204" pitchFamily="18" charset="0"/>
                                    </a:rPr>
                                    <m:t>𝑉</m:t>
                                  </m:r>
                                </m:e>
                                <m:sub>
                                  <m:r>
                                    <a:rPr lang="en-US" sz="2800" i="1">
                                      <a:solidFill>
                                        <a:srgbClr val="0070C0"/>
                                      </a:solidFill>
                                      <a:latin typeface="Cambria Math" panose="02040503050406030204" pitchFamily="18" charset="0"/>
                                    </a:rPr>
                                    <m:t>𝑡h</m:t>
                                  </m:r>
                                  <m:r>
                                    <a:rPr lang="en-US" sz="2800" b="0" i="1" smtClean="0">
                                      <a:solidFill>
                                        <a:srgbClr val="0070C0"/>
                                      </a:solidFill>
                                      <a:latin typeface="Cambria Math" panose="02040503050406030204" pitchFamily="18" charset="0"/>
                                    </a:rPr>
                                    <m:t>,</m:t>
                                  </m:r>
                                  <m:r>
                                    <a:rPr lang="en-US" sz="2800" b="0" i="1" smtClean="0">
                                      <a:solidFill>
                                        <a:srgbClr val="0070C0"/>
                                      </a:solidFill>
                                      <a:latin typeface="Cambria Math" panose="02040503050406030204" pitchFamily="18" charset="0"/>
                                    </a:rPr>
                                    <m:t>𝐿</m:t>
                                  </m:r>
                                </m:sub>
                              </m:sSub>
                            </m:num>
                            <m:den>
                              <m:sSub>
                                <m:sSubPr>
                                  <m:ctrlPr>
                                    <a:rPr lang="en-US" sz="2800" i="1">
                                      <a:solidFill>
                                        <a:srgbClr val="0070C0"/>
                                      </a:solidFill>
                                      <a:latin typeface="Cambria Math" panose="02040503050406030204" pitchFamily="18" charset="0"/>
                                    </a:rPr>
                                  </m:ctrlPr>
                                </m:sSubPr>
                                <m:e>
                                  <m:r>
                                    <a:rPr lang="en-US" sz="2800" i="1">
                                      <a:solidFill>
                                        <a:srgbClr val="0070C0"/>
                                      </a:solidFill>
                                      <a:latin typeface="Cambria Math" panose="02040503050406030204" pitchFamily="18" charset="0"/>
                                    </a:rPr>
                                    <m:t>𝑉</m:t>
                                  </m:r>
                                </m:e>
                                <m:sub>
                                  <m:r>
                                    <a:rPr lang="en-US" sz="2800" i="1">
                                      <a:solidFill>
                                        <a:srgbClr val="0070C0"/>
                                      </a:solidFill>
                                      <a:latin typeface="Cambria Math" panose="02040503050406030204" pitchFamily="18" charset="0"/>
                                    </a:rPr>
                                    <m:t>𝑓𝑖𝑛𝑎𝑙</m:t>
                                  </m:r>
                                </m:sub>
                              </m:sSub>
                            </m:den>
                          </m:f>
                        </m:den>
                      </m:f>
                    </m:oMath>
                  </m:oMathPara>
                </a14:m>
                <a:endParaRPr lang="en-US" sz="2800" dirty="0">
                  <a:solidFill>
                    <a:srgbClr val="0070C0"/>
                  </a:solidFill>
                </a:endParaRPr>
              </a:p>
            </p:txBody>
          </p:sp>
        </mc:Choice>
        <mc:Fallback xmlns="">
          <p:sp>
            <p:nvSpPr>
              <p:cNvPr id="10" name="TextBox 9">
                <a:extLst>
                  <a:ext uri="{FF2B5EF4-FFF2-40B4-BE49-F238E27FC236}">
                    <a16:creationId xmlns:a16="http://schemas.microsoft.com/office/drawing/2014/main" id="{3A40B0B6-796D-D8A8-7FA0-52BD5B9A4E38}"/>
                  </a:ext>
                </a:extLst>
              </p:cNvPr>
              <p:cNvSpPr txBox="1">
                <a:spLocks noRot="1" noChangeAspect="1" noMove="1" noResize="1" noEditPoints="1" noAdjustHandles="1" noChangeArrowheads="1" noChangeShapeType="1" noTextEdit="1"/>
              </p:cNvSpPr>
              <p:nvPr/>
            </p:nvSpPr>
            <p:spPr>
              <a:xfrm>
                <a:off x="11216110" y="6263641"/>
                <a:ext cx="2576090" cy="1280159"/>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5EF9964-4910-CBBB-D333-B619B5B97A32}"/>
                  </a:ext>
                </a:extLst>
              </p:cNvPr>
              <p:cNvSpPr txBox="1"/>
              <p:nvPr/>
            </p:nvSpPr>
            <p:spPr>
              <a:xfrm>
                <a:off x="8845279" y="5562600"/>
                <a:ext cx="5556521" cy="645754"/>
              </a:xfrm>
              <a:prstGeom prst="rect">
                <a:avLst/>
              </a:prstGeom>
              <a:noFill/>
            </p:spPr>
            <p:txBody>
              <a:bodyPr wrap="square" lIns="0" tIns="0" rIns="0" bIns="0" rtlCol="0">
                <a:spAutoFit/>
              </a:bodyPr>
              <a:lstStyle/>
              <a:p>
                <a:pPr/>
                <a14:m>
                  <m:oMathPara xmlns:m="http://schemas.openxmlformats.org/officeDocument/2006/math">
                    <m:oMathParaPr>
                      <m:jc m:val="right"/>
                    </m:oMathParaPr>
                    <m:oMath xmlns:m="http://schemas.openxmlformats.org/officeDocument/2006/math">
                      <m:sSub>
                        <m:sSubPr>
                          <m:ctrlPr>
                            <a:rPr lang="en-US" sz="3600" i="1" smtClean="0">
                              <a:solidFill>
                                <a:srgbClr val="0070C0"/>
                              </a:solidFill>
                              <a:latin typeface="Cambria Math" panose="02040503050406030204" pitchFamily="18" charset="0"/>
                            </a:rPr>
                          </m:ctrlPr>
                        </m:sSubPr>
                        <m:e>
                          <m:r>
                            <a:rPr lang="en-US" sz="3600" i="1">
                              <a:solidFill>
                                <a:srgbClr val="0070C0"/>
                              </a:solidFill>
                              <a:latin typeface="Cambria Math" panose="02040503050406030204" pitchFamily="18" charset="0"/>
                            </a:rPr>
                            <m:t>𝑣</m:t>
                          </m:r>
                        </m:e>
                        <m:sub>
                          <m:r>
                            <a:rPr lang="en-US" sz="3600" b="0" i="1" smtClean="0">
                              <a:solidFill>
                                <a:srgbClr val="0070C0"/>
                              </a:solidFill>
                              <a:latin typeface="Cambria Math" panose="02040503050406030204" pitchFamily="18" charset="0"/>
                            </a:rPr>
                            <m:t>𝑐</m:t>
                          </m:r>
                        </m:sub>
                      </m:sSub>
                      <m:r>
                        <a:rPr lang="en-US" sz="3600" i="1">
                          <a:solidFill>
                            <a:srgbClr val="0070C0"/>
                          </a:solidFill>
                          <a:latin typeface="Cambria Math" panose="02040503050406030204" pitchFamily="18" charset="0"/>
                        </a:rPr>
                        <m:t>=</m:t>
                      </m:r>
                      <m:sSub>
                        <m:sSubPr>
                          <m:ctrlPr>
                            <a:rPr lang="en-US" sz="3600" i="1" smtClean="0">
                              <a:solidFill>
                                <a:srgbClr val="0070C0"/>
                              </a:solidFill>
                              <a:latin typeface="Cambria Math" panose="02040503050406030204" pitchFamily="18" charset="0"/>
                            </a:rPr>
                          </m:ctrlPr>
                        </m:sSubPr>
                        <m:e>
                          <m:r>
                            <a:rPr lang="en-US" sz="3600" b="0" i="1" smtClean="0">
                              <a:solidFill>
                                <a:srgbClr val="0070C0"/>
                              </a:solidFill>
                              <a:latin typeface="Cambria Math" panose="02040503050406030204" pitchFamily="18" charset="0"/>
                            </a:rPr>
                            <m:t>𝑣</m:t>
                          </m:r>
                        </m:e>
                        <m:sub>
                          <m:r>
                            <a:rPr lang="en-US" sz="3600" b="0" i="1" smtClean="0">
                              <a:solidFill>
                                <a:srgbClr val="0070C0"/>
                              </a:solidFill>
                              <a:latin typeface="Cambria Math" panose="02040503050406030204" pitchFamily="18" charset="0"/>
                            </a:rPr>
                            <m:t>𝑡h</m:t>
                          </m:r>
                          <m:r>
                            <a:rPr lang="en-US" sz="3600" b="0" i="1" smtClean="0">
                              <a:solidFill>
                                <a:srgbClr val="0070C0"/>
                              </a:solidFill>
                              <a:latin typeface="Cambria Math" panose="02040503050406030204" pitchFamily="18" charset="0"/>
                            </a:rPr>
                            <m:t>,</m:t>
                          </m:r>
                          <m:r>
                            <a:rPr lang="en-US" sz="3600" b="0" i="1" smtClean="0">
                              <a:solidFill>
                                <a:srgbClr val="0070C0"/>
                              </a:solidFill>
                              <a:latin typeface="Cambria Math" panose="02040503050406030204" pitchFamily="18" charset="0"/>
                            </a:rPr>
                            <m:t>𝐿</m:t>
                          </m:r>
                        </m:sub>
                      </m:sSub>
                      <m:r>
                        <a:rPr lang="en-US" sz="3600" b="0" i="1" smtClean="0">
                          <a:solidFill>
                            <a:srgbClr val="0070C0"/>
                          </a:solidFill>
                          <a:latin typeface="Cambria Math" panose="02040503050406030204" pitchFamily="18" charset="0"/>
                        </a:rPr>
                        <m:t>=</m:t>
                      </m:r>
                      <m:sSub>
                        <m:sSubPr>
                          <m:ctrlPr>
                            <a:rPr lang="en-US" sz="3600" b="0" i="1" smtClean="0">
                              <a:solidFill>
                                <a:srgbClr val="0070C0"/>
                              </a:solidFill>
                              <a:latin typeface="Cambria Math" panose="02040503050406030204" pitchFamily="18" charset="0"/>
                            </a:rPr>
                          </m:ctrlPr>
                        </m:sSubPr>
                        <m:e>
                          <m:r>
                            <a:rPr lang="en-US" sz="3600" b="0" i="1" smtClean="0">
                              <a:solidFill>
                                <a:srgbClr val="0070C0"/>
                              </a:solidFill>
                              <a:latin typeface="Cambria Math" panose="02040503050406030204" pitchFamily="18" charset="0"/>
                            </a:rPr>
                            <m:t>𝑉</m:t>
                          </m:r>
                        </m:e>
                        <m:sub>
                          <m:r>
                            <a:rPr lang="en-US" sz="3600" b="0" i="1" smtClean="0">
                              <a:solidFill>
                                <a:srgbClr val="0070C0"/>
                              </a:solidFill>
                              <a:latin typeface="Cambria Math" panose="02040503050406030204" pitchFamily="18" charset="0"/>
                            </a:rPr>
                            <m:t>𝑓𝑖𝑛𝑎𝑙</m:t>
                          </m:r>
                        </m:sub>
                      </m:sSub>
                      <m:sSup>
                        <m:sSupPr>
                          <m:ctrlPr>
                            <a:rPr lang="en-US" sz="3600" b="0" i="1" smtClean="0">
                              <a:solidFill>
                                <a:srgbClr val="0070C0"/>
                              </a:solidFill>
                              <a:latin typeface="Cambria Math" panose="02040503050406030204" pitchFamily="18" charset="0"/>
                            </a:rPr>
                          </m:ctrlPr>
                        </m:sSupPr>
                        <m:e>
                          <m:r>
                            <a:rPr lang="en-US" sz="3600" b="0" i="1" smtClean="0">
                              <a:solidFill>
                                <a:srgbClr val="0070C0"/>
                              </a:solidFill>
                              <a:latin typeface="Cambria Math" panose="02040503050406030204" pitchFamily="18" charset="0"/>
                            </a:rPr>
                            <m:t>𝑒</m:t>
                          </m:r>
                        </m:e>
                        <m:sup>
                          <m:r>
                            <a:rPr lang="en-US" sz="3600" b="0" i="1" smtClean="0">
                              <a:solidFill>
                                <a:srgbClr val="0070C0"/>
                              </a:solidFill>
                              <a:latin typeface="Cambria Math" panose="02040503050406030204" pitchFamily="18" charset="0"/>
                            </a:rPr>
                            <m:t>−</m:t>
                          </m:r>
                          <m:f>
                            <m:fPr>
                              <m:type m:val="lin"/>
                              <m:ctrlPr>
                                <a:rPr lang="en-US" sz="3600" b="0" i="1" smtClean="0">
                                  <a:solidFill>
                                    <a:srgbClr val="0070C0"/>
                                  </a:solidFill>
                                  <a:latin typeface="Cambria Math" panose="02040503050406030204" pitchFamily="18" charset="0"/>
                                </a:rPr>
                              </m:ctrlPr>
                            </m:fPr>
                            <m:num>
                              <m:r>
                                <a:rPr lang="en-US" sz="3600" b="0" i="1" smtClean="0">
                                  <a:solidFill>
                                    <a:srgbClr val="0070C0"/>
                                  </a:solidFill>
                                  <a:latin typeface="Cambria Math" panose="02040503050406030204" pitchFamily="18" charset="0"/>
                                </a:rPr>
                                <m:t>𝑡</m:t>
                              </m:r>
                            </m:num>
                            <m:den>
                              <m:r>
                                <a:rPr lang="en-US" sz="3600" b="0" i="1" smtClean="0">
                                  <a:solidFill>
                                    <a:srgbClr val="0070C0"/>
                                  </a:solidFill>
                                  <a:latin typeface="Cambria Math" panose="02040503050406030204" pitchFamily="18" charset="0"/>
                                </a:rPr>
                                <m:t>𝑅𝐶</m:t>
                              </m:r>
                            </m:den>
                          </m:f>
                        </m:sup>
                      </m:sSup>
                    </m:oMath>
                  </m:oMathPara>
                </a14:m>
                <a:endParaRPr lang="en-US" sz="3600" dirty="0">
                  <a:solidFill>
                    <a:srgbClr val="0070C0"/>
                  </a:solidFill>
                </a:endParaRPr>
              </a:p>
            </p:txBody>
          </p:sp>
        </mc:Choice>
        <mc:Fallback xmlns="">
          <p:sp>
            <p:nvSpPr>
              <p:cNvPr id="8" name="TextBox 7">
                <a:extLst>
                  <a:ext uri="{FF2B5EF4-FFF2-40B4-BE49-F238E27FC236}">
                    <a16:creationId xmlns:a16="http://schemas.microsoft.com/office/drawing/2014/main" id="{45EF9964-4910-CBBB-D333-B619B5B97A32}"/>
                  </a:ext>
                </a:extLst>
              </p:cNvPr>
              <p:cNvSpPr txBox="1">
                <a:spLocks noRot="1" noChangeAspect="1" noMove="1" noResize="1" noEditPoints="1" noAdjustHandles="1" noChangeArrowheads="1" noChangeShapeType="1" noTextEdit="1"/>
              </p:cNvSpPr>
              <p:nvPr/>
            </p:nvSpPr>
            <p:spPr>
              <a:xfrm>
                <a:off x="8845279" y="5562600"/>
                <a:ext cx="5556521" cy="64575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F34080F-7173-C513-60D7-C2DF4503E2A3}"/>
                  </a:ext>
                </a:extLst>
              </p:cNvPr>
              <p:cNvSpPr txBox="1"/>
              <p:nvPr/>
            </p:nvSpPr>
            <p:spPr>
              <a:xfrm>
                <a:off x="314770" y="5997552"/>
                <a:ext cx="5617435" cy="57400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i="1" smtClean="0">
                              <a:solidFill>
                                <a:srgbClr val="7030A0"/>
                              </a:solidFill>
                              <a:latin typeface="Cambria Math" panose="02040503050406030204" pitchFamily="18" charset="0"/>
                            </a:rPr>
                          </m:ctrlPr>
                        </m:sSubPr>
                        <m:e>
                          <m:r>
                            <a:rPr lang="en-US" sz="3200" b="0" i="1" smtClean="0">
                              <a:solidFill>
                                <a:srgbClr val="7030A0"/>
                              </a:solidFill>
                              <a:latin typeface="Cambria Math" panose="02040503050406030204" pitchFamily="18" charset="0"/>
                            </a:rPr>
                            <m:t>𝑣</m:t>
                          </m:r>
                        </m:e>
                        <m:sub>
                          <m:r>
                            <a:rPr lang="en-US" sz="3200" b="0" i="1" smtClean="0">
                              <a:solidFill>
                                <a:srgbClr val="7030A0"/>
                              </a:solidFill>
                              <a:latin typeface="Cambria Math" panose="02040503050406030204" pitchFamily="18" charset="0"/>
                            </a:rPr>
                            <m:t>𝑐</m:t>
                          </m:r>
                        </m:sub>
                      </m:sSub>
                      <m:r>
                        <a:rPr lang="en-US" sz="3200" b="0" i="1" smtClean="0">
                          <a:solidFill>
                            <a:srgbClr val="7030A0"/>
                          </a:solidFill>
                          <a:latin typeface="Cambria Math" panose="02040503050406030204" pitchFamily="18" charset="0"/>
                        </a:rPr>
                        <m:t>=</m:t>
                      </m:r>
                      <m:sSub>
                        <m:sSubPr>
                          <m:ctrlPr>
                            <a:rPr lang="en-US" sz="3200" i="1">
                              <a:solidFill>
                                <a:srgbClr val="7030A0"/>
                              </a:solidFill>
                              <a:latin typeface="Cambria Math" panose="02040503050406030204" pitchFamily="18" charset="0"/>
                            </a:rPr>
                          </m:ctrlPr>
                        </m:sSubPr>
                        <m:e>
                          <m:r>
                            <a:rPr lang="en-US" sz="3200" i="1">
                              <a:solidFill>
                                <a:srgbClr val="7030A0"/>
                              </a:solidFill>
                              <a:latin typeface="Cambria Math" panose="02040503050406030204" pitchFamily="18" charset="0"/>
                            </a:rPr>
                            <m:t>𝑣</m:t>
                          </m:r>
                        </m:e>
                        <m:sub>
                          <m:r>
                            <a:rPr lang="en-US" sz="3200" b="0" i="1" smtClean="0">
                              <a:solidFill>
                                <a:srgbClr val="7030A0"/>
                              </a:solidFill>
                              <a:latin typeface="Cambria Math" panose="02040503050406030204" pitchFamily="18" charset="0"/>
                            </a:rPr>
                            <m:t>𝑡h</m:t>
                          </m:r>
                          <m:r>
                            <a:rPr lang="en-US" sz="3200" b="0" i="1" smtClean="0">
                              <a:solidFill>
                                <a:srgbClr val="7030A0"/>
                              </a:solidFill>
                              <a:latin typeface="Cambria Math" panose="02040503050406030204" pitchFamily="18" charset="0"/>
                            </a:rPr>
                            <m:t>,</m:t>
                          </m:r>
                          <m:r>
                            <a:rPr lang="en-US" sz="3200" b="0" i="1" smtClean="0">
                              <a:solidFill>
                                <a:srgbClr val="7030A0"/>
                              </a:solidFill>
                              <a:latin typeface="Cambria Math" panose="02040503050406030204" pitchFamily="18" charset="0"/>
                            </a:rPr>
                            <m:t>𝐻</m:t>
                          </m:r>
                        </m:sub>
                      </m:sSub>
                      <m:r>
                        <a:rPr lang="en-US" sz="3200" i="1">
                          <a:solidFill>
                            <a:srgbClr val="7030A0"/>
                          </a:solidFill>
                          <a:latin typeface="Cambria Math" panose="02040503050406030204" pitchFamily="18" charset="0"/>
                        </a:rPr>
                        <m:t>=</m:t>
                      </m:r>
                      <m:sSub>
                        <m:sSubPr>
                          <m:ctrlPr>
                            <a:rPr lang="en-US" sz="3200" b="0" i="1" smtClean="0">
                              <a:solidFill>
                                <a:srgbClr val="7030A0"/>
                              </a:solidFill>
                              <a:latin typeface="Cambria Math" panose="02040503050406030204" pitchFamily="18" charset="0"/>
                            </a:rPr>
                          </m:ctrlPr>
                        </m:sSubPr>
                        <m:e>
                          <m:r>
                            <a:rPr lang="en-US" sz="3200" b="0" i="1" smtClean="0">
                              <a:solidFill>
                                <a:srgbClr val="7030A0"/>
                              </a:solidFill>
                              <a:latin typeface="Cambria Math" panose="02040503050406030204" pitchFamily="18" charset="0"/>
                            </a:rPr>
                            <m:t>𝑉</m:t>
                          </m:r>
                        </m:e>
                        <m:sub>
                          <m:r>
                            <a:rPr lang="en-US" sz="3200" b="0" i="1" smtClean="0">
                              <a:solidFill>
                                <a:srgbClr val="7030A0"/>
                              </a:solidFill>
                              <a:latin typeface="Cambria Math" panose="02040503050406030204" pitchFamily="18" charset="0"/>
                            </a:rPr>
                            <m:t>𝑓𝑖𝑛𝑎𝑙</m:t>
                          </m:r>
                        </m:sub>
                      </m:sSub>
                      <m:d>
                        <m:dPr>
                          <m:ctrlPr>
                            <a:rPr lang="en-US" sz="3200" b="0" i="1" smtClean="0">
                              <a:solidFill>
                                <a:srgbClr val="7030A0"/>
                              </a:solidFill>
                              <a:latin typeface="Cambria Math" panose="02040503050406030204" pitchFamily="18" charset="0"/>
                            </a:rPr>
                          </m:ctrlPr>
                        </m:dPr>
                        <m:e>
                          <m:r>
                            <a:rPr lang="en-US" sz="3200" b="0" i="1" smtClean="0">
                              <a:solidFill>
                                <a:srgbClr val="7030A0"/>
                              </a:solidFill>
                              <a:latin typeface="Cambria Math" panose="02040503050406030204" pitchFamily="18" charset="0"/>
                            </a:rPr>
                            <m:t>1−</m:t>
                          </m:r>
                          <m:sSup>
                            <m:sSupPr>
                              <m:ctrlPr>
                                <a:rPr lang="en-US" sz="3200" i="1">
                                  <a:solidFill>
                                    <a:srgbClr val="7030A0"/>
                                  </a:solidFill>
                                  <a:latin typeface="Cambria Math" panose="02040503050406030204" pitchFamily="18" charset="0"/>
                                </a:rPr>
                              </m:ctrlPr>
                            </m:sSupPr>
                            <m:e>
                              <m:r>
                                <a:rPr lang="en-US" sz="3200" i="1">
                                  <a:solidFill>
                                    <a:srgbClr val="7030A0"/>
                                  </a:solidFill>
                                  <a:latin typeface="Cambria Math" panose="02040503050406030204" pitchFamily="18" charset="0"/>
                                </a:rPr>
                                <m:t>𝑒</m:t>
                              </m:r>
                            </m:e>
                            <m:sup>
                              <m:r>
                                <a:rPr lang="en-US" sz="3200" i="1">
                                  <a:solidFill>
                                    <a:srgbClr val="7030A0"/>
                                  </a:solidFill>
                                  <a:latin typeface="Cambria Math" panose="02040503050406030204" pitchFamily="18" charset="0"/>
                                </a:rPr>
                                <m:t>−</m:t>
                              </m:r>
                              <m:f>
                                <m:fPr>
                                  <m:type m:val="lin"/>
                                  <m:ctrlPr>
                                    <a:rPr lang="en-US" sz="3200" i="1">
                                      <a:solidFill>
                                        <a:srgbClr val="7030A0"/>
                                      </a:solidFill>
                                      <a:latin typeface="Cambria Math" panose="02040503050406030204" pitchFamily="18" charset="0"/>
                                    </a:rPr>
                                  </m:ctrlPr>
                                </m:fPr>
                                <m:num>
                                  <m:r>
                                    <a:rPr lang="en-US" sz="3200" i="1">
                                      <a:solidFill>
                                        <a:srgbClr val="7030A0"/>
                                      </a:solidFill>
                                      <a:latin typeface="Cambria Math" panose="02040503050406030204" pitchFamily="18" charset="0"/>
                                    </a:rPr>
                                    <m:t>𝑡</m:t>
                                  </m:r>
                                </m:num>
                                <m:den>
                                  <m:r>
                                    <a:rPr lang="en-US" sz="3200" i="1">
                                      <a:solidFill>
                                        <a:srgbClr val="7030A0"/>
                                      </a:solidFill>
                                      <a:latin typeface="Cambria Math" panose="02040503050406030204" pitchFamily="18" charset="0"/>
                                    </a:rPr>
                                    <m:t>𝑅𝐶</m:t>
                                  </m:r>
                                </m:den>
                              </m:f>
                            </m:sup>
                          </m:sSup>
                        </m:e>
                      </m:d>
                    </m:oMath>
                  </m:oMathPara>
                </a14:m>
                <a:endParaRPr lang="en-US" sz="3200" dirty="0">
                  <a:solidFill>
                    <a:srgbClr val="7030A0"/>
                  </a:solidFill>
                </a:endParaRPr>
              </a:p>
            </p:txBody>
          </p:sp>
        </mc:Choice>
        <mc:Fallback xmlns="">
          <p:sp>
            <p:nvSpPr>
              <p:cNvPr id="4" name="TextBox 3">
                <a:extLst>
                  <a:ext uri="{FF2B5EF4-FFF2-40B4-BE49-F238E27FC236}">
                    <a16:creationId xmlns:a16="http://schemas.microsoft.com/office/drawing/2014/main" id="{3F34080F-7173-C513-60D7-C2DF4503E2A3}"/>
                  </a:ext>
                </a:extLst>
              </p:cNvPr>
              <p:cNvSpPr txBox="1">
                <a:spLocks noRot="1" noChangeAspect="1" noMove="1" noResize="1" noEditPoints="1" noAdjustHandles="1" noChangeArrowheads="1" noChangeShapeType="1" noTextEdit="1"/>
              </p:cNvSpPr>
              <p:nvPr/>
            </p:nvSpPr>
            <p:spPr>
              <a:xfrm>
                <a:off x="314770" y="5997552"/>
                <a:ext cx="5617435" cy="574003"/>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029F40B-661B-1373-BE7B-C0746EBE8B42}"/>
                  </a:ext>
                </a:extLst>
              </p:cNvPr>
              <p:cNvSpPr txBox="1"/>
              <p:nvPr/>
            </p:nvSpPr>
            <p:spPr>
              <a:xfrm>
                <a:off x="5867400" y="6172200"/>
                <a:ext cx="3614130" cy="140544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7030A0"/>
                          </a:solidFill>
                          <a:latin typeface="Cambria Math" panose="02040503050406030204" pitchFamily="18" charset="0"/>
                        </a:rPr>
                        <m:t>𝑅</m:t>
                      </m:r>
                      <m:r>
                        <a:rPr lang="en-US" sz="2800" b="0" i="1" smtClean="0">
                          <a:solidFill>
                            <a:srgbClr val="7030A0"/>
                          </a:solidFill>
                          <a:latin typeface="Cambria Math" panose="02040503050406030204" pitchFamily="18" charset="0"/>
                        </a:rPr>
                        <m:t>=−</m:t>
                      </m:r>
                      <m:f>
                        <m:fPr>
                          <m:ctrlPr>
                            <a:rPr lang="en-US" sz="2800" b="0" i="1" smtClean="0">
                              <a:solidFill>
                                <a:srgbClr val="7030A0"/>
                              </a:solidFill>
                              <a:latin typeface="Cambria Math" panose="02040503050406030204" pitchFamily="18" charset="0"/>
                            </a:rPr>
                          </m:ctrlPr>
                        </m:fPr>
                        <m:num>
                          <m:r>
                            <a:rPr lang="en-US" sz="2800" b="0" i="1" smtClean="0">
                              <a:solidFill>
                                <a:srgbClr val="7030A0"/>
                              </a:solidFill>
                              <a:latin typeface="Cambria Math" panose="02040503050406030204" pitchFamily="18" charset="0"/>
                            </a:rPr>
                            <m:t>𝑡</m:t>
                          </m:r>
                        </m:num>
                        <m:den>
                          <m:r>
                            <a:rPr lang="en-US" sz="2800" b="0" i="1" smtClean="0">
                              <a:solidFill>
                                <a:srgbClr val="7030A0"/>
                              </a:solidFill>
                              <a:latin typeface="Cambria Math" panose="02040503050406030204" pitchFamily="18" charset="0"/>
                            </a:rPr>
                            <m:t>𝐶𝑙𝑛</m:t>
                          </m:r>
                          <m:d>
                            <m:dPr>
                              <m:ctrlPr>
                                <a:rPr lang="en-US" sz="2800" b="0" i="1" smtClean="0">
                                  <a:solidFill>
                                    <a:srgbClr val="7030A0"/>
                                  </a:solidFill>
                                  <a:latin typeface="Cambria Math" panose="02040503050406030204" pitchFamily="18" charset="0"/>
                                </a:rPr>
                              </m:ctrlPr>
                            </m:dPr>
                            <m:e>
                              <m:r>
                                <a:rPr lang="en-US" sz="2800" b="0" i="1" smtClean="0">
                                  <a:solidFill>
                                    <a:srgbClr val="7030A0"/>
                                  </a:solidFill>
                                  <a:latin typeface="Cambria Math" panose="02040503050406030204" pitchFamily="18" charset="0"/>
                                </a:rPr>
                                <m:t>1−</m:t>
                              </m:r>
                              <m:f>
                                <m:fPr>
                                  <m:ctrlPr>
                                    <a:rPr lang="en-US" sz="2800" i="1">
                                      <a:solidFill>
                                        <a:srgbClr val="7030A0"/>
                                      </a:solidFill>
                                      <a:latin typeface="Cambria Math" panose="02040503050406030204" pitchFamily="18" charset="0"/>
                                    </a:rPr>
                                  </m:ctrlPr>
                                </m:fPr>
                                <m:num>
                                  <m:sSub>
                                    <m:sSubPr>
                                      <m:ctrlPr>
                                        <a:rPr lang="en-US" sz="2800" i="1">
                                          <a:solidFill>
                                            <a:srgbClr val="7030A0"/>
                                          </a:solidFill>
                                          <a:latin typeface="Cambria Math" panose="02040503050406030204" pitchFamily="18" charset="0"/>
                                        </a:rPr>
                                      </m:ctrlPr>
                                    </m:sSubPr>
                                    <m:e>
                                      <m:r>
                                        <a:rPr lang="en-US" sz="2800" i="1">
                                          <a:solidFill>
                                            <a:srgbClr val="7030A0"/>
                                          </a:solidFill>
                                          <a:latin typeface="Cambria Math" panose="02040503050406030204" pitchFamily="18" charset="0"/>
                                        </a:rPr>
                                        <m:t>𝑉</m:t>
                                      </m:r>
                                    </m:e>
                                    <m:sub>
                                      <m:r>
                                        <a:rPr lang="en-US" sz="2800" i="1">
                                          <a:solidFill>
                                            <a:srgbClr val="7030A0"/>
                                          </a:solidFill>
                                          <a:latin typeface="Cambria Math" panose="02040503050406030204" pitchFamily="18" charset="0"/>
                                        </a:rPr>
                                        <m:t>𝑡h</m:t>
                                      </m:r>
                                      <m:r>
                                        <a:rPr lang="en-US" sz="2800" b="0" i="1" smtClean="0">
                                          <a:solidFill>
                                            <a:srgbClr val="7030A0"/>
                                          </a:solidFill>
                                          <a:latin typeface="Cambria Math" panose="02040503050406030204" pitchFamily="18" charset="0"/>
                                        </a:rPr>
                                        <m:t>,</m:t>
                                      </m:r>
                                      <m:r>
                                        <a:rPr lang="en-US" sz="2800" b="0" i="1" smtClean="0">
                                          <a:solidFill>
                                            <a:srgbClr val="7030A0"/>
                                          </a:solidFill>
                                          <a:latin typeface="Cambria Math" panose="02040503050406030204" pitchFamily="18" charset="0"/>
                                        </a:rPr>
                                        <m:t>𝐻</m:t>
                                      </m:r>
                                    </m:sub>
                                  </m:sSub>
                                </m:num>
                                <m:den>
                                  <m:sSub>
                                    <m:sSubPr>
                                      <m:ctrlPr>
                                        <a:rPr lang="en-US" sz="2800" i="1">
                                          <a:solidFill>
                                            <a:srgbClr val="7030A0"/>
                                          </a:solidFill>
                                          <a:latin typeface="Cambria Math" panose="02040503050406030204" pitchFamily="18" charset="0"/>
                                        </a:rPr>
                                      </m:ctrlPr>
                                    </m:sSubPr>
                                    <m:e>
                                      <m:r>
                                        <a:rPr lang="en-US" sz="2800" i="1">
                                          <a:solidFill>
                                            <a:srgbClr val="7030A0"/>
                                          </a:solidFill>
                                          <a:latin typeface="Cambria Math" panose="02040503050406030204" pitchFamily="18" charset="0"/>
                                        </a:rPr>
                                        <m:t>𝑉</m:t>
                                      </m:r>
                                    </m:e>
                                    <m:sub>
                                      <m:r>
                                        <a:rPr lang="en-US" sz="2800" i="1">
                                          <a:solidFill>
                                            <a:srgbClr val="7030A0"/>
                                          </a:solidFill>
                                          <a:latin typeface="Cambria Math" panose="02040503050406030204" pitchFamily="18" charset="0"/>
                                        </a:rPr>
                                        <m:t>𝑓𝑖𝑛𝑎𝑙</m:t>
                                      </m:r>
                                    </m:sub>
                                  </m:sSub>
                                </m:den>
                              </m:f>
                            </m:e>
                          </m:d>
                        </m:den>
                      </m:f>
                    </m:oMath>
                  </m:oMathPara>
                </a14:m>
                <a:endParaRPr lang="en-US" sz="2800" dirty="0">
                  <a:solidFill>
                    <a:srgbClr val="7030A0"/>
                  </a:solidFill>
                </a:endParaRPr>
              </a:p>
            </p:txBody>
          </p:sp>
        </mc:Choice>
        <mc:Fallback xmlns="">
          <p:sp>
            <p:nvSpPr>
              <p:cNvPr id="9" name="TextBox 8">
                <a:extLst>
                  <a:ext uri="{FF2B5EF4-FFF2-40B4-BE49-F238E27FC236}">
                    <a16:creationId xmlns:a16="http://schemas.microsoft.com/office/drawing/2014/main" id="{A029F40B-661B-1373-BE7B-C0746EBE8B42}"/>
                  </a:ext>
                </a:extLst>
              </p:cNvPr>
              <p:cNvSpPr txBox="1">
                <a:spLocks noRot="1" noChangeAspect="1" noMove="1" noResize="1" noEditPoints="1" noAdjustHandles="1" noChangeArrowheads="1" noChangeShapeType="1" noTextEdit="1"/>
              </p:cNvSpPr>
              <p:nvPr/>
            </p:nvSpPr>
            <p:spPr>
              <a:xfrm>
                <a:off x="5867400" y="6172200"/>
                <a:ext cx="3614130" cy="1405449"/>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9210458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554" y="391160"/>
            <a:ext cx="13167360" cy="1132840"/>
          </a:xfrm>
        </p:spPr>
        <p:txBody>
          <a:bodyPr>
            <a:normAutofit/>
          </a:bodyPr>
          <a:lstStyle/>
          <a:p>
            <a:r>
              <a:rPr lang="en-US" sz="5400" b="1" dirty="0"/>
              <a:t>Hardware Debouncing Circuit Design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28600" y="1295400"/>
                <a:ext cx="14224819" cy="6200648"/>
              </a:xfrm>
            </p:spPr>
            <p:txBody>
              <a:bodyPr lIns="0" rIns="0">
                <a:noAutofit/>
              </a:bodyPr>
              <a:lstStyle/>
              <a:p>
                <a:pPr marL="124355" indent="0" algn="just">
                  <a:spcBef>
                    <a:spcPts val="0"/>
                  </a:spcBef>
                  <a:buNone/>
                </a:pPr>
                <a:r>
                  <a:rPr lang="en-US" sz="3200" b="1" dirty="0">
                    <a:solidFill>
                      <a:srgbClr val="FF0000"/>
                    </a:solidFill>
                  </a:rPr>
                  <a:t>Numerical Example:</a:t>
                </a:r>
              </a:p>
              <a:p>
                <a:pPr marL="124355" indent="0" algn="just">
                  <a:spcBef>
                    <a:spcPts val="0"/>
                  </a:spcBef>
                  <a:buNone/>
                </a:pPr>
                <a:r>
                  <a:rPr lang="en-US" sz="3200" dirty="0">
                    <a:cs typeface="Arial" panose="020B0604020202020204" pitchFamily="34" charset="0"/>
                  </a:rPr>
                  <a:t>The 74AHCT14 version has a </a:t>
                </a:r>
                <a:r>
                  <a:rPr lang="en-US" sz="3200" b="1" dirty="0">
                    <a:solidFill>
                      <a:srgbClr val="FF0000"/>
                    </a:solidFill>
                    <a:cs typeface="Arial" panose="020B0604020202020204" pitchFamily="34" charset="0"/>
                  </a:rPr>
                  <a:t>worst-case </a:t>
                </a:r>
                <a:r>
                  <a:rPr lang="en-US" sz="3200" b="1" i="1" dirty="0">
                    <a:solidFill>
                      <a:srgbClr val="FF0000"/>
                    </a:solidFill>
                    <a:cs typeface="Arial" panose="020B0604020202020204" pitchFamily="34" charset="0"/>
                  </a:rPr>
                  <a:t>V</a:t>
                </a:r>
                <a:r>
                  <a:rPr lang="en-US" sz="3200" b="1" i="1" baseline="-25000" dirty="0">
                    <a:solidFill>
                      <a:srgbClr val="FF0000"/>
                    </a:solidFill>
                    <a:cs typeface="Arial" panose="020B0604020202020204" pitchFamily="34" charset="0"/>
                  </a:rPr>
                  <a:t>th</a:t>
                </a:r>
                <a:r>
                  <a:rPr lang="en-US" sz="3200" dirty="0">
                    <a:solidFill>
                      <a:srgbClr val="FF0000"/>
                    </a:solidFill>
                    <a:cs typeface="Arial" panose="020B0604020202020204" pitchFamily="34" charset="0"/>
                  </a:rPr>
                  <a:t> </a:t>
                </a:r>
                <a:r>
                  <a:rPr lang="en-US" sz="3200" dirty="0">
                    <a:cs typeface="Arial" panose="020B0604020202020204" pitchFamily="34" charset="0"/>
                  </a:rPr>
                  <a:t>for </a:t>
                </a:r>
                <a:r>
                  <a:rPr lang="en-US" sz="3200" dirty="0">
                    <a:solidFill>
                      <a:srgbClr val="FF0000"/>
                    </a:solidFill>
                    <a:cs typeface="Arial" panose="020B0604020202020204" pitchFamily="34" charset="0"/>
                  </a:rPr>
                  <a:t>a signal going low of 0.9 V, </a:t>
                </a:r>
                <a:r>
                  <a:rPr lang="en-US" sz="3200" dirty="0">
                    <a:solidFill>
                      <a:srgbClr val="00B050"/>
                    </a:solidFill>
                    <a:cs typeface="Arial" panose="020B0604020202020204" pitchFamily="34" charset="0"/>
                  </a:rPr>
                  <a:t>the higher threshold voltage, </a:t>
                </a:r>
                <a:r>
                  <a:rPr lang="en-US" sz="3200" i="1" dirty="0" err="1">
                    <a:solidFill>
                      <a:srgbClr val="00B050"/>
                    </a:solidFill>
                    <a:cs typeface="Arial" panose="020B0604020202020204" pitchFamily="34" charset="0"/>
                  </a:rPr>
                  <a:t>V</a:t>
                </a:r>
                <a:r>
                  <a:rPr lang="en-US" sz="3200" i="1" baseline="-25000" dirty="0" err="1">
                    <a:solidFill>
                      <a:srgbClr val="00B050"/>
                    </a:solidFill>
                    <a:cs typeface="Arial" panose="020B0604020202020204" pitchFamily="34" charset="0"/>
                  </a:rPr>
                  <a:t>th,L</a:t>
                </a:r>
                <a:r>
                  <a:rPr lang="en-US" sz="3200" dirty="0">
                    <a:cs typeface="Arial" panose="020B0604020202020204" pitchFamily="34" charset="0"/>
                  </a:rPr>
                  <a:t>.</a:t>
                </a:r>
              </a:p>
              <a:p>
                <a:pPr marL="124355" indent="0" algn="just">
                  <a:spcBef>
                    <a:spcPts val="0"/>
                  </a:spcBef>
                  <a:buNone/>
                </a:pPr>
                <a:r>
                  <a:rPr lang="en-US" sz="3200" dirty="0">
                    <a:cs typeface="Arial" panose="020B0604020202020204" pitchFamily="34" charset="0"/>
                  </a:rPr>
                  <a:t>Let us try with a 0.1 </a:t>
                </a:r>
                <a:r>
                  <a:rPr lang="en-US" sz="3200" dirty="0" err="1">
                    <a:cs typeface="Arial" panose="020B0604020202020204" pitchFamily="34" charset="0"/>
                  </a:rPr>
                  <a:t>μF</a:t>
                </a:r>
                <a:r>
                  <a:rPr lang="en-US" sz="3200" dirty="0">
                    <a:cs typeface="Arial" panose="020B0604020202020204" pitchFamily="34" charset="0"/>
                  </a:rPr>
                  <a:t> capacitor, since this is small, cheap, and will solve for the conditions in which the switch is closed. </a:t>
                </a:r>
              </a:p>
              <a:p>
                <a:pPr marL="124355" indent="0" algn="just">
                  <a:spcBef>
                    <a:spcPts val="0"/>
                  </a:spcBef>
                  <a:buNone/>
                </a:pPr>
                <a:r>
                  <a:rPr lang="en-US" sz="3200" dirty="0">
                    <a:cs typeface="Arial" panose="020B0604020202020204" pitchFamily="34" charset="0"/>
                  </a:rPr>
                  <a:t>We start our computation using the capacitor discharge formula. Since the capacitor discharges through </a:t>
                </a:r>
                <a:r>
                  <a:rPr lang="en-US" sz="3200" i="1" dirty="0">
                    <a:cs typeface="Arial" panose="020B0604020202020204" pitchFamily="34" charset="0"/>
                  </a:rPr>
                  <a:t>R</a:t>
                </a:r>
                <a:r>
                  <a:rPr lang="en-US" sz="3200" baseline="-25000" dirty="0">
                    <a:cs typeface="Arial" panose="020B0604020202020204" pitchFamily="34" charset="0"/>
                  </a:rPr>
                  <a:t>2</a:t>
                </a:r>
                <a:r>
                  <a:rPr lang="en-US" sz="3200" dirty="0">
                    <a:cs typeface="Arial" panose="020B0604020202020204" pitchFamily="34" charset="0"/>
                  </a:rPr>
                  <a:t>, from this equation, we can get its value. We consider the power supply as 5 V (i.e., </a:t>
                </a:r>
                <a:r>
                  <a:rPr lang="en-US" sz="3200" i="1" dirty="0" err="1">
                    <a:cs typeface="Arial" panose="020B0604020202020204" pitchFamily="34" charset="0"/>
                  </a:rPr>
                  <a:t>V</a:t>
                </a:r>
                <a:r>
                  <a:rPr lang="en-US" sz="3200" i="1" baseline="-25000" dirty="0" err="1">
                    <a:cs typeface="Arial" panose="020B0604020202020204" pitchFamily="34" charset="0"/>
                  </a:rPr>
                  <a:t>final</a:t>
                </a:r>
                <a:r>
                  <a:rPr lang="en-US" sz="3200" dirty="0">
                    <a:cs typeface="Arial" panose="020B0604020202020204" pitchFamily="34" charset="0"/>
                  </a:rPr>
                  <a:t> = 5 V at the start of discharging). </a:t>
                </a:r>
              </a:p>
              <a:p>
                <a:pPr marL="124355" indent="0">
                  <a:spcBef>
                    <a:spcPts val="0"/>
                  </a:spcBef>
                  <a:buNone/>
                </a:pPr>
                <a14:m>
                  <m:oMathPara xmlns:m="http://schemas.openxmlformats.org/officeDocument/2006/math">
                    <m:oMathParaPr>
                      <m:jc m:val="centerGroup"/>
                    </m:oMathParaPr>
                    <m:oMath xmlns:m="http://schemas.openxmlformats.org/officeDocument/2006/math">
                      <m:sSub>
                        <m:sSubPr>
                          <m:ctrlPr>
                            <a:rPr lang="en-US" sz="2800" i="1" smtClean="0">
                              <a:solidFill>
                                <a:srgbClr val="0070C0"/>
                              </a:solidFill>
                              <a:latin typeface="Cambria Math" panose="02040503050406030204" pitchFamily="18" charset="0"/>
                              <a:cs typeface="Arial" panose="020B0604020202020204" pitchFamily="34" charset="0"/>
                            </a:rPr>
                          </m:ctrlPr>
                        </m:sSubPr>
                        <m:e>
                          <m:r>
                            <a:rPr lang="en-US" sz="2800" i="1">
                              <a:solidFill>
                                <a:srgbClr val="0070C0"/>
                              </a:solidFill>
                              <a:latin typeface="Cambria Math" panose="02040503050406030204" pitchFamily="18" charset="0"/>
                              <a:cs typeface="Arial" panose="020B0604020202020204" pitchFamily="34" charset="0"/>
                            </a:rPr>
                            <m:t>𝑅</m:t>
                          </m:r>
                        </m:e>
                        <m:sub>
                          <m:r>
                            <a:rPr lang="en-US" sz="2800" i="1">
                              <a:solidFill>
                                <a:srgbClr val="0070C0"/>
                              </a:solidFill>
                              <a:latin typeface="Cambria Math" panose="02040503050406030204" pitchFamily="18" charset="0"/>
                              <a:cs typeface="Arial" panose="020B0604020202020204" pitchFamily="34" charset="0"/>
                            </a:rPr>
                            <m:t>2</m:t>
                          </m:r>
                        </m:sub>
                      </m:sSub>
                      <m:r>
                        <a:rPr lang="en-US" sz="2800" b="0" i="1" smtClean="0">
                          <a:solidFill>
                            <a:srgbClr val="0070C0"/>
                          </a:solidFill>
                          <a:latin typeface="Cambria Math" panose="02040503050406030204" pitchFamily="18" charset="0"/>
                        </a:rPr>
                        <m:t>=−</m:t>
                      </m:r>
                      <m:f>
                        <m:fPr>
                          <m:ctrlPr>
                            <a:rPr lang="en-US" sz="2800" b="0" i="1" smtClean="0">
                              <a:solidFill>
                                <a:srgbClr val="0070C0"/>
                              </a:solidFill>
                              <a:latin typeface="Cambria Math" panose="02040503050406030204" pitchFamily="18" charset="0"/>
                            </a:rPr>
                          </m:ctrlPr>
                        </m:fPr>
                        <m:num>
                          <m:r>
                            <a:rPr lang="en-US" sz="2800" b="0" i="1" smtClean="0">
                              <a:solidFill>
                                <a:srgbClr val="0070C0"/>
                              </a:solidFill>
                              <a:latin typeface="Cambria Math" panose="02040503050406030204" pitchFamily="18" charset="0"/>
                            </a:rPr>
                            <m:t>𝑡</m:t>
                          </m:r>
                        </m:num>
                        <m:den>
                          <m:r>
                            <a:rPr lang="en-US" sz="2800" b="0" i="1" smtClean="0">
                              <a:solidFill>
                                <a:srgbClr val="0070C0"/>
                              </a:solidFill>
                              <a:latin typeface="Cambria Math" panose="02040503050406030204" pitchFamily="18" charset="0"/>
                            </a:rPr>
                            <m:t>𝐶𝑙𝑛</m:t>
                          </m:r>
                          <m:f>
                            <m:fPr>
                              <m:ctrlPr>
                                <a:rPr lang="en-US" sz="2800" b="0" i="1" smtClean="0">
                                  <a:solidFill>
                                    <a:srgbClr val="0070C0"/>
                                  </a:solidFill>
                                  <a:latin typeface="Cambria Math" panose="02040503050406030204" pitchFamily="18" charset="0"/>
                                </a:rPr>
                              </m:ctrlPr>
                            </m:fPr>
                            <m:num>
                              <m:sSub>
                                <m:sSubPr>
                                  <m:ctrlPr>
                                    <a:rPr lang="en-US" sz="2800" i="1" smtClean="0">
                                      <a:solidFill>
                                        <a:srgbClr val="00B050"/>
                                      </a:solidFill>
                                      <a:latin typeface="Cambria Math" panose="02040503050406030204" pitchFamily="18" charset="0"/>
                                    </a:rPr>
                                  </m:ctrlPr>
                                </m:sSubPr>
                                <m:e>
                                  <m:r>
                                    <a:rPr lang="en-US" sz="2800" i="1">
                                      <a:solidFill>
                                        <a:srgbClr val="00B050"/>
                                      </a:solidFill>
                                      <a:latin typeface="Cambria Math" panose="02040503050406030204" pitchFamily="18" charset="0"/>
                                    </a:rPr>
                                    <m:t>𝑉</m:t>
                                  </m:r>
                                </m:e>
                                <m:sub>
                                  <m:r>
                                    <a:rPr lang="en-US" sz="2800" i="1">
                                      <a:solidFill>
                                        <a:srgbClr val="00B050"/>
                                      </a:solidFill>
                                      <a:latin typeface="Cambria Math" panose="02040503050406030204" pitchFamily="18" charset="0"/>
                                    </a:rPr>
                                    <m:t>𝑡h</m:t>
                                  </m:r>
                                  <m:r>
                                    <a:rPr lang="en-US" sz="2800" b="0" i="1" smtClean="0">
                                      <a:solidFill>
                                        <a:srgbClr val="00B050"/>
                                      </a:solidFill>
                                      <a:latin typeface="Cambria Math" panose="02040503050406030204" pitchFamily="18" charset="0"/>
                                    </a:rPr>
                                    <m:t>,</m:t>
                                  </m:r>
                                  <m:r>
                                    <a:rPr lang="en-US" sz="2800" b="0" i="1" smtClean="0">
                                      <a:solidFill>
                                        <a:srgbClr val="00B050"/>
                                      </a:solidFill>
                                      <a:latin typeface="Cambria Math" panose="02040503050406030204" pitchFamily="18" charset="0"/>
                                    </a:rPr>
                                    <m:t>𝐿</m:t>
                                  </m:r>
                                </m:sub>
                              </m:sSub>
                            </m:num>
                            <m:den>
                              <m:sSub>
                                <m:sSubPr>
                                  <m:ctrlPr>
                                    <a:rPr lang="en-US" sz="2800" i="1">
                                      <a:solidFill>
                                        <a:srgbClr val="0070C0"/>
                                      </a:solidFill>
                                      <a:latin typeface="Cambria Math" panose="02040503050406030204" pitchFamily="18" charset="0"/>
                                    </a:rPr>
                                  </m:ctrlPr>
                                </m:sSubPr>
                                <m:e>
                                  <m:r>
                                    <a:rPr lang="en-US" sz="2800" i="1">
                                      <a:solidFill>
                                        <a:srgbClr val="0070C0"/>
                                      </a:solidFill>
                                      <a:latin typeface="Cambria Math" panose="02040503050406030204" pitchFamily="18" charset="0"/>
                                    </a:rPr>
                                    <m:t>𝑉</m:t>
                                  </m:r>
                                </m:e>
                                <m:sub>
                                  <m:r>
                                    <a:rPr lang="en-US" sz="2800" i="1">
                                      <a:solidFill>
                                        <a:srgbClr val="0070C0"/>
                                      </a:solidFill>
                                      <a:latin typeface="Cambria Math" panose="02040503050406030204" pitchFamily="18" charset="0"/>
                                    </a:rPr>
                                    <m:t>𝑓𝑖𝑛𝑎𝑙</m:t>
                                  </m:r>
                                </m:sub>
                              </m:sSub>
                            </m:den>
                          </m:f>
                        </m:den>
                      </m:f>
                      <m:r>
                        <a:rPr lang="en-US" sz="2800" b="0" i="1" smtClean="0">
                          <a:solidFill>
                            <a:srgbClr val="0070C0"/>
                          </a:solidFill>
                          <a:latin typeface="Cambria Math" panose="02040503050406030204" pitchFamily="18" charset="0"/>
                        </a:rPr>
                        <m:t>=−</m:t>
                      </m:r>
                      <m:f>
                        <m:fPr>
                          <m:ctrlPr>
                            <a:rPr lang="en-US" sz="2800" i="1">
                              <a:solidFill>
                                <a:srgbClr val="0070C0"/>
                              </a:solidFill>
                              <a:latin typeface="Cambria Math" panose="02040503050406030204" pitchFamily="18" charset="0"/>
                              <a:cs typeface="Arial" panose="020B0604020202020204" pitchFamily="34" charset="0"/>
                            </a:rPr>
                          </m:ctrlPr>
                        </m:fPr>
                        <m:num>
                          <m:r>
                            <a:rPr lang="en-US" sz="2800" i="1">
                              <a:solidFill>
                                <a:srgbClr val="0070C0"/>
                              </a:solidFill>
                              <a:latin typeface="Cambria Math" panose="02040503050406030204" pitchFamily="18" charset="0"/>
                              <a:cs typeface="Arial" panose="020B0604020202020204" pitchFamily="34" charset="0"/>
                            </a:rPr>
                            <m:t>20</m:t>
                          </m:r>
                          <m:r>
                            <a:rPr lang="en-US" sz="2800" i="1">
                              <a:solidFill>
                                <a:srgbClr val="0070C0"/>
                              </a:solidFill>
                              <a:latin typeface="Cambria Math" panose="02040503050406030204" pitchFamily="18" charset="0"/>
                              <a:ea typeface="Cambria Math" panose="02040503050406030204" pitchFamily="18" charset="0"/>
                              <a:cs typeface="Arial" panose="020B0604020202020204" pitchFamily="34" charset="0"/>
                            </a:rPr>
                            <m:t>×</m:t>
                          </m:r>
                          <m:sSup>
                            <m:sSupPr>
                              <m:ctrlPr>
                                <a:rPr lang="en-US" sz="2800" i="1">
                                  <a:solidFill>
                                    <a:srgbClr val="0070C0"/>
                                  </a:solidFill>
                                  <a:latin typeface="Cambria Math" panose="02040503050406030204" pitchFamily="18" charset="0"/>
                                  <a:ea typeface="Cambria Math" panose="02040503050406030204" pitchFamily="18" charset="0"/>
                                  <a:cs typeface="Arial" panose="020B0604020202020204" pitchFamily="34" charset="0"/>
                                </a:rPr>
                              </m:ctrlPr>
                            </m:sSupPr>
                            <m:e>
                              <m:r>
                                <a:rPr lang="en-US" sz="2800" i="1">
                                  <a:solidFill>
                                    <a:srgbClr val="0070C0"/>
                                  </a:solidFill>
                                  <a:latin typeface="Cambria Math" panose="02040503050406030204" pitchFamily="18" charset="0"/>
                                  <a:ea typeface="Cambria Math" panose="02040503050406030204" pitchFamily="18" charset="0"/>
                                  <a:cs typeface="Arial" panose="020B0604020202020204" pitchFamily="34" charset="0"/>
                                </a:rPr>
                                <m:t>10</m:t>
                              </m:r>
                            </m:e>
                            <m:sup>
                              <m:r>
                                <a:rPr lang="en-US" sz="2800" i="1">
                                  <a:solidFill>
                                    <a:srgbClr val="0070C0"/>
                                  </a:solidFill>
                                  <a:latin typeface="Cambria Math" panose="02040503050406030204" pitchFamily="18" charset="0"/>
                                  <a:ea typeface="Cambria Math" panose="02040503050406030204" pitchFamily="18" charset="0"/>
                                  <a:cs typeface="Arial" panose="020B0604020202020204" pitchFamily="34" charset="0"/>
                                </a:rPr>
                                <m:t>−3</m:t>
                              </m:r>
                            </m:sup>
                          </m:sSup>
                        </m:num>
                        <m:den>
                          <m:r>
                            <a:rPr lang="en-US" sz="2800" i="1">
                              <a:solidFill>
                                <a:srgbClr val="0070C0"/>
                              </a:solidFill>
                              <a:latin typeface="Cambria Math" panose="02040503050406030204" pitchFamily="18" charset="0"/>
                              <a:cs typeface="Arial" panose="020B0604020202020204" pitchFamily="34" charset="0"/>
                            </a:rPr>
                            <m:t>0.1</m:t>
                          </m:r>
                          <m:r>
                            <a:rPr lang="en-US" sz="2800" i="1">
                              <a:solidFill>
                                <a:srgbClr val="0070C0"/>
                              </a:solidFill>
                              <a:latin typeface="Cambria Math" panose="02040503050406030204" pitchFamily="18" charset="0"/>
                              <a:ea typeface="Cambria Math" panose="02040503050406030204" pitchFamily="18" charset="0"/>
                              <a:cs typeface="Arial" panose="020B0604020202020204" pitchFamily="34" charset="0"/>
                            </a:rPr>
                            <m:t>×</m:t>
                          </m:r>
                          <m:sSup>
                            <m:sSupPr>
                              <m:ctrlPr>
                                <a:rPr lang="en-US" sz="2800" i="1">
                                  <a:solidFill>
                                    <a:srgbClr val="0070C0"/>
                                  </a:solidFill>
                                  <a:latin typeface="Cambria Math" panose="02040503050406030204" pitchFamily="18" charset="0"/>
                                  <a:ea typeface="Cambria Math" panose="02040503050406030204" pitchFamily="18" charset="0"/>
                                  <a:cs typeface="Arial" panose="020B0604020202020204" pitchFamily="34" charset="0"/>
                                </a:rPr>
                              </m:ctrlPr>
                            </m:sSupPr>
                            <m:e>
                              <m:r>
                                <a:rPr lang="en-US" sz="2800" i="1">
                                  <a:solidFill>
                                    <a:srgbClr val="0070C0"/>
                                  </a:solidFill>
                                  <a:latin typeface="Cambria Math" panose="02040503050406030204" pitchFamily="18" charset="0"/>
                                  <a:ea typeface="Cambria Math" panose="02040503050406030204" pitchFamily="18" charset="0"/>
                                  <a:cs typeface="Arial" panose="020B0604020202020204" pitchFamily="34" charset="0"/>
                                </a:rPr>
                                <m:t>10</m:t>
                              </m:r>
                            </m:e>
                            <m:sup>
                              <m:r>
                                <a:rPr lang="en-US" sz="2800" i="1">
                                  <a:solidFill>
                                    <a:srgbClr val="0070C0"/>
                                  </a:solidFill>
                                  <a:latin typeface="Cambria Math" panose="02040503050406030204" pitchFamily="18" charset="0"/>
                                  <a:ea typeface="Cambria Math" panose="02040503050406030204" pitchFamily="18" charset="0"/>
                                  <a:cs typeface="Arial" panose="020B0604020202020204" pitchFamily="34" charset="0"/>
                                </a:rPr>
                                <m:t>−6</m:t>
                              </m:r>
                            </m:sup>
                          </m:sSup>
                          <m:r>
                            <a:rPr lang="en-US" sz="2800" i="1">
                              <a:solidFill>
                                <a:srgbClr val="0070C0"/>
                              </a:solidFill>
                              <a:latin typeface="Cambria Math" panose="02040503050406030204" pitchFamily="18" charset="0"/>
                              <a:ea typeface="Cambria Math" panose="02040503050406030204" pitchFamily="18" charset="0"/>
                              <a:cs typeface="Arial" panose="020B0604020202020204" pitchFamily="34" charset="0"/>
                            </a:rPr>
                            <m:t>𝑙𝑛</m:t>
                          </m:r>
                          <m:f>
                            <m:fPr>
                              <m:ctrlPr>
                                <a:rPr lang="en-US" sz="2800"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ctrlPr>
                            </m:fPr>
                            <m:num>
                              <m:r>
                                <a:rPr lang="en-US" sz="2800" b="0"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t>0</m:t>
                              </m:r>
                              <m:r>
                                <a:rPr lang="en-US" sz="2800" i="1" smtClean="0">
                                  <a:solidFill>
                                    <a:srgbClr val="00B050"/>
                                  </a:solidFill>
                                  <a:latin typeface="Cambria Math" panose="02040503050406030204" pitchFamily="18" charset="0"/>
                                  <a:ea typeface="Cambria Math" panose="02040503050406030204" pitchFamily="18" charset="0"/>
                                  <a:cs typeface="Arial" panose="020B0604020202020204" pitchFamily="34" charset="0"/>
                                </a:rPr>
                                <m:t>.</m:t>
                              </m:r>
                              <m:r>
                                <a:rPr lang="en-US" sz="2800" b="0" i="1" smtClean="0">
                                  <a:solidFill>
                                    <a:srgbClr val="00B050"/>
                                  </a:solidFill>
                                  <a:latin typeface="Cambria Math" panose="02040503050406030204" pitchFamily="18" charset="0"/>
                                  <a:ea typeface="Cambria Math" panose="02040503050406030204" pitchFamily="18" charset="0"/>
                                  <a:cs typeface="Arial" panose="020B0604020202020204" pitchFamily="34" charset="0"/>
                                </a:rPr>
                                <m:t>9</m:t>
                              </m:r>
                            </m:num>
                            <m:den>
                              <m:r>
                                <a:rPr lang="en-US" sz="2800" i="1">
                                  <a:solidFill>
                                    <a:srgbClr val="0070C0"/>
                                  </a:solidFill>
                                  <a:latin typeface="Cambria Math" panose="02040503050406030204" pitchFamily="18" charset="0"/>
                                  <a:ea typeface="Cambria Math" panose="02040503050406030204" pitchFamily="18" charset="0"/>
                                  <a:cs typeface="Arial" panose="020B0604020202020204" pitchFamily="34" charset="0"/>
                                </a:rPr>
                                <m:t>5</m:t>
                              </m:r>
                            </m:den>
                          </m:f>
                        </m:den>
                      </m:f>
                      <m:r>
                        <a:rPr lang="en-US" sz="2800" i="1">
                          <a:solidFill>
                            <a:srgbClr val="0070C0"/>
                          </a:solidFill>
                          <a:latin typeface="Cambria Math" panose="02040503050406030204" pitchFamily="18" charset="0"/>
                          <a:cs typeface="Arial" panose="020B0604020202020204" pitchFamily="34" charset="0"/>
                        </a:rPr>
                        <m:t>=1</m:t>
                      </m:r>
                      <m:r>
                        <a:rPr lang="en-US" sz="2800" b="0" i="1" smtClean="0">
                          <a:solidFill>
                            <a:srgbClr val="0070C0"/>
                          </a:solidFill>
                          <a:latin typeface="Cambria Math" panose="02040503050406030204" pitchFamily="18" charset="0"/>
                          <a:cs typeface="Arial" panose="020B0604020202020204" pitchFamily="34" charset="0"/>
                        </a:rPr>
                        <m:t>16.63</m:t>
                      </m:r>
                      <m:r>
                        <a:rPr lang="en-US" sz="2800" i="1">
                          <a:solidFill>
                            <a:srgbClr val="0070C0"/>
                          </a:solidFill>
                          <a:latin typeface="Cambria Math" panose="02040503050406030204" pitchFamily="18" charset="0"/>
                          <a:cs typeface="Arial" panose="020B0604020202020204" pitchFamily="34" charset="0"/>
                        </a:rPr>
                        <m:t> </m:t>
                      </m:r>
                      <m:r>
                        <m:rPr>
                          <m:sty m:val="p"/>
                        </m:rPr>
                        <a:rPr lang="en-US" sz="2800">
                          <a:solidFill>
                            <a:srgbClr val="0070C0"/>
                          </a:solidFill>
                          <a:latin typeface="Cambria Math" panose="02040503050406030204" pitchFamily="18" charset="0"/>
                          <a:cs typeface="Arial" panose="020B0604020202020204" pitchFamily="34" charset="0"/>
                        </a:rPr>
                        <m:t>k</m:t>
                      </m:r>
                      <m:r>
                        <m:rPr>
                          <m:sty m:val="p"/>
                        </m:rPr>
                        <a:rPr lang="el-GR" sz="2800" i="1">
                          <a:solidFill>
                            <a:srgbClr val="0070C0"/>
                          </a:solidFill>
                          <a:latin typeface="Cambria Math" panose="02040503050406030204" pitchFamily="18" charset="0"/>
                          <a:ea typeface="Cambria Math" panose="02040503050406030204" pitchFamily="18" charset="0"/>
                          <a:cs typeface="Arial" panose="020B0604020202020204" pitchFamily="34" charset="0"/>
                        </a:rPr>
                        <m:t>Ω</m:t>
                      </m:r>
                    </m:oMath>
                  </m:oMathPara>
                </a14:m>
                <a:endParaRPr lang="en-US" sz="2800" dirty="0">
                  <a:solidFill>
                    <a:srgbClr val="0070C0"/>
                  </a:solidFill>
                  <a:cs typeface="Arial" panose="020B0604020202020204" pitchFamily="34" charset="0"/>
                </a:endParaRPr>
              </a:p>
              <a:p>
                <a:pPr marL="124355" indent="0" algn="just">
                  <a:spcBef>
                    <a:spcPts val="0"/>
                  </a:spcBef>
                  <a:buNone/>
                </a:pPr>
                <a:r>
                  <a:rPr lang="en-US" sz="3200" dirty="0">
                    <a:cs typeface="Arial" panose="020B0604020202020204" pitchFamily="34" charset="0"/>
                  </a:rPr>
                  <a:t>Since a resistor with this value is not available, so we use 120 </a:t>
                </a:r>
                <a:r>
                  <a:rPr lang="en-US" sz="3200" dirty="0" err="1">
                    <a:cs typeface="Arial" panose="020B0604020202020204" pitchFamily="34" charset="0"/>
                  </a:rPr>
                  <a:t>kΩ</a:t>
                </a:r>
                <a:r>
                  <a:rPr lang="en-US" sz="3200" dirty="0">
                    <a:cs typeface="Arial" panose="020B0604020202020204" pitchFamily="34" charset="0"/>
                  </a:rPr>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28600" y="1295400"/>
                <a:ext cx="14224819" cy="6200648"/>
              </a:xfrm>
              <a:blipFill>
                <a:blip r:embed="rId3"/>
                <a:stretch>
                  <a:fillRect l="-900" t="-1180" r="-1715"/>
                </a:stretch>
              </a:blipFill>
            </p:spPr>
            <p:txBody>
              <a:bodyPr/>
              <a:lstStyle/>
              <a:p>
                <a:r>
                  <a:rPr lang="en-US">
                    <a:noFill/>
                  </a:rPr>
                  <a:t> </a:t>
                </a:r>
              </a:p>
            </p:txBody>
          </p:sp>
        </mc:Fallback>
      </mc:AlternateContent>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sp>
        <p:nvSpPr>
          <p:cNvPr id="7" name="Date Placeholder 6"/>
          <p:cNvSpPr>
            <a:spLocks noGrp="1"/>
          </p:cNvSpPr>
          <p:nvPr>
            <p:ph type="dt" sz="half" idx="10"/>
          </p:nvPr>
        </p:nvSpPr>
        <p:spPr/>
        <p:txBody>
          <a:bodyPr/>
          <a:lstStyle/>
          <a:p>
            <a:fld id="{386C4CD3-1055-4803-8131-20120CCD2DA4}" type="datetime3">
              <a:rPr lang="en-US" smtClean="0"/>
              <a:t>15 June 2026</a:t>
            </a:fld>
            <a:endParaRPr lang="en-US"/>
          </a:p>
        </p:txBody>
      </p:sp>
      <p:sp>
        <p:nvSpPr>
          <p:cNvPr id="9" name="TextBox 8">
            <a:extLst>
              <a:ext uri="{FF2B5EF4-FFF2-40B4-BE49-F238E27FC236}">
                <a16:creationId xmlns:a16="http://schemas.microsoft.com/office/drawing/2014/main" id="{A32D428C-2D90-E4A3-92B8-977DBC6F7861}"/>
              </a:ext>
            </a:extLst>
          </p:cNvPr>
          <p:cNvSpPr txBox="1"/>
          <p:nvPr/>
        </p:nvSpPr>
        <p:spPr>
          <a:xfrm>
            <a:off x="11450677" y="5257800"/>
            <a:ext cx="2918466" cy="1384995"/>
          </a:xfrm>
          <a:prstGeom prst="rect">
            <a:avLst/>
          </a:prstGeom>
          <a:noFill/>
        </p:spPr>
        <p:txBody>
          <a:bodyPr wrap="square">
            <a:spAutoFit/>
          </a:bodyPr>
          <a:lstStyle/>
          <a:p>
            <a:r>
              <a:rPr lang="en-US" sz="2800" b="1" dirty="0">
                <a:solidFill>
                  <a:srgbClr val="7030A0"/>
                </a:solidFill>
                <a:cs typeface="Arial" panose="020B0604020202020204" pitchFamily="34" charset="0"/>
              </a:rPr>
              <a:t>Considering bounce times as 20 </a:t>
            </a:r>
            <a:r>
              <a:rPr lang="en-US" sz="2800" b="1" dirty="0" err="1">
                <a:solidFill>
                  <a:srgbClr val="7030A0"/>
                </a:solidFill>
                <a:cs typeface="Arial" panose="020B0604020202020204" pitchFamily="34" charset="0"/>
              </a:rPr>
              <a:t>ms</a:t>
            </a:r>
            <a:endParaRPr lang="en-US" dirty="0"/>
          </a:p>
        </p:txBody>
      </p:sp>
    </p:spTree>
    <p:extLst>
      <p:ext uri="{BB962C8B-B14F-4D97-AF65-F5344CB8AC3E}">
        <p14:creationId xmlns:p14="http://schemas.microsoft.com/office/powerpoint/2010/main" val="38984382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554" y="391160"/>
            <a:ext cx="13167360" cy="1132840"/>
          </a:xfrm>
        </p:spPr>
        <p:txBody>
          <a:bodyPr>
            <a:normAutofit/>
          </a:bodyPr>
          <a:lstStyle/>
          <a:p>
            <a:r>
              <a:rPr lang="en-US" sz="5400" b="1" dirty="0"/>
              <a:t>Hardware Debouncing Circuit Design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53181" y="1371600"/>
                <a:ext cx="14148619" cy="6124448"/>
              </a:xfrm>
            </p:spPr>
            <p:txBody>
              <a:bodyPr lIns="0" rIns="0">
                <a:noAutofit/>
              </a:bodyPr>
              <a:lstStyle/>
              <a:p>
                <a:pPr marL="124355" indent="0" algn="just">
                  <a:spcBef>
                    <a:spcPts val="0"/>
                  </a:spcBef>
                  <a:buNone/>
                </a:pPr>
                <a:r>
                  <a:rPr lang="en-US" sz="3200" b="1" dirty="0">
                    <a:solidFill>
                      <a:srgbClr val="FF0000"/>
                    </a:solidFill>
                  </a:rPr>
                  <a:t>Numerical Example (continuing):</a:t>
                </a:r>
              </a:p>
              <a:p>
                <a:pPr marL="124355" indent="0" algn="just">
                  <a:spcBef>
                    <a:spcPts val="0"/>
                  </a:spcBef>
                  <a:buNone/>
                </a:pPr>
                <a:r>
                  <a:rPr lang="en-US" sz="3200" dirty="0">
                    <a:cs typeface="Arial" panose="020B0604020202020204" pitchFamily="34" charset="0"/>
                  </a:rPr>
                  <a:t>But the analysis ignores the gate’s </a:t>
                </a:r>
                <a:r>
                  <a:rPr lang="en-US" sz="3200" dirty="0">
                    <a:solidFill>
                      <a:srgbClr val="FF0000"/>
                    </a:solidFill>
                    <a:cs typeface="Arial" panose="020B0604020202020204" pitchFamily="34" charset="0"/>
                  </a:rPr>
                  <a:t>input leakage current </a:t>
                </a:r>
                <a:r>
                  <a:rPr lang="en-US" sz="3200" dirty="0">
                    <a:cs typeface="Arial" panose="020B0604020202020204" pitchFamily="34" charset="0"/>
                  </a:rPr>
                  <a:t>when the signal is </a:t>
                </a:r>
                <a:r>
                  <a:rPr lang="en-US" sz="3200" b="1" dirty="0">
                    <a:solidFill>
                      <a:srgbClr val="FF0000"/>
                    </a:solidFill>
                    <a:cs typeface="Arial" panose="020B0604020202020204" pitchFamily="34" charset="0"/>
                  </a:rPr>
                  <a:t>LOW</a:t>
                </a:r>
                <a:r>
                  <a:rPr lang="en-US" sz="3200" dirty="0">
                    <a:cs typeface="Arial" panose="020B0604020202020204" pitchFamily="34" charset="0"/>
                  </a:rPr>
                  <a:t> at its input. A CMOS device like 74AHCT14 dribbles about 1 </a:t>
                </a:r>
                <a:r>
                  <a:rPr lang="en-US" sz="3200" dirty="0" err="1">
                    <a:cs typeface="Arial" panose="020B0604020202020204" pitchFamily="34" charset="0"/>
                  </a:rPr>
                  <a:t>μA</a:t>
                </a:r>
                <a:r>
                  <a:rPr lang="en-US" sz="3200" dirty="0">
                    <a:cs typeface="Arial" panose="020B0604020202020204" pitchFamily="34" charset="0"/>
                  </a:rPr>
                  <a:t> from the inputs.</a:t>
                </a:r>
              </a:p>
              <a:p>
                <a:pPr marL="124355" indent="0" algn="just">
                  <a:spcBef>
                    <a:spcPts val="0"/>
                  </a:spcBef>
                  <a:buNone/>
                </a:pPr>
                <a:endParaRPr lang="en-US" sz="3200" dirty="0">
                  <a:cs typeface="Arial" panose="020B0604020202020204" pitchFamily="34" charset="0"/>
                </a:endParaRPr>
              </a:p>
              <a:p>
                <a:pPr marL="124355" indent="0" algn="just">
                  <a:spcBef>
                    <a:spcPts val="0"/>
                  </a:spcBef>
                  <a:buNone/>
                </a:pPr>
                <a:r>
                  <a:rPr lang="en-US" sz="3200" dirty="0">
                    <a:cs typeface="Arial" panose="020B0604020202020204" pitchFamily="34" charset="0"/>
                  </a:rPr>
                  <a:t>As such, a 120 </a:t>
                </a:r>
                <a:r>
                  <a:rPr lang="en-US" sz="3200" dirty="0" err="1">
                    <a:cs typeface="Arial" panose="020B0604020202020204" pitchFamily="34" charset="0"/>
                  </a:rPr>
                  <a:t>kΩ</a:t>
                </a:r>
                <a:r>
                  <a:rPr lang="en-US" sz="3200" dirty="0">
                    <a:cs typeface="Arial" panose="020B0604020202020204" pitchFamily="34" charset="0"/>
                  </a:rPr>
                  <a:t> resistor may bias the input to 0.12 V (since as per Ohm’s Law, </a:t>
                </a:r>
                <a14:m>
                  <m:oMath xmlns:m="http://schemas.openxmlformats.org/officeDocument/2006/math">
                    <m:r>
                      <a:rPr lang="en-US" sz="3200" b="0" i="1" smtClean="0">
                        <a:latin typeface="Cambria Math" panose="02040503050406030204" pitchFamily="18" charset="0"/>
                        <a:cs typeface="Arial" panose="020B0604020202020204" pitchFamily="34" charset="0"/>
                      </a:rPr>
                      <m:t>𝑉</m:t>
                    </m:r>
                    <m:r>
                      <a:rPr lang="en-US" sz="3200" b="0" i="1" smtClean="0">
                        <a:latin typeface="Cambria Math" panose="02040503050406030204" pitchFamily="18" charset="0"/>
                        <a:cs typeface="Arial" panose="020B0604020202020204" pitchFamily="34" charset="0"/>
                      </a:rPr>
                      <m:t>=</m:t>
                    </m:r>
                    <m:r>
                      <a:rPr lang="en-US" sz="3200" b="0" i="1" smtClean="0">
                        <a:latin typeface="Cambria Math" panose="02040503050406030204" pitchFamily="18" charset="0"/>
                        <a:cs typeface="Arial" panose="020B0604020202020204" pitchFamily="34" charset="0"/>
                      </a:rPr>
                      <m:t>𝐼𝑅</m:t>
                    </m:r>
                    <m:r>
                      <a:rPr lang="en-US" sz="3200" b="0" i="1" smtClean="0">
                        <a:latin typeface="Cambria Math" panose="02040503050406030204" pitchFamily="18" charset="0"/>
                        <a:cs typeface="Arial" panose="020B0604020202020204" pitchFamily="34" charset="0"/>
                      </a:rPr>
                      <m:t>=1×</m:t>
                    </m:r>
                    <m:sSup>
                      <m:sSupPr>
                        <m:ctrlPr>
                          <a:rPr lang="en-US" sz="32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3200" b="0" i="1" smtClean="0">
                            <a:latin typeface="Cambria Math" panose="02040503050406030204" pitchFamily="18" charset="0"/>
                            <a:ea typeface="Cambria Math" panose="02040503050406030204" pitchFamily="18" charset="0"/>
                            <a:cs typeface="Arial" panose="020B0604020202020204" pitchFamily="34" charset="0"/>
                          </a:rPr>
                          <m:t>10</m:t>
                        </m:r>
                      </m:e>
                      <m:sup>
                        <m:r>
                          <a:rPr lang="en-US" sz="3200" b="0" i="1" smtClean="0">
                            <a:latin typeface="Cambria Math" panose="02040503050406030204" pitchFamily="18" charset="0"/>
                            <a:ea typeface="Cambria Math" panose="02040503050406030204" pitchFamily="18" charset="0"/>
                            <a:cs typeface="Arial" panose="020B0604020202020204" pitchFamily="34" charset="0"/>
                          </a:rPr>
                          <m:t>−6</m:t>
                        </m:r>
                      </m:sup>
                    </m:sSup>
                    <m:r>
                      <m:rPr>
                        <m:sty m:val="p"/>
                      </m:rPr>
                      <a:rPr lang="en-US" sz="3200" b="0" i="0" smtClean="0">
                        <a:latin typeface="Cambria Math" panose="02040503050406030204" pitchFamily="18" charset="0"/>
                        <a:ea typeface="Cambria Math" panose="02040503050406030204" pitchFamily="18" charset="0"/>
                        <a:cs typeface="Arial" panose="020B0604020202020204" pitchFamily="34" charset="0"/>
                      </a:rPr>
                      <m:t>A</m:t>
                    </m:r>
                    <m:r>
                      <a:rPr lang="en-US" sz="3200" b="0" i="1" smtClean="0">
                        <a:latin typeface="Cambria Math" panose="02040503050406030204" pitchFamily="18" charset="0"/>
                        <a:ea typeface="Cambria Math" panose="02040503050406030204" pitchFamily="18" charset="0"/>
                        <a:cs typeface="Arial" panose="020B0604020202020204" pitchFamily="34" charset="0"/>
                      </a:rPr>
                      <m:t>×120×</m:t>
                    </m:r>
                    <m:sSup>
                      <m:sSupPr>
                        <m:ctrlPr>
                          <a:rPr lang="en-US" sz="32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3200" b="0" i="1" smtClean="0">
                            <a:latin typeface="Cambria Math" panose="02040503050406030204" pitchFamily="18" charset="0"/>
                            <a:ea typeface="Cambria Math" panose="02040503050406030204" pitchFamily="18" charset="0"/>
                            <a:cs typeface="Arial" panose="020B0604020202020204" pitchFamily="34" charset="0"/>
                          </a:rPr>
                          <m:t>10</m:t>
                        </m:r>
                      </m:e>
                      <m:sup>
                        <m:r>
                          <a:rPr lang="en-US" sz="3200" b="0" i="1" smtClean="0">
                            <a:latin typeface="Cambria Math" panose="02040503050406030204" pitchFamily="18" charset="0"/>
                            <a:ea typeface="Cambria Math" panose="02040503050406030204" pitchFamily="18" charset="0"/>
                            <a:cs typeface="Arial" panose="020B0604020202020204" pitchFamily="34" charset="0"/>
                          </a:rPr>
                          <m:t>3</m:t>
                        </m:r>
                      </m:sup>
                    </m:sSup>
                    <m:r>
                      <m:rPr>
                        <m:sty m:val="p"/>
                      </m:rPr>
                      <a:rPr lang="en-US" sz="3200" b="0" i="0" smtClean="0">
                        <a:latin typeface="Cambria Math" panose="02040503050406030204" pitchFamily="18" charset="0"/>
                        <a:ea typeface="Cambria Math" panose="02040503050406030204" pitchFamily="18" charset="0"/>
                        <a:cs typeface="Arial" panose="020B0604020202020204" pitchFamily="34" charset="0"/>
                      </a:rPr>
                      <m:t>V</m:t>
                    </m:r>
                    <m:r>
                      <a:rPr lang="en-US" sz="3200" b="0" i="1" smtClean="0">
                        <a:latin typeface="Cambria Math" panose="02040503050406030204" pitchFamily="18" charset="0"/>
                        <a:ea typeface="Cambria Math" panose="02040503050406030204" pitchFamily="18" charset="0"/>
                        <a:cs typeface="Arial" panose="020B0604020202020204" pitchFamily="34" charset="0"/>
                      </a:rPr>
                      <m:t>=0.12 </m:t>
                    </m:r>
                  </m:oMath>
                </a14:m>
                <a:r>
                  <a:rPr lang="en-US" sz="3200" dirty="0">
                    <a:cs typeface="Arial" panose="020B0604020202020204" pitchFamily="34" charset="0"/>
                  </a:rPr>
                  <a:t>V), uncomfortably close to the gate’s best-case </a:t>
                </a:r>
                <a:r>
                  <a:rPr lang="en-US" sz="3200" dirty="0">
                    <a:solidFill>
                      <a:srgbClr val="FF0000"/>
                    </a:solidFill>
                    <a:cs typeface="Arial" panose="020B0604020202020204" pitchFamily="34" charset="0"/>
                  </a:rPr>
                  <a:t>switching point of 0.4 V</a:t>
                </a:r>
                <a:r>
                  <a:rPr lang="en-US" sz="3200" dirty="0">
                    <a:cs typeface="Arial" panose="020B0604020202020204" pitchFamily="34" charset="0"/>
                  </a:rPr>
                  <a:t>.</a:t>
                </a:r>
              </a:p>
              <a:p>
                <a:pPr marL="124355" indent="0" algn="just">
                  <a:spcBef>
                    <a:spcPts val="0"/>
                  </a:spcBef>
                  <a:buNone/>
                </a:pPr>
                <a:endParaRPr lang="en-US" sz="3200" dirty="0">
                  <a:cs typeface="Arial" panose="020B0604020202020204" pitchFamily="34" charset="0"/>
                </a:endParaRPr>
              </a:p>
              <a:p>
                <a:pPr marL="124355" indent="0" algn="just">
                  <a:spcBef>
                    <a:spcPts val="0"/>
                  </a:spcBef>
                  <a:buNone/>
                </a:pPr>
                <a:r>
                  <a:rPr lang="en-US" sz="3200" dirty="0">
                    <a:cs typeface="Arial" panose="020B0604020202020204" pitchFamily="34" charset="0"/>
                  </a:rPr>
                  <a:t>Therefore, the capacitor’s capacitance is increased to 1 </a:t>
                </a:r>
                <a:r>
                  <a:rPr lang="en-US" sz="3200" dirty="0" err="1">
                    <a:cs typeface="Arial" panose="020B0604020202020204" pitchFamily="34" charset="0"/>
                  </a:rPr>
                  <a:t>μF</a:t>
                </a:r>
                <a:r>
                  <a:rPr lang="en-US" sz="3200" dirty="0">
                    <a:cs typeface="Arial" panose="020B0604020202020204" pitchFamily="34" charset="0"/>
                  </a:rPr>
                  <a:t> from 0.1 </a:t>
                </a:r>
                <a:r>
                  <a:rPr lang="en-US" sz="3200" dirty="0" err="1">
                    <a:cs typeface="Arial" panose="020B0604020202020204" pitchFamily="34" charset="0"/>
                  </a:rPr>
                  <a:t>μF</a:t>
                </a:r>
                <a:r>
                  <a:rPr lang="en-US" sz="3200" dirty="0">
                    <a:cs typeface="Arial" panose="020B0604020202020204" pitchFamily="34" charset="0"/>
                  </a:rPr>
                  <a:t> and hence the resistor value decreases 10 times. So, we can use 12 </a:t>
                </a:r>
                <a:r>
                  <a:rPr lang="en-US" sz="3200" dirty="0" err="1">
                    <a:cs typeface="Arial" panose="020B0604020202020204" pitchFamily="34" charset="0"/>
                  </a:rPr>
                  <a:t>kΩ</a:t>
                </a:r>
                <a:r>
                  <a:rPr lang="en-US" sz="3200" dirty="0">
                    <a:cs typeface="Arial" panose="020B0604020202020204" pitchFamily="34" charset="0"/>
                  </a:rPr>
                  <a:t> for </a:t>
                </a:r>
                <a:r>
                  <a:rPr lang="en-US" sz="3200" i="1" dirty="0">
                    <a:cs typeface="Arial" panose="020B0604020202020204" pitchFamily="34" charset="0"/>
                  </a:rPr>
                  <a:t>R</a:t>
                </a:r>
                <a:r>
                  <a:rPr lang="en-US" sz="3200" baseline="-25000" dirty="0">
                    <a:cs typeface="Arial" panose="020B0604020202020204" pitchFamily="34" charset="0"/>
                  </a:rPr>
                  <a:t>2</a:t>
                </a:r>
                <a:r>
                  <a:rPr lang="en-US" sz="3200" dirty="0">
                    <a:cs typeface="Arial" panose="020B0604020202020204" pitchFamily="34" charset="0"/>
                  </a:rPr>
                  <a:t>. A resistance of 12 </a:t>
                </a:r>
                <a:r>
                  <a:rPr lang="en-US" sz="3200" dirty="0" err="1">
                    <a:cs typeface="Arial" panose="020B0604020202020204" pitchFamily="34" charset="0"/>
                  </a:rPr>
                  <a:t>kΩ</a:t>
                </a:r>
                <a:r>
                  <a:rPr lang="en-US" sz="3200" dirty="0">
                    <a:cs typeface="Arial" panose="020B0604020202020204" pitchFamily="34" charset="0"/>
                  </a:rPr>
                  <a:t> is commercially available in the market.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53181" y="1371600"/>
                <a:ext cx="14148619" cy="6124448"/>
              </a:xfrm>
              <a:blipFill>
                <a:blip r:embed="rId3"/>
                <a:stretch>
                  <a:fillRect l="-905" t="-1194" r="-1723" b="-398"/>
                </a:stretch>
              </a:blipFill>
            </p:spPr>
            <p:txBody>
              <a:bodyPr/>
              <a:lstStyle/>
              <a:p>
                <a:r>
                  <a:rPr lang="en-US">
                    <a:noFill/>
                  </a:rPr>
                  <a:t> </a:t>
                </a:r>
              </a:p>
            </p:txBody>
          </p:sp>
        </mc:Fallback>
      </mc:AlternateContent>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sp>
        <p:nvSpPr>
          <p:cNvPr id="7" name="Date Placeholder 6"/>
          <p:cNvSpPr>
            <a:spLocks noGrp="1"/>
          </p:cNvSpPr>
          <p:nvPr>
            <p:ph type="dt" sz="half" idx="10"/>
          </p:nvPr>
        </p:nvSpPr>
        <p:spPr/>
        <p:txBody>
          <a:bodyPr/>
          <a:lstStyle/>
          <a:p>
            <a:fld id="{386C4CD3-1055-4803-8131-20120CCD2DA4}" type="datetime3">
              <a:rPr lang="en-US" smtClean="0"/>
              <a:t>15 June 2026</a:t>
            </a:fld>
            <a:endParaRPr lang="en-US"/>
          </a:p>
        </p:txBody>
      </p:sp>
    </p:spTree>
    <p:extLst>
      <p:ext uri="{BB962C8B-B14F-4D97-AF65-F5344CB8AC3E}">
        <p14:creationId xmlns:p14="http://schemas.microsoft.com/office/powerpoint/2010/main" val="6979816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554" y="391160"/>
            <a:ext cx="13167360" cy="1132840"/>
          </a:xfrm>
        </p:spPr>
        <p:txBody>
          <a:bodyPr>
            <a:normAutofit/>
          </a:bodyPr>
          <a:lstStyle/>
          <a:p>
            <a:r>
              <a:rPr lang="en-US" sz="5400" b="1" dirty="0"/>
              <a:t>Hardware Debouncing</a:t>
            </a:r>
          </a:p>
        </p:txBody>
      </p:sp>
      <p:sp>
        <p:nvSpPr>
          <p:cNvPr id="3" name="Content Placeholder 2"/>
          <p:cNvSpPr>
            <a:spLocks noGrp="1"/>
          </p:cNvSpPr>
          <p:nvPr>
            <p:ph idx="1"/>
          </p:nvPr>
        </p:nvSpPr>
        <p:spPr>
          <a:xfrm>
            <a:off x="152400" y="1295400"/>
            <a:ext cx="14318160" cy="1600200"/>
          </a:xfrm>
        </p:spPr>
        <p:txBody>
          <a:bodyPr lIns="0" rIns="0">
            <a:noAutofit/>
          </a:bodyPr>
          <a:lstStyle/>
          <a:p>
            <a:pPr marL="124355" indent="0" algn="just">
              <a:spcBef>
                <a:spcPts val="0"/>
              </a:spcBef>
              <a:buNone/>
            </a:pPr>
            <a:r>
              <a:rPr lang="en-US" sz="3200" b="1" dirty="0">
                <a:solidFill>
                  <a:srgbClr val="FF0000"/>
                </a:solidFill>
              </a:rPr>
              <a:t>Numerical Example (continuing):</a:t>
            </a:r>
          </a:p>
          <a:p>
            <a:pPr marL="124355" indent="0">
              <a:spcBef>
                <a:spcPts val="0"/>
              </a:spcBef>
              <a:buNone/>
            </a:pPr>
            <a:r>
              <a:rPr lang="en-US" sz="3200" i="1" dirty="0">
                <a:cs typeface="Arial" panose="020B0604020202020204" pitchFamily="34" charset="0"/>
              </a:rPr>
              <a:t>R</a:t>
            </a:r>
            <a:r>
              <a:rPr lang="en-US" sz="3200" baseline="-25000" dirty="0">
                <a:cs typeface="Arial" panose="020B0604020202020204" pitchFamily="34" charset="0"/>
              </a:rPr>
              <a:t>1</a:t>
            </a:r>
            <a:r>
              <a:rPr lang="en-US" sz="3200" dirty="0">
                <a:cs typeface="Arial" panose="020B0604020202020204" pitchFamily="34" charset="0"/>
              </a:rPr>
              <a:t> + </a:t>
            </a:r>
            <a:r>
              <a:rPr lang="en-US" sz="3200" i="1" dirty="0">
                <a:cs typeface="Arial" panose="020B0604020202020204" pitchFamily="34" charset="0"/>
              </a:rPr>
              <a:t>R</a:t>
            </a:r>
            <a:r>
              <a:rPr lang="en-US" sz="3200" baseline="-25000" dirty="0">
                <a:cs typeface="Arial" panose="020B0604020202020204" pitchFamily="34" charset="0"/>
              </a:rPr>
              <a:t>2</a:t>
            </a:r>
            <a:r>
              <a:rPr lang="en-US" sz="3200" dirty="0">
                <a:cs typeface="Arial" panose="020B0604020202020204" pitchFamily="34" charset="0"/>
              </a:rPr>
              <a:t> controls the capacitor’s charging time and so sets the debounce period for the condition when the switch opens. The equation for charging is: </a:t>
            </a:r>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a:p>
        </p:txBody>
      </p:sp>
      <p:sp>
        <p:nvSpPr>
          <p:cNvPr id="7" name="Date Placeholder 6"/>
          <p:cNvSpPr>
            <a:spLocks noGrp="1"/>
          </p:cNvSpPr>
          <p:nvPr>
            <p:ph type="dt" sz="half" idx="10"/>
          </p:nvPr>
        </p:nvSpPr>
        <p:spPr/>
        <p:txBody>
          <a:bodyPr/>
          <a:lstStyle/>
          <a:p>
            <a:fld id="{386C4CD3-1055-4803-8131-20120CCD2DA4}" type="datetime3">
              <a:rPr lang="en-US" smtClean="0"/>
              <a:t>15 June 2026</a:t>
            </a:fld>
            <a:endParaRPr lang="en-US"/>
          </a:p>
        </p:txBody>
      </p:sp>
      <p:sp>
        <p:nvSpPr>
          <p:cNvPr id="11" name="TextBox 10"/>
          <p:cNvSpPr txBox="1"/>
          <p:nvPr/>
        </p:nvSpPr>
        <p:spPr>
          <a:xfrm>
            <a:off x="1600200" y="3581400"/>
            <a:ext cx="3189157" cy="584775"/>
          </a:xfrm>
          <a:prstGeom prst="rect">
            <a:avLst/>
          </a:prstGeom>
          <a:noFill/>
        </p:spPr>
        <p:txBody>
          <a:bodyPr wrap="square" rtlCol="0">
            <a:spAutoFit/>
          </a:bodyPr>
          <a:lstStyle/>
          <a:p>
            <a:pPr algn="r"/>
            <a:r>
              <a:rPr lang="en-US" sz="3200" dirty="0">
                <a:solidFill>
                  <a:srgbClr val="FF0000"/>
                </a:solidFill>
              </a:rPr>
              <a:t>Solving for </a:t>
            </a:r>
            <a:r>
              <a:rPr lang="en-US" sz="3200" i="1" dirty="0">
                <a:solidFill>
                  <a:srgbClr val="FF0000"/>
                </a:solidFill>
              </a:rPr>
              <a:t>R</a:t>
            </a:r>
            <a:r>
              <a:rPr lang="en-US" sz="3200" dirty="0">
                <a:solidFill>
                  <a:srgbClr val="FF0000"/>
                </a:solidFill>
              </a:rPr>
              <a:t>:</a:t>
            </a:r>
          </a:p>
        </p:txBody>
      </p:sp>
      <mc:AlternateContent xmlns:mc="http://schemas.openxmlformats.org/markup-compatibility/2006" xmlns:a14="http://schemas.microsoft.com/office/drawing/2010/main">
        <mc:Choice Requires="a14">
          <p:sp>
            <p:nvSpPr>
              <p:cNvPr id="12" name="Rectangle 11"/>
              <p:cNvSpPr/>
              <p:nvPr/>
            </p:nvSpPr>
            <p:spPr>
              <a:xfrm>
                <a:off x="260554" y="4944850"/>
                <a:ext cx="14210006" cy="2545633"/>
              </a:xfrm>
              <a:prstGeom prst="rect">
                <a:avLst/>
              </a:prstGeom>
            </p:spPr>
            <p:txBody>
              <a:bodyPr wrap="square" lIns="0" rIns="0">
                <a:spAutoFit/>
              </a:bodyPr>
              <a:lstStyle/>
              <a:p>
                <a:r>
                  <a:rPr lang="en-US" sz="3200" i="1" dirty="0"/>
                  <a:t>V</a:t>
                </a:r>
                <a:r>
                  <a:rPr lang="en-US" sz="3200" i="1" baseline="-25000" dirty="0" err="1"/>
                  <a:t>final</a:t>
                </a:r>
                <a:r>
                  <a:rPr lang="en-US" sz="3200" dirty="0"/>
                  <a:t> is the final charged value of the 5 V power supply. </a:t>
                </a:r>
                <a:r>
                  <a:rPr lang="en-US" sz="3200" i="1" dirty="0" err="1">
                    <a:solidFill>
                      <a:srgbClr val="0070C0"/>
                    </a:solidFill>
                  </a:rPr>
                  <a:t>V</a:t>
                </a:r>
                <a:r>
                  <a:rPr lang="en-US" sz="3200" i="1" baseline="-25000" dirty="0" err="1">
                    <a:solidFill>
                      <a:srgbClr val="0070C0"/>
                    </a:solidFill>
                  </a:rPr>
                  <a:t>th,H</a:t>
                </a:r>
                <a:r>
                  <a:rPr lang="en-US" sz="3200" dirty="0"/>
                  <a:t> is the worst-case transition point for a high-going signal, which for our 74AHCT14 is </a:t>
                </a:r>
                <a:r>
                  <a:rPr lang="en-US" sz="3200" dirty="0">
                    <a:solidFill>
                      <a:srgbClr val="0070C0"/>
                    </a:solidFill>
                  </a:rPr>
                  <a:t>1.7 V</a:t>
                </a:r>
                <a:r>
                  <a:rPr lang="en-US" sz="3200" dirty="0"/>
                  <a:t>. So, </a:t>
                </a:r>
                <a14:m>
                  <m:oMath xmlns:m="http://schemas.openxmlformats.org/officeDocument/2006/math">
                    <m:sSub>
                      <m:sSubPr>
                        <m:ctrlPr>
                          <a:rPr lang="en-US" sz="3200" i="1">
                            <a:latin typeface="Cambria Math" panose="02040503050406030204" pitchFamily="18" charset="0"/>
                            <a:cs typeface="Arial" panose="020B0604020202020204" pitchFamily="34" charset="0"/>
                          </a:rPr>
                        </m:ctrlPr>
                      </m:sSubPr>
                      <m:e>
                        <m:r>
                          <a:rPr lang="en-US" sz="3200" i="1">
                            <a:latin typeface="Cambria Math" panose="02040503050406030204" pitchFamily="18" charset="0"/>
                            <a:cs typeface="Arial" panose="020B0604020202020204" pitchFamily="34" charset="0"/>
                          </a:rPr>
                          <m:t>𝑅</m:t>
                        </m:r>
                      </m:e>
                      <m:sub>
                        <m:r>
                          <a:rPr lang="en-US" sz="3200" b="0" i="1" smtClean="0">
                            <a:latin typeface="Cambria Math" panose="02040503050406030204" pitchFamily="18" charset="0"/>
                            <a:cs typeface="Arial" panose="020B0604020202020204" pitchFamily="34" charset="0"/>
                          </a:rPr>
                          <m:t>1</m:t>
                        </m:r>
                      </m:sub>
                    </m:sSub>
                    <m:r>
                      <a:rPr lang="en-US" sz="3200" b="0" i="1" smtClean="0">
                        <a:latin typeface="Cambria Math" panose="02040503050406030204" pitchFamily="18" charset="0"/>
                        <a:cs typeface="Arial" panose="020B0604020202020204" pitchFamily="34" charset="0"/>
                      </a:rPr>
                      <m:t>+</m:t>
                    </m:r>
                    <m:sSub>
                      <m:sSubPr>
                        <m:ctrlPr>
                          <a:rPr lang="en-US" sz="3200" i="1" smtClean="0">
                            <a:latin typeface="Cambria Math" panose="02040503050406030204" pitchFamily="18" charset="0"/>
                            <a:cs typeface="Arial" panose="020B0604020202020204" pitchFamily="34" charset="0"/>
                          </a:rPr>
                        </m:ctrlPr>
                      </m:sSubPr>
                      <m:e>
                        <m:r>
                          <a:rPr lang="en-US" sz="3200" b="0" i="1" smtClean="0">
                            <a:latin typeface="Cambria Math" panose="02040503050406030204" pitchFamily="18" charset="0"/>
                            <a:cs typeface="Arial" panose="020B0604020202020204" pitchFamily="34" charset="0"/>
                          </a:rPr>
                          <m:t>𝑅</m:t>
                        </m:r>
                      </m:e>
                      <m:sub>
                        <m:r>
                          <a:rPr lang="en-US" sz="3200" b="0" i="1" smtClean="0">
                            <a:latin typeface="Cambria Math" panose="02040503050406030204" pitchFamily="18" charset="0"/>
                            <a:cs typeface="Arial" panose="020B0604020202020204" pitchFamily="34" charset="0"/>
                          </a:rPr>
                          <m:t>2</m:t>
                        </m:r>
                      </m:sub>
                    </m:sSub>
                    <m:r>
                      <a:rPr lang="en-US" sz="3200" b="0" i="1" smtClean="0">
                        <a:latin typeface="Cambria Math" panose="02040503050406030204" pitchFamily="18" charset="0"/>
                        <a:cs typeface="Arial" panose="020B0604020202020204" pitchFamily="34" charset="0"/>
                      </a:rPr>
                      <m:t>=−</m:t>
                    </m:r>
                    <m:f>
                      <m:fPr>
                        <m:ctrlPr>
                          <a:rPr lang="en-US" sz="3200" b="0" i="1" smtClean="0">
                            <a:latin typeface="Cambria Math" panose="02040503050406030204" pitchFamily="18" charset="0"/>
                            <a:cs typeface="Arial" panose="020B0604020202020204" pitchFamily="34" charset="0"/>
                          </a:rPr>
                        </m:ctrlPr>
                      </m:fPr>
                      <m:num>
                        <m:r>
                          <a:rPr lang="en-US" sz="3200" b="0" i="1" smtClean="0">
                            <a:latin typeface="Cambria Math" panose="02040503050406030204" pitchFamily="18" charset="0"/>
                            <a:cs typeface="Arial" panose="020B0604020202020204" pitchFamily="34" charset="0"/>
                          </a:rPr>
                          <m:t>20</m:t>
                        </m:r>
                        <m:r>
                          <a:rPr lang="en-US" sz="3200" b="0"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n-US" sz="32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3200" b="0" i="1" smtClean="0">
                                <a:latin typeface="Cambria Math" panose="02040503050406030204" pitchFamily="18" charset="0"/>
                                <a:ea typeface="Cambria Math" panose="02040503050406030204" pitchFamily="18" charset="0"/>
                                <a:cs typeface="Arial" panose="020B0604020202020204" pitchFamily="34" charset="0"/>
                              </a:rPr>
                              <m:t>10</m:t>
                            </m:r>
                          </m:e>
                          <m:sup>
                            <m:r>
                              <a:rPr lang="en-US" sz="3200" b="0" i="1" smtClean="0">
                                <a:latin typeface="Cambria Math" panose="02040503050406030204" pitchFamily="18" charset="0"/>
                                <a:ea typeface="Cambria Math" panose="02040503050406030204" pitchFamily="18" charset="0"/>
                                <a:cs typeface="Arial" panose="020B0604020202020204" pitchFamily="34" charset="0"/>
                              </a:rPr>
                              <m:t>−3</m:t>
                            </m:r>
                          </m:sup>
                        </m:sSup>
                      </m:num>
                      <m:den>
                        <m:r>
                          <a:rPr lang="en-US" sz="3200" b="0" i="1" smtClean="0">
                            <a:latin typeface="Cambria Math" panose="02040503050406030204" pitchFamily="18" charset="0"/>
                            <a:cs typeface="Arial" panose="020B0604020202020204" pitchFamily="34" charset="0"/>
                          </a:rPr>
                          <m:t>1</m:t>
                        </m:r>
                        <m:r>
                          <a:rPr lang="en-US" sz="3200" b="0"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n-US" sz="32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3200" b="0" i="1" smtClean="0">
                                <a:latin typeface="Cambria Math" panose="02040503050406030204" pitchFamily="18" charset="0"/>
                                <a:ea typeface="Cambria Math" panose="02040503050406030204" pitchFamily="18" charset="0"/>
                                <a:cs typeface="Arial" panose="020B0604020202020204" pitchFamily="34" charset="0"/>
                              </a:rPr>
                              <m:t>10</m:t>
                            </m:r>
                          </m:e>
                          <m:sup>
                            <m:r>
                              <a:rPr lang="en-US" sz="3200" b="0" i="1" smtClean="0">
                                <a:latin typeface="Cambria Math" panose="02040503050406030204" pitchFamily="18" charset="0"/>
                                <a:ea typeface="Cambria Math" panose="02040503050406030204" pitchFamily="18" charset="0"/>
                                <a:cs typeface="Arial" panose="020B0604020202020204" pitchFamily="34" charset="0"/>
                              </a:rPr>
                              <m:t>−6</m:t>
                            </m:r>
                          </m:sup>
                        </m:sSup>
                        <m:r>
                          <a:rPr lang="en-US" sz="3200" b="0" i="1" smtClean="0">
                            <a:latin typeface="Cambria Math" panose="02040503050406030204" pitchFamily="18" charset="0"/>
                            <a:ea typeface="Cambria Math" panose="02040503050406030204" pitchFamily="18" charset="0"/>
                            <a:cs typeface="Arial" panose="020B0604020202020204" pitchFamily="34" charset="0"/>
                          </a:rPr>
                          <m:t>𝑙𝑛</m:t>
                        </m:r>
                        <m:d>
                          <m:dPr>
                            <m:ctrlPr>
                              <a:rPr lang="en-US" sz="3200" b="0" i="1" smtClean="0">
                                <a:latin typeface="Cambria Math" panose="02040503050406030204" pitchFamily="18" charset="0"/>
                                <a:ea typeface="Cambria Math" panose="02040503050406030204" pitchFamily="18" charset="0"/>
                                <a:cs typeface="Arial" panose="020B0604020202020204" pitchFamily="34" charset="0"/>
                              </a:rPr>
                            </m:ctrlPr>
                          </m:dPr>
                          <m:e>
                            <m:r>
                              <a:rPr lang="en-US" sz="3200" b="0" i="1" smtClean="0">
                                <a:latin typeface="Cambria Math" panose="02040503050406030204" pitchFamily="18" charset="0"/>
                                <a:ea typeface="Cambria Math" panose="02040503050406030204" pitchFamily="18" charset="0"/>
                                <a:cs typeface="Arial" panose="020B0604020202020204" pitchFamily="34" charset="0"/>
                              </a:rPr>
                              <m:t>1−</m:t>
                            </m:r>
                            <m:f>
                              <m:fPr>
                                <m:ctrlPr>
                                  <a:rPr lang="en-US" sz="3200" i="1">
                                    <a:latin typeface="Cambria Math" panose="02040503050406030204" pitchFamily="18" charset="0"/>
                                    <a:ea typeface="Cambria Math" panose="02040503050406030204" pitchFamily="18" charset="0"/>
                                    <a:cs typeface="Arial" panose="020B0604020202020204" pitchFamily="34" charset="0"/>
                                  </a:rPr>
                                </m:ctrlPr>
                              </m:fPr>
                              <m:num>
                                <m:r>
                                  <a:rPr lang="en-US" sz="3200" b="0" i="1" smtClean="0">
                                    <a:latin typeface="Cambria Math" panose="02040503050406030204" pitchFamily="18" charset="0"/>
                                    <a:ea typeface="Cambria Math" panose="02040503050406030204" pitchFamily="18" charset="0"/>
                                    <a:cs typeface="Arial" panose="020B0604020202020204" pitchFamily="34" charset="0"/>
                                  </a:rPr>
                                  <m:t>1</m:t>
                                </m:r>
                                <m:r>
                                  <a:rPr lang="en-US" sz="3200" i="1">
                                    <a:latin typeface="Cambria Math" panose="02040503050406030204" pitchFamily="18" charset="0"/>
                                    <a:ea typeface="Cambria Math" panose="02040503050406030204" pitchFamily="18" charset="0"/>
                                    <a:cs typeface="Arial" panose="020B0604020202020204" pitchFamily="34" charset="0"/>
                                  </a:rPr>
                                  <m:t>.</m:t>
                                </m:r>
                                <m:r>
                                  <a:rPr lang="en-US" sz="3200" b="0" i="1" smtClean="0">
                                    <a:latin typeface="Cambria Math" panose="02040503050406030204" pitchFamily="18" charset="0"/>
                                    <a:ea typeface="Cambria Math" panose="02040503050406030204" pitchFamily="18" charset="0"/>
                                    <a:cs typeface="Arial" panose="020B0604020202020204" pitchFamily="34" charset="0"/>
                                  </a:rPr>
                                  <m:t>7</m:t>
                                </m:r>
                              </m:num>
                              <m:den>
                                <m:r>
                                  <a:rPr lang="en-US" sz="3200" i="1">
                                    <a:latin typeface="Cambria Math" panose="02040503050406030204" pitchFamily="18" charset="0"/>
                                    <a:ea typeface="Cambria Math" panose="02040503050406030204" pitchFamily="18" charset="0"/>
                                    <a:cs typeface="Arial" panose="020B0604020202020204" pitchFamily="34" charset="0"/>
                                  </a:rPr>
                                  <m:t>5</m:t>
                                </m:r>
                              </m:den>
                            </m:f>
                          </m:e>
                        </m:d>
                      </m:den>
                    </m:f>
                    <m:r>
                      <a:rPr lang="en-US" sz="3200" b="0" i="1" smtClean="0">
                        <a:latin typeface="Cambria Math" panose="02040503050406030204" pitchFamily="18" charset="0"/>
                        <a:cs typeface="Arial" panose="020B0604020202020204" pitchFamily="34" charset="0"/>
                      </a:rPr>
                      <m:t>=</m:t>
                    </m:r>
                    <m:r>
                      <m:rPr>
                        <m:nor/>
                      </m:rPr>
                      <a:rPr lang="en-US" sz="3200" b="0" i="0" smtClean="0">
                        <a:latin typeface="Cambria Math" panose="02040503050406030204" pitchFamily="18" charset="0"/>
                        <a:cs typeface="Arial" panose="020B0604020202020204" pitchFamily="34" charset="0"/>
                      </a:rPr>
                      <m:t>4</m:t>
                    </m:r>
                    <m:r>
                      <m:rPr>
                        <m:nor/>
                      </m:rPr>
                      <a:rPr lang="en-US" sz="3200" dirty="0"/>
                      <m:t>8</m:t>
                    </m:r>
                    <m:r>
                      <a:rPr lang="en-US" sz="3200" b="0" i="0" dirty="0" smtClean="0">
                        <a:latin typeface="Cambria Math" panose="02040503050406030204" pitchFamily="18" charset="0"/>
                      </a:rPr>
                      <m:t> </m:t>
                    </m:r>
                    <m:r>
                      <m:rPr>
                        <m:sty m:val="p"/>
                      </m:rPr>
                      <a:rPr lang="en-US" sz="3200" b="0" i="0" smtClean="0">
                        <a:latin typeface="Cambria Math" panose="02040503050406030204" pitchFamily="18" charset="0"/>
                        <a:cs typeface="Arial" panose="020B0604020202020204" pitchFamily="34" charset="0"/>
                      </a:rPr>
                      <m:t>k</m:t>
                    </m:r>
                    <m:r>
                      <m:rPr>
                        <m:sty m:val="p"/>
                      </m:rPr>
                      <a:rPr lang="el-GR" sz="3200" b="0" i="1" smtClean="0">
                        <a:latin typeface="Cambria Math" panose="02040503050406030204" pitchFamily="18" charset="0"/>
                        <a:ea typeface="Cambria Math" panose="02040503050406030204" pitchFamily="18" charset="0"/>
                        <a:cs typeface="Arial" panose="020B0604020202020204" pitchFamily="34" charset="0"/>
                      </a:rPr>
                      <m:t>Ω</m:t>
                    </m:r>
                  </m:oMath>
                </a14:m>
                <a:r>
                  <a:rPr lang="en-US" sz="3200" i="1" dirty="0"/>
                  <a:t> </a:t>
                </a:r>
                <a:r>
                  <a:rPr lang="en-US" sz="2400" dirty="0"/>
                  <a:t>(</a:t>
                </a:r>
                <a:r>
                  <a:rPr lang="en-US" sz="2400" dirty="0">
                    <a:solidFill>
                      <a:srgbClr val="FFC000"/>
                    </a:solidFill>
                  </a:rPr>
                  <a:t>if no diode is used R</a:t>
                </a:r>
                <a:r>
                  <a:rPr lang="en-US" sz="2400" baseline="-25000" dirty="0">
                    <a:solidFill>
                      <a:srgbClr val="FFC000"/>
                    </a:solidFill>
                  </a:rPr>
                  <a:t>2</a:t>
                </a:r>
                <a:r>
                  <a:rPr lang="en-US" sz="2400" dirty="0">
                    <a:solidFill>
                      <a:srgbClr val="FFC000"/>
                    </a:solidFill>
                  </a:rPr>
                  <a:t> won’t be shorted during charging</a:t>
                </a:r>
                <a:r>
                  <a:rPr lang="en-US" sz="2400" dirty="0"/>
                  <a:t>).</a:t>
                </a:r>
                <a:r>
                  <a:rPr lang="en-US" sz="3200" dirty="0"/>
                  <a:t> </a:t>
                </a:r>
              </a:p>
              <a:p>
                <a:r>
                  <a:rPr lang="en-US" sz="3200" dirty="0"/>
                  <a:t>Since, we have calculated</a:t>
                </a:r>
                <a:r>
                  <a:rPr lang="en-US" sz="3200" i="1" dirty="0"/>
                  <a:t> R</a:t>
                </a:r>
                <a:r>
                  <a:rPr lang="en-US" sz="3200" baseline="-25000" dirty="0"/>
                  <a:t>2</a:t>
                </a:r>
                <a:r>
                  <a:rPr lang="en-US" sz="3200" dirty="0"/>
                  <a:t> = 12 </a:t>
                </a:r>
                <a:r>
                  <a:rPr lang="en-US" sz="3200" dirty="0" err="1"/>
                  <a:t>kΩ</a:t>
                </a:r>
                <a:r>
                  <a:rPr lang="en-US" sz="3200" dirty="0"/>
                  <a:t>, hence, </a:t>
                </a:r>
                <a:r>
                  <a:rPr lang="en-US" sz="3200" i="1" dirty="0"/>
                  <a:t>R</a:t>
                </a:r>
                <a:r>
                  <a:rPr lang="en-US" sz="3200" baseline="-25000" dirty="0"/>
                  <a:t>1</a:t>
                </a:r>
                <a:r>
                  <a:rPr lang="en-US" sz="3200" dirty="0"/>
                  <a:t> = 48 – 12 = 36 </a:t>
                </a:r>
                <a:r>
                  <a:rPr lang="en-US" sz="3200" dirty="0" err="1"/>
                  <a:t>kΩ</a:t>
                </a:r>
                <a:r>
                  <a:rPr lang="en-US" sz="3200" dirty="0"/>
                  <a:t>. </a:t>
                </a:r>
                <a:r>
                  <a:rPr lang="en-US" sz="3200" dirty="0">
                    <a:solidFill>
                      <a:srgbClr val="FF0000"/>
                    </a:solidFill>
                    <a:sym typeface="Wingdings" panose="05000000000000000000" pitchFamily="2" charset="2"/>
                  </a:rPr>
                  <a:t> Available</a:t>
                </a:r>
                <a:endParaRPr lang="en-US" sz="4000" dirty="0">
                  <a:solidFill>
                    <a:srgbClr val="FF0000"/>
                  </a:solidFill>
                </a:endParaRPr>
              </a:p>
            </p:txBody>
          </p:sp>
        </mc:Choice>
        <mc:Fallback xmlns="">
          <p:sp>
            <p:nvSpPr>
              <p:cNvPr id="12" name="Rectangle 11"/>
              <p:cNvSpPr>
                <a:spLocks noRot="1" noChangeAspect="1" noMove="1" noResize="1" noEditPoints="1" noAdjustHandles="1" noChangeArrowheads="1" noChangeShapeType="1" noTextEdit="1"/>
              </p:cNvSpPr>
              <p:nvPr/>
            </p:nvSpPr>
            <p:spPr>
              <a:xfrm>
                <a:off x="260554" y="4944850"/>
                <a:ext cx="14210006" cy="2545633"/>
              </a:xfrm>
              <a:prstGeom prst="rect">
                <a:avLst/>
              </a:prstGeom>
              <a:blipFill>
                <a:blip r:embed="rId3"/>
                <a:stretch>
                  <a:fillRect l="-1759" t="-2871" r="-1201" b="-69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BB6E67D1-928C-EF1B-D5A7-D22BB9B90CDB}"/>
                  </a:ext>
                </a:extLst>
              </p:cNvPr>
              <p:cNvSpPr txBox="1"/>
              <p:nvPr/>
            </p:nvSpPr>
            <p:spPr>
              <a:xfrm>
                <a:off x="4343400" y="2819400"/>
                <a:ext cx="5715000" cy="6457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600" i="1" smtClean="0">
                              <a:latin typeface="Cambria Math" panose="02040503050406030204" pitchFamily="18" charset="0"/>
                            </a:rPr>
                          </m:ctrlPr>
                        </m:sSubPr>
                        <m:e>
                          <m:r>
                            <a:rPr lang="en-US" sz="3600" b="0" i="1" smtClean="0">
                              <a:latin typeface="Cambria Math" panose="02040503050406030204" pitchFamily="18" charset="0"/>
                            </a:rPr>
                            <m:t>𝑣</m:t>
                          </m:r>
                        </m:e>
                        <m:sub>
                          <m:r>
                            <a:rPr lang="en-US" sz="3600" b="0" i="1" smtClean="0">
                              <a:latin typeface="Cambria Math" panose="02040503050406030204" pitchFamily="18" charset="0"/>
                            </a:rPr>
                            <m:t>𝑐</m:t>
                          </m:r>
                        </m:sub>
                      </m:sSub>
                      <m:r>
                        <a:rPr lang="en-US" sz="3600" b="0" i="1" smtClean="0">
                          <a:latin typeface="Cambria Math" panose="02040503050406030204" pitchFamily="18" charset="0"/>
                        </a:rPr>
                        <m:t>=</m:t>
                      </m:r>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𝑉</m:t>
                          </m:r>
                        </m:e>
                        <m:sub>
                          <m:r>
                            <a:rPr lang="en-US" sz="3600" b="0" i="1" smtClean="0">
                              <a:latin typeface="Cambria Math" panose="02040503050406030204" pitchFamily="18" charset="0"/>
                            </a:rPr>
                            <m:t>𝑓𝑖𝑛𝑎𝑙</m:t>
                          </m:r>
                        </m:sub>
                      </m:sSub>
                      <m:d>
                        <m:dPr>
                          <m:ctrlPr>
                            <a:rPr lang="en-US" sz="3600" b="0" i="1" smtClean="0">
                              <a:latin typeface="Cambria Math" panose="02040503050406030204" pitchFamily="18" charset="0"/>
                            </a:rPr>
                          </m:ctrlPr>
                        </m:dPr>
                        <m:e>
                          <m:r>
                            <a:rPr lang="en-US" sz="3600" b="0" i="1" smtClean="0">
                              <a:latin typeface="Cambria Math" panose="02040503050406030204" pitchFamily="18" charset="0"/>
                            </a:rPr>
                            <m:t>1−</m:t>
                          </m:r>
                          <m:sSup>
                            <m:sSupPr>
                              <m:ctrlPr>
                                <a:rPr lang="en-US" sz="3600" i="1">
                                  <a:latin typeface="Cambria Math" panose="02040503050406030204" pitchFamily="18" charset="0"/>
                                </a:rPr>
                              </m:ctrlPr>
                            </m:sSupPr>
                            <m:e>
                              <m:r>
                                <a:rPr lang="en-US" sz="3600" i="1">
                                  <a:latin typeface="Cambria Math" panose="02040503050406030204" pitchFamily="18" charset="0"/>
                                </a:rPr>
                                <m:t>𝑒</m:t>
                              </m:r>
                            </m:e>
                            <m:sup>
                              <m:r>
                                <a:rPr lang="en-US" sz="3600" i="1">
                                  <a:latin typeface="Cambria Math" panose="02040503050406030204" pitchFamily="18" charset="0"/>
                                </a:rPr>
                                <m:t>−</m:t>
                              </m:r>
                              <m:f>
                                <m:fPr>
                                  <m:type m:val="lin"/>
                                  <m:ctrlPr>
                                    <a:rPr lang="en-US" sz="3600" i="1">
                                      <a:latin typeface="Cambria Math" panose="02040503050406030204" pitchFamily="18" charset="0"/>
                                    </a:rPr>
                                  </m:ctrlPr>
                                </m:fPr>
                                <m:num>
                                  <m:r>
                                    <a:rPr lang="en-US" sz="3600" i="1">
                                      <a:latin typeface="Cambria Math" panose="02040503050406030204" pitchFamily="18" charset="0"/>
                                    </a:rPr>
                                    <m:t>𝑡</m:t>
                                  </m:r>
                                </m:num>
                                <m:den>
                                  <m:r>
                                    <a:rPr lang="en-US" sz="3600" i="1">
                                      <a:latin typeface="Cambria Math" panose="02040503050406030204" pitchFamily="18" charset="0"/>
                                    </a:rPr>
                                    <m:t>𝑅𝐶</m:t>
                                  </m:r>
                                </m:den>
                              </m:f>
                            </m:sup>
                          </m:sSup>
                        </m:e>
                      </m:d>
                    </m:oMath>
                  </m:oMathPara>
                </a14:m>
                <a:endParaRPr lang="en-US" sz="3600" dirty="0"/>
              </a:p>
            </p:txBody>
          </p:sp>
        </mc:Choice>
        <mc:Fallback xmlns="">
          <p:sp>
            <p:nvSpPr>
              <p:cNvPr id="13" name="TextBox 12">
                <a:extLst>
                  <a:ext uri="{FF2B5EF4-FFF2-40B4-BE49-F238E27FC236}">
                    <a16:creationId xmlns:a16="http://schemas.microsoft.com/office/drawing/2014/main" id="{BB6E67D1-928C-EF1B-D5A7-D22BB9B90CDB}"/>
                  </a:ext>
                </a:extLst>
              </p:cNvPr>
              <p:cNvSpPr txBox="1">
                <a:spLocks noRot="1" noChangeAspect="1" noMove="1" noResize="1" noEditPoints="1" noAdjustHandles="1" noChangeArrowheads="1" noChangeShapeType="1" noTextEdit="1"/>
              </p:cNvSpPr>
              <p:nvPr/>
            </p:nvSpPr>
            <p:spPr>
              <a:xfrm>
                <a:off x="4343400" y="2819400"/>
                <a:ext cx="5715000" cy="64575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F6E17AB-2B64-84D6-59D3-205C9A1C200C}"/>
                  </a:ext>
                </a:extLst>
              </p:cNvPr>
              <p:cNvSpPr txBox="1"/>
              <p:nvPr/>
            </p:nvSpPr>
            <p:spPr>
              <a:xfrm>
                <a:off x="4343400" y="3445831"/>
                <a:ext cx="7086599" cy="1606402"/>
              </a:xfrm>
              <a:prstGeom prst="rect">
                <a:avLst/>
              </a:prstGeom>
              <a:noFill/>
            </p:spPr>
            <p:txBody>
              <a:bodyPr wrap="square" lIns="0" tIns="0" rIns="0" bIns="0" rtlCol="0">
                <a:spAutoFit/>
              </a:bodyPr>
              <a:lstStyle/>
              <a:p>
                <a:pPr/>
                <a14:m>
                  <m:oMathPara xmlns:m="http://schemas.openxmlformats.org/officeDocument/2006/math">
                    <m:oMathParaPr>
                      <m:jc m:val="center"/>
                    </m:oMathParaPr>
                    <m:oMath xmlns:m="http://schemas.openxmlformats.org/officeDocument/2006/math">
                      <m:r>
                        <a:rPr lang="en-US" sz="3200" b="0" i="1" smtClean="0">
                          <a:latin typeface="Cambria Math" panose="02040503050406030204" pitchFamily="18" charset="0"/>
                        </a:rPr>
                        <m:t>𝑅</m:t>
                      </m:r>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𝑅</m:t>
                          </m:r>
                        </m:e>
                        <m:sub>
                          <m:r>
                            <a:rPr lang="en-US" sz="3200" b="0" i="1" smtClean="0">
                              <a:latin typeface="Cambria Math" panose="02040503050406030204" pitchFamily="18" charset="0"/>
                            </a:rPr>
                            <m:t>1</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𝑅</m:t>
                          </m:r>
                        </m:e>
                        <m:sub>
                          <m:r>
                            <a:rPr lang="en-US" sz="3200" b="0" i="1" smtClean="0">
                              <a:latin typeface="Cambria Math" panose="02040503050406030204" pitchFamily="18" charset="0"/>
                            </a:rPr>
                            <m:t>2</m:t>
                          </m:r>
                        </m:sub>
                      </m:sSub>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𝑡</m:t>
                          </m:r>
                        </m:num>
                        <m:den>
                          <m:r>
                            <a:rPr lang="en-US" sz="3200" b="0" i="1" smtClean="0">
                              <a:latin typeface="Cambria Math" panose="02040503050406030204" pitchFamily="18" charset="0"/>
                            </a:rPr>
                            <m:t>𝐶𝑙𝑛</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1−</m:t>
                              </m:r>
                              <m:f>
                                <m:fPr>
                                  <m:ctrlPr>
                                    <a:rPr lang="en-US" sz="3200" i="1">
                                      <a:latin typeface="Cambria Math" panose="02040503050406030204" pitchFamily="18" charset="0"/>
                                    </a:rPr>
                                  </m:ctrlPr>
                                </m:fPr>
                                <m:num>
                                  <m:sSub>
                                    <m:sSubPr>
                                      <m:ctrlPr>
                                        <a:rPr lang="en-US" sz="3200" i="1" smtClean="0">
                                          <a:solidFill>
                                            <a:srgbClr val="0070C0"/>
                                          </a:solidFill>
                                          <a:latin typeface="Cambria Math" panose="02040503050406030204" pitchFamily="18" charset="0"/>
                                        </a:rPr>
                                      </m:ctrlPr>
                                    </m:sSubPr>
                                    <m:e>
                                      <m:r>
                                        <a:rPr lang="en-US" sz="3200" i="1">
                                          <a:solidFill>
                                            <a:srgbClr val="0070C0"/>
                                          </a:solidFill>
                                          <a:latin typeface="Cambria Math" panose="02040503050406030204" pitchFamily="18" charset="0"/>
                                        </a:rPr>
                                        <m:t>𝑉</m:t>
                                      </m:r>
                                    </m:e>
                                    <m:sub>
                                      <m:r>
                                        <a:rPr lang="en-US" sz="3200" i="1">
                                          <a:solidFill>
                                            <a:srgbClr val="0070C0"/>
                                          </a:solidFill>
                                          <a:latin typeface="Cambria Math" panose="02040503050406030204" pitchFamily="18" charset="0"/>
                                        </a:rPr>
                                        <m:t>𝑡h</m:t>
                                      </m:r>
                                      <m:r>
                                        <a:rPr lang="en-US" sz="3200" b="0" i="1" smtClean="0">
                                          <a:solidFill>
                                            <a:srgbClr val="0070C0"/>
                                          </a:solidFill>
                                          <a:latin typeface="Cambria Math" panose="02040503050406030204" pitchFamily="18" charset="0"/>
                                        </a:rPr>
                                        <m:t>,</m:t>
                                      </m:r>
                                      <m:r>
                                        <a:rPr lang="en-US" sz="3200" b="0" i="1" smtClean="0">
                                          <a:solidFill>
                                            <a:srgbClr val="0070C0"/>
                                          </a:solidFill>
                                          <a:latin typeface="Cambria Math" panose="02040503050406030204" pitchFamily="18" charset="0"/>
                                        </a:rPr>
                                        <m:t>𝐻</m:t>
                                      </m:r>
                                    </m:sub>
                                  </m:sSub>
                                </m:num>
                                <m:den>
                                  <m:sSub>
                                    <m:sSubPr>
                                      <m:ctrlPr>
                                        <a:rPr lang="en-US" sz="3200" i="1">
                                          <a:latin typeface="Cambria Math" panose="02040503050406030204" pitchFamily="18" charset="0"/>
                                        </a:rPr>
                                      </m:ctrlPr>
                                    </m:sSubPr>
                                    <m:e>
                                      <m:r>
                                        <a:rPr lang="en-US" sz="3200" i="1">
                                          <a:latin typeface="Cambria Math" panose="02040503050406030204" pitchFamily="18" charset="0"/>
                                        </a:rPr>
                                        <m:t>𝑉</m:t>
                                      </m:r>
                                    </m:e>
                                    <m:sub>
                                      <m:r>
                                        <a:rPr lang="en-US" sz="3200" i="1">
                                          <a:latin typeface="Cambria Math" panose="02040503050406030204" pitchFamily="18" charset="0"/>
                                        </a:rPr>
                                        <m:t>𝑓𝑖𝑛𝑎𝑙</m:t>
                                      </m:r>
                                    </m:sub>
                                  </m:sSub>
                                </m:den>
                              </m:f>
                            </m:e>
                          </m:d>
                        </m:den>
                      </m:f>
                    </m:oMath>
                  </m:oMathPara>
                </a14:m>
                <a:endParaRPr lang="en-US" sz="3200" dirty="0"/>
              </a:p>
            </p:txBody>
          </p:sp>
        </mc:Choice>
        <mc:Fallback xmlns="">
          <p:sp>
            <p:nvSpPr>
              <p:cNvPr id="14" name="TextBox 13">
                <a:extLst>
                  <a:ext uri="{FF2B5EF4-FFF2-40B4-BE49-F238E27FC236}">
                    <a16:creationId xmlns:a16="http://schemas.microsoft.com/office/drawing/2014/main" id="{5F6E17AB-2B64-84D6-59D3-205C9A1C200C}"/>
                  </a:ext>
                </a:extLst>
              </p:cNvPr>
              <p:cNvSpPr txBox="1">
                <a:spLocks noRot="1" noChangeAspect="1" noMove="1" noResize="1" noEditPoints="1" noAdjustHandles="1" noChangeArrowheads="1" noChangeShapeType="1" noTextEdit="1"/>
              </p:cNvSpPr>
              <p:nvPr/>
            </p:nvSpPr>
            <p:spPr>
              <a:xfrm>
                <a:off x="4343400" y="3445831"/>
                <a:ext cx="7086599" cy="1606402"/>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2690877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554" y="391160"/>
            <a:ext cx="13167360" cy="1132840"/>
          </a:xfrm>
        </p:spPr>
        <p:txBody>
          <a:bodyPr>
            <a:normAutofit/>
          </a:bodyPr>
          <a:lstStyle/>
          <a:p>
            <a:r>
              <a:rPr lang="en-US" sz="5400" b="1" dirty="0"/>
              <a:t>Hardware Debouncing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52400" y="1371600"/>
                <a:ext cx="14318160" cy="6079540"/>
              </a:xfrm>
            </p:spPr>
            <p:txBody>
              <a:bodyPr lIns="0" rIns="0">
                <a:noAutofit/>
              </a:bodyPr>
              <a:lstStyle/>
              <a:p>
                <a:pPr marL="124355" indent="0" algn="just">
                  <a:spcBef>
                    <a:spcPts val="0"/>
                  </a:spcBef>
                  <a:buNone/>
                </a:pPr>
                <a:r>
                  <a:rPr lang="en-US" sz="3200" b="1" dirty="0">
                    <a:solidFill>
                      <a:srgbClr val="FF0000"/>
                    </a:solidFill>
                  </a:rPr>
                  <a:t>Numerical Example (continuing):</a:t>
                </a:r>
              </a:p>
              <a:p>
                <a:pPr marL="124355" indent="0" algn="just">
                  <a:spcBef>
                    <a:spcPts val="0"/>
                  </a:spcBef>
                  <a:buNone/>
                </a:pPr>
                <a:r>
                  <a:rPr lang="en-US" sz="3200" dirty="0">
                    <a:cs typeface="Arial" panose="020B0604020202020204" pitchFamily="34" charset="0"/>
                  </a:rPr>
                  <a:t>The diode is an optional part. If we use a diode across </a:t>
                </a:r>
                <a:r>
                  <a:rPr lang="en-US" sz="3200" i="1" dirty="0">
                    <a:cs typeface="Arial" panose="020B0604020202020204" pitchFamily="34" charset="0"/>
                  </a:rPr>
                  <a:t>R</a:t>
                </a:r>
                <a:r>
                  <a:rPr lang="en-US" sz="3200" dirty="0">
                    <a:cs typeface="Arial" panose="020B0604020202020204" pitchFamily="34" charset="0"/>
                  </a:rPr>
                  <a:t>2 then it removes </a:t>
                </a:r>
                <a:r>
                  <a:rPr lang="en-US" sz="3200" i="1" dirty="0">
                    <a:cs typeface="Arial" panose="020B0604020202020204" pitchFamily="34" charset="0"/>
                  </a:rPr>
                  <a:t>R</a:t>
                </a:r>
                <a:r>
                  <a:rPr lang="en-US" sz="3200" baseline="-25000" dirty="0">
                    <a:cs typeface="Arial" panose="020B0604020202020204" pitchFamily="34" charset="0"/>
                  </a:rPr>
                  <a:t>2</a:t>
                </a:r>
                <a:r>
                  <a:rPr lang="en-US" sz="3200" dirty="0">
                    <a:cs typeface="Arial" panose="020B0604020202020204" pitchFamily="34" charset="0"/>
                  </a:rPr>
                  <a:t> from the charging circuit. All the charging current flows through the </a:t>
                </a:r>
                <a:r>
                  <a:rPr lang="en-US" sz="3200" i="1" dirty="0">
                    <a:cs typeface="Arial" panose="020B0604020202020204" pitchFamily="34" charset="0"/>
                  </a:rPr>
                  <a:t>R</a:t>
                </a:r>
                <a:r>
                  <a:rPr lang="en-US" sz="3200" baseline="-25000" dirty="0">
                    <a:cs typeface="Arial" panose="020B0604020202020204" pitchFamily="34" charset="0"/>
                  </a:rPr>
                  <a:t>1</a:t>
                </a:r>
                <a:r>
                  <a:rPr lang="en-US" sz="3200" dirty="0">
                    <a:cs typeface="Arial" panose="020B0604020202020204" pitchFamily="34" charset="0"/>
                  </a:rPr>
                  <a:t>.</a:t>
                </a:r>
              </a:p>
              <a:p>
                <a:pPr marL="124355" indent="0" algn="just">
                  <a:spcBef>
                    <a:spcPts val="0"/>
                  </a:spcBef>
                  <a:buNone/>
                </a:pPr>
                <a:r>
                  <a:rPr lang="en-US" sz="3200" dirty="0">
                    <a:cs typeface="Arial" panose="020B0604020202020204" pitchFamily="34" charset="0"/>
                  </a:rPr>
                  <a:t>Equations will be the same except that we must take the voltage drop across the diode into account. Change </a:t>
                </a:r>
                <a:r>
                  <a:rPr lang="en-US" sz="3200" i="1" dirty="0" err="1">
                    <a:cs typeface="Arial" panose="020B0604020202020204" pitchFamily="34" charset="0"/>
                  </a:rPr>
                  <a:t>V</a:t>
                </a:r>
                <a:r>
                  <a:rPr lang="en-US" sz="3200" i="1" baseline="-25000" dirty="0" err="1">
                    <a:cs typeface="Arial" panose="020B0604020202020204" pitchFamily="34" charset="0"/>
                  </a:rPr>
                  <a:t>final</a:t>
                </a:r>
                <a:r>
                  <a:rPr lang="en-US" sz="3200" dirty="0">
                    <a:cs typeface="Arial" panose="020B0604020202020204" pitchFamily="34" charset="0"/>
                  </a:rPr>
                  <a:t> to 4.3 V (5 minus the </a:t>
                </a:r>
                <a:r>
                  <a:rPr lang="en-US" sz="3200" dirty="0">
                    <a:solidFill>
                      <a:srgbClr val="FFC000"/>
                    </a:solidFill>
                    <a:cs typeface="Arial" panose="020B0604020202020204" pitchFamily="34" charset="0"/>
                  </a:rPr>
                  <a:t>0.7 V of the diode’s forward voltage drop, </a:t>
                </a:r>
                <a:r>
                  <a:rPr lang="en-US" sz="3200" i="1" dirty="0">
                    <a:solidFill>
                      <a:srgbClr val="FFC000"/>
                    </a:solidFill>
                    <a:cs typeface="Arial" panose="020B0604020202020204" pitchFamily="34" charset="0"/>
                  </a:rPr>
                  <a:t>V</a:t>
                </a:r>
                <a:r>
                  <a:rPr lang="en-US" sz="3200" i="1" baseline="-25000" dirty="0">
                    <a:solidFill>
                      <a:srgbClr val="FFC000"/>
                    </a:solidFill>
                    <a:cs typeface="Arial" panose="020B0604020202020204" pitchFamily="34" charset="0"/>
                  </a:rPr>
                  <a:t>D</a:t>
                </a:r>
                <a:r>
                  <a:rPr lang="en-US" sz="3200" dirty="0">
                    <a:cs typeface="Arial" panose="020B0604020202020204" pitchFamily="34" charset="0"/>
                  </a:rPr>
                  <a:t>) and solve for </a:t>
                </a:r>
                <a:r>
                  <a:rPr lang="en-US" sz="3200" i="1" dirty="0">
                    <a:cs typeface="Arial" panose="020B0604020202020204" pitchFamily="34" charset="0"/>
                  </a:rPr>
                  <a:t>R</a:t>
                </a:r>
                <a:r>
                  <a:rPr lang="en-US" sz="3200" baseline="-25000" dirty="0">
                    <a:cs typeface="Arial" panose="020B0604020202020204" pitchFamily="34" charset="0"/>
                  </a:rPr>
                  <a:t>1 </a:t>
                </a:r>
                <a:r>
                  <a:rPr lang="en-US" sz="3200" dirty="0">
                    <a:cs typeface="Arial" panose="020B0604020202020204" pitchFamily="34" charset="0"/>
                  </a:rPr>
                  <a:t>and</a:t>
                </a:r>
                <a:r>
                  <a:rPr lang="en-US" sz="3200" i="1" dirty="0">
                    <a:cs typeface="Arial" panose="020B0604020202020204" pitchFamily="34" charset="0"/>
                  </a:rPr>
                  <a:t> R</a:t>
                </a:r>
                <a:r>
                  <a:rPr lang="en-US" sz="3200" baseline="-25000" dirty="0">
                    <a:cs typeface="Arial" panose="020B0604020202020204" pitchFamily="34" charset="0"/>
                  </a:rPr>
                  <a:t>2</a:t>
                </a:r>
                <a:r>
                  <a:rPr lang="en-US" sz="3200" dirty="0">
                    <a:cs typeface="Arial" panose="020B0604020202020204" pitchFamily="34" charset="0"/>
                  </a:rPr>
                  <a:t>. </a:t>
                </a:r>
              </a:p>
              <a:p>
                <a:pPr marL="124355" indent="0" algn="just">
                  <a:spcBef>
                    <a:spcPts val="0"/>
                  </a:spcBef>
                  <a:buNone/>
                </a:pPr>
                <a:r>
                  <a:rPr lang="en-US" sz="3200" dirty="0">
                    <a:cs typeface="Arial" panose="020B0604020202020204" pitchFamily="34" charset="0"/>
                  </a:rPr>
                  <a:t>New computations are as follows</a:t>
                </a:r>
              </a:p>
              <a:p>
                <a:pPr marL="124355" indent="0" algn="just">
                  <a:spcBef>
                    <a:spcPts val="0"/>
                  </a:spcBef>
                  <a:buNone/>
                </a:pPr>
                <a14:m>
                  <m:oMathPara xmlns:m="http://schemas.openxmlformats.org/officeDocument/2006/math">
                    <m:oMathParaPr>
                      <m:jc m:val="centerGroup"/>
                    </m:oMathParaPr>
                    <m:oMath xmlns:m="http://schemas.openxmlformats.org/officeDocument/2006/math">
                      <m:sSub>
                        <m:sSubPr>
                          <m:ctrlPr>
                            <a:rPr lang="en-US" sz="2800" i="1" smtClean="0">
                              <a:solidFill>
                                <a:srgbClr val="FFC000"/>
                              </a:solidFill>
                              <a:latin typeface="Cambria Math" panose="02040503050406030204" pitchFamily="18" charset="0"/>
                              <a:cs typeface="Arial" panose="020B0604020202020204" pitchFamily="34" charset="0"/>
                            </a:rPr>
                          </m:ctrlPr>
                        </m:sSubPr>
                        <m:e>
                          <m:r>
                            <a:rPr lang="en-US" sz="2800" i="1">
                              <a:solidFill>
                                <a:srgbClr val="FFC000"/>
                              </a:solidFill>
                              <a:latin typeface="Cambria Math" panose="02040503050406030204" pitchFamily="18" charset="0"/>
                              <a:cs typeface="Arial" panose="020B0604020202020204" pitchFamily="34" charset="0"/>
                            </a:rPr>
                            <m:t>𝑅</m:t>
                          </m:r>
                        </m:e>
                        <m:sub>
                          <m:r>
                            <a:rPr lang="en-US" sz="2800" i="1">
                              <a:solidFill>
                                <a:srgbClr val="FFC000"/>
                              </a:solidFill>
                              <a:latin typeface="Cambria Math" panose="02040503050406030204" pitchFamily="18" charset="0"/>
                              <a:cs typeface="Arial" panose="020B0604020202020204" pitchFamily="34" charset="0"/>
                            </a:rPr>
                            <m:t>2</m:t>
                          </m:r>
                        </m:sub>
                      </m:sSub>
                      <m:r>
                        <a:rPr lang="en-US" sz="2800" b="0" i="1" smtClean="0">
                          <a:solidFill>
                            <a:srgbClr val="0070C0"/>
                          </a:solidFill>
                          <a:latin typeface="Cambria Math" panose="02040503050406030204" pitchFamily="18" charset="0"/>
                        </a:rPr>
                        <m:t>=−</m:t>
                      </m:r>
                      <m:f>
                        <m:fPr>
                          <m:ctrlPr>
                            <a:rPr lang="en-US" sz="2800" b="0" i="1" smtClean="0">
                              <a:solidFill>
                                <a:srgbClr val="0070C0"/>
                              </a:solidFill>
                              <a:latin typeface="Cambria Math" panose="02040503050406030204" pitchFamily="18" charset="0"/>
                            </a:rPr>
                          </m:ctrlPr>
                        </m:fPr>
                        <m:num>
                          <m:r>
                            <a:rPr lang="en-US" sz="2800" b="0" i="1" smtClean="0">
                              <a:solidFill>
                                <a:srgbClr val="0070C0"/>
                              </a:solidFill>
                              <a:latin typeface="Cambria Math" panose="02040503050406030204" pitchFamily="18" charset="0"/>
                            </a:rPr>
                            <m:t>𝑡</m:t>
                          </m:r>
                        </m:num>
                        <m:den>
                          <m:r>
                            <a:rPr lang="en-US" sz="2800" b="0" i="1" smtClean="0">
                              <a:solidFill>
                                <a:srgbClr val="0070C0"/>
                              </a:solidFill>
                              <a:latin typeface="Cambria Math" panose="02040503050406030204" pitchFamily="18" charset="0"/>
                            </a:rPr>
                            <m:t>𝐶𝑙𝑛</m:t>
                          </m:r>
                          <m:f>
                            <m:fPr>
                              <m:ctrlPr>
                                <a:rPr lang="en-US" sz="2800" b="0" i="1" smtClean="0">
                                  <a:solidFill>
                                    <a:srgbClr val="0070C0"/>
                                  </a:solidFill>
                                  <a:latin typeface="Cambria Math" panose="02040503050406030204" pitchFamily="18" charset="0"/>
                                </a:rPr>
                              </m:ctrlPr>
                            </m:fPr>
                            <m:num>
                              <m:sSub>
                                <m:sSubPr>
                                  <m:ctrlPr>
                                    <a:rPr lang="en-US" sz="2800" i="1" smtClean="0">
                                      <a:solidFill>
                                        <a:srgbClr val="00B050"/>
                                      </a:solidFill>
                                      <a:latin typeface="Cambria Math" panose="02040503050406030204" pitchFamily="18" charset="0"/>
                                    </a:rPr>
                                  </m:ctrlPr>
                                </m:sSubPr>
                                <m:e>
                                  <m:r>
                                    <a:rPr lang="en-US" sz="2800" i="1">
                                      <a:solidFill>
                                        <a:srgbClr val="00B050"/>
                                      </a:solidFill>
                                      <a:latin typeface="Cambria Math" panose="02040503050406030204" pitchFamily="18" charset="0"/>
                                    </a:rPr>
                                    <m:t>𝑉</m:t>
                                  </m:r>
                                </m:e>
                                <m:sub>
                                  <m:r>
                                    <a:rPr lang="en-US" sz="2800" i="1">
                                      <a:solidFill>
                                        <a:srgbClr val="00B050"/>
                                      </a:solidFill>
                                      <a:latin typeface="Cambria Math" panose="02040503050406030204" pitchFamily="18" charset="0"/>
                                    </a:rPr>
                                    <m:t>𝑡h</m:t>
                                  </m:r>
                                  <m:r>
                                    <a:rPr lang="en-US" sz="2800" b="0" i="1" smtClean="0">
                                      <a:solidFill>
                                        <a:srgbClr val="00B050"/>
                                      </a:solidFill>
                                      <a:latin typeface="Cambria Math" panose="02040503050406030204" pitchFamily="18" charset="0"/>
                                    </a:rPr>
                                    <m:t>,</m:t>
                                  </m:r>
                                  <m:r>
                                    <a:rPr lang="en-US" sz="2800" b="0" i="1" smtClean="0">
                                      <a:solidFill>
                                        <a:srgbClr val="00B050"/>
                                      </a:solidFill>
                                      <a:latin typeface="Cambria Math" panose="02040503050406030204" pitchFamily="18" charset="0"/>
                                    </a:rPr>
                                    <m:t>𝐿</m:t>
                                  </m:r>
                                </m:sub>
                              </m:sSub>
                            </m:num>
                            <m:den>
                              <m:sSub>
                                <m:sSubPr>
                                  <m:ctrlPr>
                                    <a:rPr lang="en-US" sz="2800" i="1">
                                      <a:solidFill>
                                        <a:srgbClr val="0070C0"/>
                                      </a:solidFill>
                                      <a:latin typeface="Cambria Math" panose="02040503050406030204" pitchFamily="18" charset="0"/>
                                    </a:rPr>
                                  </m:ctrlPr>
                                </m:sSubPr>
                                <m:e>
                                  <m:r>
                                    <a:rPr lang="en-US" sz="2800" i="1">
                                      <a:solidFill>
                                        <a:srgbClr val="0070C0"/>
                                      </a:solidFill>
                                      <a:latin typeface="Cambria Math" panose="02040503050406030204" pitchFamily="18" charset="0"/>
                                    </a:rPr>
                                    <m:t>𝑉</m:t>
                                  </m:r>
                                </m:e>
                                <m:sub>
                                  <m:r>
                                    <a:rPr lang="en-US" sz="2800" i="1">
                                      <a:solidFill>
                                        <a:srgbClr val="0070C0"/>
                                      </a:solidFill>
                                      <a:latin typeface="Cambria Math" panose="02040503050406030204" pitchFamily="18" charset="0"/>
                                    </a:rPr>
                                    <m:t>𝑓𝑖𝑛𝑎𝑙</m:t>
                                  </m:r>
                                </m:sub>
                              </m:sSub>
                            </m:den>
                          </m:f>
                        </m:den>
                      </m:f>
                      <m:r>
                        <a:rPr lang="en-US" sz="2800" b="0" i="1" smtClean="0">
                          <a:solidFill>
                            <a:srgbClr val="0070C0"/>
                          </a:solidFill>
                          <a:latin typeface="Cambria Math" panose="02040503050406030204" pitchFamily="18" charset="0"/>
                        </a:rPr>
                        <m:t>=−</m:t>
                      </m:r>
                      <m:f>
                        <m:fPr>
                          <m:ctrlPr>
                            <a:rPr lang="en-US" sz="2800" i="1">
                              <a:solidFill>
                                <a:srgbClr val="0070C0"/>
                              </a:solidFill>
                              <a:latin typeface="Cambria Math" panose="02040503050406030204" pitchFamily="18" charset="0"/>
                              <a:cs typeface="Arial" panose="020B0604020202020204" pitchFamily="34" charset="0"/>
                            </a:rPr>
                          </m:ctrlPr>
                        </m:fPr>
                        <m:num>
                          <m:r>
                            <a:rPr lang="en-US" sz="2800" i="1">
                              <a:solidFill>
                                <a:srgbClr val="0070C0"/>
                              </a:solidFill>
                              <a:latin typeface="Cambria Math" panose="02040503050406030204" pitchFamily="18" charset="0"/>
                              <a:cs typeface="Arial" panose="020B0604020202020204" pitchFamily="34" charset="0"/>
                            </a:rPr>
                            <m:t>20</m:t>
                          </m:r>
                          <m:r>
                            <a:rPr lang="en-US" sz="2800" i="1">
                              <a:solidFill>
                                <a:srgbClr val="0070C0"/>
                              </a:solidFill>
                              <a:latin typeface="Cambria Math" panose="02040503050406030204" pitchFamily="18" charset="0"/>
                              <a:ea typeface="Cambria Math" panose="02040503050406030204" pitchFamily="18" charset="0"/>
                              <a:cs typeface="Arial" panose="020B0604020202020204" pitchFamily="34" charset="0"/>
                            </a:rPr>
                            <m:t>×</m:t>
                          </m:r>
                          <m:sSup>
                            <m:sSupPr>
                              <m:ctrlPr>
                                <a:rPr lang="en-US" sz="2800" i="1">
                                  <a:solidFill>
                                    <a:srgbClr val="0070C0"/>
                                  </a:solidFill>
                                  <a:latin typeface="Cambria Math" panose="02040503050406030204" pitchFamily="18" charset="0"/>
                                  <a:ea typeface="Cambria Math" panose="02040503050406030204" pitchFamily="18" charset="0"/>
                                  <a:cs typeface="Arial" panose="020B0604020202020204" pitchFamily="34" charset="0"/>
                                </a:rPr>
                              </m:ctrlPr>
                            </m:sSupPr>
                            <m:e>
                              <m:r>
                                <a:rPr lang="en-US" sz="2800" i="1">
                                  <a:solidFill>
                                    <a:srgbClr val="0070C0"/>
                                  </a:solidFill>
                                  <a:latin typeface="Cambria Math" panose="02040503050406030204" pitchFamily="18" charset="0"/>
                                  <a:ea typeface="Cambria Math" panose="02040503050406030204" pitchFamily="18" charset="0"/>
                                  <a:cs typeface="Arial" panose="020B0604020202020204" pitchFamily="34" charset="0"/>
                                </a:rPr>
                                <m:t>10</m:t>
                              </m:r>
                            </m:e>
                            <m:sup>
                              <m:r>
                                <a:rPr lang="en-US" sz="2800" i="1">
                                  <a:solidFill>
                                    <a:srgbClr val="0070C0"/>
                                  </a:solidFill>
                                  <a:latin typeface="Cambria Math" panose="02040503050406030204" pitchFamily="18" charset="0"/>
                                  <a:ea typeface="Cambria Math" panose="02040503050406030204" pitchFamily="18" charset="0"/>
                                  <a:cs typeface="Arial" panose="020B0604020202020204" pitchFamily="34" charset="0"/>
                                </a:rPr>
                                <m:t>−3</m:t>
                              </m:r>
                            </m:sup>
                          </m:sSup>
                        </m:num>
                        <m:den>
                          <m:r>
                            <a:rPr lang="en-US" sz="2800" i="1">
                              <a:solidFill>
                                <a:srgbClr val="0070C0"/>
                              </a:solidFill>
                              <a:latin typeface="Cambria Math" panose="02040503050406030204" pitchFamily="18" charset="0"/>
                              <a:cs typeface="Arial" panose="020B0604020202020204" pitchFamily="34" charset="0"/>
                            </a:rPr>
                            <m:t>1</m:t>
                          </m:r>
                          <m:r>
                            <a:rPr lang="en-US" sz="2800" i="1">
                              <a:solidFill>
                                <a:srgbClr val="0070C0"/>
                              </a:solidFill>
                              <a:latin typeface="Cambria Math" panose="02040503050406030204" pitchFamily="18" charset="0"/>
                              <a:ea typeface="Cambria Math" panose="02040503050406030204" pitchFamily="18" charset="0"/>
                              <a:cs typeface="Arial" panose="020B0604020202020204" pitchFamily="34" charset="0"/>
                            </a:rPr>
                            <m:t>×</m:t>
                          </m:r>
                          <m:sSup>
                            <m:sSupPr>
                              <m:ctrlPr>
                                <a:rPr lang="en-US" sz="2800" i="1">
                                  <a:solidFill>
                                    <a:srgbClr val="0070C0"/>
                                  </a:solidFill>
                                  <a:latin typeface="Cambria Math" panose="02040503050406030204" pitchFamily="18" charset="0"/>
                                  <a:ea typeface="Cambria Math" panose="02040503050406030204" pitchFamily="18" charset="0"/>
                                  <a:cs typeface="Arial" panose="020B0604020202020204" pitchFamily="34" charset="0"/>
                                </a:rPr>
                              </m:ctrlPr>
                            </m:sSupPr>
                            <m:e>
                              <m:r>
                                <a:rPr lang="en-US" sz="2800" i="1">
                                  <a:solidFill>
                                    <a:srgbClr val="0070C0"/>
                                  </a:solidFill>
                                  <a:latin typeface="Cambria Math" panose="02040503050406030204" pitchFamily="18" charset="0"/>
                                  <a:ea typeface="Cambria Math" panose="02040503050406030204" pitchFamily="18" charset="0"/>
                                  <a:cs typeface="Arial" panose="020B0604020202020204" pitchFamily="34" charset="0"/>
                                </a:rPr>
                                <m:t>10</m:t>
                              </m:r>
                            </m:e>
                            <m:sup>
                              <m:r>
                                <a:rPr lang="en-US" sz="2800" i="1">
                                  <a:solidFill>
                                    <a:srgbClr val="0070C0"/>
                                  </a:solidFill>
                                  <a:latin typeface="Cambria Math" panose="02040503050406030204" pitchFamily="18" charset="0"/>
                                  <a:ea typeface="Cambria Math" panose="02040503050406030204" pitchFamily="18" charset="0"/>
                                  <a:cs typeface="Arial" panose="020B0604020202020204" pitchFamily="34" charset="0"/>
                                </a:rPr>
                                <m:t>−6</m:t>
                              </m:r>
                            </m:sup>
                          </m:sSup>
                          <m:r>
                            <a:rPr lang="en-US" sz="2800" i="1">
                              <a:solidFill>
                                <a:srgbClr val="0070C0"/>
                              </a:solidFill>
                              <a:latin typeface="Cambria Math" panose="02040503050406030204" pitchFamily="18" charset="0"/>
                              <a:ea typeface="Cambria Math" panose="02040503050406030204" pitchFamily="18" charset="0"/>
                              <a:cs typeface="Arial" panose="020B0604020202020204" pitchFamily="34" charset="0"/>
                            </a:rPr>
                            <m:t>𝑙𝑛</m:t>
                          </m:r>
                          <m:f>
                            <m:fPr>
                              <m:ctrlPr>
                                <a:rPr lang="en-US" sz="2800"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ctrlPr>
                            </m:fPr>
                            <m:num>
                              <m:r>
                                <a:rPr lang="en-US" sz="2800" b="0"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t>0</m:t>
                              </m:r>
                              <m:r>
                                <a:rPr lang="en-US" sz="2800" i="1" smtClean="0">
                                  <a:solidFill>
                                    <a:srgbClr val="00B050"/>
                                  </a:solidFill>
                                  <a:latin typeface="Cambria Math" panose="02040503050406030204" pitchFamily="18" charset="0"/>
                                  <a:ea typeface="Cambria Math" panose="02040503050406030204" pitchFamily="18" charset="0"/>
                                  <a:cs typeface="Arial" panose="020B0604020202020204" pitchFamily="34" charset="0"/>
                                </a:rPr>
                                <m:t>.</m:t>
                              </m:r>
                              <m:r>
                                <a:rPr lang="en-US" sz="2800" b="0" i="1" smtClean="0">
                                  <a:solidFill>
                                    <a:srgbClr val="00B050"/>
                                  </a:solidFill>
                                  <a:latin typeface="Cambria Math" panose="02040503050406030204" pitchFamily="18" charset="0"/>
                                  <a:ea typeface="Cambria Math" panose="02040503050406030204" pitchFamily="18" charset="0"/>
                                  <a:cs typeface="Arial" panose="020B0604020202020204" pitchFamily="34" charset="0"/>
                                </a:rPr>
                                <m:t>9</m:t>
                              </m:r>
                            </m:num>
                            <m:den>
                              <m:r>
                                <a:rPr lang="en-US" sz="2800" b="0" i="1" smtClean="0">
                                  <a:solidFill>
                                    <a:srgbClr val="FFC000"/>
                                  </a:solidFill>
                                  <a:latin typeface="Cambria Math" panose="02040503050406030204" pitchFamily="18" charset="0"/>
                                  <a:ea typeface="Cambria Math" panose="02040503050406030204" pitchFamily="18" charset="0"/>
                                  <a:cs typeface="Arial" panose="020B0604020202020204" pitchFamily="34" charset="0"/>
                                </a:rPr>
                                <m:t>4.3</m:t>
                              </m:r>
                            </m:den>
                          </m:f>
                        </m:den>
                      </m:f>
                      <m:r>
                        <a:rPr lang="en-US" sz="2800" i="1">
                          <a:solidFill>
                            <a:srgbClr val="0070C0"/>
                          </a:solidFill>
                          <a:latin typeface="Cambria Math" panose="02040503050406030204" pitchFamily="18" charset="0"/>
                          <a:cs typeface="Arial" panose="020B0604020202020204" pitchFamily="34" charset="0"/>
                        </a:rPr>
                        <m:t>=</m:t>
                      </m:r>
                      <m:r>
                        <a:rPr lang="en-US" sz="2800" b="0" i="1" smtClean="0">
                          <a:solidFill>
                            <a:srgbClr val="0070C0"/>
                          </a:solidFill>
                          <a:latin typeface="Cambria Math" panose="02040503050406030204" pitchFamily="18" charset="0"/>
                          <a:cs typeface="Arial" panose="020B0604020202020204" pitchFamily="34" charset="0"/>
                        </a:rPr>
                        <m:t>12.78</m:t>
                      </m:r>
                      <m:r>
                        <a:rPr lang="en-US" sz="2800" i="1">
                          <a:solidFill>
                            <a:srgbClr val="0070C0"/>
                          </a:solidFill>
                          <a:latin typeface="Cambria Math" panose="02040503050406030204" pitchFamily="18" charset="0"/>
                          <a:cs typeface="Arial" panose="020B0604020202020204" pitchFamily="34" charset="0"/>
                        </a:rPr>
                        <m:t> </m:t>
                      </m:r>
                      <m:r>
                        <m:rPr>
                          <m:sty m:val="p"/>
                        </m:rPr>
                        <a:rPr lang="en-US" sz="2800">
                          <a:solidFill>
                            <a:srgbClr val="0070C0"/>
                          </a:solidFill>
                          <a:latin typeface="Cambria Math" panose="02040503050406030204" pitchFamily="18" charset="0"/>
                          <a:cs typeface="Arial" panose="020B0604020202020204" pitchFamily="34" charset="0"/>
                        </a:rPr>
                        <m:t>k</m:t>
                      </m:r>
                      <m:r>
                        <m:rPr>
                          <m:sty m:val="p"/>
                        </m:rPr>
                        <a:rPr lang="el-GR" sz="2800" i="1">
                          <a:solidFill>
                            <a:srgbClr val="0070C0"/>
                          </a:solidFill>
                          <a:latin typeface="Cambria Math" panose="02040503050406030204" pitchFamily="18" charset="0"/>
                          <a:ea typeface="Cambria Math" panose="02040503050406030204" pitchFamily="18" charset="0"/>
                          <a:cs typeface="Arial" panose="020B0604020202020204" pitchFamily="34" charset="0"/>
                        </a:rPr>
                        <m:t>Ω</m:t>
                      </m:r>
                      <m:r>
                        <a:rPr lang="el-GR" sz="2800"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t>≅</m:t>
                      </m:r>
                      <m:r>
                        <a:rPr lang="en-US" sz="2800" b="0"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t>12 </m:t>
                      </m:r>
                      <m:r>
                        <m:rPr>
                          <m:sty m:val="p"/>
                        </m:rPr>
                        <a:rPr lang="en-US" sz="2800">
                          <a:solidFill>
                            <a:srgbClr val="0070C0"/>
                          </a:solidFill>
                          <a:latin typeface="Cambria Math" panose="02040503050406030204" pitchFamily="18" charset="0"/>
                          <a:cs typeface="Arial" panose="020B0604020202020204" pitchFamily="34" charset="0"/>
                        </a:rPr>
                        <m:t>k</m:t>
                      </m:r>
                      <m:r>
                        <m:rPr>
                          <m:sty m:val="p"/>
                        </m:rPr>
                        <a:rPr lang="el-GR" sz="2800" i="1">
                          <a:solidFill>
                            <a:srgbClr val="0070C0"/>
                          </a:solidFill>
                          <a:latin typeface="Cambria Math" panose="02040503050406030204" pitchFamily="18" charset="0"/>
                          <a:ea typeface="Cambria Math" panose="02040503050406030204" pitchFamily="18" charset="0"/>
                          <a:cs typeface="Arial" panose="020B0604020202020204" pitchFamily="34" charset="0"/>
                        </a:rPr>
                        <m:t>Ω</m:t>
                      </m:r>
                      <m:r>
                        <m:rPr>
                          <m:nor/>
                        </m:rPr>
                        <a:rPr lang="en-US" sz="2800" dirty="0">
                          <a:solidFill>
                            <a:srgbClr val="FF0000"/>
                          </a:solidFill>
                          <a:sym typeface="Wingdings" panose="05000000000000000000" pitchFamily="2" charset="2"/>
                        </a:rPr>
                        <m:t> </m:t>
                      </m:r>
                      <m:r>
                        <m:rPr>
                          <m:nor/>
                        </m:rPr>
                        <a:rPr lang="en-US" sz="2800" dirty="0">
                          <a:solidFill>
                            <a:srgbClr val="FF0000"/>
                          </a:solidFill>
                          <a:sym typeface="Wingdings" panose="05000000000000000000" pitchFamily="2" charset="2"/>
                        </a:rPr>
                        <m:t>Available</m:t>
                      </m:r>
                    </m:oMath>
                  </m:oMathPara>
                </a14:m>
                <a:endParaRPr lang="en-US" sz="2800" dirty="0">
                  <a:solidFill>
                    <a:srgbClr val="0070C0"/>
                  </a:solidFill>
                  <a:cs typeface="Arial" panose="020B0604020202020204" pitchFamily="34" charset="0"/>
                </a:endParaRPr>
              </a:p>
              <a:p>
                <a:pPr marL="124355" indent="0" algn="just">
                  <a:spcBef>
                    <a:spcPts val="0"/>
                  </a:spcBef>
                  <a:buNone/>
                </a:pPr>
                <a14:m>
                  <m:oMathPara xmlns:m="http://schemas.openxmlformats.org/officeDocument/2006/math">
                    <m:oMathParaPr>
                      <m:jc m:val="centerGroup"/>
                    </m:oMathParaPr>
                    <m:oMath xmlns:m="http://schemas.openxmlformats.org/officeDocument/2006/math">
                      <m:sSub>
                        <m:sSubPr>
                          <m:ctrlPr>
                            <a:rPr lang="en-US" sz="2800" i="1" smtClean="0">
                              <a:solidFill>
                                <a:srgbClr val="FFC000"/>
                              </a:solidFill>
                              <a:latin typeface="Cambria Math" panose="02040503050406030204" pitchFamily="18" charset="0"/>
                              <a:cs typeface="Arial" panose="020B0604020202020204" pitchFamily="34" charset="0"/>
                            </a:rPr>
                          </m:ctrlPr>
                        </m:sSubPr>
                        <m:e>
                          <m:r>
                            <a:rPr lang="en-US" sz="2800" i="1">
                              <a:solidFill>
                                <a:srgbClr val="FFC000"/>
                              </a:solidFill>
                              <a:latin typeface="Cambria Math" panose="02040503050406030204" pitchFamily="18" charset="0"/>
                              <a:cs typeface="Arial" panose="020B0604020202020204" pitchFamily="34" charset="0"/>
                            </a:rPr>
                            <m:t>𝑅</m:t>
                          </m:r>
                        </m:e>
                        <m:sub>
                          <m:r>
                            <a:rPr lang="en-US" sz="2800" b="0" i="1" smtClean="0">
                              <a:solidFill>
                                <a:srgbClr val="FFC000"/>
                              </a:solidFill>
                              <a:latin typeface="Cambria Math" panose="02040503050406030204" pitchFamily="18" charset="0"/>
                              <a:cs typeface="Arial" panose="020B0604020202020204" pitchFamily="34" charset="0"/>
                            </a:rPr>
                            <m:t>1</m:t>
                          </m:r>
                        </m:sub>
                      </m:sSub>
                      <m:r>
                        <a:rPr lang="en-US" sz="2800" i="1" smtClean="0">
                          <a:latin typeface="Cambria Math" panose="02040503050406030204" pitchFamily="18" charset="0"/>
                          <a:cs typeface="Arial" panose="020B0604020202020204" pitchFamily="34" charset="0"/>
                        </a:rPr>
                        <m:t>=</m:t>
                      </m:r>
                      <m:r>
                        <a:rPr lang="en-US" sz="2800" i="1">
                          <a:latin typeface="Cambria Math" panose="02040503050406030204" pitchFamily="18" charset="0"/>
                        </a:rPr>
                        <m:t>=−</m:t>
                      </m:r>
                      <m:f>
                        <m:fPr>
                          <m:ctrlPr>
                            <a:rPr lang="en-US" sz="2800" i="1">
                              <a:latin typeface="Cambria Math" panose="02040503050406030204" pitchFamily="18" charset="0"/>
                            </a:rPr>
                          </m:ctrlPr>
                        </m:fPr>
                        <m:num>
                          <m:r>
                            <a:rPr lang="en-US" sz="2800" i="1">
                              <a:latin typeface="Cambria Math" panose="02040503050406030204" pitchFamily="18" charset="0"/>
                            </a:rPr>
                            <m:t>𝑡</m:t>
                          </m:r>
                        </m:num>
                        <m:den>
                          <m:r>
                            <a:rPr lang="en-US" sz="2800" i="1">
                              <a:latin typeface="Cambria Math" panose="02040503050406030204" pitchFamily="18" charset="0"/>
                            </a:rPr>
                            <m:t>𝐶𝑙𝑛</m:t>
                          </m:r>
                          <m:d>
                            <m:dPr>
                              <m:ctrlPr>
                                <a:rPr lang="en-US" sz="2800" i="1">
                                  <a:latin typeface="Cambria Math" panose="02040503050406030204" pitchFamily="18" charset="0"/>
                                </a:rPr>
                              </m:ctrlPr>
                            </m:dPr>
                            <m:e>
                              <m:r>
                                <a:rPr lang="en-US" sz="2800" i="1">
                                  <a:latin typeface="Cambria Math" panose="02040503050406030204" pitchFamily="18" charset="0"/>
                                </a:rPr>
                                <m:t>1−</m:t>
                              </m:r>
                              <m:f>
                                <m:fPr>
                                  <m:ctrlPr>
                                    <a:rPr lang="en-US" sz="2800" i="1">
                                      <a:latin typeface="Cambria Math" panose="02040503050406030204" pitchFamily="18" charset="0"/>
                                    </a:rPr>
                                  </m:ctrlPr>
                                </m:fPr>
                                <m:num>
                                  <m:sSub>
                                    <m:sSubPr>
                                      <m:ctrlPr>
                                        <a:rPr lang="en-US" sz="2800" i="1">
                                          <a:solidFill>
                                            <a:srgbClr val="0070C0"/>
                                          </a:solidFill>
                                          <a:latin typeface="Cambria Math" panose="02040503050406030204" pitchFamily="18" charset="0"/>
                                        </a:rPr>
                                      </m:ctrlPr>
                                    </m:sSubPr>
                                    <m:e>
                                      <m:r>
                                        <a:rPr lang="en-US" sz="2800" i="1">
                                          <a:solidFill>
                                            <a:srgbClr val="0070C0"/>
                                          </a:solidFill>
                                          <a:latin typeface="Cambria Math" panose="02040503050406030204" pitchFamily="18" charset="0"/>
                                        </a:rPr>
                                        <m:t>𝑉</m:t>
                                      </m:r>
                                    </m:e>
                                    <m:sub>
                                      <m:r>
                                        <a:rPr lang="en-US" sz="2800" i="1">
                                          <a:solidFill>
                                            <a:srgbClr val="0070C0"/>
                                          </a:solidFill>
                                          <a:latin typeface="Cambria Math" panose="02040503050406030204" pitchFamily="18" charset="0"/>
                                        </a:rPr>
                                        <m:t>𝑡h</m:t>
                                      </m:r>
                                      <m:r>
                                        <a:rPr lang="en-US" sz="2800" i="1">
                                          <a:solidFill>
                                            <a:srgbClr val="0070C0"/>
                                          </a:solidFill>
                                          <a:latin typeface="Cambria Math" panose="02040503050406030204" pitchFamily="18" charset="0"/>
                                        </a:rPr>
                                        <m:t>,</m:t>
                                      </m:r>
                                      <m:r>
                                        <a:rPr lang="en-US" sz="2800" b="0" i="1" smtClean="0">
                                          <a:solidFill>
                                            <a:srgbClr val="0070C0"/>
                                          </a:solidFill>
                                          <a:latin typeface="Cambria Math" panose="02040503050406030204" pitchFamily="18" charset="0"/>
                                        </a:rPr>
                                        <m:t>𝐻</m:t>
                                      </m:r>
                                    </m:sub>
                                  </m:sSub>
                                </m:num>
                                <m:den>
                                  <m:sSub>
                                    <m:sSubPr>
                                      <m:ctrlPr>
                                        <a:rPr lang="en-US" sz="2800" i="1">
                                          <a:latin typeface="Cambria Math" panose="02040503050406030204" pitchFamily="18" charset="0"/>
                                        </a:rPr>
                                      </m:ctrlPr>
                                    </m:sSubPr>
                                    <m:e>
                                      <m:r>
                                        <a:rPr lang="en-US" sz="2800" i="1">
                                          <a:latin typeface="Cambria Math" panose="02040503050406030204" pitchFamily="18" charset="0"/>
                                        </a:rPr>
                                        <m:t>𝑉</m:t>
                                      </m:r>
                                    </m:e>
                                    <m:sub>
                                      <m:r>
                                        <a:rPr lang="en-US" sz="2800" i="1">
                                          <a:latin typeface="Cambria Math" panose="02040503050406030204" pitchFamily="18" charset="0"/>
                                        </a:rPr>
                                        <m:t>𝑓𝑖𝑛𝑎𝑙</m:t>
                                      </m:r>
                                    </m:sub>
                                  </m:sSub>
                                </m:den>
                              </m:f>
                            </m:e>
                          </m:d>
                        </m:den>
                      </m:f>
                      <m:r>
                        <a:rPr lang="en-US" sz="2800" b="0" i="1" smtClean="0">
                          <a:latin typeface="Cambria Math" panose="02040503050406030204" pitchFamily="18" charset="0"/>
                          <a:cs typeface="Arial" panose="020B0604020202020204" pitchFamily="34" charset="0"/>
                        </a:rPr>
                        <m:t>=−</m:t>
                      </m:r>
                      <m:f>
                        <m:fPr>
                          <m:ctrlPr>
                            <a:rPr lang="en-US" sz="2800" b="0" i="1" smtClean="0">
                              <a:latin typeface="Cambria Math" panose="02040503050406030204" pitchFamily="18" charset="0"/>
                              <a:cs typeface="Arial" panose="020B0604020202020204" pitchFamily="34" charset="0"/>
                            </a:rPr>
                          </m:ctrlPr>
                        </m:fPr>
                        <m:num>
                          <m:r>
                            <a:rPr lang="en-US" sz="2800" b="0" i="1" smtClean="0">
                              <a:latin typeface="Cambria Math" panose="02040503050406030204" pitchFamily="18" charset="0"/>
                              <a:cs typeface="Arial" panose="020B0604020202020204" pitchFamily="34" charset="0"/>
                            </a:rPr>
                            <m:t>20</m:t>
                          </m:r>
                          <m:r>
                            <a:rPr lang="en-US" sz="2800" b="0"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n-US" sz="28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800" b="0" i="1" smtClean="0">
                                  <a:latin typeface="Cambria Math" panose="02040503050406030204" pitchFamily="18" charset="0"/>
                                  <a:ea typeface="Cambria Math" panose="02040503050406030204" pitchFamily="18" charset="0"/>
                                  <a:cs typeface="Arial" panose="020B0604020202020204" pitchFamily="34" charset="0"/>
                                </a:rPr>
                                <m:t>10</m:t>
                              </m:r>
                            </m:e>
                            <m:sup>
                              <m:r>
                                <a:rPr lang="en-US" sz="2800" b="0" i="1" smtClean="0">
                                  <a:latin typeface="Cambria Math" panose="02040503050406030204" pitchFamily="18" charset="0"/>
                                  <a:ea typeface="Cambria Math" panose="02040503050406030204" pitchFamily="18" charset="0"/>
                                  <a:cs typeface="Arial" panose="020B0604020202020204" pitchFamily="34" charset="0"/>
                                </a:rPr>
                                <m:t>−3</m:t>
                              </m:r>
                            </m:sup>
                          </m:sSup>
                        </m:num>
                        <m:den>
                          <m:r>
                            <a:rPr lang="en-US" sz="2800" b="0" i="1" smtClean="0">
                              <a:latin typeface="Cambria Math" panose="02040503050406030204" pitchFamily="18" charset="0"/>
                              <a:cs typeface="Arial" panose="020B0604020202020204" pitchFamily="34" charset="0"/>
                            </a:rPr>
                            <m:t>1</m:t>
                          </m:r>
                          <m:r>
                            <a:rPr lang="en-US" sz="2800" b="0"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n-US" sz="28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800" b="0" i="1" smtClean="0">
                                  <a:latin typeface="Cambria Math" panose="02040503050406030204" pitchFamily="18" charset="0"/>
                                  <a:ea typeface="Cambria Math" panose="02040503050406030204" pitchFamily="18" charset="0"/>
                                  <a:cs typeface="Arial" panose="020B0604020202020204" pitchFamily="34" charset="0"/>
                                </a:rPr>
                                <m:t>10</m:t>
                              </m:r>
                            </m:e>
                            <m:sup>
                              <m:r>
                                <a:rPr lang="en-US" sz="2800" b="0" i="1" smtClean="0">
                                  <a:latin typeface="Cambria Math" panose="02040503050406030204" pitchFamily="18" charset="0"/>
                                  <a:ea typeface="Cambria Math" panose="02040503050406030204" pitchFamily="18" charset="0"/>
                                  <a:cs typeface="Arial" panose="020B0604020202020204" pitchFamily="34" charset="0"/>
                                </a:rPr>
                                <m:t>−6</m:t>
                              </m:r>
                            </m:sup>
                          </m:sSup>
                          <m:r>
                            <a:rPr lang="en-US" sz="2800" b="0" i="1" smtClean="0">
                              <a:latin typeface="Cambria Math" panose="02040503050406030204" pitchFamily="18" charset="0"/>
                              <a:ea typeface="Cambria Math" panose="02040503050406030204" pitchFamily="18" charset="0"/>
                              <a:cs typeface="Arial" panose="020B0604020202020204" pitchFamily="34" charset="0"/>
                            </a:rPr>
                            <m:t>𝑙𝑛</m:t>
                          </m:r>
                          <m:d>
                            <m:dPr>
                              <m:ctrlPr>
                                <a:rPr lang="en-US" sz="2800" b="0" i="1" smtClean="0">
                                  <a:latin typeface="Cambria Math" panose="02040503050406030204" pitchFamily="18" charset="0"/>
                                  <a:ea typeface="Cambria Math" panose="02040503050406030204" pitchFamily="18" charset="0"/>
                                  <a:cs typeface="Arial" panose="020B0604020202020204" pitchFamily="34" charset="0"/>
                                </a:rPr>
                              </m:ctrlPr>
                            </m:dPr>
                            <m:e>
                              <m:r>
                                <a:rPr lang="en-US" sz="2800" b="0" i="1" smtClean="0">
                                  <a:latin typeface="Cambria Math" panose="02040503050406030204" pitchFamily="18" charset="0"/>
                                  <a:ea typeface="Cambria Math" panose="02040503050406030204" pitchFamily="18" charset="0"/>
                                  <a:cs typeface="Arial" panose="020B0604020202020204" pitchFamily="34" charset="0"/>
                                </a:rPr>
                                <m:t>1−</m:t>
                              </m:r>
                              <m:f>
                                <m:fPr>
                                  <m:ctrlPr>
                                    <a:rPr lang="en-US" sz="2800" i="1">
                                      <a:latin typeface="Cambria Math" panose="02040503050406030204" pitchFamily="18" charset="0"/>
                                      <a:ea typeface="Cambria Math" panose="02040503050406030204" pitchFamily="18" charset="0"/>
                                      <a:cs typeface="Arial" panose="020B0604020202020204" pitchFamily="34" charset="0"/>
                                    </a:rPr>
                                  </m:ctrlPr>
                                </m:fPr>
                                <m:num>
                                  <m:r>
                                    <a:rPr lang="en-US" sz="2800" b="0"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t>1</m:t>
                                  </m:r>
                                  <m:r>
                                    <a:rPr lang="en-US" sz="2800" i="1">
                                      <a:solidFill>
                                        <a:srgbClr val="0070C0"/>
                                      </a:solidFill>
                                      <a:latin typeface="Cambria Math" panose="02040503050406030204" pitchFamily="18" charset="0"/>
                                      <a:ea typeface="Cambria Math" panose="02040503050406030204" pitchFamily="18" charset="0"/>
                                      <a:cs typeface="Arial" panose="020B0604020202020204" pitchFamily="34" charset="0"/>
                                    </a:rPr>
                                    <m:t>.</m:t>
                                  </m:r>
                                  <m:r>
                                    <a:rPr lang="en-US" sz="2800" b="0"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t>7</m:t>
                                  </m:r>
                                </m:num>
                                <m:den>
                                  <m:r>
                                    <a:rPr lang="en-US" sz="2800" b="0" i="1" smtClean="0">
                                      <a:solidFill>
                                        <a:srgbClr val="FFC000"/>
                                      </a:solidFill>
                                      <a:latin typeface="Cambria Math" panose="02040503050406030204" pitchFamily="18" charset="0"/>
                                      <a:ea typeface="Cambria Math" panose="02040503050406030204" pitchFamily="18" charset="0"/>
                                      <a:cs typeface="Arial" panose="020B0604020202020204" pitchFamily="34" charset="0"/>
                                    </a:rPr>
                                    <m:t>4.3</m:t>
                                  </m:r>
                                </m:den>
                              </m:f>
                            </m:e>
                          </m:d>
                        </m:den>
                      </m:f>
                      <m:r>
                        <a:rPr lang="en-US" sz="2800" b="0" i="1" smtClean="0">
                          <a:latin typeface="Cambria Math" panose="02040503050406030204" pitchFamily="18" charset="0"/>
                          <a:cs typeface="Arial" panose="020B0604020202020204" pitchFamily="34" charset="0"/>
                        </a:rPr>
                        <m:t>=39.75</m:t>
                      </m:r>
                      <m:r>
                        <a:rPr lang="en-US" sz="2800" b="0" i="0" smtClean="0">
                          <a:latin typeface="Cambria Math" panose="02040503050406030204" pitchFamily="18" charset="0"/>
                          <a:cs typeface="Arial" panose="020B0604020202020204" pitchFamily="34" charset="0"/>
                        </a:rPr>
                        <m:t> </m:t>
                      </m:r>
                      <m:r>
                        <m:rPr>
                          <m:sty m:val="p"/>
                        </m:rPr>
                        <a:rPr lang="en-US" sz="2800" b="0" i="0" smtClean="0">
                          <a:latin typeface="Cambria Math" panose="02040503050406030204" pitchFamily="18" charset="0"/>
                          <a:cs typeface="Arial" panose="020B0604020202020204" pitchFamily="34" charset="0"/>
                        </a:rPr>
                        <m:t>k</m:t>
                      </m:r>
                      <m:r>
                        <m:rPr>
                          <m:sty m:val="p"/>
                        </m:rPr>
                        <a:rPr lang="el-GR" sz="2800" b="0" i="1" smtClean="0">
                          <a:latin typeface="Cambria Math" panose="02040503050406030204" pitchFamily="18" charset="0"/>
                          <a:ea typeface="Cambria Math" panose="02040503050406030204" pitchFamily="18" charset="0"/>
                          <a:cs typeface="Arial" panose="020B0604020202020204" pitchFamily="34" charset="0"/>
                        </a:rPr>
                        <m:t>Ω</m:t>
                      </m:r>
                      <m:r>
                        <a:rPr lang="el-GR" sz="2800" i="1">
                          <a:solidFill>
                            <a:srgbClr val="0070C0"/>
                          </a:solidFill>
                          <a:latin typeface="Cambria Math" panose="02040503050406030204" pitchFamily="18" charset="0"/>
                          <a:ea typeface="Cambria Math" panose="02040503050406030204" pitchFamily="18" charset="0"/>
                          <a:cs typeface="Arial" panose="020B0604020202020204" pitchFamily="34" charset="0"/>
                        </a:rPr>
                        <m:t>≅</m:t>
                      </m:r>
                      <m:r>
                        <a:rPr lang="en-US" sz="2800" b="0"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t>39 </m:t>
                      </m:r>
                      <m:r>
                        <m:rPr>
                          <m:sty m:val="p"/>
                        </m:rPr>
                        <a:rPr lang="en-US" sz="2800">
                          <a:solidFill>
                            <a:srgbClr val="0070C0"/>
                          </a:solidFill>
                          <a:latin typeface="Cambria Math" panose="02040503050406030204" pitchFamily="18" charset="0"/>
                          <a:cs typeface="Arial" panose="020B0604020202020204" pitchFamily="34" charset="0"/>
                        </a:rPr>
                        <m:t>k</m:t>
                      </m:r>
                      <m:r>
                        <m:rPr>
                          <m:sty m:val="p"/>
                        </m:rPr>
                        <a:rPr lang="el-GR" sz="2800" i="1">
                          <a:solidFill>
                            <a:srgbClr val="0070C0"/>
                          </a:solidFill>
                          <a:latin typeface="Cambria Math" panose="02040503050406030204" pitchFamily="18" charset="0"/>
                          <a:ea typeface="Cambria Math" panose="02040503050406030204" pitchFamily="18" charset="0"/>
                          <a:cs typeface="Arial" panose="020B0604020202020204" pitchFamily="34" charset="0"/>
                        </a:rPr>
                        <m:t>Ω</m:t>
                      </m:r>
                      <m:r>
                        <m:rPr>
                          <m:nor/>
                        </m:rPr>
                        <a:rPr lang="en-US" sz="2800" dirty="0">
                          <a:solidFill>
                            <a:srgbClr val="FF0000"/>
                          </a:solidFill>
                          <a:sym typeface="Wingdings" panose="05000000000000000000" pitchFamily="2" charset="2"/>
                        </a:rPr>
                        <m:t> </m:t>
                      </m:r>
                      <m:r>
                        <m:rPr>
                          <m:nor/>
                        </m:rPr>
                        <a:rPr lang="en-US" sz="2800" dirty="0">
                          <a:solidFill>
                            <a:srgbClr val="FF0000"/>
                          </a:solidFill>
                          <a:sym typeface="Wingdings" panose="05000000000000000000" pitchFamily="2" charset="2"/>
                        </a:rPr>
                        <m:t>Available</m:t>
                      </m:r>
                    </m:oMath>
                  </m:oMathPara>
                </a14:m>
                <a:endParaRPr lang="en-US" sz="2800" dirty="0">
                  <a:solidFill>
                    <a:srgbClr val="0070C0"/>
                  </a:solidFill>
                  <a:cs typeface="Arial" panose="020B060402020202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52400" y="1371600"/>
                <a:ext cx="14318160" cy="6079540"/>
              </a:xfrm>
              <a:blipFill>
                <a:blip r:embed="rId3"/>
                <a:stretch>
                  <a:fillRect l="-851" t="-1204" r="-1703" b="-3410"/>
                </a:stretch>
              </a:blipFill>
            </p:spPr>
            <p:txBody>
              <a:bodyPr/>
              <a:lstStyle/>
              <a:p>
                <a:r>
                  <a:rPr lang="en-US">
                    <a:noFill/>
                  </a:rPr>
                  <a:t> </a:t>
                </a:r>
              </a:p>
            </p:txBody>
          </p:sp>
        </mc:Fallback>
      </mc:AlternateContent>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a:p>
        </p:txBody>
      </p:sp>
      <p:sp>
        <p:nvSpPr>
          <p:cNvPr id="7" name="Date Placeholder 6"/>
          <p:cNvSpPr>
            <a:spLocks noGrp="1"/>
          </p:cNvSpPr>
          <p:nvPr>
            <p:ph type="dt" sz="half" idx="10"/>
          </p:nvPr>
        </p:nvSpPr>
        <p:spPr/>
        <p:txBody>
          <a:bodyPr/>
          <a:lstStyle/>
          <a:p>
            <a:fld id="{386C4CD3-1055-4803-8131-20120CCD2DA4}" type="datetime3">
              <a:rPr lang="en-US" smtClean="0"/>
              <a:t>15 June 2026</a:t>
            </a:fld>
            <a:endParaRPr lang="en-US"/>
          </a:p>
        </p:txBody>
      </p:sp>
      <p:sp>
        <p:nvSpPr>
          <p:cNvPr id="4" name="TextBox 3">
            <a:extLst>
              <a:ext uri="{FF2B5EF4-FFF2-40B4-BE49-F238E27FC236}">
                <a16:creationId xmlns:a16="http://schemas.microsoft.com/office/drawing/2014/main" id="{3A2DAF61-EA3A-D926-3F7A-0225DDDBB2E8}"/>
              </a:ext>
            </a:extLst>
          </p:cNvPr>
          <p:cNvSpPr txBox="1"/>
          <p:nvPr/>
        </p:nvSpPr>
        <p:spPr>
          <a:xfrm>
            <a:off x="9118191" y="4198203"/>
            <a:ext cx="5402760" cy="830997"/>
          </a:xfrm>
          <a:prstGeom prst="rect">
            <a:avLst/>
          </a:prstGeom>
          <a:noFill/>
        </p:spPr>
        <p:txBody>
          <a:bodyPr wrap="square">
            <a:spAutoFit/>
          </a:bodyPr>
          <a:lstStyle/>
          <a:p>
            <a:r>
              <a:rPr lang="en-US" sz="2400" b="1" dirty="0">
                <a:solidFill>
                  <a:srgbClr val="7030A0"/>
                </a:solidFill>
                <a:cs typeface="Arial" panose="020B0604020202020204" pitchFamily="34" charset="0"/>
              </a:rPr>
              <a:t>Considering bounce times as 20 </a:t>
            </a:r>
            <a:r>
              <a:rPr lang="en-US" sz="2400" b="1" dirty="0" err="1">
                <a:solidFill>
                  <a:srgbClr val="7030A0"/>
                </a:solidFill>
                <a:cs typeface="Arial" panose="020B0604020202020204" pitchFamily="34" charset="0"/>
              </a:rPr>
              <a:t>ms</a:t>
            </a:r>
            <a:r>
              <a:rPr lang="en-US" sz="2400" b="1" dirty="0">
                <a:solidFill>
                  <a:srgbClr val="7030A0"/>
                </a:solidFill>
                <a:cs typeface="Arial" panose="020B0604020202020204" pitchFamily="34" charset="0"/>
              </a:rPr>
              <a:t> and capacitance value as 1 </a:t>
            </a:r>
            <a:r>
              <a:rPr lang="en-US" sz="2400" b="1" dirty="0">
                <a:solidFill>
                  <a:srgbClr val="7030A0"/>
                </a:solidFill>
                <a:latin typeface="Symbol" panose="05050102010706020507" pitchFamily="18" charset="2"/>
                <a:cs typeface="Arial" panose="020B0604020202020204" pitchFamily="34" charset="0"/>
              </a:rPr>
              <a:t>m</a:t>
            </a:r>
            <a:r>
              <a:rPr lang="en-US" sz="2400" b="1" dirty="0">
                <a:solidFill>
                  <a:srgbClr val="7030A0"/>
                </a:solidFill>
                <a:cs typeface="Arial" panose="020B0604020202020204" pitchFamily="34" charset="0"/>
              </a:rPr>
              <a:t>F</a:t>
            </a:r>
            <a:endParaRPr lang="en-US" sz="2400" dirty="0"/>
          </a:p>
        </p:txBody>
      </p:sp>
    </p:spTree>
    <p:extLst>
      <p:ext uri="{BB962C8B-B14F-4D97-AF65-F5344CB8AC3E}">
        <p14:creationId xmlns:p14="http://schemas.microsoft.com/office/powerpoint/2010/main" val="1190008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3181" y="391160"/>
            <a:ext cx="13174733" cy="1132840"/>
          </a:xfrm>
        </p:spPr>
        <p:txBody>
          <a:bodyPr lIns="0" rIns="0">
            <a:normAutofit/>
          </a:bodyPr>
          <a:lstStyle/>
          <a:p>
            <a:r>
              <a:rPr lang="en-US" sz="5400" b="1" dirty="0"/>
              <a:t>Hardware Debouncing</a:t>
            </a:r>
          </a:p>
        </p:txBody>
      </p:sp>
      <p:sp>
        <p:nvSpPr>
          <p:cNvPr id="3" name="Content Placeholder 2"/>
          <p:cNvSpPr>
            <a:spLocks noGrp="1"/>
          </p:cNvSpPr>
          <p:nvPr>
            <p:ph idx="1"/>
          </p:nvPr>
        </p:nvSpPr>
        <p:spPr>
          <a:xfrm>
            <a:off x="152400" y="1371600"/>
            <a:ext cx="14318160" cy="5486400"/>
          </a:xfrm>
        </p:spPr>
        <p:txBody>
          <a:bodyPr lIns="0" rIns="0">
            <a:noAutofit/>
          </a:bodyPr>
          <a:lstStyle/>
          <a:p>
            <a:pPr marL="124355" indent="0" algn="just">
              <a:spcBef>
                <a:spcPts val="0"/>
              </a:spcBef>
              <a:buNone/>
            </a:pPr>
            <a:r>
              <a:rPr lang="en-US" sz="3200" b="1" dirty="0">
                <a:solidFill>
                  <a:srgbClr val="FF0000"/>
                </a:solidFill>
              </a:rPr>
              <a:t>Numerical Example (continuing):</a:t>
            </a:r>
          </a:p>
          <a:p>
            <a:pPr marL="124355" indent="0" algn="just">
              <a:spcBef>
                <a:spcPts val="0"/>
              </a:spcBef>
              <a:buNone/>
            </a:pPr>
            <a:r>
              <a:rPr lang="en-US" sz="3200" dirty="0">
                <a:solidFill>
                  <a:srgbClr val="FF0000"/>
                </a:solidFill>
                <a:cs typeface="Arial" panose="020B0604020202020204" pitchFamily="34" charset="0"/>
              </a:rPr>
              <a:t>Be wary of the components’ tolerances!</a:t>
            </a:r>
          </a:p>
          <a:p>
            <a:pPr marL="124355" indent="0" algn="just">
              <a:spcBef>
                <a:spcPts val="0"/>
              </a:spcBef>
              <a:buNone/>
            </a:pPr>
            <a:r>
              <a:rPr lang="en-US" sz="3200" dirty="0">
                <a:cs typeface="Arial" panose="020B0604020202020204" pitchFamily="34" charset="0"/>
              </a:rPr>
              <a:t>Standard resistors are usually </a:t>
            </a:r>
            <a:r>
              <a:rPr lang="en-US" sz="3200" dirty="0">
                <a:solidFill>
                  <a:schemeClr val="bg1">
                    <a:lumMod val="75000"/>
                  </a:schemeClr>
                </a:solidFill>
                <a:cs typeface="Arial" panose="020B0604020202020204" pitchFamily="34" charset="0"/>
              </a:rPr>
              <a:t>±5%</a:t>
            </a:r>
            <a:r>
              <a:rPr lang="en-US" sz="3200" dirty="0">
                <a:cs typeface="Arial" panose="020B0604020202020204" pitchFamily="34" charset="0"/>
              </a:rPr>
              <a:t> (based on </a:t>
            </a:r>
            <a:r>
              <a:rPr lang="en-US" sz="3200" b="1" dirty="0">
                <a:solidFill>
                  <a:schemeClr val="bg1">
                    <a:lumMod val="75000"/>
                  </a:schemeClr>
                </a:solidFill>
                <a:cs typeface="Arial" panose="020B0604020202020204" pitchFamily="34" charset="0"/>
              </a:rPr>
              <a:t>silver band</a:t>
            </a:r>
            <a:r>
              <a:rPr lang="en-US" sz="3200" dirty="0">
                <a:solidFill>
                  <a:schemeClr val="bg1">
                    <a:lumMod val="75000"/>
                  </a:schemeClr>
                </a:solidFill>
                <a:cs typeface="Arial" panose="020B0604020202020204" pitchFamily="34" charset="0"/>
              </a:rPr>
              <a:t> </a:t>
            </a:r>
            <a:r>
              <a:rPr lang="en-US" sz="3200" dirty="0">
                <a:cs typeface="Arial" panose="020B0604020202020204" pitchFamily="34" charset="0"/>
              </a:rPr>
              <a:t>as the 4</a:t>
            </a:r>
            <a:r>
              <a:rPr lang="en-US" sz="3200" baseline="30000" dirty="0">
                <a:cs typeface="Arial" panose="020B0604020202020204" pitchFamily="34" charset="0"/>
              </a:rPr>
              <a:t>th</a:t>
            </a:r>
            <a:r>
              <a:rPr lang="en-US" sz="3200" dirty="0">
                <a:cs typeface="Arial" panose="020B0604020202020204" pitchFamily="34" charset="0"/>
              </a:rPr>
              <a:t> band on the resistor) to </a:t>
            </a:r>
            <a:r>
              <a:rPr lang="en-US" sz="3200" dirty="0">
                <a:solidFill>
                  <a:srgbClr val="FFC000"/>
                </a:solidFill>
                <a:cs typeface="Arial" panose="020B0604020202020204" pitchFamily="34" charset="0"/>
              </a:rPr>
              <a:t>±10%</a:t>
            </a:r>
            <a:r>
              <a:rPr lang="en-US" sz="3200" dirty="0">
                <a:cs typeface="Arial" panose="020B0604020202020204" pitchFamily="34" charset="0"/>
              </a:rPr>
              <a:t> (based on </a:t>
            </a:r>
            <a:r>
              <a:rPr lang="en-US" sz="3200" b="1" dirty="0">
                <a:solidFill>
                  <a:srgbClr val="FFC000"/>
                </a:solidFill>
                <a:cs typeface="Arial" panose="020B0604020202020204" pitchFamily="34" charset="0"/>
              </a:rPr>
              <a:t>gold band</a:t>
            </a:r>
            <a:r>
              <a:rPr lang="en-US" sz="3200" dirty="0">
                <a:cs typeface="Arial" panose="020B0604020202020204" pitchFamily="34" charset="0"/>
              </a:rPr>
              <a:t> as the 4</a:t>
            </a:r>
            <a:r>
              <a:rPr lang="en-US" sz="3200" baseline="30000" dirty="0">
                <a:cs typeface="Arial" panose="020B0604020202020204" pitchFamily="34" charset="0"/>
              </a:rPr>
              <a:t>th</a:t>
            </a:r>
            <a:r>
              <a:rPr lang="en-US" sz="3200" dirty="0">
                <a:cs typeface="Arial" panose="020B0604020202020204" pitchFamily="34" charset="0"/>
              </a:rPr>
              <a:t> band on the resistor), and the capacitors are </a:t>
            </a:r>
            <a:r>
              <a:rPr lang="en-US" sz="3200" dirty="0">
                <a:solidFill>
                  <a:srgbClr val="FF0000"/>
                </a:solidFill>
                <a:cs typeface="Arial" panose="020B0604020202020204" pitchFamily="34" charset="0"/>
              </a:rPr>
              <a:t>±20% (for electrolytic) </a:t>
            </a:r>
            <a:r>
              <a:rPr lang="en-US" sz="3200" dirty="0">
                <a:cs typeface="Arial" panose="020B0604020202020204" pitchFamily="34" charset="0"/>
              </a:rPr>
              <a:t>to </a:t>
            </a:r>
            <a:r>
              <a:rPr lang="en-US" sz="3200" dirty="0">
                <a:solidFill>
                  <a:srgbClr val="C00000"/>
                </a:solidFill>
                <a:cs typeface="Arial" panose="020B0604020202020204" pitchFamily="34" charset="0"/>
              </a:rPr>
              <a:t>±30% (for small ceramic capacitors)</a:t>
            </a:r>
            <a:r>
              <a:rPr lang="en-US" sz="3200" dirty="0">
                <a:cs typeface="Arial" panose="020B0604020202020204" pitchFamily="34" charset="0"/>
              </a:rPr>
              <a:t> are error-prone from their nominal rating.</a:t>
            </a:r>
          </a:p>
          <a:p>
            <a:pPr marL="124355" indent="0" algn="just">
              <a:spcBef>
                <a:spcPts val="0"/>
              </a:spcBef>
              <a:buNone/>
            </a:pPr>
            <a:endParaRPr lang="en-US" sz="3200" dirty="0">
              <a:cs typeface="Arial" panose="020B0604020202020204" pitchFamily="34" charset="0"/>
            </a:endParaRPr>
          </a:p>
          <a:p>
            <a:pPr marL="124355" indent="0" algn="just">
              <a:spcBef>
                <a:spcPts val="0"/>
              </a:spcBef>
              <a:buNone/>
            </a:pPr>
            <a:r>
              <a:rPr lang="en-US" sz="3200" b="1" dirty="0">
                <a:solidFill>
                  <a:schemeClr val="accent1">
                    <a:lumMod val="60000"/>
                    <a:lumOff val="40000"/>
                  </a:schemeClr>
                </a:solidFill>
                <a:cs typeface="Arial" panose="020B0604020202020204" pitchFamily="34" charset="0"/>
              </a:rPr>
              <a:t>For example</a:t>
            </a:r>
            <a:r>
              <a:rPr lang="en-US" sz="3200" dirty="0">
                <a:cs typeface="Arial" panose="020B0604020202020204" pitchFamily="34" charset="0"/>
              </a:rPr>
              <a:t>, if a resistor has nominal resistance value of 180 k</a:t>
            </a:r>
            <a:r>
              <a:rPr lang="en-US" sz="3200" dirty="0">
                <a:latin typeface="Symbol" panose="05050102010706020507" pitchFamily="18" charset="2"/>
                <a:cs typeface="Arial" panose="020B0604020202020204" pitchFamily="34" charset="0"/>
              </a:rPr>
              <a:t>W</a:t>
            </a:r>
            <a:r>
              <a:rPr lang="en-US" sz="3200" dirty="0">
                <a:cs typeface="Arial" panose="020B0604020202020204" pitchFamily="34" charset="0"/>
              </a:rPr>
              <a:t>, and its 4</a:t>
            </a:r>
            <a:r>
              <a:rPr lang="en-US" sz="3200" baseline="30000" dirty="0">
                <a:cs typeface="Arial" panose="020B0604020202020204" pitchFamily="34" charset="0"/>
              </a:rPr>
              <a:t>th</a:t>
            </a:r>
            <a:r>
              <a:rPr lang="en-US" sz="3200" dirty="0">
                <a:cs typeface="Arial" panose="020B0604020202020204" pitchFamily="34" charset="0"/>
              </a:rPr>
              <a:t> color band is </a:t>
            </a:r>
            <a:r>
              <a:rPr lang="en-US" sz="3200" b="1" dirty="0">
                <a:solidFill>
                  <a:schemeClr val="bg1">
                    <a:lumMod val="85000"/>
                  </a:schemeClr>
                </a:solidFill>
                <a:cs typeface="Arial" panose="020B0604020202020204" pitchFamily="34" charset="0"/>
              </a:rPr>
              <a:t>silver color </a:t>
            </a:r>
            <a:r>
              <a:rPr lang="en-US" sz="3200" dirty="0">
                <a:cs typeface="Arial" panose="020B0604020202020204" pitchFamily="34" charset="0"/>
              </a:rPr>
              <a:t>then the resistance value may vary between (180k</a:t>
            </a:r>
            <a:r>
              <a:rPr lang="en-US" sz="3200" dirty="0">
                <a:latin typeface="Symbol" panose="05050102010706020507" pitchFamily="18" charset="2"/>
                <a:cs typeface="Arial" panose="020B0604020202020204" pitchFamily="34" charset="0"/>
              </a:rPr>
              <a:t>W </a:t>
            </a:r>
            <a:r>
              <a:rPr lang="en-US" sz="3200" dirty="0">
                <a:cs typeface="Arial" panose="020B0604020202020204" pitchFamily="34" charset="0"/>
              </a:rPr>
              <a:t>± </a:t>
            </a:r>
            <a:r>
              <a:rPr lang="en-US" sz="3200" dirty="0">
                <a:latin typeface="Symbol" panose="05050102010706020507" pitchFamily="18" charset="2"/>
                <a:cs typeface="Arial" panose="020B0604020202020204" pitchFamily="34" charset="0"/>
              </a:rPr>
              <a:t>5% </a:t>
            </a:r>
            <a:r>
              <a:rPr lang="en-US" sz="3200" dirty="0">
                <a:cs typeface="Arial" panose="020B0604020202020204" pitchFamily="34" charset="0"/>
              </a:rPr>
              <a:t>of 180k</a:t>
            </a:r>
            <a:r>
              <a:rPr lang="en-US" sz="3200" dirty="0">
                <a:latin typeface="Symbol" panose="05050102010706020507" pitchFamily="18" charset="2"/>
                <a:cs typeface="Arial" panose="020B0604020202020204" pitchFamily="34" charset="0"/>
              </a:rPr>
              <a:t>W) </a:t>
            </a:r>
            <a:r>
              <a:rPr lang="en-US" sz="3200" dirty="0">
                <a:cs typeface="Arial" panose="020B0604020202020204" pitchFamily="34" charset="0"/>
              </a:rPr>
              <a:t>i.e., from</a:t>
            </a:r>
            <a:r>
              <a:rPr lang="en-US" sz="3200" dirty="0">
                <a:latin typeface="Symbol" panose="05050102010706020507" pitchFamily="18" charset="2"/>
                <a:cs typeface="Arial" panose="020B0604020202020204" pitchFamily="34" charset="0"/>
              </a:rPr>
              <a:t> </a:t>
            </a:r>
            <a:r>
              <a:rPr lang="en-US" sz="3200" dirty="0">
                <a:cs typeface="Arial" panose="020B0604020202020204" pitchFamily="34" charset="0"/>
              </a:rPr>
              <a:t>(180k</a:t>
            </a:r>
            <a:r>
              <a:rPr lang="en-US" sz="3200" dirty="0">
                <a:latin typeface="Symbol" panose="05050102010706020507" pitchFamily="18" charset="2"/>
                <a:cs typeface="Arial" panose="020B0604020202020204" pitchFamily="34" charset="0"/>
              </a:rPr>
              <a:t>W </a:t>
            </a:r>
            <a:r>
              <a:rPr lang="en-US" sz="3200" dirty="0">
                <a:cs typeface="Arial" panose="020B0604020202020204" pitchFamily="34" charset="0"/>
              </a:rPr>
              <a:t>- </a:t>
            </a:r>
            <a:r>
              <a:rPr lang="en-US" sz="3200" dirty="0">
                <a:latin typeface="Symbol" panose="05050102010706020507" pitchFamily="18" charset="2"/>
                <a:cs typeface="Arial" panose="020B0604020202020204" pitchFamily="34" charset="0"/>
              </a:rPr>
              <a:t>5% </a:t>
            </a:r>
            <a:r>
              <a:rPr lang="en-US" sz="3200" dirty="0">
                <a:cs typeface="Arial" panose="020B0604020202020204" pitchFamily="34" charset="0"/>
              </a:rPr>
              <a:t>of 180k</a:t>
            </a:r>
            <a:r>
              <a:rPr lang="en-US" sz="3200" dirty="0">
                <a:latin typeface="Symbol" panose="05050102010706020507" pitchFamily="18" charset="2"/>
                <a:cs typeface="Arial" panose="020B0604020202020204" pitchFamily="34" charset="0"/>
              </a:rPr>
              <a:t>W)</a:t>
            </a:r>
            <a:r>
              <a:rPr lang="en-US" sz="3200" dirty="0">
                <a:cs typeface="Arial" panose="020B0604020202020204" pitchFamily="34" charset="0"/>
              </a:rPr>
              <a:t> to (180k</a:t>
            </a:r>
            <a:r>
              <a:rPr lang="en-US" sz="3200" dirty="0">
                <a:latin typeface="Symbol" panose="05050102010706020507" pitchFamily="18" charset="2"/>
                <a:cs typeface="Arial" panose="020B0604020202020204" pitchFamily="34" charset="0"/>
              </a:rPr>
              <a:t>W </a:t>
            </a:r>
            <a:r>
              <a:rPr lang="en-US" sz="3200" dirty="0">
                <a:cs typeface="Arial" panose="020B0604020202020204" pitchFamily="34" charset="0"/>
              </a:rPr>
              <a:t>+ </a:t>
            </a:r>
            <a:r>
              <a:rPr lang="en-US" sz="3200" dirty="0">
                <a:latin typeface="Symbol" panose="05050102010706020507" pitchFamily="18" charset="2"/>
                <a:cs typeface="Arial" panose="020B0604020202020204" pitchFamily="34" charset="0"/>
              </a:rPr>
              <a:t>5% </a:t>
            </a:r>
            <a:r>
              <a:rPr lang="en-US" sz="3200" dirty="0">
                <a:cs typeface="Arial" panose="020B0604020202020204" pitchFamily="34" charset="0"/>
              </a:rPr>
              <a:t>of 180k</a:t>
            </a:r>
            <a:r>
              <a:rPr lang="en-US" sz="3200" dirty="0">
                <a:latin typeface="Symbol" panose="05050102010706020507" pitchFamily="18" charset="2"/>
                <a:cs typeface="Arial" panose="020B0604020202020204" pitchFamily="34" charset="0"/>
              </a:rPr>
              <a:t>W) </a:t>
            </a:r>
            <a:r>
              <a:rPr lang="en-US" sz="3200" dirty="0">
                <a:cs typeface="Arial" panose="020B0604020202020204" pitchFamily="34" charset="0"/>
              </a:rPr>
              <a:t>or from</a:t>
            </a:r>
            <a:r>
              <a:rPr lang="en-US" sz="3200" dirty="0">
                <a:latin typeface="Symbol" panose="05050102010706020507" pitchFamily="18" charset="2"/>
                <a:cs typeface="Arial" panose="020B0604020202020204" pitchFamily="34" charset="0"/>
              </a:rPr>
              <a:t> </a:t>
            </a:r>
            <a:r>
              <a:rPr lang="en-US" sz="3200" dirty="0">
                <a:cs typeface="Arial" panose="020B0604020202020204" pitchFamily="34" charset="0"/>
              </a:rPr>
              <a:t>(180 k</a:t>
            </a:r>
            <a:r>
              <a:rPr lang="en-US" sz="3200" dirty="0">
                <a:latin typeface="Symbol" panose="05050102010706020507" pitchFamily="18" charset="2"/>
                <a:cs typeface="Arial" panose="020B0604020202020204" pitchFamily="34" charset="0"/>
              </a:rPr>
              <a:t>W </a:t>
            </a:r>
            <a:r>
              <a:rPr lang="en-US" sz="3200" dirty="0">
                <a:cs typeface="Arial" panose="020B0604020202020204" pitchFamily="34" charset="0"/>
              </a:rPr>
              <a:t>- </a:t>
            </a:r>
            <a:r>
              <a:rPr lang="en-US" sz="3200" dirty="0">
                <a:latin typeface="Symbol" panose="05050102010706020507" pitchFamily="18" charset="2"/>
                <a:cs typeface="Arial" panose="020B0604020202020204" pitchFamily="34" charset="0"/>
              </a:rPr>
              <a:t>9</a:t>
            </a:r>
            <a:r>
              <a:rPr lang="en-US" sz="3200" dirty="0">
                <a:cs typeface="Arial" panose="020B0604020202020204" pitchFamily="34" charset="0"/>
              </a:rPr>
              <a:t>k</a:t>
            </a:r>
            <a:r>
              <a:rPr lang="en-US" sz="3200" dirty="0">
                <a:latin typeface="Symbol" panose="05050102010706020507" pitchFamily="18" charset="2"/>
                <a:cs typeface="Arial" panose="020B0604020202020204" pitchFamily="34" charset="0"/>
              </a:rPr>
              <a:t>W)</a:t>
            </a:r>
            <a:r>
              <a:rPr lang="en-US" sz="3200" dirty="0">
                <a:cs typeface="Arial" panose="020B0604020202020204" pitchFamily="34" charset="0"/>
              </a:rPr>
              <a:t> to (180 k</a:t>
            </a:r>
            <a:r>
              <a:rPr lang="en-US" sz="3200" dirty="0">
                <a:latin typeface="Symbol" panose="05050102010706020507" pitchFamily="18" charset="2"/>
                <a:cs typeface="Arial" panose="020B0604020202020204" pitchFamily="34" charset="0"/>
              </a:rPr>
              <a:t>W </a:t>
            </a:r>
            <a:r>
              <a:rPr lang="en-US" sz="3200" dirty="0">
                <a:cs typeface="Arial" panose="020B0604020202020204" pitchFamily="34" charset="0"/>
              </a:rPr>
              <a:t>+ </a:t>
            </a:r>
            <a:r>
              <a:rPr lang="en-US" sz="3200" dirty="0">
                <a:latin typeface="Symbol" panose="05050102010706020507" pitchFamily="18" charset="2"/>
                <a:cs typeface="Arial" panose="020B0604020202020204" pitchFamily="34" charset="0"/>
              </a:rPr>
              <a:t>9</a:t>
            </a:r>
            <a:r>
              <a:rPr lang="en-US" sz="3200" dirty="0">
                <a:cs typeface="Arial" panose="020B0604020202020204" pitchFamily="34" charset="0"/>
              </a:rPr>
              <a:t>k</a:t>
            </a:r>
            <a:r>
              <a:rPr lang="en-US" sz="3200" dirty="0">
                <a:latin typeface="Symbol" panose="05050102010706020507" pitchFamily="18" charset="2"/>
                <a:cs typeface="Arial" panose="020B0604020202020204" pitchFamily="34" charset="0"/>
              </a:rPr>
              <a:t>W) </a:t>
            </a:r>
            <a:r>
              <a:rPr lang="en-US" sz="3200" dirty="0">
                <a:cs typeface="Arial" panose="020B0604020202020204" pitchFamily="34" charset="0"/>
              </a:rPr>
              <a:t>or from</a:t>
            </a:r>
            <a:r>
              <a:rPr lang="en-US" sz="3200" dirty="0">
                <a:latin typeface="Symbol" panose="05050102010706020507" pitchFamily="18" charset="2"/>
                <a:cs typeface="Arial" panose="020B0604020202020204" pitchFamily="34" charset="0"/>
              </a:rPr>
              <a:t> </a:t>
            </a:r>
            <a:r>
              <a:rPr lang="en-US" sz="3200" dirty="0">
                <a:cs typeface="Arial" panose="020B0604020202020204" pitchFamily="34" charset="0"/>
              </a:rPr>
              <a:t>171k</a:t>
            </a:r>
            <a:r>
              <a:rPr lang="en-US" sz="3200" dirty="0">
                <a:latin typeface="Symbol" panose="05050102010706020507" pitchFamily="18" charset="2"/>
                <a:cs typeface="Arial" panose="020B0604020202020204" pitchFamily="34" charset="0"/>
              </a:rPr>
              <a:t>W </a:t>
            </a:r>
            <a:r>
              <a:rPr lang="en-US" sz="3200" dirty="0">
                <a:cs typeface="Arial" panose="020B0604020202020204" pitchFamily="34" charset="0"/>
              </a:rPr>
              <a:t>to 189k</a:t>
            </a:r>
            <a:r>
              <a:rPr lang="en-US" sz="3200" dirty="0">
                <a:latin typeface="Symbol" panose="05050102010706020507" pitchFamily="18" charset="2"/>
                <a:cs typeface="Arial" panose="020B0604020202020204" pitchFamily="34" charset="0"/>
              </a:rPr>
              <a:t>W</a:t>
            </a:r>
            <a:r>
              <a:rPr lang="en-US" sz="3200" dirty="0">
                <a:cs typeface="Arial" panose="020B0604020202020204" pitchFamily="34" charset="0"/>
              </a:rPr>
              <a:t>.</a:t>
            </a:r>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a:p>
        </p:txBody>
      </p:sp>
      <p:sp>
        <p:nvSpPr>
          <p:cNvPr id="7" name="Date Placeholder 6"/>
          <p:cNvSpPr>
            <a:spLocks noGrp="1"/>
          </p:cNvSpPr>
          <p:nvPr>
            <p:ph type="dt" sz="half" idx="10"/>
          </p:nvPr>
        </p:nvSpPr>
        <p:spPr/>
        <p:txBody>
          <a:bodyPr/>
          <a:lstStyle/>
          <a:p>
            <a:fld id="{386C4CD3-1055-4803-8131-20120CCD2DA4}" type="datetime3">
              <a:rPr lang="en-US" smtClean="0"/>
              <a:t>15 June 2026</a:t>
            </a:fld>
            <a:endParaRPr lang="en-US"/>
          </a:p>
        </p:txBody>
      </p:sp>
    </p:spTree>
    <p:extLst>
      <p:ext uri="{BB962C8B-B14F-4D97-AF65-F5344CB8AC3E}">
        <p14:creationId xmlns:p14="http://schemas.microsoft.com/office/powerpoint/2010/main" val="42352936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C2C9D-536B-6C80-0B77-9E12BF88D7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39CC8A-B5B8-CCCF-EFD7-51F87274D0CB}"/>
              </a:ext>
            </a:extLst>
          </p:cNvPr>
          <p:cNvSpPr>
            <a:spLocks noGrp="1"/>
          </p:cNvSpPr>
          <p:nvPr>
            <p:ph type="title"/>
          </p:nvPr>
        </p:nvSpPr>
        <p:spPr>
          <a:xfrm>
            <a:off x="253181" y="391160"/>
            <a:ext cx="13174733" cy="961948"/>
          </a:xfrm>
        </p:spPr>
        <p:txBody>
          <a:bodyPr lIns="0" rIns="0">
            <a:normAutofit/>
          </a:bodyPr>
          <a:lstStyle/>
          <a:p>
            <a:r>
              <a:rPr lang="en-US" sz="5400" b="1" dirty="0">
                <a:solidFill>
                  <a:srgbClr val="FF0000"/>
                </a:solidFill>
              </a:rPr>
              <a:t>Hardware Debouncing (Summary)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19BC7AF-2288-616B-50D0-9B9B170A9E67}"/>
                  </a:ext>
                </a:extLst>
              </p:cNvPr>
              <p:cNvSpPr>
                <a:spLocks noGrp="1"/>
              </p:cNvSpPr>
              <p:nvPr>
                <p:ph idx="1"/>
              </p:nvPr>
            </p:nvSpPr>
            <p:spPr>
              <a:xfrm>
                <a:off x="240891" y="1353108"/>
                <a:ext cx="11963399" cy="6098032"/>
              </a:xfrm>
            </p:spPr>
            <p:txBody>
              <a:bodyPr lIns="0" rIns="0">
                <a:noAutofit/>
              </a:bodyPr>
              <a:lstStyle/>
              <a:p>
                <a:pPr marL="124355" indent="0">
                  <a:buNone/>
                </a:pPr>
                <a:r>
                  <a:rPr lang="en-US" sz="2800" dirty="0"/>
                  <a:t>After elapsing the de-bounce time, at </a:t>
                </a:r>
                <a:r>
                  <a:rPr lang="en-US" sz="2800" i="1" dirty="0"/>
                  <a:t>t</a:t>
                </a:r>
                <a:r>
                  <a:rPr lang="en-US" sz="2800" dirty="0"/>
                  <a:t> = </a:t>
                </a:r>
                <a:r>
                  <a:rPr lang="en-US" sz="2800" i="1" dirty="0"/>
                  <a:t>t</a:t>
                </a:r>
                <a:r>
                  <a:rPr lang="en-US" sz="2800" i="1" baseline="-25000" dirty="0"/>
                  <a:t>b</a:t>
                </a:r>
                <a:r>
                  <a:rPr lang="en-US" sz="2800" dirty="0"/>
                  <a:t>, the capacitor voltage becomes equal to the higher threshold voltage when it is charging. That is, at </a:t>
                </a:r>
                <a:r>
                  <a:rPr lang="en-US" sz="2800" i="1" dirty="0"/>
                  <a:t>t</a:t>
                </a:r>
                <a:r>
                  <a:rPr lang="en-US" sz="2800" dirty="0"/>
                  <a:t> = </a:t>
                </a:r>
                <a:r>
                  <a:rPr lang="en-US" sz="2800" i="1" dirty="0"/>
                  <a:t>t</a:t>
                </a:r>
                <a:r>
                  <a:rPr lang="en-US" sz="2800" i="1" baseline="-25000" dirty="0"/>
                  <a:t>b</a:t>
                </a:r>
                <a:r>
                  <a:rPr lang="en-US" sz="2800" dirty="0"/>
                  <a:t>,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𝑣</m:t>
                        </m:r>
                      </m:e>
                      <m:sub>
                        <m:r>
                          <a:rPr lang="en-US" sz="2800" i="1">
                            <a:latin typeface="Cambria Math" panose="02040503050406030204" pitchFamily="18" charset="0"/>
                          </a:rPr>
                          <m:t>𝑐</m:t>
                        </m:r>
                      </m:sub>
                    </m:sSub>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𝑡</m:t>
                            </m:r>
                          </m:e>
                          <m:sub>
                            <m:r>
                              <a:rPr lang="en-US" sz="2800" i="1">
                                <a:latin typeface="Cambria Math" panose="02040503050406030204" pitchFamily="18" charset="0"/>
                              </a:rPr>
                              <m:t>𝑏</m:t>
                            </m:r>
                          </m:sub>
                        </m:sSub>
                      </m:e>
                    </m:d>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𝑣</m:t>
                        </m:r>
                      </m:e>
                      <m:sub>
                        <m:r>
                          <a:rPr lang="en-US" sz="2800" i="1">
                            <a:latin typeface="Cambria Math" panose="02040503050406030204" pitchFamily="18" charset="0"/>
                          </a:rPr>
                          <m:t>𝑡h</m:t>
                        </m:r>
                        <m:r>
                          <a:rPr lang="en-US" sz="2800" i="1">
                            <a:latin typeface="Cambria Math" panose="02040503050406030204" pitchFamily="18" charset="0"/>
                          </a:rPr>
                          <m:t>,</m:t>
                        </m:r>
                        <m:r>
                          <a:rPr lang="en-US" sz="2800" i="1">
                            <a:latin typeface="Cambria Math" panose="02040503050406030204" pitchFamily="18" charset="0"/>
                          </a:rPr>
                          <m:t>𝐻</m:t>
                        </m:r>
                      </m:sub>
                    </m:sSub>
                  </m:oMath>
                </a14:m>
                <a:r>
                  <a:rPr lang="en-US" sz="2800" dirty="0"/>
                  <a:t> = higher threshold while the capacitor is charging.</a:t>
                </a:r>
              </a:p>
              <a:p>
                <a:pPr marL="124355" indent="0">
                  <a:buNone/>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𝑣</m:t>
                          </m:r>
                        </m:e>
                        <m:sub>
                          <m:r>
                            <a:rPr lang="en-US" sz="2400" i="1">
                              <a:latin typeface="Cambria Math" panose="02040503050406030204" pitchFamily="18" charset="0"/>
                            </a:rPr>
                            <m:t>𝑐</m:t>
                          </m:r>
                        </m:sub>
                      </m:sSub>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𝑏</m:t>
                              </m:r>
                            </m:sub>
                          </m:sSub>
                        </m:e>
                      </m:d>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𝑣</m:t>
                          </m:r>
                        </m:e>
                        <m:sub>
                          <m:r>
                            <a:rPr lang="en-US" sz="2400" i="1">
                              <a:latin typeface="Cambria Math" panose="02040503050406030204" pitchFamily="18" charset="0"/>
                            </a:rPr>
                            <m:t>𝑡h</m:t>
                          </m:r>
                          <m:r>
                            <a:rPr lang="en-US" sz="2400" i="1">
                              <a:latin typeface="Cambria Math" panose="02040503050406030204" pitchFamily="18" charset="0"/>
                            </a:rPr>
                            <m:t>,</m:t>
                          </m:r>
                          <m:r>
                            <a:rPr lang="en-US" sz="2400" i="1">
                              <a:latin typeface="Cambria Math" panose="02040503050406030204" pitchFamily="18" charset="0"/>
                            </a:rPr>
                            <m:t>𝐻</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𝐶𝐶</m:t>
                          </m:r>
                        </m:sub>
                      </m:sSub>
                      <m:d>
                        <m:dPr>
                          <m:ctrlPr>
                            <a:rPr lang="en-US" sz="2400" i="1">
                              <a:latin typeface="Cambria Math" panose="02040503050406030204" pitchFamily="18" charset="0"/>
                            </a:rPr>
                          </m:ctrlPr>
                        </m:dPr>
                        <m:e>
                          <m:r>
                            <a:rPr lang="en-US" sz="2400" i="1">
                              <a:latin typeface="Cambria Math" panose="02040503050406030204" pitchFamily="18" charset="0"/>
                            </a:rPr>
                            <m:t>1−</m:t>
                          </m:r>
                          <m:sSup>
                            <m:sSupPr>
                              <m:ctrlPr>
                                <a:rPr lang="en-US" sz="2400" i="1" smtClean="0">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𝑏</m:t>
                                      </m:r>
                                    </m:sub>
                                  </m:sSub>
                                </m:num>
                                <m:den>
                                  <m:r>
                                    <a:rPr lang="en-US" sz="2400" i="1">
                                      <a:latin typeface="Cambria Math" panose="02040503050406030204" pitchFamily="18" charset="0"/>
                                    </a:rPr>
                                    <m:t>𝑅𝐶</m:t>
                                  </m:r>
                                </m:den>
                              </m:f>
                            </m:sup>
                          </m:sSup>
                        </m:e>
                      </m:d>
                      <m:r>
                        <a:rPr lang="en-US" sz="2400" i="1">
                          <a:latin typeface="Cambria Math" panose="02040503050406030204" pitchFamily="18" charset="0"/>
                        </a:rPr>
                        <m:t>    (1)</m:t>
                      </m:r>
                    </m:oMath>
                  </m:oMathPara>
                </a14:m>
                <a:endParaRPr lang="en-US" sz="2400" dirty="0"/>
              </a:p>
              <a:p>
                <a:pPr marL="124355" indent="0">
                  <a:buNone/>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rPr>
                        <m:t>1−</m:t>
                      </m:r>
                      <m:sSup>
                        <m:sSupPr>
                          <m:ctrlPr>
                            <a:rPr lang="en-US" sz="2400" i="1" smtClean="0">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𝑏</m:t>
                                  </m:r>
                                </m:sub>
                              </m:sSub>
                            </m:num>
                            <m:den>
                              <m:r>
                                <a:rPr lang="en-US" sz="2400" i="1">
                                  <a:latin typeface="Cambria Math" panose="02040503050406030204" pitchFamily="18" charset="0"/>
                                </a:rPr>
                                <m:t>𝑅𝐶</m:t>
                              </m:r>
                            </m:den>
                          </m:f>
                        </m:sup>
                      </m:sSup>
                      <m:r>
                        <a:rPr lang="en-US" sz="2400" b="0" i="1" smtClean="0">
                          <a:latin typeface="Cambria Math" panose="02040503050406030204" pitchFamily="18" charset="0"/>
                        </a:rPr>
                        <m:t>=</m:t>
                      </m:r>
                      <m:f>
                        <m:fPr>
                          <m:ctrlPr>
                            <a:rPr lang="en-US" sz="2400" i="1" smtClean="0">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𝑣</m:t>
                              </m:r>
                            </m:e>
                            <m:sub>
                              <m:r>
                                <a:rPr lang="en-US" sz="2400" i="1">
                                  <a:latin typeface="Cambria Math" panose="02040503050406030204" pitchFamily="18" charset="0"/>
                                </a:rPr>
                                <m:t>𝑡h</m:t>
                              </m:r>
                              <m:r>
                                <a:rPr lang="en-US" sz="2400" i="1">
                                  <a:latin typeface="Cambria Math" panose="02040503050406030204" pitchFamily="18" charset="0"/>
                                </a:rPr>
                                <m:t>,</m:t>
                              </m:r>
                              <m:r>
                                <a:rPr lang="en-US" sz="2400" i="1">
                                  <a:latin typeface="Cambria Math" panose="02040503050406030204" pitchFamily="18" charset="0"/>
                                </a:rPr>
                                <m:t>𝐻</m:t>
                              </m:r>
                            </m:sub>
                          </m:sSub>
                        </m:num>
                        <m:den>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𝐶𝐶</m:t>
                              </m:r>
                            </m:sub>
                          </m:sSub>
                        </m:den>
                      </m:f>
                      <m:r>
                        <a:rPr lang="en-US"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1−</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𝑣</m:t>
                              </m:r>
                            </m:e>
                            <m:sub>
                              <m:r>
                                <a:rPr lang="en-US" sz="2400" i="1">
                                  <a:latin typeface="Cambria Math" panose="02040503050406030204" pitchFamily="18" charset="0"/>
                                </a:rPr>
                                <m:t>𝑡h</m:t>
                              </m:r>
                              <m:r>
                                <a:rPr lang="en-US" sz="2400" i="1">
                                  <a:latin typeface="Cambria Math" panose="02040503050406030204" pitchFamily="18" charset="0"/>
                                </a:rPr>
                                <m:t>,</m:t>
                              </m:r>
                              <m:r>
                                <a:rPr lang="en-US" sz="2400" i="1">
                                  <a:latin typeface="Cambria Math" panose="02040503050406030204" pitchFamily="18" charset="0"/>
                                </a:rPr>
                                <m:t>𝐻</m:t>
                              </m:r>
                            </m:sub>
                          </m:sSub>
                        </m:num>
                        <m:den>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𝐶𝐶</m:t>
                              </m:r>
                            </m:sub>
                          </m:sSub>
                        </m:den>
                      </m:f>
                      <m:r>
                        <a:rPr lang="en-US" sz="2400" b="0" i="1" smtClean="0">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𝑏</m:t>
                                  </m:r>
                                </m:sub>
                              </m:sSub>
                            </m:num>
                            <m:den>
                              <m:r>
                                <a:rPr lang="en-US" sz="2400" i="1">
                                  <a:latin typeface="Cambria Math" panose="02040503050406030204" pitchFamily="18" charset="0"/>
                                </a:rPr>
                                <m:t>𝑅𝐶</m:t>
                              </m:r>
                            </m:den>
                          </m:f>
                        </m:sup>
                      </m:sSup>
                    </m:oMath>
                  </m:oMathPara>
                </a14:m>
                <a:endParaRPr lang="en-US" sz="2400" dirty="0"/>
              </a:p>
              <a:p>
                <a:pPr marL="124355" indent="0">
                  <a:buNone/>
                </a:pPr>
                <a:r>
                  <a:rPr lang="en-US" sz="2800" dirty="0"/>
                  <a:t>Taking natural logarithm (ln) on both sides</a:t>
                </a:r>
              </a:p>
              <a:p>
                <a:pPr marL="124355"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𝑙𝑛</m:t>
                      </m:r>
                      <m:d>
                        <m:dPr>
                          <m:ctrlPr>
                            <a:rPr lang="en-US" sz="2400" i="1" smtClean="0">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1−</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𝑣</m:t>
                                  </m:r>
                                </m:e>
                                <m:sub>
                                  <m:r>
                                    <a:rPr lang="en-US" sz="2400" i="1">
                                      <a:latin typeface="Cambria Math" panose="02040503050406030204" pitchFamily="18" charset="0"/>
                                    </a:rPr>
                                    <m:t>𝑡h</m:t>
                                  </m:r>
                                  <m:r>
                                    <a:rPr lang="en-US" sz="2400" i="1">
                                      <a:latin typeface="Cambria Math" panose="02040503050406030204" pitchFamily="18" charset="0"/>
                                    </a:rPr>
                                    <m:t>,</m:t>
                                  </m:r>
                                  <m:r>
                                    <a:rPr lang="en-US" sz="2400" i="1">
                                      <a:latin typeface="Cambria Math" panose="02040503050406030204" pitchFamily="18" charset="0"/>
                                    </a:rPr>
                                    <m:t>𝐻</m:t>
                                  </m:r>
                                </m:sub>
                              </m:sSub>
                            </m:num>
                            <m:den>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𝐶𝐶</m:t>
                                  </m:r>
                                </m:sub>
                              </m:sSub>
                            </m:den>
                          </m:f>
                        </m:e>
                      </m:d>
                      <m:r>
                        <a:rPr lang="en-US" sz="2400" i="1">
                          <a:latin typeface="Cambria Math" panose="02040503050406030204" pitchFamily="18" charset="0"/>
                        </a:rPr>
                        <m:t>=</m:t>
                      </m:r>
                      <m:r>
                        <a:rPr lang="en-US" sz="2400" b="0" i="1" smtClean="0">
                          <a:latin typeface="Cambria Math" panose="02040503050406030204" pitchFamily="18" charset="0"/>
                        </a:rPr>
                        <m:t>𝑙𝑛</m:t>
                      </m:r>
                      <m:d>
                        <m:dPr>
                          <m:ctrlPr>
                            <a:rPr lang="en-US" sz="2400" b="0" i="1" smtClean="0">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𝑏</m:t>
                                      </m:r>
                                    </m:sub>
                                  </m:sSub>
                                </m:num>
                                <m:den>
                                  <m:r>
                                    <a:rPr lang="en-US" sz="2400" i="1">
                                      <a:latin typeface="Cambria Math" panose="02040503050406030204" pitchFamily="18" charset="0"/>
                                    </a:rPr>
                                    <m:t>𝑅𝐶</m:t>
                                  </m:r>
                                </m:den>
                              </m:f>
                            </m:sup>
                          </m:sSup>
                        </m:e>
                      </m:d>
                      <m:r>
                        <a:rPr lang="en-US" sz="2400" b="0" i="1" smtClean="0">
                          <a:latin typeface="Cambria Math" panose="02040503050406030204" pitchFamily="18" charset="0"/>
                        </a:rPr>
                        <m:t>=</m:t>
                      </m:r>
                      <m:r>
                        <a:rPr lang="en-US" sz="2400" i="1">
                          <a:latin typeface="Cambria Math" panose="02040503050406030204" pitchFamily="18" charset="0"/>
                        </a:rPr>
                        <m:t>−</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𝑏</m:t>
                              </m:r>
                            </m:sub>
                          </m:sSub>
                        </m:num>
                        <m:den>
                          <m:r>
                            <a:rPr lang="en-US" sz="2400" i="1">
                              <a:latin typeface="Cambria Math" panose="02040503050406030204" pitchFamily="18" charset="0"/>
                            </a:rPr>
                            <m:t>𝑅𝐶</m:t>
                          </m:r>
                        </m:den>
                      </m:f>
                      <m:r>
                        <a:rPr lang="en-US"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𝑅</m:t>
                      </m:r>
                      <m:r>
                        <a:rPr lang="en-US" sz="2400" b="0" i="1" smtClean="0">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𝑏</m:t>
                              </m:r>
                            </m:sub>
                          </m:sSub>
                        </m:num>
                        <m:den>
                          <m:r>
                            <a:rPr lang="en-US" sz="2400" i="1" smtClean="0">
                              <a:latin typeface="Cambria Math" panose="02040503050406030204" pitchFamily="18" charset="0"/>
                            </a:rPr>
                            <m:t>𝐶</m:t>
                          </m:r>
                          <m:r>
                            <a:rPr lang="en-US" sz="2400" i="1">
                              <a:latin typeface="Cambria Math" panose="02040503050406030204" pitchFamily="18" charset="0"/>
                              <a:ea typeface="Cambria Math" panose="02040503050406030204" pitchFamily="18" charset="0"/>
                            </a:rPr>
                            <m:t>𝑙𝑛</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1−</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𝑣</m:t>
                                      </m:r>
                                    </m:e>
                                    <m:sub>
                                      <m:r>
                                        <a:rPr lang="en-US" sz="2400" i="1">
                                          <a:latin typeface="Cambria Math" panose="02040503050406030204" pitchFamily="18" charset="0"/>
                                        </a:rPr>
                                        <m:t>𝑡h</m:t>
                                      </m:r>
                                      <m:r>
                                        <a:rPr lang="en-US" sz="2400" i="1">
                                          <a:latin typeface="Cambria Math" panose="02040503050406030204" pitchFamily="18" charset="0"/>
                                        </a:rPr>
                                        <m:t>,</m:t>
                                      </m:r>
                                      <m:r>
                                        <a:rPr lang="en-US" sz="2400" i="1">
                                          <a:latin typeface="Cambria Math" panose="02040503050406030204" pitchFamily="18" charset="0"/>
                                        </a:rPr>
                                        <m:t>𝐻</m:t>
                                      </m:r>
                                    </m:sub>
                                  </m:sSub>
                                </m:num>
                                <m:den>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𝐶𝐶</m:t>
                                      </m:r>
                                    </m:sub>
                                  </m:sSub>
                                </m:den>
                              </m:f>
                            </m:e>
                          </m:d>
                        </m:den>
                      </m:f>
                    </m:oMath>
                  </m:oMathPara>
                </a14:m>
                <a:endParaRPr lang="en-US" sz="2400" dirty="0"/>
              </a:p>
              <a:p>
                <a:pPr marL="124355" indent="0">
                  <a:buNone/>
                </a:pP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𝑡</m:t>
                        </m:r>
                      </m:e>
                      <m:sub>
                        <m:r>
                          <a:rPr lang="en-US" sz="2800" i="1">
                            <a:latin typeface="Cambria Math" panose="02040503050406030204" pitchFamily="18" charset="0"/>
                          </a:rPr>
                          <m:t>𝑏</m:t>
                        </m:r>
                      </m:sub>
                    </m:sSub>
                    <m:r>
                      <a:rPr lang="en-US" sz="2800" i="1">
                        <a:latin typeface="Cambria Math" panose="02040503050406030204" pitchFamily="18" charset="0"/>
                      </a:rPr>
                      <m:t>=</m:t>
                    </m:r>
                    <m:r>
                      <m:rPr>
                        <m:sty m:val="p"/>
                      </m:rPr>
                      <a:rPr lang="en-US" sz="2800">
                        <a:latin typeface="Cambria Math" panose="02040503050406030204" pitchFamily="18" charset="0"/>
                      </a:rPr>
                      <m:t>Bounce</m:t>
                    </m:r>
                    <m:r>
                      <a:rPr lang="en-US" sz="2800">
                        <a:latin typeface="Cambria Math" panose="02040503050406030204" pitchFamily="18" charset="0"/>
                      </a:rPr>
                      <m:t> </m:t>
                    </m:r>
                    <m:r>
                      <m:rPr>
                        <m:sty m:val="p"/>
                      </m:rPr>
                      <a:rPr lang="en-US" sz="2800">
                        <a:latin typeface="Cambria Math" panose="02040503050406030204" pitchFamily="18" charset="0"/>
                      </a:rPr>
                      <m:t>time</m:t>
                    </m:r>
                  </m:oMath>
                </a14:m>
                <a:r>
                  <a:rPr lang="en-US" sz="2800" dirty="0"/>
                  <a:t>;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𝑣</m:t>
                        </m:r>
                      </m:e>
                      <m:sub>
                        <m:r>
                          <a:rPr lang="en-US" sz="2800" i="1">
                            <a:latin typeface="Cambria Math" panose="02040503050406030204" pitchFamily="18" charset="0"/>
                          </a:rPr>
                          <m:t>𝑡h</m:t>
                        </m:r>
                        <m:r>
                          <a:rPr lang="en-US" sz="2800" i="1">
                            <a:latin typeface="Cambria Math" panose="02040503050406030204" pitchFamily="18" charset="0"/>
                          </a:rPr>
                          <m:t>,</m:t>
                        </m:r>
                        <m:r>
                          <a:rPr lang="en-US" sz="2800" i="1">
                            <a:latin typeface="Cambria Math" panose="02040503050406030204" pitchFamily="18" charset="0"/>
                          </a:rPr>
                          <m:t>𝐻</m:t>
                        </m:r>
                      </m:sub>
                    </m:sSub>
                    <m:r>
                      <a:rPr lang="en-US" sz="2800" i="1">
                        <a:latin typeface="Cambria Math" panose="02040503050406030204" pitchFamily="18" charset="0"/>
                      </a:rPr>
                      <m:t>=</m:t>
                    </m:r>
                    <m:r>
                      <m:rPr>
                        <m:sty m:val="p"/>
                      </m:rPr>
                      <a:rPr lang="en-US" sz="2800">
                        <a:latin typeface="Cambria Math" panose="02040503050406030204" pitchFamily="18" charset="0"/>
                      </a:rPr>
                      <m:t>Higher</m:t>
                    </m:r>
                    <m:r>
                      <a:rPr lang="en-US" sz="2800">
                        <a:latin typeface="Cambria Math" panose="02040503050406030204" pitchFamily="18" charset="0"/>
                      </a:rPr>
                      <m:t> </m:t>
                    </m:r>
                    <m:r>
                      <m:rPr>
                        <m:sty m:val="p"/>
                      </m:rPr>
                      <a:rPr lang="en-US" sz="2800">
                        <a:latin typeface="Cambria Math" panose="02040503050406030204" pitchFamily="18" charset="0"/>
                      </a:rPr>
                      <m:t>or</m:t>
                    </m:r>
                    <m:r>
                      <a:rPr lang="en-US" sz="2800">
                        <a:latin typeface="Cambria Math" panose="02040503050406030204" pitchFamily="18" charset="0"/>
                      </a:rPr>
                      <m:t> </m:t>
                    </m:r>
                    <m:r>
                      <m:rPr>
                        <m:sty m:val="p"/>
                      </m:rPr>
                      <a:rPr lang="en-US" sz="2800">
                        <a:latin typeface="Cambria Math" panose="02040503050406030204" pitchFamily="18" charset="0"/>
                      </a:rPr>
                      <m:t>Upper</m:t>
                    </m:r>
                    <m:r>
                      <a:rPr lang="en-US" sz="2800">
                        <a:latin typeface="Cambria Math" panose="02040503050406030204" pitchFamily="18" charset="0"/>
                      </a:rPr>
                      <m:t> </m:t>
                    </m:r>
                    <m:r>
                      <m:rPr>
                        <m:sty m:val="p"/>
                      </m:rPr>
                      <a:rPr lang="en-US" sz="2800">
                        <a:latin typeface="Cambria Math" panose="02040503050406030204" pitchFamily="18" charset="0"/>
                      </a:rPr>
                      <m:t>Threshold</m:t>
                    </m:r>
                    <m:r>
                      <a:rPr lang="en-US" sz="2800">
                        <a:latin typeface="Cambria Math" panose="02040503050406030204" pitchFamily="18" charset="0"/>
                      </a:rPr>
                      <m:t> </m:t>
                    </m:r>
                    <m:r>
                      <m:rPr>
                        <m:sty m:val="p"/>
                      </m:rPr>
                      <a:rPr lang="en-US" sz="2800">
                        <a:latin typeface="Cambria Math" panose="02040503050406030204" pitchFamily="18" charset="0"/>
                      </a:rPr>
                      <m:t>Voltage</m:t>
                    </m:r>
                  </m:oMath>
                </a14:m>
                <a:endParaRPr lang="en-US" sz="2800" dirty="0"/>
              </a:p>
              <a:p>
                <a:pPr marL="124355" indent="0">
                  <a:buNone/>
                </a:pPr>
                <a:r>
                  <a:rPr lang="en-US" sz="2800" dirty="0"/>
                  <a:t>During charging (Eq. 1), use </a:t>
                </a:r>
                <a14:m>
                  <m:oMath xmlns:m="http://schemas.openxmlformats.org/officeDocument/2006/math">
                    <m:r>
                      <a:rPr lang="en-US" sz="2800" i="1">
                        <a:latin typeface="Cambria Math" panose="02040503050406030204" pitchFamily="18" charset="0"/>
                      </a:rPr>
                      <m:t>𝑅</m:t>
                    </m:r>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𝑅</m:t>
                        </m:r>
                      </m:e>
                      <m:sub>
                        <m:r>
                          <a:rPr lang="en-US" sz="2800" i="1">
                            <a:latin typeface="Cambria Math" panose="02040503050406030204" pitchFamily="18" charset="0"/>
                          </a:rPr>
                          <m:t>1</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𝑅</m:t>
                        </m:r>
                      </m:e>
                      <m:sub>
                        <m:r>
                          <a:rPr lang="en-US" sz="2800" i="1">
                            <a:latin typeface="Cambria Math" panose="02040503050406030204" pitchFamily="18" charset="0"/>
                          </a:rPr>
                          <m:t>2</m:t>
                        </m:r>
                      </m:sub>
                    </m:sSub>
                  </m:oMath>
                </a14:m>
                <a:r>
                  <a:rPr lang="en-US" sz="2800" dirty="0"/>
                  <a:t> if there is no diode in the circuit, and if there is a diode, use </a:t>
                </a:r>
                <a14:m>
                  <m:oMath xmlns:m="http://schemas.openxmlformats.org/officeDocument/2006/math">
                    <m:r>
                      <a:rPr lang="en-US" sz="2800" i="1">
                        <a:latin typeface="Cambria Math" panose="02040503050406030204" pitchFamily="18" charset="0"/>
                      </a:rPr>
                      <m:t>𝑅</m:t>
                    </m:r>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𝑅</m:t>
                        </m:r>
                      </m:e>
                      <m:sub>
                        <m:r>
                          <a:rPr lang="en-US" sz="2800" i="1">
                            <a:latin typeface="Cambria Math" panose="02040503050406030204" pitchFamily="18" charset="0"/>
                          </a:rPr>
                          <m:t>1</m:t>
                        </m:r>
                      </m:sub>
                    </m:sSub>
                  </m:oMath>
                </a14:m>
                <a:r>
                  <a:rPr lang="en-US" sz="2800" dirty="0"/>
                  <a:t>. If a diode is there, then you must use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𝑉</m:t>
                        </m:r>
                      </m:e>
                      <m:sub>
                        <m:r>
                          <a:rPr lang="en-US" sz="2800" i="1">
                            <a:latin typeface="Cambria Math" panose="02040503050406030204" pitchFamily="18" charset="0"/>
                          </a:rPr>
                          <m:t>𝐶𝐶</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𝑉</m:t>
                        </m:r>
                      </m:e>
                      <m:sub>
                        <m:r>
                          <a:rPr lang="en-US" sz="2800" i="1">
                            <a:latin typeface="Cambria Math" panose="02040503050406030204" pitchFamily="18" charset="0"/>
                          </a:rPr>
                          <m:t>𝐷</m:t>
                        </m:r>
                      </m:sub>
                    </m:sSub>
                  </m:oMath>
                </a14:m>
                <a:r>
                  <a:rPr lang="en-US" sz="2800" dirty="0"/>
                  <a:t> in both charging and discharging equations. </a:t>
                </a:r>
                <a:endParaRPr lang="en-US" sz="3200" dirty="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A19BC7AF-2288-616B-50D0-9B9B170A9E67}"/>
                  </a:ext>
                </a:extLst>
              </p:cNvPr>
              <p:cNvSpPr>
                <a:spLocks noGrp="1" noRot="1" noChangeAspect="1" noMove="1" noResize="1" noEditPoints="1" noAdjustHandles="1" noChangeArrowheads="1" noChangeShapeType="1" noTextEdit="1"/>
              </p:cNvSpPr>
              <p:nvPr>
                <p:ph idx="1"/>
              </p:nvPr>
            </p:nvSpPr>
            <p:spPr>
              <a:xfrm>
                <a:off x="240891" y="1353108"/>
                <a:ext cx="11963399" cy="6098032"/>
              </a:xfrm>
              <a:blipFill>
                <a:blip r:embed="rId3"/>
                <a:stretch>
                  <a:fillRect l="-815" t="-1100" r="-51" b="-1800"/>
                </a:stretch>
              </a:blipFill>
            </p:spPr>
            <p:txBody>
              <a:bodyPr/>
              <a:lstStyle/>
              <a:p>
                <a:r>
                  <a:rPr lang="en-US">
                    <a:noFill/>
                  </a:rPr>
                  <a:t> </a:t>
                </a:r>
              </a:p>
            </p:txBody>
          </p:sp>
        </mc:Fallback>
      </mc:AlternateContent>
      <p:sp>
        <p:nvSpPr>
          <p:cNvPr id="5" name="Footer Placeholder 4">
            <a:extLst>
              <a:ext uri="{FF2B5EF4-FFF2-40B4-BE49-F238E27FC236}">
                <a16:creationId xmlns:a16="http://schemas.microsoft.com/office/drawing/2014/main" id="{F423C279-B8BA-2D97-5BC7-B2D37D703681}"/>
              </a:ext>
            </a:extLst>
          </p:cNvPr>
          <p:cNvSpPr>
            <a:spLocks noGrp="1"/>
          </p:cNvSpPr>
          <p:nvPr>
            <p:ph type="ftr" sz="quarter" idx="11"/>
          </p:nvPr>
        </p:nvSpPr>
        <p:spPr/>
        <p:txBody>
          <a:bodyPr/>
          <a:lstStyle/>
          <a:p>
            <a:r>
              <a:rPr lang="en-US"/>
              <a:t>Course Teacher: Prof. Dr. Engr. Muhibul Haque Bhuyan</a:t>
            </a:r>
          </a:p>
        </p:txBody>
      </p:sp>
      <p:sp>
        <p:nvSpPr>
          <p:cNvPr id="6" name="Slide Number Placeholder 5">
            <a:extLst>
              <a:ext uri="{FF2B5EF4-FFF2-40B4-BE49-F238E27FC236}">
                <a16:creationId xmlns:a16="http://schemas.microsoft.com/office/drawing/2014/main" id="{1AB1277E-5947-19FA-C2A4-CC078711E5D2}"/>
              </a:ext>
            </a:extLst>
          </p:cNvPr>
          <p:cNvSpPr>
            <a:spLocks noGrp="1"/>
          </p:cNvSpPr>
          <p:nvPr>
            <p:ph type="sldNum" sz="quarter" idx="12"/>
          </p:nvPr>
        </p:nvSpPr>
        <p:spPr/>
        <p:txBody>
          <a:bodyPr/>
          <a:lstStyle/>
          <a:p>
            <a:fld id="{B6F15528-21DE-4FAA-801E-634DDDAF4B2B}" type="slidenum">
              <a:rPr lang="en-US" smtClean="0"/>
              <a:pPr/>
              <a:t>25</a:t>
            </a:fld>
            <a:endParaRPr lang="en-US"/>
          </a:p>
        </p:txBody>
      </p:sp>
      <p:sp>
        <p:nvSpPr>
          <p:cNvPr id="7" name="Date Placeholder 6">
            <a:extLst>
              <a:ext uri="{FF2B5EF4-FFF2-40B4-BE49-F238E27FC236}">
                <a16:creationId xmlns:a16="http://schemas.microsoft.com/office/drawing/2014/main" id="{7A33C03E-F652-69C3-D61A-7BFCEEEB8D96}"/>
              </a:ext>
            </a:extLst>
          </p:cNvPr>
          <p:cNvSpPr>
            <a:spLocks noGrp="1"/>
          </p:cNvSpPr>
          <p:nvPr>
            <p:ph type="dt" sz="half" idx="10"/>
          </p:nvPr>
        </p:nvSpPr>
        <p:spPr/>
        <p:txBody>
          <a:bodyPr/>
          <a:lstStyle/>
          <a:p>
            <a:fld id="{386C4CD3-1055-4803-8131-20120CCD2DA4}" type="datetime3">
              <a:rPr lang="en-US" smtClean="0"/>
              <a:t>15 June 2026</a:t>
            </a:fld>
            <a:endParaRPr lang="en-US"/>
          </a:p>
        </p:txBody>
      </p:sp>
      <p:pic>
        <p:nvPicPr>
          <p:cNvPr id="4" name="Picture 3">
            <a:extLst>
              <a:ext uri="{FF2B5EF4-FFF2-40B4-BE49-F238E27FC236}">
                <a16:creationId xmlns:a16="http://schemas.microsoft.com/office/drawing/2014/main" id="{B988D9C0-F33D-4DE6-3C19-576A7BE5C352}"/>
              </a:ext>
            </a:extLst>
          </p:cNvPr>
          <p:cNvPicPr>
            <a:picLocks noChangeAspect="1"/>
          </p:cNvPicPr>
          <p:nvPr/>
        </p:nvPicPr>
        <p:blipFill rotWithShape="1">
          <a:blip r:embed="rId4">
            <a:extLst>
              <a:ext uri="{28A0092B-C50C-407E-A947-70E740481C1C}">
                <a14:useLocalDpi xmlns:a14="http://schemas.microsoft.com/office/drawing/2010/main" val="0"/>
              </a:ext>
            </a:extLst>
          </a:blip>
          <a:srcRect l="60848" t="44529" r="21849" b="3090"/>
          <a:stretch>
            <a:fillRect/>
          </a:stretch>
        </p:blipFill>
        <p:spPr>
          <a:xfrm>
            <a:off x="12192000" y="990600"/>
            <a:ext cx="2286000" cy="6001308"/>
          </a:xfrm>
          <a:prstGeom prst="rect">
            <a:avLst/>
          </a:prstGeom>
        </p:spPr>
      </p:pic>
      <p:cxnSp>
        <p:nvCxnSpPr>
          <p:cNvPr id="9" name="Straight Arrow Connector 8">
            <a:extLst>
              <a:ext uri="{FF2B5EF4-FFF2-40B4-BE49-F238E27FC236}">
                <a16:creationId xmlns:a16="http://schemas.microsoft.com/office/drawing/2014/main" id="{E765A543-88E8-3453-E19E-640663558014}"/>
              </a:ext>
            </a:extLst>
          </p:cNvPr>
          <p:cNvCxnSpPr>
            <a:cxnSpLocks/>
          </p:cNvCxnSpPr>
          <p:nvPr/>
        </p:nvCxnSpPr>
        <p:spPr>
          <a:xfrm>
            <a:off x="12283443" y="4353795"/>
            <a:ext cx="746756" cy="36364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EFACB099-9B83-5855-1692-89DBB447EF3D}"/>
              </a:ext>
            </a:extLst>
          </p:cNvPr>
          <p:cNvCxnSpPr/>
          <p:nvPr/>
        </p:nvCxnSpPr>
        <p:spPr>
          <a:xfrm>
            <a:off x="12496799" y="2283968"/>
            <a:ext cx="746756" cy="0"/>
          </a:xfrm>
          <a:prstGeom prst="straightConnector1">
            <a:avLst/>
          </a:prstGeom>
          <a:ln w="2857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CAD5D0C4-09D4-A5DD-452B-A346A384D525}"/>
              </a:ext>
            </a:extLst>
          </p:cNvPr>
          <p:cNvSpPr txBox="1"/>
          <p:nvPr/>
        </p:nvSpPr>
        <p:spPr>
          <a:xfrm>
            <a:off x="12327558" y="1902968"/>
            <a:ext cx="1085237" cy="369332"/>
          </a:xfrm>
          <a:prstGeom prst="rect">
            <a:avLst/>
          </a:prstGeom>
          <a:noFill/>
        </p:spPr>
        <p:txBody>
          <a:bodyPr wrap="square">
            <a:spAutoFit/>
          </a:bodyPr>
          <a:lstStyle/>
          <a:p>
            <a:pPr algn="ctr"/>
            <a:r>
              <a:rPr lang="en-US" sz="1800" i="1" dirty="0">
                <a:solidFill>
                  <a:srgbClr val="FF0000"/>
                </a:solidFill>
              </a:rPr>
              <a:t>t</a:t>
            </a:r>
            <a:r>
              <a:rPr lang="en-US" sz="1800" dirty="0">
                <a:solidFill>
                  <a:srgbClr val="FF0000"/>
                </a:solidFill>
              </a:rPr>
              <a:t> = </a:t>
            </a:r>
            <a:r>
              <a:rPr lang="en-US" sz="1800" i="1" dirty="0">
                <a:solidFill>
                  <a:srgbClr val="FF0000"/>
                </a:solidFill>
              </a:rPr>
              <a:t>t</a:t>
            </a:r>
            <a:r>
              <a:rPr lang="en-US" sz="1800" i="1" baseline="-25000" dirty="0">
                <a:solidFill>
                  <a:srgbClr val="FF0000"/>
                </a:solidFill>
              </a:rPr>
              <a:t>b</a:t>
            </a:r>
            <a:endParaRPr lang="en-US" sz="2000" dirty="0">
              <a:solidFill>
                <a:srgbClr val="FF0000"/>
              </a:solidFill>
            </a:endParaRP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7C3C83F8-C523-2406-CBAF-632FDBA03FD4}"/>
                  </a:ext>
                </a:extLst>
              </p:cNvPr>
              <p:cNvSpPr txBox="1"/>
              <p:nvPr/>
            </p:nvSpPr>
            <p:spPr>
              <a:xfrm>
                <a:off x="11775462" y="3837585"/>
                <a:ext cx="833076" cy="49375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𝑣</m:t>
                          </m:r>
                        </m:e>
                        <m:sub>
                          <m:r>
                            <a:rPr lang="en-US" sz="2400" i="1">
                              <a:solidFill>
                                <a:srgbClr val="FF0000"/>
                              </a:solidFill>
                              <a:latin typeface="Cambria Math" panose="02040503050406030204" pitchFamily="18" charset="0"/>
                            </a:rPr>
                            <m:t>𝑡h</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𝐻</m:t>
                          </m:r>
                        </m:sub>
                      </m:sSub>
                    </m:oMath>
                  </m:oMathPara>
                </a14:m>
                <a:endParaRPr lang="en-US" sz="2400" dirty="0">
                  <a:solidFill>
                    <a:srgbClr val="FF0000"/>
                  </a:solidFill>
                </a:endParaRPr>
              </a:p>
            </p:txBody>
          </p:sp>
        </mc:Choice>
        <mc:Fallback xmlns="">
          <p:sp>
            <p:nvSpPr>
              <p:cNvPr id="18" name="TextBox 17">
                <a:extLst>
                  <a:ext uri="{FF2B5EF4-FFF2-40B4-BE49-F238E27FC236}">
                    <a16:creationId xmlns:a16="http://schemas.microsoft.com/office/drawing/2014/main" id="{7C3C83F8-C523-2406-CBAF-632FDBA03FD4}"/>
                  </a:ext>
                </a:extLst>
              </p:cNvPr>
              <p:cNvSpPr txBox="1">
                <a:spLocks noRot="1" noChangeAspect="1" noMove="1" noResize="1" noEditPoints="1" noAdjustHandles="1" noChangeArrowheads="1" noChangeShapeType="1" noTextEdit="1"/>
              </p:cNvSpPr>
              <p:nvPr/>
            </p:nvSpPr>
            <p:spPr>
              <a:xfrm>
                <a:off x="11775462" y="3837585"/>
                <a:ext cx="833076" cy="493756"/>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1972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ox(out)">
                                      <p:cBhvr>
                                        <p:cTn id="7" dur="2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00"/>
                                        <p:tgtEl>
                                          <p:spTgt spid="9"/>
                                        </p:tgtEl>
                                      </p:cBhvr>
                                    </p:animEffect>
                                  </p:childTnLst>
                                </p:cTn>
                              </p:par>
                              <p:par>
                                <p:cTn id="13" presetID="4" presetClass="entr" presetSubtype="32"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box(out)">
                                      <p:cBhvr>
                                        <p:cTn id="15" dur="2000"/>
                                        <p:tgtEl>
                                          <p:spTgt spid="15"/>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37" fill="hold" grpId="0"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barn(outVertical)">
                                      <p:cBhvr>
                                        <p:cTn id="2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CF0ED-6D9F-09BB-2740-F9A3472E7F94}"/>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823D034C-A046-733E-1E23-3E77CDEE16C5}"/>
              </a:ext>
            </a:extLst>
          </p:cNvPr>
          <p:cNvPicPr>
            <a:picLocks noChangeAspect="1"/>
          </p:cNvPicPr>
          <p:nvPr/>
        </p:nvPicPr>
        <p:blipFill rotWithShape="1">
          <a:blip r:embed="rId3">
            <a:extLst>
              <a:ext uri="{28A0092B-C50C-407E-A947-70E740481C1C}">
                <a14:useLocalDpi xmlns:a14="http://schemas.microsoft.com/office/drawing/2010/main" val="0"/>
              </a:ext>
            </a:extLst>
          </a:blip>
          <a:srcRect l="24513" t="44529" r="56324" b="3090"/>
          <a:stretch>
            <a:fillRect/>
          </a:stretch>
        </p:blipFill>
        <p:spPr>
          <a:xfrm>
            <a:off x="12039600" y="872134"/>
            <a:ext cx="2531741" cy="6001308"/>
          </a:xfrm>
          <a:prstGeom prst="rect">
            <a:avLst/>
          </a:prstGeom>
        </p:spPr>
      </p:pic>
      <p:sp>
        <p:nvSpPr>
          <p:cNvPr id="2" name="Title 1">
            <a:extLst>
              <a:ext uri="{FF2B5EF4-FFF2-40B4-BE49-F238E27FC236}">
                <a16:creationId xmlns:a16="http://schemas.microsoft.com/office/drawing/2014/main" id="{E7119FEB-98A5-D3BD-5FE4-E53DF95EB066}"/>
              </a:ext>
            </a:extLst>
          </p:cNvPr>
          <p:cNvSpPr>
            <a:spLocks noGrp="1"/>
          </p:cNvSpPr>
          <p:nvPr>
            <p:ph type="title"/>
          </p:nvPr>
        </p:nvSpPr>
        <p:spPr>
          <a:xfrm>
            <a:off x="253181" y="391160"/>
            <a:ext cx="13174733" cy="961948"/>
          </a:xfrm>
        </p:spPr>
        <p:txBody>
          <a:bodyPr lIns="0" rIns="0">
            <a:normAutofit/>
          </a:bodyPr>
          <a:lstStyle/>
          <a:p>
            <a:r>
              <a:rPr lang="en-US" sz="5400" b="1" dirty="0">
                <a:solidFill>
                  <a:srgbClr val="FF0000"/>
                </a:solidFill>
              </a:rPr>
              <a:t>Hardware Debouncing (Summary)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06ED0F9-17B1-F5BC-B363-2174D746F68B}"/>
                  </a:ext>
                </a:extLst>
              </p:cNvPr>
              <p:cNvSpPr>
                <a:spLocks noGrp="1"/>
              </p:cNvSpPr>
              <p:nvPr>
                <p:ph idx="1"/>
              </p:nvPr>
            </p:nvSpPr>
            <p:spPr>
              <a:xfrm>
                <a:off x="240891" y="1353108"/>
                <a:ext cx="11963399" cy="6098032"/>
              </a:xfrm>
            </p:spPr>
            <p:txBody>
              <a:bodyPr lIns="0" rIns="0">
                <a:noAutofit/>
              </a:bodyPr>
              <a:lstStyle/>
              <a:p>
                <a:pPr marL="124355" indent="0">
                  <a:buNone/>
                </a:pPr>
                <a:r>
                  <a:rPr lang="en-US" sz="2800" dirty="0"/>
                  <a:t>After elapsing the de-bounce time, at </a:t>
                </a:r>
                <a:r>
                  <a:rPr lang="en-US" sz="2800" i="1" dirty="0"/>
                  <a:t>t</a:t>
                </a:r>
                <a:r>
                  <a:rPr lang="en-US" sz="2800" dirty="0"/>
                  <a:t> = </a:t>
                </a:r>
                <a:r>
                  <a:rPr lang="en-US" sz="2800" i="1" dirty="0"/>
                  <a:t>t</a:t>
                </a:r>
                <a:r>
                  <a:rPr lang="en-US" sz="2800" i="1" baseline="-25000" dirty="0"/>
                  <a:t>b</a:t>
                </a:r>
                <a:r>
                  <a:rPr lang="en-US" sz="2800" dirty="0"/>
                  <a:t>, the capacitor voltage becomes equal to the lower threshold voltage when it is discharging. That is, at </a:t>
                </a:r>
                <a:r>
                  <a:rPr lang="en-US" sz="2800" i="1" dirty="0"/>
                  <a:t>t</a:t>
                </a:r>
                <a:r>
                  <a:rPr lang="en-US" sz="2800" dirty="0"/>
                  <a:t> = </a:t>
                </a:r>
                <a:r>
                  <a:rPr lang="en-US" sz="2800" i="1" dirty="0"/>
                  <a:t>t</a:t>
                </a:r>
                <a:r>
                  <a:rPr lang="en-US" sz="2800" i="1" baseline="-25000" dirty="0"/>
                  <a:t>b</a:t>
                </a:r>
                <a:r>
                  <a:rPr lang="en-US" sz="2800" dirty="0"/>
                  <a:t>,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𝑣</m:t>
                        </m:r>
                      </m:e>
                      <m:sub>
                        <m:r>
                          <a:rPr lang="en-US" sz="2800" i="1">
                            <a:latin typeface="Cambria Math" panose="02040503050406030204" pitchFamily="18" charset="0"/>
                          </a:rPr>
                          <m:t>𝑐</m:t>
                        </m:r>
                      </m:sub>
                    </m:sSub>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𝑡</m:t>
                            </m:r>
                          </m:e>
                          <m:sub>
                            <m:r>
                              <a:rPr lang="en-US" sz="2800" i="1">
                                <a:latin typeface="Cambria Math" panose="02040503050406030204" pitchFamily="18" charset="0"/>
                              </a:rPr>
                              <m:t>𝑏</m:t>
                            </m:r>
                          </m:sub>
                        </m:sSub>
                      </m:e>
                    </m:d>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𝑣</m:t>
                        </m:r>
                      </m:e>
                      <m:sub>
                        <m:r>
                          <a:rPr lang="en-US" sz="2800" i="1">
                            <a:latin typeface="Cambria Math" panose="02040503050406030204" pitchFamily="18" charset="0"/>
                          </a:rPr>
                          <m:t>𝑡h</m:t>
                        </m:r>
                        <m:r>
                          <a:rPr lang="en-US" sz="2800" i="1">
                            <a:latin typeface="Cambria Math" panose="02040503050406030204" pitchFamily="18" charset="0"/>
                          </a:rPr>
                          <m:t>,</m:t>
                        </m:r>
                        <m:r>
                          <a:rPr lang="en-US" sz="2800" b="0" i="1" smtClean="0">
                            <a:latin typeface="Cambria Math" panose="02040503050406030204" pitchFamily="18" charset="0"/>
                          </a:rPr>
                          <m:t>𝐿</m:t>
                        </m:r>
                      </m:sub>
                    </m:sSub>
                  </m:oMath>
                </a14:m>
                <a:r>
                  <a:rPr lang="en-US" sz="2800" dirty="0"/>
                  <a:t> = lower threshold while the capacitor is discharging.</a:t>
                </a:r>
              </a:p>
              <a:p>
                <a:pPr marL="124355" indent="0">
                  <a:buNone/>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𝑣</m:t>
                          </m:r>
                        </m:e>
                        <m:sub>
                          <m:r>
                            <a:rPr lang="en-US" sz="2400" i="1">
                              <a:latin typeface="Cambria Math" panose="02040503050406030204" pitchFamily="18" charset="0"/>
                            </a:rPr>
                            <m:t>𝑐</m:t>
                          </m:r>
                        </m:sub>
                      </m:sSub>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𝑏</m:t>
                              </m:r>
                            </m:sub>
                          </m:sSub>
                        </m:e>
                      </m:d>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𝑣</m:t>
                          </m:r>
                        </m:e>
                        <m:sub>
                          <m:r>
                            <a:rPr lang="en-US" sz="2400" i="1">
                              <a:latin typeface="Cambria Math" panose="02040503050406030204" pitchFamily="18" charset="0"/>
                            </a:rPr>
                            <m:t>𝑡h</m:t>
                          </m:r>
                          <m:r>
                            <a:rPr lang="en-US" sz="2400" i="1">
                              <a:latin typeface="Cambria Math" panose="02040503050406030204" pitchFamily="18" charset="0"/>
                            </a:rPr>
                            <m:t>,</m:t>
                          </m:r>
                          <m:r>
                            <a:rPr lang="en-US" sz="2400" b="0" i="1" smtClean="0">
                              <a:latin typeface="Cambria Math" panose="02040503050406030204" pitchFamily="18" charset="0"/>
                            </a:rPr>
                            <m:t>𝐿</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𝐶𝐶</m:t>
                          </m:r>
                        </m:sub>
                      </m:sSub>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𝑏</m:t>
                                  </m:r>
                                </m:sub>
                              </m:sSub>
                            </m:num>
                            <m:den>
                              <m:r>
                                <a:rPr lang="en-US" sz="2400" i="1">
                                  <a:latin typeface="Cambria Math" panose="02040503050406030204" pitchFamily="18" charset="0"/>
                                </a:rPr>
                                <m:t>𝑅𝐶</m:t>
                              </m:r>
                            </m:den>
                          </m:f>
                        </m:sup>
                      </m:sSup>
                      <m:r>
                        <a:rPr lang="en-US" sz="2400" b="0" i="1" smtClean="0">
                          <a:latin typeface="Cambria Math" panose="02040503050406030204" pitchFamily="18" charset="0"/>
                        </a:rPr>
                        <m:t>                 </m:t>
                      </m:r>
                      <m:r>
                        <a:rPr lang="en-US" sz="2400" i="1">
                          <a:latin typeface="Cambria Math" panose="02040503050406030204" pitchFamily="18" charset="0"/>
                        </a:rPr>
                        <m:t>(</m:t>
                      </m:r>
                      <m:r>
                        <a:rPr lang="en-US" sz="2400" b="0" i="1" smtClean="0">
                          <a:latin typeface="Cambria Math" panose="02040503050406030204" pitchFamily="18" charset="0"/>
                        </a:rPr>
                        <m:t>2</m:t>
                      </m:r>
                      <m:r>
                        <a:rPr lang="en-US" sz="2400" i="1">
                          <a:latin typeface="Cambria Math" panose="02040503050406030204" pitchFamily="18" charset="0"/>
                        </a:rPr>
                        <m:t>)</m:t>
                      </m:r>
                    </m:oMath>
                  </m:oMathPara>
                </a14:m>
                <a:endParaRPr lang="en-US" sz="2400" dirty="0"/>
              </a:p>
              <a:p>
                <a:pPr marL="124355" indent="0">
                  <a:buNone/>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m:t>
                      </m:r>
                      <m:sSup>
                        <m:sSupPr>
                          <m:ctrlPr>
                            <a:rPr lang="en-US" sz="2400" i="1" smtClean="0">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𝑏</m:t>
                                  </m:r>
                                </m:sub>
                              </m:sSub>
                            </m:num>
                            <m:den>
                              <m:r>
                                <a:rPr lang="en-US" sz="2400" i="1">
                                  <a:latin typeface="Cambria Math" panose="02040503050406030204" pitchFamily="18" charset="0"/>
                                </a:rPr>
                                <m:t>𝑅𝐶</m:t>
                              </m:r>
                            </m:den>
                          </m:f>
                        </m:sup>
                      </m:sSup>
                      <m:r>
                        <a:rPr lang="en-US" sz="2400" b="0" i="1" smtClean="0">
                          <a:latin typeface="Cambria Math" panose="02040503050406030204" pitchFamily="18" charset="0"/>
                        </a:rPr>
                        <m:t>=</m:t>
                      </m:r>
                      <m:f>
                        <m:fPr>
                          <m:ctrlPr>
                            <a:rPr lang="en-US" sz="2400" i="1" smtClean="0">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𝑣</m:t>
                              </m:r>
                            </m:e>
                            <m:sub>
                              <m:r>
                                <a:rPr lang="en-US" sz="2400" i="1">
                                  <a:latin typeface="Cambria Math" panose="02040503050406030204" pitchFamily="18" charset="0"/>
                                </a:rPr>
                                <m:t>𝑡h</m:t>
                              </m:r>
                              <m:r>
                                <a:rPr lang="en-US" sz="2400" i="1">
                                  <a:latin typeface="Cambria Math" panose="02040503050406030204" pitchFamily="18" charset="0"/>
                                </a:rPr>
                                <m:t>,</m:t>
                              </m:r>
                              <m:r>
                                <a:rPr lang="en-US" sz="2400" b="0" i="1" smtClean="0">
                                  <a:latin typeface="Cambria Math" panose="02040503050406030204" pitchFamily="18" charset="0"/>
                                </a:rPr>
                                <m:t>𝐿</m:t>
                              </m:r>
                            </m:sub>
                          </m:sSub>
                        </m:num>
                        <m:den>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𝐶𝐶</m:t>
                              </m:r>
                            </m:sub>
                          </m:sSub>
                        </m:den>
                      </m:f>
                    </m:oMath>
                  </m:oMathPara>
                </a14:m>
                <a:endParaRPr lang="en-US" sz="2400" dirty="0"/>
              </a:p>
              <a:p>
                <a:pPr marL="124355" indent="0">
                  <a:buNone/>
                </a:pPr>
                <a:r>
                  <a:rPr lang="en-US" sz="2800" dirty="0"/>
                  <a:t>Taking natural logarithm (ln) on both sides</a:t>
                </a:r>
              </a:p>
              <a:p>
                <a:pPr marL="124355"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𝑙𝑛</m:t>
                      </m:r>
                      <m:d>
                        <m:dPr>
                          <m:ctrlPr>
                            <a:rPr lang="en-US" sz="2400" b="0" i="1" smtClean="0">
                              <a:latin typeface="Cambria Math" panose="02040503050406030204" pitchFamily="18" charset="0"/>
                            </a:rPr>
                          </m:ctrlPr>
                        </m:dPr>
                        <m:e>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𝑣</m:t>
                                  </m:r>
                                </m:e>
                                <m:sub>
                                  <m:r>
                                    <a:rPr lang="en-US" sz="2400" i="1">
                                      <a:latin typeface="Cambria Math" panose="02040503050406030204" pitchFamily="18" charset="0"/>
                                    </a:rPr>
                                    <m:t>𝑡h</m:t>
                                  </m:r>
                                  <m:r>
                                    <a:rPr lang="en-US" sz="2400" i="1">
                                      <a:latin typeface="Cambria Math" panose="02040503050406030204" pitchFamily="18" charset="0"/>
                                    </a:rPr>
                                    <m:t>,</m:t>
                                  </m:r>
                                  <m:r>
                                    <a:rPr lang="en-US" sz="2400" i="1">
                                      <a:latin typeface="Cambria Math" panose="02040503050406030204" pitchFamily="18" charset="0"/>
                                    </a:rPr>
                                    <m:t>𝐿</m:t>
                                  </m:r>
                                </m:sub>
                              </m:sSub>
                            </m:num>
                            <m:den>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𝐶𝐶</m:t>
                                  </m:r>
                                </m:sub>
                              </m:sSub>
                            </m:den>
                          </m:f>
                        </m:e>
                      </m:d>
                      <m:r>
                        <a:rPr lang="en-US" sz="2400" b="0" i="1" smtClean="0">
                          <a:latin typeface="Cambria Math" panose="02040503050406030204" pitchFamily="18" charset="0"/>
                        </a:rPr>
                        <m:t>=</m:t>
                      </m:r>
                      <m:r>
                        <a:rPr lang="en-US" sz="2400" i="1">
                          <a:latin typeface="Cambria Math" panose="02040503050406030204" pitchFamily="18" charset="0"/>
                        </a:rPr>
                        <m:t>𝑙𝑛</m:t>
                      </m:r>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𝑏</m:t>
                                      </m:r>
                                    </m:sub>
                                  </m:sSub>
                                </m:num>
                                <m:den>
                                  <m:r>
                                    <a:rPr lang="en-US" sz="2400" i="1">
                                      <a:latin typeface="Cambria Math" panose="02040503050406030204" pitchFamily="18" charset="0"/>
                                    </a:rPr>
                                    <m:t>𝑅𝐶</m:t>
                                  </m:r>
                                </m:den>
                              </m:f>
                            </m:sup>
                          </m:sSup>
                        </m:e>
                      </m:d>
                      <m:r>
                        <a:rPr lang="en-US" sz="2400" i="1">
                          <a:latin typeface="Cambria Math" panose="02040503050406030204" pitchFamily="18" charset="0"/>
                        </a:rPr>
                        <m:t>=−</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𝑏</m:t>
                              </m:r>
                            </m:sub>
                          </m:sSub>
                        </m:num>
                        <m:den>
                          <m:r>
                            <a:rPr lang="en-US" sz="2400" i="1">
                              <a:latin typeface="Cambria Math" panose="02040503050406030204" pitchFamily="18" charset="0"/>
                            </a:rPr>
                            <m:t>𝑅𝐶</m:t>
                          </m:r>
                        </m:den>
                      </m:f>
                      <m:r>
                        <a:rPr lang="en-US"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𝑅</m:t>
                      </m:r>
                      <m:r>
                        <a:rPr lang="en-US" sz="2400" b="0" i="1" smtClean="0">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𝑏</m:t>
                              </m:r>
                            </m:sub>
                          </m:sSub>
                        </m:num>
                        <m:den>
                          <m:r>
                            <a:rPr lang="en-US" sz="2400" i="1" smtClean="0">
                              <a:latin typeface="Cambria Math" panose="02040503050406030204" pitchFamily="18" charset="0"/>
                            </a:rPr>
                            <m:t>𝐶</m:t>
                          </m:r>
                          <m:r>
                            <a:rPr lang="en-US" sz="2400" i="1">
                              <a:latin typeface="Cambria Math" panose="02040503050406030204" pitchFamily="18" charset="0"/>
                              <a:ea typeface="Cambria Math" panose="02040503050406030204" pitchFamily="18" charset="0"/>
                            </a:rPr>
                            <m:t>𝑙𝑛</m:t>
                          </m:r>
                          <m:d>
                            <m:dPr>
                              <m:ctrlPr>
                                <a:rPr lang="en-US" sz="2400" i="1">
                                  <a:latin typeface="Cambria Math" panose="02040503050406030204" pitchFamily="18" charset="0"/>
                                  <a:ea typeface="Cambria Math" panose="02040503050406030204" pitchFamily="18" charset="0"/>
                                </a:rPr>
                              </m:ctrlPr>
                            </m:dPr>
                            <m:e>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𝑣</m:t>
                                      </m:r>
                                    </m:e>
                                    <m:sub>
                                      <m:r>
                                        <a:rPr lang="en-US" sz="2400" i="1">
                                          <a:latin typeface="Cambria Math" panose="02040503050406030204" pitchFamily="18" charset="0"/>
                                        </a:rPr>
                                        <m:t>𝑡h</m:t>
                                      </m:r>
                                      <m:r>
                                        <a:rPr lang="en-US" sz="2400" i="1">
                                          <a:latin typeface="Cambria Math" panose="02040503050406030204" pitchFamily="18" charset="0"/>
                                        </a:rPr>
                                        <m:t>,</m:t>
                                      </m:r>
                                      <m:r>
                                        <a:rPr lang="en-US" sz="2400" b="0" i="1" smtClean="0">
                                          <a:latin typeface="Cambria Math" panose="02040503050406030204" pitchFamily="18" charset="0"/>
                                        </a:rPr>
                                        <m:t>𝐿</m:t>
                                      </m:r>
                                    </m:sub>
                                  </m:sSub>
                                </m:num>
                                <m:den>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𝐶𝐶</m:t>
                                      </m:r>
                                    </m:sub>
                                  </m:sSub>
                                </m:den>
                              </m:f>
                            </m:e>
                          </m:d>
                        </m:den>
                      </m:f>
                    </m:oMath>
                  </m:oMathPara>
                </a14:m>
                <a:endParaRPr lang="en-US" sz="2400" dirty="0"/>
              </a:p>
              <a:p>
                <a:pPr marL="124355" indent="0">
                  <a:buNone/>
                </a:pP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𝑡</m:t>
                        </m:r>
                      </m:e>
                      <m:sub>
                        <m:r>
                          <a:rPr lang="en-US" sz="2800" i="1">
                            <a:latin typeface="Cambria Math" panose="02040503050406030204" pitchFamily="18" charset="0"/>
                          </a:rPr>
                          <m:t>𝑏</m:t>
                        </m:r>
                      </m:sub>
                    </m:sSub>
                    <m:r>
                      <a:rPr lang="en-US" sz="2800" i="1">
                        <a:latin typeface="Cambria Math" panose="02040503050406030204" pitchFamily="18" charset="0"/>
                      </a:rPr>
                      <m:t>=</m:t>
                    </m:r>
                    <m:r>
                      <m:rPr>
                        <m:sty m:val="p"/>
                      </m:rPr>
                      <a:rPr lang="en-US" sz="2800">
                        <a:latin typeface="Cambria Math" panose="02040503050406030204" pitchFamily="18" charset="0"/>
                      </a:rPr>
                      <m:t>Bounce</m:t>
                    </m:r>
                    <m:r>
                      <a:rPr lang="en-US" sz="2800">
                        <a:latin typeface="Cambria Math" panose="02040503050406030204" pitchFamily="18" charset="0"/>
                      </a:rPr>
                      <m:t> </m:t>
                    </m:r>
                    <m:r>
                      <m:rPr>
                        <m:sty m:val="p"/>
                      </m:rPr>
                      <a:rPr lang="en-US" sz="2800">
                        <a:latin typeface="Cambria Math" panose="02040503050406030204" pitchFamily="18" charset="0"/>
                      </a:rPr>
                      <m:t>time</m:t>
                    </m:r>
                  </m:oMath>
                </a14:m>
                <a:r>
                  <a:rPr lang="en-US" sz="2800" dirty="0"/>
                  <a:t>;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𝑣</m:t>
                        </m:r>
                      </m:e>
                      <m:sub>
                        <m:r>
                          <a:rPr lang="en-US" sz="2800" i="1">
                            <a:latin typeface="Cambria Math" panose="02040503050406030204" pitchFamily="18" charset="0"/>
                          </a:rPr>
                          <m:t>𝑡h</m:t>
                        </m:r>
                        <m:r>
                          <a:rPr lang="en-US" sz="2800" i="1">
                            <a:latin typeface="Cambria Math" panose="02040503050406030204" pitchFamily="18" charset="0"/>
                          </a:rPr>
                          <m:t>,</m:t>
                        </m:r>
                        <m:r>
                          <a:rPr lang="en-US" sz="2800" b="0" i="1" smtClean="0">
                            <a:latin typeface="Cambria Math" panose="02040503050406030204" pitchFamily="18" charset="0"/>
                          </a:rPr>
                          <m:t>𝐿</m:t>
                        </m:r>
                      </m:sub>
                    </m:sSub>
                    <m:r>
                      <a:rPr lang="en-US" sz="2800" i="1">
                        <a:latin typeface="Cambria Math" panose="02040503050406030204" pitchFamily="18" charset="0"/>
                      </a:rPr>
                      <m:t>=</m:t>
                    </m:r>
                    <m:r>
                      <m:rPr>
                        <m:sty m:val="p"/>
                      </m:rPr>
                      <a:rPr lang="en-US" sz="2800" b="0" i="0" smtClean="0">
                        <a:latin typeface="Cambria Math" panose="02040503050406030204" pitchFamily="18" charset="0"/>
                      </a:rPr>
                      <m:t>Low</m:t>
                    </m:r>
                    <m:r>
                      <m:rPr>
                        <m:sty m:val="p"/>
                      </m:rPr>
                      <a:rPr lang="en-US" sz="2800">
                        <a:latin typeface="Cambria Math" panose="02040503050406030204" pitchFamily="18" charset="0"/>
                      </a:rPr>
                      <m:t>er</m:t>
                    </m:r>
                    <m:r>
                      <a:rPr lang="en-US" sz="2800">
                        <a:latin typeface="Cambria Math" panose="02040503050406030204" pitchFamily="18" charset="0"/>
                      </a:rPr>
                      <m:t> </m:t>
                    </m:r>
                    <m:r>
                      <m:rPr>
                        <m:sty m:val="p"/>
                      </m:rPr>
                      <a:rPr lang="en-US" sz="2800">
                        <a:latin typeface="Cambria Math" panose="02040503050406030204" pitchFamily="18" charset="0"/>
                      </a:rPr>
                      <m:t>Threshold</m:t>
                    </m:r>
                    <m:r>
                      <a:rPr lang="en-US" sz="2800">
                        <a:latin typeface="Cambria Math" panose="02040503050406030204" pitchFamily="18" charset="0"/>
                      </a:rPr>
                      <m:t> </m:t>
                    </m:r>
                    <m:r>
                      <m:rPr>
                        <m:sty m:val="p"/>
                      </m:rPr>
                      <a:rPr lang="en-US" sz="2800">
                        <a:latin typeface="Cambria Math" panose="02040503050406030204" pitchFamily="18" charset="0"/>
                      </a:rPr>
                      <m:t>Voltage</m:t>
                    </m:r>
                  </m:oMath>
                </a14:m>
                <a:endParaRPr lang="en-US" sz="2800" dirty="0"/>
              </a:p>
              <a:p>
                <a:pPr marL="124355" indent="0">
                  <a:buNone/>
                </a:pPr>
                <a:r>
                  <a:rPr lang="en-US" sz="2800" dirty="0"/>
                  <a:t>During discharging (Eq. 2), use </a:t>
                </a:r>
                <a14:m>
                  <m:oMath xmlns:m="http://schemas.openxmlformats.org/officeDocument/2006/math">
                    <m:r>
                      <a:rPr lang="en-US" sz="2800" i="1">
                        <a:latin typeface="Cambria Math" panose="02040503050406030204" pitchFamily="18" charset="0"/>
                      </a:rPr>
                      <m:t>𝑅</m:t>
                    </m:r>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𝑅</m:t>
                        </m:r>
                      </m:e>
                      <m:sub>
                        <m:r>
                          <a:rPr lang="en-US" sz="2800" i="1">
                            <a:latin typeface="Cambria Math" panose="02040503050406030204" pitchFamily="18" charset="0"/>
                          </a:rPr>
                          <m:t>2</m:t>
                        </m:r>
                      </m:sub>
                    </m:sSub>
                  </m:oMath>
                </a14:m>
                <a:r>
                  <a:rPr lang="en-US" sz="2800" dirty="0"/>
                  <a:t> if there is a diode or no diode at all in the circuit. If a diode is there, then you must use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𝑉</m:t>
                        </m:r>
                      </m:e>
                      <m:sub>
                        <m:r>
                          <a:rPr lang="en-US" sz="2800" i="1">
                            <a:latin typeface="Cambria Math" panose="02040503050406030204" pitchFamily="18" charset="0"/>
                          </a:rPr>
                          <m:t>𝐶𝐶</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𝑉</m:t>
                        </m:r>
                      </m:e>
                      <m:sub>
                        <m:r>
                          <a:rPr lang="en-US" sz="2800" i="1">
                            <a:latin typeface="Cambria Math" panose="02040503050406030204" pitchFamily="18" charset="0"/>
                          </a:rPr>
                          <m:t>𝐷</m:t>
                        </m:r>
                      </m:sub>
                    </m:sSub>
                  </m:oMath>
                </a14:m>
                <a:r>
                  <a:rPr lang="en-US" sz="2800" dirty="0"/>
                  <a:t> in both charging and discharging equations. </a:t>
                </a:r>
                <a:endParaRPr lang="en-US" sz="3200" dirty="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406ED0F9-17B1-F5BC-B363-2174D746F68B}"/>
                  </a:ext>
                </a:extLst>
              </p:cNvPr>
              <p:cNvSpPr>
                <a:spLocks noGrp="1" noRot="1" noChangeAspect="1" noMove="1" noResize="1" noEditPoints="1" noAdjustHandles="1" noChangeArrowheads="1" noChangeShapeType="1" noTextEdit="1"/>
              </p:cNvSpPr>
              <p:nvPr>
                <p:ph idx="1"/>
              </p:nvPr>
            </p:nvSpPr>
            <p:spPr>
              <a:xfrm>
                <a:off x="240891" y="1353108"/>
                <a:ext cx="11963399" cy="6098032"/>
              </a:xfrm>
              <a:blipFill>
                <a:blip r:embed="rId4"/>
                <a:stretch>
                  <a:fillRect l="-815" t="-1100" r="-2243" b="-1800"/>
                </a:stretch>
              </a:blipFill>
            </p:spPr>
            <p:txBody>
              <a:bodyPr/>
              <a:lstStyle/>
              <a:p>
                <a:r>
                  <a:rPr lang="en-US">
                    <a:noFill/>
                  </a:rPr>
                  <a:t> </a:t>
                </a:r>
              </a:p>
            </p:txBody>
          </p:sp>
        </mc:Fallback>
      </mc:AlternateContent>
      <p:sp>
        <p:nvSpPr>
          <p:cNvPr id="5" name="Footer Placeholder 4">
            <a:extLst>
              <a:ext uri="{FF2B5EF4-FFF2-40B4-BE49-F238E27FC236}">
                <a16:creationId xmlns:a16="http://schemas.microsoft.com/office/drawing/2014/main" id="{189320D2-EF84-F4E2-C376-531F3FAD9124}"/>
              </a:ext>
            </a:extLst>
          </p:cNvPr>
          <p:cNvSpPr>
            <a:spLocks noGrp="1"/>
          </p:cNvSpPr>
          <p:nvPr>
            <p:ph type="ftr" sz="quarter" idx="11"/>
          </p:nvPr>
        </p:nvSpPr>
        <p:spPr/>
        <p:txBody>
          <a:bodyPr/>
          <a:lstStyle/>
          <a:p>
            <a:r>
              <a:rPr lang="en-US"/>
              <a:t>Course Teacher: Prof. Dr. Engr. Muhibul Haque Bhuyan</a:t>
            </a:r>
          </a:p>
        </p:txBody>
      </p:sp>
      <p:sp>
        <p:nvSpPr>
          <p:cNvPr id="6" name="Slide Number Placeholder 5">
            <a:extLst>
              <a:ext uri="{FF2B5EF4-FFF2-40B4-BE49-F238E27FC236}">
                <a16:creationId xmlns:a16="http://schemas.microsoft.com/office/drawing/2014/main" id="{3D30BDB5-6CDE-0F0D-28BD-4E8ABB5D569A}"/>
              </a:ext>
            </a:extLst>
          </p:cNvPr>
          <p:cNvSpPr>
            <a:spLocks noGrp="1"/>
          </p:cNvSpPr>
          <p:nvPr>
            <p:ph type="sldNum" sz="quarter" idx="12"/>
          </p:nvPr>
        </p:nvSpPr>
        <p:spPr/>
        <p:txBody>
          <a:bodyPr/>
          <a:lstStyle/>
          <a:p>
            <a:fld id="{B6F15528-21DE-4FAA-801E-634DDDAF4B2B}" type="slidenum">
              <a:rPr lang="en-US" smtClean="0"/>
              <a:pPr/>
              <a:t>26</a:t>
            </a:fld>
            <a:endParaRPr lang="en-US"/>
          </a:p>
        </p:txBody>
      </p:sp>
      <p:sp>
        <p:nvSpPr>
          <p:cNvPr id="7" name="Date Placeholder 6">
            <a:extLst>
              <a:ext uri="{FF2B5EF4-FFF2-40B4-BE49-F238E27FC236}">
                <a16:creationId xmlns:a16="http://schemas.microsoft.com/office/drawing/2014/main" id="{D912F4C5-B12F-5DD0-782C-597DE78D4D88}"/>
              </a:ext>
            </a:extLst>
          </p:cNvPr>
          <p:cNvSpPr>
            <a:spLocks noGrp="1"/>
          </p:cNvSpPr>
          <p:nvPr>
            <p:ph type="dt" sz="half" idx="10"/>
          </p:nvPr>
        </p:nvSpPr>
        <p:spPr/>
        <p:txBody>
          <a:bodyPr/>
          <a:lstStyle/>
          <a:p>
            <a:fld id="{386C4CD3-1055-4803-8131-20120CCD2DA4}" type="datetime3">
              <a:rPr lang="en-US" smtClean="0"/>
              <a:t>15 June 2026</a:t>
            </a:fld>
            <a:endParaRPr lang="en-US"/>
          </a:p>
        </p:txBody>
      </p:sp>
      <p:cxnSp>
        <p:nvCxnSpPr>
          <p:cNvPr id="13" name="Straight Arrow Connector 12">
            <a:extLst>
              <a:ext uri="{FF2B5EF4-FFF2-40B4-BE49-F238E27FC236}">
                <a16:creationId xmlns:a16="http://schemas.microsoft.com/office/drawing/2014/main" id="{4F052C6B-5204-811A-EBFE-470EB6B91362}"/>
              </a:ext>
            </a:extLst>
          </p:cNvPr>
          <p:cNvCxnSpPr/>
          <p:nvPr/>
        </p:nvCxnSpPr>
        <p:spPr>
          <a:xfrm>
            <a:off x="12723804" y="2283968"/>
            <a:ext cx="746756" cy="0"/>
          </a:xfrm>
          <a:prstGeom prst="straightConnector1">
            <a:avLst/>
          </a:prstGeom>
          <a:ln w="28575">
            <a:solidFill>
              <a:srgbClr val="00B05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0BA01DC9-A967-EC19-84BA-18471B18373D}"/>
              </a:ext>
            </a:extLst>
          </p:cNvPr>
          <p:cNvSpPr txBox="1"/>
          <p:nvPr/>
        </p:nvSpPr>
        <p:spPr>
          <a:xfrm>
            <a:off x="12554563" y="1828800"/>
            <a:ext cx="1085237" cy="400110"/>
          </a:xfrm>
          <a:prstGeom prst="rect">
            <a:avLst/>
          </a:prstGeom>
          <a:noFill/>
        </p:spPr>
        <p:txBody>
          <a:bodyPr wrap="square">
            <a:spAutoFit/>
          </a:bodyPr>
          <a:lstStyle/>
          <a:p>
            <a:pPr algn="ctr"/>
            <a:r>
              <a:rPr lang="en-US" sz="2000" i="1" dirty="0">
                <a:solidFill>
                  <a:srgbClr val="00B050"/>
                </a:solidFill>
              </a:rPr>
              <a:t>t</a:t>
            </a:r>
            <a:r>
              <a:rPr lang="en-US" sz="2000" dirty="0">
                <a:solidFill>
                  <a:srgbClr val="00B050"/>
                </a:solidFill>
              </a:rPr>
              <a:t> = </a:t>
            </a:r>
            <a:r>
              <a:rPr lang="en-US" sz="2000" i="1" dirty="0">
                <a:solidFill>
                  <a:srgbClr val="00B050"/>
                </a:solidFill>
              </a:rPr>
              <a:t>t</a:t>
            </a:r>
            <a:r>
              <a:rPr lang="en-US" sz="2000" i="1" baseline="-25000" dirty="0">
                <a:solidFill>
                  <a:srgbClr val="00B050"/>
                </a:solidFill>
              </a:rPr>
              <a:t>b</a:t>
            </a:r>
            <a:endParaRPr lang="en-US" sz="2400" dirty="0">
              <a:solidFill>
                <a:srgbClr val="00B050"/>
              </a:solidFill>
            </a:endParaRP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F90A752-B58D-6BC2-7CB5-64ECD101AB74}"/>
                  </a:ext>
                </a:extLst>
              </p:cNvPr>
              <p:cNvSpPr txBox="1"/>
              <p:nvPr/>
            </p:nvSpPr>
            <p:spPr>
              <a:xfrm>
                <a:off x="13800771" y="3441059"/>
                <a:ext cx="833076" cy="49375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rgbClr val="00B050"/>
                              </a:solidFill>
                              <a:latin typeface="Cambria Math" panose="02040503050406030204" pitchFamily="18" charset="0"/>
                            </a:rPr>
                          </m:ctrlPr>
                        </m:sSubPr>
                        <m:e>
                          <m:r>
                            <a:rPr lang="en-US" sz="2400" i="1">
                              <a:solidFill>
                                <a:srgbClr val="00B050"/>
                              </a:solidFill>
                              <a:latin typeface="Cambria Math" panose="02040503050406030204" pitchFamily="18" charset="0"/>
                            </a:rPr>
                            <m:t>𝑣</m:t>
                          </m:r>
                        </m:e>
                        <m:sub>
                          <m:r>
                            <a:rPr lang="en-US" sz="2400" i="1">
                              <a:solidFill>
                                <a:srgbClr val="00B050"/>
                              </a:solidFill>
                              <a:latin typeface="Cambria Math" panose="02040503050406030204" pitchFamily="18" charset="0"/>
                            </a:rPr>
                            <m:t>𝑡h</m:t>
                          </m:r>
                          <m:r>
                            <a:rPr lang="en-US" sz="2400" i="1">
                              <a:solidFill>
                                <a:srgbClr val="00B050"/>
                              </a:solidFill>
                              <a:latin typeface="Cambria Math" panose="02040503050406030204" pitchFamily="18" charset="0"/>
                            </a:rPr>
                            <m:t>,</m:t>
                          </m:r>
                          <m:r>
                            <a:rPr lang="en-US" sz="2400" b="0" i="1" smtClean="0">
                              <a:solidFill>
                                <a:srgbClr val="00B050"/>
                              </a:solidFill>
                              <a:latin typeface="Cambria Math" panose="02040503050406030204" pitchFamily="18" charset="0"/>
                            </a:rPr>
                            <m:t>𝐿</m:t>
                          </m:r>
                        </m:sub>
                      </m:sSub>
                    </m:oMath>
                  </m:oMathPara>
                </a14:m>
                <a:endParaRPr lang="en-US" sz="2400" dirty="0">
                  <a:solidFill>
                    <a:srgbClr val="00B050"/>
                  </a:solidFill>
                </a:endParaRPr>
              </a:p>
            </p:txBody>
          </p:sp>
        </mc:Choice>
        <mc:Fallback xmlns="">
          <p:sp>
            <p:nvSpPr>
              <p:cNvPr id="18" name="TextBox 17">
                <a:extLst>
                  <a:ext uri="{FF2B5EF4-FFF2-40B4-BE49-F238E27FC236}">
                    <a16:creationId xmlns:a16="http://schemas.microsoft.com/office/drawing/2014/main" id="{2F90A752-B58D-6BC2-7CB5-64ECD101AB74}"/>
                  </a:ext>
                </a:extLst>
              </p:cNvPr>
              <p:cNvSpPr txBox="1">
                <a:spLocks noRot="1" noChangeAspect="1" noMove="1" noResize="1" noEditPoints="1" noAdjustHandles="1" noChangeArrowheads="1" noChangeShapeType="1" noTextEdit="1"/>
              </p:cNvSpPr>
              <p:nvPr/>
            </p:nvSpPr>
            <p:spPr>
              <a:xfrm>
                <a:off x="13800771" y="3441059"/>
                <a:ext cx="833076" cy="493756"/>
              </a:xfrm>
              <a:prstGeom prst="rect">
                <a:avLst/>
              </a:prstGeom>
              <a:blipFill>
                <a:blip r:embed="rId5"/>
                <a:stretch>
                  <a:fillRect/>
                </a:stretch>
              </a:blipFill>
            </p:spPr>
            <p:txBody>
              <a:bodyPr/>
              <a:lstStyle/>
              <a:p>
                <a:r>
                  <a:rPr lang="en-US">
                    <a:noFill/>
                  </a:rPr>
                  <a:t> </a:t>
                </a:r>
              </a:p>
            </p:txBody>
          </p:sp>
        </mc:Fallback>
      </mc:AlternateContent>
      <p:cxnSp>
        <p:nvCxnSpPr>
          <p:cNvPr id="10" name="Straight Arrow Connector 9">
            <a:extLst>
              <a:ext uri="{FF2B5EF4-FFF2-40B4-BE49-F238E27FC236}">
                <a16:creationId xmlns:a16="http://schemas.microsoft.com/office/drawing/2014/main" id="{DE786CC1-2FBD-FB74-54FE-D16131EA9813}"/>
              </a:ext>
            </a:extLst>
          </p:cNvPr>
          <p:cNvCxnSpPr>
            <a:cxnSpLocks/>
            <a:stCxn id="18" idx="2"/>
          </p:cNvCxnSpPr>
          <p:nvPr/>
        </p:nvCxnSpPr>
        <p:spPr>
          <a:xfrm flipH="1">
            <a:off x="13335950" y="3934815"/>
            <a:ext cx="881359" cy="982917"/>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7023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ox(out)">
                                      <p:cBhvr>
                                        <p:cTn id="7" dur="2000"/>
                                        <p:tgtEl>
                                          <p:spTgt spid="13"/>
                                        </p:tgtEl>
                                      </p:cBhvr>
                                    </p:animEffect>
                                  </p:childTnLst>
                                </p:cTn>
                              </p:par>
                              <p:par>
                                <p:cTn id="8" presetID="4" presetClass="entr" presetSubtype="32"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box(out)">
                                      <p:cBhvr>
                                        <p:cTn id="10" dur="20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down)">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37" fill="hold" grpId="0"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barn(outVertical)">
                                      <p:cBhvr>
                                        <p:cTn id="2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808" y="457200"/>
            <a:ext cx="13336901" cy="794084"/>
          </a:xfrm>
        </p:spPr>
        <p:txBody>
          <a:bodyPr>
            <a:normAutofit fontScale="90000"/>
          </a:bodyPr>
          <a:lstStyle/>
          <a:p>
            <a:r>
              <a:rPr lang="en-US" sz="5400" b="1" dirty="0">
                <a:solidFill>
                  <a:srgbClr val="FF0000"/>
                </a:solidFill>
              </a:rPr>
              <a:t>Example 2 on Debouncing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67149" y="1251284"/>
                <a:ext cx="14310851" cy="6292516"/>
              </a:xfrm>
            </p:spPr>
            <p:txBody>
              <a:bodyPr lIns="0" rIns="0">
                <a:noAutofit/>
              </a:bodyPr>
              <a:lstStyle/>
              <a:p>
                <a:pPr marL="0" marR="0" indent="0" algn="just">
                  <a:spcBef>
                    <a:spcPts val="0"/>
                  </a:spcBef>
                  <a:spcAft>
                    <a:spcPts val="600"/>
                  </a:spcAft>
                  <a:buNone/>
                </a:pPr>
                <a:r>
                  <a:rPr lang="en-US" sz="2800" i="0" dirty="0">
                    <a:effectLst/>
                    <a:latin typeface="Times New Roman" panose="02020603050405020304" pitchFamily="18" charset="0"/>
                    <a:ea typeface="Times New Roman" panose="02020603050405020304" pitchFamily="18" charset="0"/>
                    <a:cs typeface="Times New Roman" panose="02020603050405020304" pitchFamily="18" charset="0"/>
                  </a:rPr>
                  <a:t>A TV remote controller is to be designed with the channel selection buttons to be debounced. It was observed that the switches exhibit bounce times well under 20 </a:t>
                </a:r>
                <a:r>
                  <a:rPr lang="en-US" sz="2800" i="0" dirty="0" err="1">
                    <a:effectLst/>
                    <a:latin typeface="Times New Roman" panose="02020603050405020304" pitchFamily="18" charset="0"/>
                    <a:ea typeface="Times New Roman" panose="02020603050405020304" pitchFamily="18" charset="0"/>
                    <a:cs typeface="Times New Roman" panose="02020603050405020304" pitchFamily="18" charset="0"/>
                  </a:rPr>
                  <a:t>ms.</a:t>
                </a:r>
                <a:r>
                  <a:rPr lang="en-US" sz="2800" i="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b="1" i="0" dirty="0">
                    <a:effectLst/>
                    <a:latin typeface="Times New Roman" panose="02020603050405020304" pitchFamily="18" charset="0"/>
                    <a:ea typeface="Times New Roman" panose="02020603050405020304" pitchFamily="18" charset="0"/>
                    <a:cs typeface="Times New Roman" panose="02020603050405020304" pitchFamily="18" charset="0"/>
                  </a:rPr>
                  <a:t>Design</a:t>
                </a:r>
                <a:r>
                  <a:rPr lang="en-US" sz="2800" i="0" dirty="0">
                    <a:effectLst/>
                    <a:latin typeface="Times New Roman" panose="02020603050405020304" pitchFamily="18" charset="0"/>
                    <a:ea typeface="Times New Roman" panose="02020603050405020304" pitchFamily="18" charset="0"/>
                    <a:cs typeface="Times New Roman" panose="02020603050405020304" pitchFamily="18" charset="0"/>
                  </a:rPr>
                  <a:t> a circuit using the 74HC14 Schmitt trigger IC along with the resistance and capacitance. The worst-case </a:t>
                </a:r>
                <a:r>
                  <a:rPr lang="en-US" sz="2800" i="1" dirty="0">
                    <a:effectLst/>
                    <a:latin typeface="Times New Roman" panose="02020603050405020304" pitchFamily="18" charset="0"/>
                    <a:ea typeface="Times New Roman" panose="02020603050405020304" pitchFamily="18" charset="0"/>
                    <a:cs typeface="Times New Roman" panose="02020603050405020304" pitchFamily="18" charset="0"/>
                  </a:rPr>
                  <a:t>V</a:t>
                </a:r>
                <a:r>
                  <a:rPr lang="en-US" sz="2800" i="1" baseline="-25000" dirty="0">
                    <a:effectLst/>
                    <a:latin typeface="Times New Roman" panose="02020603050405020304" pitchFamily="18" charset="0"/>
                    <a:ea typeface="Times New Roman" panose="02020603050405020304" pitchFamily="18" charset="0"/>
                    <a:cs typeface="Times New Roman" panose="02020603050405020304" pitchFamily="18" charset="0"/>
                  </a:rPr>
                  <a:t>th</a:t>
                </a:r>
                <a:r>
                  <a:rPr lang="en-US" sz="2800" i="0" dirty="0">
                    <a:effectLst/>
                    <a:latin typeface="Times New Roman" panose="02020603050405020304" pitchFamily="18" charset="0"/>
                    <a:ea typeface="Times New Roman" panose="02020603050405020304" pitchFamily="18" charset="0"/>
                    <a:cs typeface="Times New Roman" panose="02020603050405020304" pitchFamily="18" charset="0"/>
                  </a:rPr>
                  <a:t> of this IC for a signal going low is 2.5 V, and that of when going high is 0.8 V. Also, consider that the CMOS device leakage current is 10 </a:t>
                </a:r>
                <a:r>
                  <a:rPr lang="en-US" sz="2800" i="0" dirty="0">
                    <a:effectLst/>
                    <a:latin typeface="Symbol" panose="05050102010706020507" pitchFamily="18" charset="2"/>
                    <a:ea typeface="Times New Roman" panose="02020603050405020304" pitchFamily="18" charset="0"/>
                    <a:cs typeface="Times New Roman" panose="02020603050405020304" pitchFamily="18" charset="0"/>
                  </a:rPr>
                  <a:t>m</a:t>
                </a:r>
                <a:r>
                  <a:rPr lang="en-US" sz="2800" i="0" dirty="0">
                    <a:effectLst/>
                    <a:latin typeface="Times New Roman" panose="02020603050405020304" pitchFamily="18" charset="0"/>
                    <a:ea typeface="Times New Roman" panose="02020603050405020304" pitchFamily="18" charset="0"/>
                    <a:cs typeface="Times New Roman" panose="02020603050405020304" pitchFamily="18" charset="0"/>
                  </a:rPr>
                  <a:t>A and the gate’s best-case switching point is of the order of 0.4 V. </a:t>
                </a:r>
                <a:r>
                  <a:rPr lang="en-US" sz="2800" b="1" i="0" dirty="0">
                    <a:effectLst/>
                    <a:latin typeface="Times New Roman" panose="02020603050405020304" pitchFamily="18" charset="0"/>
                    <a:ea typeface="Times New Roman" panose="02020603050405020304" pitchFamily="18" charset="0"/>
                    <a:cs typeface="Times New Roman" panose="02020603050405020304" pitchFamily="18" charset="0"/>
                  </a:rPr>
                  <a:t>Compute</a:t>
                </a:r>
                <a:r>
                  <a:rPr lang="en-US" sz="2800" i="0" dirty="0">
                    <a:effectLst/>
                    <a:latin typeface="Times New Roman" panose="02020603050405020304" pitchFamily="18" charset="0"/>
                    <a:ea typeface="Times New Roman" panose="02020603050405020304" pitchFamily="18" charset="0"/>
                    <a:cs typeface="Times New Roman" panose="02020603050405020304" pitchFamily="18" charset="0"/>
                  </a:rPr>
                  <a:t> the hysteresis voltage.</a:t>
                </a:r>
              </a:p>
              <a:p>
                <a:pPr marL="0" marR="0" algn="just">
                  <a:spcBef>
                    <a:spcPts val="0"/>
                  </a:spcBef>
                  <a:buNone/>
                </a:pPr>
                <a:r>
                  <a:rPr lang="en-US" sz="28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Answer: </a:t>
                </a:r>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a:p>
                <a:pPr marL="0" marR="0" algn="just">
                  <a:spcBef>
                    <a:spcPts val="0"/>
                  </a:spcBef>
                  <a:buNone/>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While falling the signal, we choose a value of capacitance, </a:t>
                </a:r>
                <a:r>
                  <a:rPr lang="en-US" sz="2800" i="1" dirty="0">
                    <a:effectLst/>
                    <a:latin typeface="Times New Roman" panose="02020603050405020304" pitchFamily="18" charset="0"/>
                    <a:ea typeface="Times New Roman" panose="02020603050405020304" pitchFamily="18" charset="0"/>
                    <a:cs typeface="Times New Roman" panose="02020603050405020304" pitchFamily="18" charset="0"/>
                  </a:rPr>
                  <a:t>C</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 1 </a:t>
                </a:r>
                <a:r>
                  <a:rPr lang="en-US" sz="2800" dirty="0">
                    <a:effectLst/>
                    <a:latin typeface="Symbol" panose="05050102010706020507" pitchFamily="18" charset="2"/>
                    <a:ea typeface="Times New Roman" panose="02020603050405020304" pitchFamily="18" charset="0"/>
                    <a:cs typeface="Times New Roman" panose="02020603050405020304" pitchFamily="18" charset="0"/>
                  </a:rPr>
                  <a:t>m</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F and use </a:t>
                </a:r>
                <a14:m>
                  <m:oMath xmlns:m="http://schemas.openxmlformats.org/officeDocument/2006/math">
                    <m:sSub>
                      <m:sSub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𝑐</m:t>
                        </m:r>
                      </m:sub>
                    </m:s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𝑡h</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𝐿</m:t>
                        </m:r>
                      </m:sub>
                    </m:s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𝑉</m:t>
                        </m:r>
                      </m:e>
                      <m: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𝑓𝑖𝑛𝑎𝑙</m:t>
                        </m:r>
                      </m:sub>
                    </m:sSub>
                    <m:sSup>
                      <m:sSup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𝑒</m:t>
                        </m:r>
                      </m:e>
                      <m:sup>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f>
                          <m:fPr>
                            <m:type m:val="lin"/>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𝑡</m:t>
                            </m:r>
                          </m:num>
                          <m:den>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𝑅𝐶</m:t>
                            </m:r>
                          </m:den>
                        </m:f>
                      </m:sup>
                    </m:sSup>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oMath>
                </a14:m>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r>
                  <a:rPr lang="en-US" sz="2800" dirty="0">
                    <a:effectLst/>
                    <a:latin typeface="Times New Roman" panose="02020603050405020304" pitchFamily="18" charset="0"/>
                    <a:ea typeface="SimSun" panose="02010600030101010101" pitchFamily="2" charset="-122"/>
                    <a:cs typeface="Times New Roman" panose="02020603050405020304" pitchFamily="18" charset="0"/>
                  </a:rPr>
                  <a:t>After rearranging the equation, we get </a:t>
                </a:r>
                <a14:m>
                  <m:oMath xmlns:m="http://schemas.openxmlformats.org/officeDocument/2006/math">
                    <m:r>
                      <a:rPr lang="en-US" sz="2800" i="1">
                        <a:effectLst/>
                        <a:latin typeface="Cambria Math" panose="02040503050406030204" pitchFamily="18" charset="0"/>
                        <a:ea typeface="SimSun" panose="02010600030101010101" pitchFamily="2" charset="-122"/>
                        <a:cs typeface="Times New Roman" panose="02020603050405020304" pitchFamily="18" charset="0"/>
                      </a:rPr>
                      <m:t>𝑅</m:t>
                    </m:r>
                    <m:r>
                      <a:rPr lang="en-US" sz="2800" i="1">
                        <a:effectLst/>
                        <a:latin typeface="Cambria Math" panose="02040503050406030204" pitchFamily="18" charset="0"/>
                        <a:ea typeface="SimSun" panose="02010600030101010101" pitchFamily="2" charset="-122"/>
                        <a:cs typeface="Times New Roman" panose="02020603050405020304" pitchFamily="18" charset="0"/>
                      </a:rPr>
                      <m:t>=−</m:t>
                    </m:r>
                    <m:f>
                      <m:fPr>
                        <m:ctrlPr>
                          <a:rPr lang="en-US" sz="2800" i="1">
                            <a:effectLst/>
                            <a:latin typeface="Cambria Math" panose="02040503050406030204" pitchFamily="18" charset="0"/>
                            <a:ea typeface="SimSun" panose="02010600030101010101" pitchFamily="2" charset="-122"/>
                            <a:cs typeface="Times New Roman" panose="02020603050405020304" pitchFamily="18" charset="0"/>
                          </a:rPr>
                        </m:ctrlPr>
                      </m:fPr>
                      <m:num>
                        <m:r>
                          <a:rPr lang="en-US" sz="2800" i="1">
                            <a:effectLst/>
                            <a:latin typeface="Cambria Math" panose="02040503050406030204" pitchFamily="18" charset="0"/>
                            <a:ea typeface="SimSun" panose="02010600030101010101" pitchFamily="2" charset="-122"/>
                            <a:cs typeface="Times New Roman" panose="02020603050405020304" pitchFamily="18" charset="0"/>
                          </a:rPr>
                          <m:t>𝑡</m:t>
                        </m:r>
                      </m:num>
                      <m:den>
                        <m:r>
                          <a:rPr lang="en-US" sz="2800" i="1">
                            <a:effectLst/>
                            <a:latin typeface="Cambria Math" panose="02040503050406030204" pitchFamily="18" charset="0"/>
                            <a:ea typeface="SimSun" panose="02010600030101010101" pitchFamily="2" charset="-122"/>
                            <a:cs typeface="Times New Roman" panose="02020603050405020304" pitchFamily="18" charset="0"/>
                          </a:rPr>
                          <m:t>𝐶𝑙𝑛</m:t>
                        </m:r>
                        <m:f>
                          <m:fPr>
                            <m:ctrlPr>
                              <a:rPr lang="en-US" sz="2800" i="1">
                                <a:effectLst/>
                                <a:latin typeface="Cambria Math" panose="02040503050406030204" pitchFamily="18" charset="0"/>
                                <a:ea typeface="SimSun" panose="02010600030101010101" pitchFamily="2" charset="-122"/>
                                <a:cs typeface="Times New Roman" panose="02020603050405020304" pitchFamily="18" charset="0"/>
                              </a:rPr>
                            </m:ctrlPr>
                          </m:fPr>
                          <m:num>
                            <m:sSub>
                              <m:sSubPr>
                                <m:ctrlPr>
                                  <a:rPr lang="en-US" sz="2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2800" i="1">
                                    <a:effectLst/>
                                    <a:latin typeface="Cambria Math" panose="02040503050406030204" pitchFamily="18" charset="0"/>
                                    <a:ea typeface="SimSun" panose="02010600030101010101" pitchFamily="2" charset="-122"/>
                                    <a:cs typeface="Times New Roman" panose="02020603050405020304" pitchFamily="18" charset="0"/>
                                  </a:rPr>
                                  <m:t>𝑉</m:t>
                                </m:r>
                              </m:e>
                              <m:sub>
                                <m:r>
                                  <a:rPr lang="en-US" sz="2800" i="1">
                                    <a:effectLst/>
                                    <a:latin typeface="Cambria Math" panose="02040503050406030204" pitchFamily="18" charset="0"/>
                                    <a:ea typeface="SimSun" panose="02010600030101010101" pitchFamily="2" charset="-122"/>
                                    <a:cs typeface="Times New Roman" panose="02020603050405020304" pitchFamily="18" charset="0"/>
                                  </a:rPr>
                                  <m:t>𝑡h</m:t>
                                </m:r>
                                <m:r>
                                  <a:rPr lang="en-US" sz="2800" b="0" i="1" smtClean="0">
                                    <a:effectLst/>
                                    <a:latin typeface="Cambria Math" panose="02040503050406030204" pitchFamily="18" charset="0"/>
                                    <a:ea typeface="SimSun" panose="02010600030101010101" pitchFamily="2" charset="-122"/>
                                    <a:cs typeface="Times New Roman" panose="02020603050405020304" pitchFamily="18" charset="0"/>
                                  </a:rPr>
                                  <m:t>,</m:t>
                                </m:r>
                                <m:r>
                                  <a:rPr lang="en-US" sz="2800" b="0" i="1" smtClean="0">
                                    <a:effectLst/>
                                    <a:latin typeface="Cambria Math" panose="02040503050406030204" pitchFamily="18" charset="0"/>
                                    <a:ea typeface="SimSun" panose="02010600030101010101" pitchFamily="2" charset="-122"/>
                                    <a:cs typeface="Times New Roman" panose="02020603050405020304" pitchFamily="18" charset="0"/>
                                  </a:rPr>
                                  <m:t>𝐿</m:t>
                                </m:r>
                              </m:sub>
                            </m:sSub>
                          </m:num>
                          <m:den>
                            <m:sSub>
                              <m:sSubPr>
                                <m:ctrlPr>
                                  <a:rPr lang="en-US" sz="2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2800" i="1">
                                    <a:effectLst/>
                                    <a:latin typeface="Cambria Math" panose="02040503050406030204" pitchFamily="18" charset="0"/>
                                    <a:ea typeface="SimSun" panose="02010600030101010101" pitchFamily="2" charset="-122"/>
                                    <a:cs typeface="Times New Roman" panose="02020603050405020304" pitchFamily="18" charset="0"/>
                                  </a:rPr>
                                  <m:t>𝑉</m:t>
                                </m:r>
                              </m:e>
                              <m:sub>
                                <m:r>
                                  <a:rPr lang="en-US" sz="2800" i="1">
                                    <a:effectLst/>
                                    <a:latin typeface="Cambria Math" panose="02040503050406030204" pitchFamily="18" charset="0"/>
                                    <a:ea typeface="SimSun" panose="02010600030101010101" pitchFamily="2" charset="-122"/>
                                    <a:cs typeface="Times New Roman" panose="02020603050405020304" pitchFamily="18" charset="0"/>
                                  </a:rPr>
                                  <m:t>𝑓𝑖𝑛𝑎𝑙</m:t>
                                </m:r>
                              </m:sub>
                            </m:sSub>
                          </m:den>
                        </m:f>
                      </m:den>
                    </m:f>
                  </m:oMath>
                </a14:m>
                <a:r>
                  <a:rPr lang="en-US" sz="2800" dirty="0">
                    <a:effectLst/>
                    <a:latin typeface="Times New Roman" panose="02020603050405020304" pitchFamily="18" charset="0"/>
                    <a:ea typeface="SimSun" panose="02010600030101010101" pitchFamily="2" charset="-122"/>
                    <a:cs typeface="Times New Roman" panose="02020603050405020304" pitchFamily="18" charset="0"/>
                  </a:rPr>
                  <a:t>, and then putting the values, we find</a:t>
                </a:r>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a:p>
                <a:pPr marL="0" marR="0" algn="just">
                  <a:spcBef>
                    <a:spcPts val="0"/>
                  </a:spcBef>
                  <a:buNone/>
                </a:pPr>
                <a14:m>
                  <m:oMathPara xmlns:m="http://schemas.openxmlformats.org/officeDocument/2006/math">
                    <m:oMathParaPr>
                      <m:jc m:val="centerGroup"/>
                    </m:oMathParaPr>
                    <m:oMath xmlns:m="http://schemas.openxmlformats.org/officeDocument/2006/math">
                      <m:sSub>
                        <m:sSub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2</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0×</m:t>
                          </m:r>
                          <m:sSup>
                            <m:sSup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−3</m:t>
                              </m:r>
                            </m:sup>
                          </m:sSup>
                        </m:num>
                        <m:den>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1×</m:t>
                          </m:r>
                          <m:sSup>
                            <m:sSup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−6</m:t>
                              </m:r>
                            </m:sup>
                          </m:sSup>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𝑙𝑛</m:t>
                          </m:r>
                          <m:f>
                            <m:f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0</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8</m:t>
                              </m:r>
                            </m:num>
                            <m:den>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5</m:t>
                              </m:r>
                            </m:den>
                          </m:f>
                        </m:den>
                      </m:f>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10</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913</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n-US" sz="2800">
                          <a:effectLst/>
                          <a:latin typeface="Cambria Math" panose="02040503050406030204" pitchFamily="18" charset="0"/>
                          <a:ea typeface="Times New Roman" panose="02020603050405020304" pitchFamily="18" charset="0"/>
                          <a:cs typeface="Times New Roman" panose="02020603050405020304" pitchFamily="18" charset="0"/>
                        </a:rPr>
                        <m:t>k</m:t>
                      </m:r>
                      <m:r>
                        <m:rPr>
                          <m:sty m:val="p"/>
                        </m:rPr>
                        <a:rPr lang="el-GR" sz="2800">
                          <a:effectLst/>
                          <a:latin typeface="Cambria Math" panose="02040503050406030204" pitchFamily="18" charset="0"/>
                          <a:ea typeface="Times New Roman" panose="02020603050405020304" pitchFamily="18" charset="0"/>
                          <a:cs typeface="Times New Roman" panose="02020603050405020304" pitchFamily="18" charset="0"/>
                        </a:rPr>
                        <m:t>Ω</m:t>
                      </m:r>
                      <m:r>
                        <a:rPr lang="el-GR" sz="2800" i="1">
                          <a:effectLst/>
                          <a:latin typeface="Cambria Math" panose="02040503050406030204" pitchFamily="18" charset="0"/>
                          <a:ea typeface="SimSun" panose="02010600030101010101" pitchFamily="2" charset="-122"/>
                          <a:cs typeface="Times New Roman" panose="02020603050405020304" pitchFamily="18" charset="0"/>
                        </a:rPr>
                        <m:t> ≅</m:t>
                      </m:r>
                      <m:r>
                        <a:rPr lang="en-US" sz="2800" b="0" i="1" smtClean="0">
                          <a:effectLst/>
                          <a:latin typeface="Cambria Math" panose="02040503050406030204" pitchFamily="18" charset="0"/>
                          <a:ea typeface="SimSun" panose="02010600030101010101" pitchFamily="2" charset="-122"/>
                          <a:cs typeface="Times New Roman" panose="02020603050405020304" pitchFamily="18" charset="0"/>
                        </a:rPr>
                        <m:t>11</m:t>
                      </m:r>
                      <m:r>
                        <a:rPr lang="el-GR" sz="2800" i="1">
                          <a:effectLst/>
                          <a:latin typeface="Cambria Math" panose="02040503050406030204" pitchFamily="18" charset="0"/>
                          <a:ea typeface="SimSun" panose="02010600030101010101" pitchFamily="2" charset="-122"/>
                          <a:cs typeface="Times New Roman" panose="02020603050405020304" pitchFamily="18" charset="0"/>
                        </a:rPr>
                        <m:t> </m:t>
                      </m:r>
                      <m:r>
                        <m:rPr>
                          <m:sty m:val="p"/>
                        </m:rPr>
                        <a:rPr lang="en-US" sz="2800">
                          <a:effectLst/>
                          <a:latin typeface="Cambria Math" panose="02040503050406030204" pitchFamily="18" charset="0"/>
                          <a:ea typeface="Times New Roman" panose="02020603050405020304" pitchFamily="18" charset="0"/>
                          <a:cs typeface="Times New Roman" panose="02020603050405020304" pitchFamily="18" charset="0"/>
                        </a:rPr>
                        <m:t>k</m:t>
                      </m:r>
                      <m:r>
                        <m:rPr>
                          <m:sty m:val="p"/>
                        </m:rPr>
                        <a:rPr lang="el-GR" sz="2800">
                          <a:effectLst/>
                          <a:latin typeface="Cambria Math" panose="02040503050406030204" pitchFamily="18" charset="0"/>
                          <a:ea typeface="Times New Roman" panose="02020603050405020304" pitchFamily="18" charset="0"/>
                          <a:cs typeface="Times New Roman" panose="02020603050405020304" pitchFamily="18" charset="0"/>
                        </a:rPr>
                        <m:t>Ω</m:t>
                      </m:r>
                    </m:oMath>
                  </m:oMathPara>
                </a14:m>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a:p>
                <a:pPr marL="0" marR="0" algn="just">
                  <a:spcBef>
                    <a:spcPts val="0"/>
                  </a:spcBef>
                  <a:buNone/>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800" i="1" dirty="0">
                  <a:effectLst/>
                  <a:latin typeface="Arial" panose="020B0604020202020204" pitchFamily="34" charset="0"/>
                  <a:ea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67149" y="1251284"/>
                <a:ext cx="14310851" cy="6292516"/>
              </a:xfrm>
              <a:blipFill>
                <a:blip r:embed="rId3"/>
                <a:stretch>
                  <a:fillRect l="-1491" t="-968" r="-1491"/>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US"/>
              <a:t>Course Teacher: Prof. Dr. Engr. Muhibul Haque Bhuyan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27</a:t>
            </a:fld>
            <a:endParaRPr lang="en-US"/>
          </a:p>
        </p:txBody>
      </p:sp>
      <p:sp>
        <p:nvSpPr>
          <p:cNvPr id="6" name="Date Placeholder 5"/>
          <p:cNvSpPr>
            <a:spLocks noGrp="1"/>
          </p:cNvSpPr>
          <p:nvPr>
            <p:ph type="dt" sz="half" idx="10"/>
          </p:nvPr>
        </p:nvSpPr>
        <p:spPr/>
        <p:txBody>
          <a:bodyPr/>
          <a:lstStyle/>
          <a:p>
            <a:fld id="{0A7EAEA6-ABFA-44F2-B6E5-81382F9BE97B}" type="datetime3">
              <a:rPr lang="en-US" smtClean="0"/>
              <a:t>15 June 2026</a:t>
            </a:fld>
            <a:endParaRPr lang="en-US"/>
          </a:p>
        </p:txBody>
      </p:sp>
      <p:sp>
        <p:nvSpPr>
          <p:cNvPr id="13" name="Text Box 2">
            <a:extLst>
              <a:ext uri="{FF2B5EF4-FFF2-40B4-BE49-F238E27FC236}">
                <a16:creationId xmlns:a16="http://schemas.microsoft.com/office/drawing/2014/main" id="{886D98B2-F844-519E-3959-5D2E934BA106}"/>
              </a:ext>
            </a:extLst>
          </p:cNvPr>
          <p:cNvSpPr txBox="1">
            <a:spLocks noChangeArrowheads="1"/>
          </p:cNvSpPr>
          <p:nvPr/>
        </p:nvSpPr>
        <p:spPr bwMode="auto">
          <a:xfrm>
            <a:off x="11353800" y="6264024"/>
            <a:ext cx="2406650" cy="990600"/>
          </a:xfrm>
          <a:prstGeom prst="rect">
            <a:avLst/>
          </a:prstGeom>
          <a:solidFill>
            <a:srgbClr val="FFFFFF"/>
          </a:solidFill>
          <a:ln w="9525">
            <a:solidFill>
              <a:srgbClr val="000000"/>
            </a:solidFill>
            <a:miter lim="800000"/>
            <a:headEnd/>
            <a:tailEnd/>
          </a:ln>
        </p:spPr>
        <p:txBody>
          <a:bodyPr rot="0" vert="horz" wrap="square" lIns="45720" tIns="0" rIns="0" bIns="0" anchor="t" anchorCtr="0">
            <a:noAutofit/>
          </a:bodyPr>
          <a:lstStyle/>
          <a:p>
            <a:pPr marL="0" marR="0"/>
            <a:r>
              <a:rPr lang="en-US" sz="2000" dirty="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rPr>
              <a:t>For TTL IC family, we usually choose supply voltage, </a:t>
            </a:r>
            <a:r>
              <a:rPr lang="en-US" sz="2000" i="1" dirty="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rPr>
              <a:t>V</a:t>
            </a:r>
            <a:r>
              <a:rPr lang="en-US" sz="2000" i="1" baseline="-25000" dirty="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rPr>
              <a:t>CC</a:t>
            </a:r>
            <a:r>
              <a:rPr lang="en-US" sz="2000" dirty="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rPr>
              <a:t> = 5 V.</a:t>
            </a:r>
            <a:endParaRPr lang="en-US" sz="3200" dirty="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endParaRPr>
          </a:p>
        </p:txBody>
      </p:sp>
    </p:spTree>
    <p:extLst>
      <p:ext uri="{BB962C8B-B14F-4D97-AF65-F5344CB8AC3E}">
        <p14:creationId xmlns:p14="http://schemas.microsoft.com/office/powerpoint/2010/main" val="28068317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C1DFF-A4BD-0A7F-F2B0-7DD98FC85C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ED9F70-577D-012E-8D92-BD91109C7B0A}"/>
              </a:ext>
            </a:extLst>
          </p:cNvPr>
          <p:cNvSpPr>
            <a:spLocks noGrp="1"/>
          </p:cNvSpPr>
          <p:nvPr>
            <p:ph type="title"/>
          </p:nvPr>
        </p:nvSpPr>
        <p:spPr>
          <a:xfrm>
            <a:off x="73808" y="457200"/>
            <a:ext cx="13336901" cy="1066800"/>
          </a:xfrm>
        </p:spPr>
        <p:txBody>
          <a:bodyPr>
            <a:normAutofit/>
          </a:bodyPr>
          <a:lstStyle/>
          <a:p>
            <a:r>
              <a:rPr lang="en-US" sz="5400" b="1" dirty="0">
                <a:solidFill>
                  <a:srgbClr val="FF0000"/>
                </a:solidFill>
              </a:rPr>
              <a:t>Example 2 on Debouncing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1BB51D3-879A-8A64-D7D8-B63365C1EB09}"/>
                  </a:ext>
                </a:extLst>
              </p:cNvPr>
              <p:cNvSpPr>
                <a:spLocks noGrp="1"/>
              </p:cNvSpPr>
              <p:nvPr>
                <p:ph idx="1"/>
              </p:nvPr>
            </p:nvSpPr>
            <p:spPr>
              <a:xfrm>
                <a:off x="167149" y="1447800"/>
                <a:ext cx="14310851" cy="6096000"/>
              </a:xfrm>
            </p:spPr>
            <p:txBody>
              <a:bodyPr lIns="0" rIns="0">
                <a:noAutofit/>
              </a:bodyPr>
              <a:lstStyle/>
              <a:p>
                <a:pPr marL="0" algn="just">
                  <a:spcBef>
                    <a:spcPts val="0"/>
                  </a:spcBef>
                  <a:buNone/>
                </a:pPr>
                <a:r>
                  <a:rPr lang="en-US" sz="2800" dirty="0">
                    <a:latin typeface="Times New Roman" panose="02020603050405020304" pitchFamily="18" charset="0"/>
                    <a:ea typeface="Times New Roman" panose="02020603050405020304" pitchFamily="18" charset="0"/>
                    <a:cs typeface="Times New Roman" panose="02020603050405020304" pitchFamily="18" charset="0"/>
                  </a:rPr>
                  <a:t>If we choose this value, therefore, during discharging, due to the leakage current of 10 </a:t>
                </a:r>
                <a:r>
                  <a:rPr lang="en-US" sz="2800" dirty="0">
                    <a:latin typeface="Symbol" panose="05050102010706020507" pitchFamily="18" charset="2"/>
                    <a:ea typeface="Times New Roman" panose="02020603050405020304" pitchFamily="18" charset="0"/>
                    <a:cs typeface="Times New Roman" panose="02020603050405020304" pitchFamily="18" charset="0"/>
                  </a:rPr>
                  <a:t>m</a:t>
                </a:r>
                <a:r>
                  <a:rPr lang="en-US" sz="2800" dirty="0">
                    <a:latin typeface="Times New Roman" panose="02020603050405020304" pitchFamily="18" charset="0"/>
                    <a:ea typeface="Times New Roman" panose="02020603050405020304" pitchFamily="18" charset="0"/>
                    <a:cs typeface="Times New Roman" panose="02020603050405020304" pitchFamily="18" charset="0"/>
                  </a:rPr>
                  <a:t>A, a voltage drops of </a:t>
                </a:r>
                <a14:m>
                  <m:oMath xmlns:m="http://schemas.openxmlformats.org/officeDocument/2006/math">
                    <m:r>
                      <a:rPr lang="en-US" sz="2800" i="1">
                        <a:latin typeface="Cambria Math" panose="02040503050406030204" pitchFamily="18" charset="0"/>
                        <a:ea typeface="Times New Roman" panose="02020603050405020304" pitchFamily="18" charset="0"/>
                        <a:cs typeface="Times New Roman" panose="02020603050405020304" pitchFamily="18" charset="0"/>
                      </a:rPr>
                      <m:t>𝑉</m:t>
                    </m:r>
                    <m:r>
                      <a:rPr lang="en-US" sz="2800" i="1">
                        <a:latin typeface="Cambria Math" panose="02040503050406030204" pitchFamily="18" charset="0"/>
                        <a:ea typeface="Times New Roman" panose="02020603050405020304" pitchFamily="18" charset="0"/>
                        <a:cs typeface="Times New Roman" panose="02020603050405020304" pitchFamily="18" charset="0"/>
                      </a:rPr>
                      <m:t>=</m:t>
                    </m:r>
                    <m:r>
                      <a:rPr lang="en-US" sz="2800" i="1">
                        <a:latin typeface="Cambria Math" panose="02040503050406030204" pitchFamily="18" charset="0"/>
                        <a:ea typeface="Times New Roman" panose="02020603050405020304" pitchFamily="18" charset="0"/>
                        <a:cs typeface="Times New Roman" panose="02020603050405020304" pitchFamily="18" charset="0"/>
                      </a:rPr>
                      <m:t>𝐼𝑅</m:t>
                    </m:r>
                    <m:r>
                      <a:rPr lang="en-US" sz="2800" i="1">
                        <a:latin typeface="Cambria Math" panose="02040503050406030204" pitchFamily="18" charset="0"/>
                        <a:ea typeface="Times New Roman" panose="02020603050405020304" pitchFamily="18" charset="0"/>
                        <a:cs typeface="Times New Roman" panose="02020603050405020304" pitchFamily="18" charset="0"/>
                      </a:rPr>
                      <m:t>=10×</m:t>
                    </m:r>
                    <m:sSup>
                      <m:sSupPr>
                        <m:ctrlPr>
                          <a:rPr lang="en-US" sz="28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2800" i="1">
                            <a:latin typeface="Cambria Math" panose="02040503050406030204" pitchFamily="18" charset="0"/>
                            <a:ea typeface="Times New Roman" panose="02020603050405020304" pitchFamily="18" charset="0"/>
                            <a:cs typeface="Times New Roman" panose="02020603050405020304" pitchFamily="18" charset="0"/>
                          </a:rPr>
                          <m:t>10</m:t>
                        </m:r>
                      </m:e>
                      <m:sup>
                        <m:r>
                          <a:rPr lang="en-US" sz="2800" i="1">
                            <a:latin typeface="Cambria Math" panose="02040503050406030204" pitchFamily="18" charset="0"/>
                            <a:ea typeface="Times New Roman" panose="02020603050405020304" pitchFamily="18" charset="0"/>
                            <a:cs typeface="Times New Roman" panose="02020603050405020304" pitchFamily="18" charset="0"/>
                          </a:rPr>
                          <m:t>−6</m:t>
                        </m:r>
                      </m:sup>
                    </m:sSup>
                    <m:r>
                      <a:rPr lang="en-US" sz="2800" i="1">
                        <a:latin typeface="Cambria Math" panose="02040503050406030204" pitchFamily="18" charset="0"/>
                        <a:ea typeface="Times New Roman" panose="02020603050405020304" pitchFamily="18" charset="0"/>
                        <a:cs typeface="Times New Roman" panose="02020603050405020304" pitchFamily="18" charset="0"/>
                      </a:rPr>
                      <m:t>×</m:t>
                    </m:r>
                    <m:r>
                      <a:rPr lang="en-US" sz="2800" b="0" i="1" smtClean="0">
                        <a:latin typeface="Cambria Math" panose="02040503050406030204" pitchFamily="18" charset="0"/>
                        <a:ea typeface="Times New Roman" panose="02020603050405020304" pitchFamily="18" charset="0"/>
                        <a:cs typeface="Times New Roman" panose="02020603050405020304" pitchFamily="18" charset="0"/>
                      </a:rPr>
                      <m:t>11</m:t>
                    </m:r>
                    <m:r>
                      <a:rPr lang="en-US" sz="2800" i="1">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US" sz="28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2800" i="1">
                            <a:latin typeface="Cambria Math" panose="02040503050406030204" pitchFamily="18" charset="0"/>
                            <a:ea typeface="Times New Roman" panose="02020603050405020304" pitchFamily="18" charset="0"/>
                            <a:cs typeface="Times New Roman" panose="02020603050405020304" pitchFamily="18" charset="0"/>
                          </a:rPr>
                          <m:t>10</m:t>
                        </m:r>
                      </m:e>
                      <m:sup>
                        <m:r>
                          <a:rPr lang="en-US" sz="2800" i="1">
                            <a:latin typeface="Cambria Math" panose="02040503050406030204" pitchFamily="18" charset="0"/>
                            <a:ea typeface="Times New Roman" panose="02020603050405020304" pitchFamily="18" charset="0"/>
                            <a:cs typeface="Times New Roman" panose="02020603050405020304" pitchFamily="18" charset="0"/>
                          </a:rPr>
                          <m:t>3</m:t>
                        </m:r>
                      </m:sup>
                    </m:sSup>
                    <m:r>
                      <a:rPr lang="en-US" sz="2800" i="1">
                        <a:latin typeface="Cambria Math" panose="02040503050406030204" pitchFamily="18" charset="0"/>
                        <a:ea typeface="Times New Roman" panose="02020603050405020304" pitchFamily="18" charset="0"/>
                        <a:cs typeface="Times New Roman" panose="02020603050405020304" pitchFamily="18" charset="0"/>
                      </a:rPr>
                      <m:t>=0.</m:t>
                    </m:r>
                    <m:r>
                      <a:rPr lang="en-US" sz="2800" b="0" i="1" smtClean="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800" dirty="0">
                    <a:latin typeface="Times New Roman" panose="02020603050405020304" pitchFamily="18" charset="0"/>
                    <a:ea typeface="SimSun" panose="02010600030101010101" pitchFamily="2" charset="-122"/>
                    <a:cs typeface="Times New Roman" panose="02020603050405020304" pitchFamily="18" charset="0"/>
                  </a:rPr>
                  <a:t>1 </a:t>
                </a:r>
                <a:r>
                  <a:rPr lang="en-US" sz="2800" dirty="0">
                    <a:latin typeface="Times New Roman" panose="02020603050405020304" pitchFamily="18" charset="0"/>
                    <a:ea typeface="Times New Roman" panose="02020603050405020304" pitchFamily="18" charset="0"/>
                    <a:cs typeface="Times New Roman" panose="02020603050405020304" pitchFamily="18" charset="0"/>
                  </a:rPr>
                  <a:t>V would occur, and it is not comfortably well below the gate’s best-case switching point of 0.4 V. Therefore, we can increase this capacitor’s capacitance to 10 </a:t>
                </a:r>
                <a:r>
                  <a:rPr lang="en-US" sz="2800" dirty="0" err="1">
                    <a:latin typeface="Times New Roman" panose="02020603050405020304" pitchFamily="18" charset="0"/>
                    <a:ea typeface="Times New Roman" panose="02020603050405020304" pitchFamily="18" charset="0"/>
                    <a:cs typeface="Times New Roman" panose="02020603050405020304" pitchFamily="18" charset="0"/>
                  </a:rPr>
                  <a:t>μF</a:t>
                </a:r>
                <a:r>
                  <a:rPr lang="en-US" sz="2800" dirty="0">
                    <a:latin typeface="Times New Roman" panose="02020603050405020304" pitchFamily="18" charset="0"/>
                    <a:ea typeface="Times New Roman" panose="02020603050405020304" pitchFamily="18" charset="0"/>
                    <a:cs typeface="Times New Roman" panose="02020603050405020304" pitchFamily="18" charset="0"/>
                  </a:rPr>
                  <a:t> so that the resistance of discharging path becomes </a:t>
                </a:r>
                <a14:m>
                  <m:oMath xmlns:m="http://schemas.openxmlformats.org/officeDocument/2006/math">
                    <m:r>
                      <a:rPr lang="en-US" sz="2800" b="0" i="0" smtClean="0">
                        <a:latin typeface="Cambria Math" panose="02040503050406030204" pitchFamily="18" charset="0"/>
                        <a:ea typeface="SimSun" panose="02010600030101010101" pitchFamily="2" charset="-122"/>
                        <a:cs typeface="Times New Roman" panose="02020603050405020304" pitchFamily="18" charset="0"/>
                      </a:rPr>
                      <m:t>1</m:t>
                    </m:r>
                    <m:r>
                      <a:rPr lang="el-GR" sz="2800" i="1">
                        <a:latin typeface="Cambria Math" panose="02040503050406030204" pitchFamily="18" charset="0"/>
                        <a:ea typeface="SimSun" panose="02010600030101010101" pitchFamily="2" charset="-122"/>
                        <a:cs typeface="Times New Roman" panose="02020603050405020304" pitchFamily="18" charset="0"/>
                      </a:rPr>
                      <m:t>.</m:t>
                    </m:r>
                    <m:r>
                      <a:rPr lang="en-US" sz="2800" b="0" i="1" smtClean="0">
                        <a:latin typeface="Cambria Math" panose="02040503050406030204" pitchFamily="18" charset="0"/>
                        <a:ea typeface="SimSun" panose="02010600030101010101" pitchFamily="2" charset="-122"/>
                        <a:cs typeface="Times New Roman" panose="02020603050405020304" pitchFamily="18" charset="0"/>
                      </a:rPr>
                      <m:t>1</m:t>
                    </m:r>
                    <m:r>
                      <a:rPr lang="el-GR" sz="2800" i="1">
                        <a:latin typeface="Cambria Math" panose="02040503050406030204" pitchFamily="18" charset="0"/>
                        <a:ea typeface="SimSun" panose="02010600030101010101" pitchFamily="2" charset="-122"/>
                        <a:cs typeface="Times New Roman" panose="02020603050405020304" pitchFamily="18" charset="0"/>
                      </a:rPr>
                      <m:t> </m:t>
                    </m:r>
                    <m:r>
                      <m:rPr>
                        <m:sty m:val="p"/>
                      </m:rPr>
                      <a:rPr lang="en-US" sz="2800">
                        <a:latin typeface="Cambria Math" panose="02040503050406030204" pitchFamily="18" charset="0"/>
                        <a:ea typeface="Times New Roman" panose="02020603050405020304" pitchFamily="18" charset="0"/>
                        <a:cs typeface="Times New Roman" panose="02020603050405020304" pitchFamily="18" charset="0"/>
                      </a:rPr>
                      <m:t>k</m:t>
                    </m:r>
                    <m:r>
                      <m:rPr>
                        <m:sty m:val="p"/>
                      </m:rPr>
                      <a:rPr lang="el-GR" sz="2800">
                        <a:latin typeface="Cambria Math" panose="02040503050406030204" pitchFamily="18" charset="0"/>
                        <a:ea typeface="Times New Roman" panose="02020603050405020304" pitchFamily="18" charset="0"/>
                        <a:cs typeface="Times New Roman" panose="02020603050405020304" pitchFamily="18" charset="0"/>
                      </a:rPr>
                      <m:t>Ω</m:t>
                    </m:r>
                  </m:oMath>
                </a14:m>
                <a:r>
                  <a:rPr lang="en-US" sz="2800" dirty="0">
                    <a:latin typeface="Times New Roman" panose="02020603050405020304" pitchFamily="18" charset="0"/>
                    <a:ea typeface="Times New Roman" panose="02020603050405020304" pitchFamily="18" charset="0"/>
                    <a:cs typeface="Times New Roman" panose="02020603050405020304" pitchFamily="18" charset="0"/>
                  </a:rPr>
                  <a:t> and as such the voltage drop becomes </a:t>
                </a:r>
                <a14:m>
                  <m:oMath xmlns:m="http://schemas.openxmlformats.org/officeDocument/2006/math">
                    <m:r>
                      <a:rPr lang="en-US" sz="2800" i="1">
                        <a:latin typeface="Cambria Math" panose="02040503050406030204" pitchFamily="18" charset="0"/>
                        <a:ea typeface="Times New Roman" panose="02020603050405020304" pitchFamily="18" charset="0"/>
                        <a:cs typeface="Times New Roman" panose="02020603050405020304" pitchFamily="18" charset="0"/>
                      </a:rPr>
                      <m:t>0.0</m:t>
                    </m:r>
                    <m:r>
                      <a:rPr lang="en-US" sz="2800" b="0" i="1" smtClean="0">
                        <a:latin typeface="Cambria Math" panose="02040503050406030204" pitchFamily="18" charset="0"/>
                        <a:ea typeface="Times New Roman" panose="02020603050405020304" pitchFamily="18" charset="0"/>
                        <a:cs typeface="Times New Roman" panose="02020603050405020304" pitchFamily="18" charset="0"/>
                      </a:rPr>
                      <m:t>11</m:t>
                    </m:r>
                    <m:r>
                      <a:rPr lang="en-US" sz="2800" i="1">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n-US" sz="2800">
                        <a:latin typeface="Cambria Math" panose="02040503050406030204" pitchFamily="18" charset="0"/>
                        <a:ea typeface="Times New Roman" panose="02020603050405020304" pitchFamily="18" charset="0"/>
                        <a:cs typeface="Times New Roman" panose="02020603050405020304" pitchFamily="18" charset="0"/>
                      </a:rPr>
                      <m:t>V</m:t>
                    </m:r>
                  </m:oMath>
                </a14:m>
                <a:r>
                  <a:rPr lang="en-US" sz="280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ea typeface="Times New Roman" panose="02020603050405020304" pitchFamily="18" charset="0"/>
                  <a:cs typeface="Angsana New" panose="02020603050405020304" pitchFamily="18" charset="-34"/>
                </a:endParaRPr>
              </a:p>
              <a:p>
                <a:pPr marL="0" marR="0" algn="just">
                  <a:spcBef>
                    <a:spcPts val="0"/>
                  </a:spcBef>
                  <a:buNone/>
                </a:pPr>
                <a:r>
                  <a:rPr lang="en-US" sz="2800" dirty="0">
                    <a:latin typeface="Times New Roman" panose="02020603050405020304" pitchFamily="18" charset="0"/>
                    <a:ea typeface="Times New Roman" panose="02020603050405020304" pitchFamily="18" charset="0"/>
                    <a:cs typeface="Times New Roman" panose="02020603050405020304" pitchFamily="18" charset="0"/>
                  </a:rPr>
                  <a:t>D</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uring the rising the signal, we choose this capacitance value of </a:t>
                </a:r>
                <a:r>
                  <a:rPr lang="en-US" sz="2800" i="1" dirty="0">
                    <a:effectLst/>
                    <a:latin typeface="Times New Roman" panose="02020603050405020304" pitchFamily="18" charset="0"/>
                    <a:ea typeface="Times New Roman" panose="02020603050405020304" pitchFamily="18" charset="0"/>
                    <a:cs typeface="Times New Roman" panose="02020603050405020304" pitchFamily="18" charset="0"/>
                  </a:rPr>
                  <a:t>C</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 10 </a:t>
                </a:r>
                <a:r>
                  <a:rPr lang="en-US" sz="2800" dirty="0">
                    <a:effectLst/>
                    <a:latin typeface="Symbol" panose="05050102010706020507" pitchFamily="18" charset="2"/>
                    <a:ea typeface="Times New Roman" panose="02020603050405020304" pitchFamily="18" charset="0"/>
                    <a:cs typeface="Times New Roman" panose="02020603050405020304" pitchFamily="18" charset="0"/>
                  </a:rPr>
                  <a:t>m</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F and use capacitor’s charging equation, </a:t>
                </a:r>
                <a14:m>
                  <m:oMath xmlns:m="http://schemas.openxmlformats.org/officeDocument/2006/math">
                    <m:sSub>
                      <m:sSub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𝑉</m:t>
                        </m:r>
                      </m:e>
                      <m: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𝑐</m:t>
                        </m:r>
                      </m:sub>
                    </m:s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𝑡h</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𝐻</m:t>
                        </m:r>
                      </m:sub>
                    </m:s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𝑉</m:t>
                        </m:r>
                      </m:e>
                      <m: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𝑓𝑖𝑛𝑎𝑙</m:t>
                        </m:r>
                      </m:sub>
                    </m:sSub>
                    <m:d>
                      <m:d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1−</m:t>
                        </m:r>
                        <m:sSup>
                          <m:sSup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𝑒</m:t>
                            </m:r>
                          </m:e>
                          <m:sup>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f>
                              <m:fPr>
                                <m:type m:val="lin"/>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𝑡</m:t>
                                </m:r>
                              </m:num>
                              <m:den>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𝑅𝐶</m:t>
                                </m:r>
                              </m:den>
                            </m:f>
                          </m:sup>
                        </m:sSup>
                      </m:e>
                    </m:d>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oMath>
                </a14:m>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r>
                  <a:rPr lang="en-US" sz="2800" dirty="0">
                    <a:effectLst/>
                    <a:latin typeface="Times New Roman" panose="02020603050405020304" pitchFamily="18" charset="0"/>
                    <a:ea typeface="SimSun" panose="02010600030101010101" pitchFamily="2" charset="-122"/>
                    <a:cs typeface="Times New Roman" panose="02020603050405020304" pitchFamily="18" charset="0"/>
                  </a:rPr>
                  <a:t>After rearranging the equation, we get </a:t>
                </a:r>
                <a14:m>
                  <m:oMath xmlns:m="http://schemas.openxmlformats.org/officeDocument/2006/math">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𝑅</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𝑡</m:t>
                        </m:r>
                      </m:num>
                      <m:den>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𝐶𝑙𝑛</m:t>
                        </m:r>
                        <m:d>
                          <m:d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1−</m:t>
                            </m:r>
                            <m:f>
                              <m:f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en-US" sz="2800" i="1"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𝑉</m:t>
                                    </m:r>
                                  </m:e>
                                  <m: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𝑡h</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𝐻</m:t>
                                    </m:r>
                                  </m:sub>
                                </m:sSub>
                              </m:num>
                              <m:den>
                                <m:sSub>
                                  <m:sSub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𝑉</m:t>
                                    </m:r>
                                  </m:e>
                                  <m: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𝑓𝑖𝑛𝑎𝑙</m:t>
                                    </m:r>
                                  </m:sub>
                                </m:sSub>
                              </m:den>
                            </m:f>
                          </m:e>
                        </m:d>
                      </m:den>
                    </m:f>
                  </m:oMath>
                </a14:m>
                <a:r>
                  <a:rPr lang="en-US" sz="2800" dirty="0">
                    <a:effectLst/>
                    <a:latin typeface="Times New Roman" panose="02020603050405020304" pitchFamily="18" charset="0"/>
                    <a:ea typeface="SimSun" panose="02010600030101010101" pitchFamily="2" charset="-122"/>
                    <a:cs typeface="Times New Roman" panose="02020603050405020304" pitchFamily="18" charset="0"/>
                  </a:rPr>
                  <a:t>, and then putting the values, we find</a:t>
                </a:r>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a:p>
                <a:pPr marL="0" marR="0" algn="ctr">
                  <a:spcBef>
                    <a:spcPts val="0"/>
                  </a:spcBef>
                  <a:buNone/>
                </a:pPr>
                <a14:m>
                  <m:oMathPara xmlns:m="http://schemas.openxmlformats.org/officeDocument/2006/math">
                    <m:oMathParaPr>
                      <m:jc m:val="centerGroup"/>
                    </m:oMathParaPr>
                    <m:oMath xmlns:m="http://schemas.openxmlformats.org/officeDocument/2006/math">
                      <m:sSub>
                        <m:sSubPr>
                          <m:ctrlPr>
                            <a:rPr lang="en-US" sz="2800" i="1">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800" i="1">
                              <a:latin typeface="Cambria Math" panose="02040503050406030204" pitchFamily="18" charset="0"/>
                              <a:ea typeface="Times New Roman" panose="02020603050405020304" pitchFamily="18" charset="0"/>
                              <a:cs typeface="Times New Roman" panose="02020603050405020304" pitchFamily="18" charset="0"/>
                            </a:rPr>
                            <m:t>1</m:t>
                          </m:r>
                        </m:sub>
                      </m:sSub>
                      <m:r>
                        <a:rPr lang="en-US" sz="2800" i="1">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800" i="1">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800" i="1">
                              <a:latin typeface="Cambria Math" panose="02040503050406030204" pitchFamily="18" charset="0"/>
                              <a:ea typeface="Times New Roman" panose="02020603050405020304" pitchFamily="18" charset="0"/>
                              <a:cs typeface="Times New Roman" panose="02020603050405020304" pitchFamily="18" charset="0"/>
                            </a:rPr>
                            <m:t>2</m:t>
                          </m:r>
                        </m:sub>
                      </m:sSub>
                      <m:r>
                        <a:rPr lang="en-US" sz="2800" i="1">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2</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0×</m:t>
                          </m:r>
                          <m:sSup>
                            <m:sSup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−3</m:t>
                              </m:r>
                            </m:sup>
                          </m:sSup>
                        </m:num>
                        <m:den>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10×</m:t>
                          </m:r>
                          <m:sSup>
                            <m:sSup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−6</m:t>
                              </m:r>
                            </m:sup>
                          </m:sSup>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𝑙𝑛</m:t>
                          </m:r>
                          <m:d>
                            <m:d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1−</m:t>
                              </m:r>
                              <m:f>
                                <m:f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2.5</m:t>
                                  </m:r>
                                </m:num>
                                <m:den>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5</m:t>
                                  </m:r>
                                </m:den>
                              </m:f>
                            </m:e>
                          </m:d>
                        </m:den>
                      </m:f>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r>
                        <m:rPr>
                          <m:nor/>
                        </m:rPr>
                        <a:rPr lang="en-US" sz="2800" b="0" i="0" smtClean="0">
                          <a:effectLst/>
                          <a:latin typeface="Cambria Math" panose="02040503050406030204" pitchFamily="18" charset="0"/>
                          <a:ea typeface="Times New Roman" panose="02020603050405020304" pitchFamily="18" charset="0"/>
                          <a:cs typeface="Times New Roman" panose="02020603050405020304" pitchFamily="18" charset="0"/>
                        </a:rPr>
                        <m:t>2.89</m:t>
                      </m:r>
                      <m:r>
                        <m:rPr>
                          <m:nor/>
                        </m:rPr>
                        <a:rPr lang="en-US" sz="2800">
                          <a:effectLst/>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n-US" sz="2800">
                          <a:effectLst/>
                          <a:latin typeface="Cambria Math" panose="02040503050406030204" pitchFamily="18" charset="0"/>
                          <a:ea typeface="Times New Roman" panose="02020603050405020304" pitchFamily="18" charset="0"/>
                          <a:cs typeface="Times New Roman" panose="02020603050405020304" pitchFamily="18" charset="0"/>
                        </a:rPr>
                        <m:t>k</m:t>
                      </m:r>
                      <m:r>
                        <m:rPr>
                          <m:sty m:val="p"/>
                        </m:rPr>
                        <a:rPr lang="el-GR" sz="2800">
                          <a:effectLst/>
                          <a:latin typeface="Cambria Math" panose="02040503050406030204" pitchFamily="18" charset="0"/>
                          <a:ea typeface="Times New Roman" panose="02020603050405020304" pitchFamily="18" charset="0"/>
                          <a:cs typeface="Times New Roman" panose="02020603050405020304" pitchFamily="18" charset="0"/>
                        </a:rPr>
                        <m:t>Ω</m:t>
                      </m:r>
                    </m:oMath>
                  </m:oMathPara>
                </a14:m>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p:txBody>
          </p:sp>
        </mc:Choice>
        <mc:Fallback xmlns="">
          <p:sp>
            <p:nvSpPr>
              <p:cNvPr id="3" name="Content Placeholder 2">
                <a:extLst>
                  <a:ext uri="{FF2B5EF4-FFF2-40B4-BE49-F238E27FC236}">
                    <a16:creationId xmlns:a16="http://schemas.microsoft.com/office/drawing/2014/main" id="{F1BB51D3-879A-8A64-D7D8-B63365C1EB09}"/>
                  </a:ext>
                </a:extLst>
              </p:cNvPr>
              <p:cNvSpPr>
                <a:spLocks noGrp="1" noRot="1" noChangeAspect="1" noMove="1" noResize="1" noEditPoints="1" noAdjustHandles="1" noChangeArrowheads="1" noChangeShapeType="1" noTextEdit="1"/>
              </p:cNvSpPr>
              <p:nvPr>
                <p:ph idx="1"/>
              </p:nvPr>
            </p:nvSpPr>
            <p:spPr>
              <a:xfrm>
                <a:off x="167149" y="1447800"/>
                <a:ext cx="14310851" cy="6096000"/>
              </a:xfrm>
              <a:blipFill>
                <a:blip r:embed="rId3"/>
                <a:stretch>
                  <a:fillRect l="-1491" t="-1100" r="-149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B0DDBE79-DF2A-078E-2DF0-9B24E88F5263}"/>
              </a:ext>
            </a:extLst>
          </p:cNvPr>
          <p:cNvSpPr>
            <a:spLocks noGrp="1"/>
          </p:cNvSpPr>
          <p:nvPr>
            <p:ph type="ftr" sz="quarter" idx="11"/>
          </p:nvPr>
        </p:nvSpPr>
        <p:spPr/>
        <p:txBody>
          <a:bodyPr/>
          <a:lstStyle/>
          <a:p>
            <a:r>
              <a:rPr lang="en-US"/>
              <a:t>Course Teacher: Prof. Dr. Engr. Muhibul Haque Bhuyan</a:t>
            </a:r>
          </a:p>
        </p:txBody>
      </p:sp>
      <p:sp>
        <p:nvSpPr>
          <p:cNvPr id="5" name="Slide Number Placeholder 4">
            <a:extLst>
              <a:ext uri="{FF2B5EF4-FFF2-40B4-BE49-F238E27FC236}">
                <a16:creationId xmlns:a16="http://schemas.microsoft.com/office/drawing/2014/main" id="{571AE246-49DA-3D4F-1726-B350DD81F02D}"/>
              </a:ext>
            </a:extLst>
          </p:cNvPr>
          <p:cNvSpPr>
            <a:spLocks noGrp="1"/>
          </p:cNvSpPr>
          <p:nvPr>
            <p:ph type="sldNum" sz="quarter" idx="12"/>
          </p:nvPr>
        </p:nvSpPr>
        <p:spPr/>
        <p:txBody>
          <a:bodyPr/>
          <a:lstStyle/>
          <a:p>
            <a:fld id="{B6F15528-21DE-4FAA-801E-634DDDAF4B2B}" type="slidenum">
              <a:rPr lang="en-US" smtClean="0"/>
              <a:pPr/>
              <a:t>28</a:t>
            </a:fld>
            <a:endParaRPr lang="en-US"/>
          </a:p>
        </p:txBody>
      </p:sp>
      <p:sp>
        <p:nvSpPr>
          <p:cNvPr id="6" name="Date Placeholder 5">
            <a:extLst>
              <a:ext uri="{FF2B5EF4-FFF2-40B4-BE49-F238E27FC236}">
                <a16:creationId xmlns:a16="http://schemas.microsoft.com/office/drawing/2014/main" id="{150A2AF3-5C0B-F0BB-2949-2C44BF7C68DA}"/>
              </a:ext>
            </a:extLst>
          </p:cNvPr>
          <p:cNvSpPr>
            <a:spLocks noGrp="1"/>
          </p:cNvSpPr>
          <p:nvPr>
            <p:ph type="dt" sz="half" idx="10"/>
          </p:nvPr>
        </p:nvSpPr>
        <p:spPr/>
        <p:txBody>
          <a:bodyPr/>
          <a:lstStyle/>
          <a:p>
            <a:fld id="{0A7EAEA6-ABFA-44F2-B6E5-81382F9BE97B}" type="datetime3">
              <a:rPr lang="en-US" smtClean="0"/>
              <a:t>15 June 2026</a:t>
            </a:fld>
            <a:endParaRPr lang="en-US"/>
          </a:p>
        </p:txBody>
      </p:sp>
    </p:spTree>
    <p:extLst>
      <p:ext uri="{BB962C8B-B14F-4D97-AF65-F5344CB8AC3E}">
        <p14:creationId xmlns:p14="http://schemas.microsoft.com/office/powerpoint/2010/main" val="13389886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FDFFD-F8FB-995A-7AD3-C13B91B868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88CA8C-A799-EC69-B3A6-802C83443554}"/>
              </a:ext>
            </a:extLst>
          </p:cNvPr>
          <p:cNvSpPr>
            <a:spLocks noGrp="1"/>
          </p:cNvSpPr>
          <p:nvPr>
            <p:ph type="title"/>
          </p:nvPr>
        </p:nvSpPr>
        <p:spPr>
          <a:xfrm>
            <a:off x="73808" y="457200"/>
            <a:ext cx="13336901" cy="1066800"/>
          </a:xfrm>
        </p:spPr>
        <p:txBody>
          <a:bodyPr>
            <a:normAutofit/>
          </a:bodyPr>
          <a:lstStyle/>
          <a:p>
            <a:r>
              <a:rPr lang="en-US" sz="5400" b="1" dirty="0">
                <a:solidFill>
                  <a:srgbClr val="FF0000"/>
                </a:solidFill>
              </a:rPr>
              <a:t>Example 2 on Debouncing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9CE6811-43F3-41CA-64B5-7BB2EACEC4A9}"/>
                  </a:ext>
                </a:extLst>
              </p:cNvPr>
              <p:cNvSpPr>
                <a:spLocks noGrp="1"/>
              </p:cNvSpPr>
              <p:nvPr>
                <p:ph idx="1"/>
              </p:nvPr>
            </p:nvSpPr>
            <p:spPr>
              <a:xfrm>
                <a:off x="167149" y="1447800"/>
                <a:ext cx="14310851" cy="6096000"/>
              </a:xfrm>
            </p:spPr>
            <p:txBody>
              <a:bodyPr lIns="0" rIns="0">
                <a:noAutofit/>
              </a:bodyPr>
              <a:lstStyle/>
              <a:p>
                <a:pPr marL="0" marR="0" algn="just">
                  <a:spcBef>
                    <a:spcPts val="0"/>
                  </a:spcBef>
                  <a:buNone/>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Since, already we have calculated</a:t>
                </a:r>
                <a:r>
                  <a:rPr lang="en-US" sz="2800" i="1" dirty="0">
                    <a:effectLst/>
                    <a:latin typeface="Times New Roman" panose="02020603050405020304" pitchFamily="18" charset="0"/>
                    <a:ea typeface="Times New Roman" panose="02020603050405020304" pitchFamily="18" charset="0"/>
                    <a:cs typeface="Times New Roman" panose="02020603050405020304" pitchFamily="18" charset="0"/>
                  </a:rPr>
                  <a:t> R</a:t>
                </a:r>
                <a:r>
                  <a:rPr lang="en-US" sz="2800" baseline="-25000" dirty="0">
                    <a:effectLst/>
                    <a:latin typeface="Times New Roman" panose="02020603050405020304" pitchFamily="18" charset="0"/>
                    <a:ea typeface="Times New Roman" panose="02020603050405020304" pitchFamily="18" charset="0"/>
                    <a:cs typeface="Times New Roman" panose="02020603050405020304" pitchFamily="18" charset="0"/>
                  </a:rPr>
                  <a:t>2</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 1.1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kΩ</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hence, </a:t>
                </a:r>
                <a:r>
                  <a:rPr lang="en-US" sz="2800" i="1" dirty="0">
                    <a:effectLst/>
                    <a:latin typeface="Times New Roman" panose="02020603050405020304" pitchFamily="18" charset="0"/>
                    <a:ea typeface="Times New Roman" panose="02020603050405020304" pitchFamily="18" charset="0"/>
                    <a:cs typeface="Times New Roman" panose="02020603050405020304" pitchFamily="18" charset="0"/>
                  </a:rPr>
                  <a:t>R</a:t>
                </a:r>
                <a:r>
                  <a:rPr lang="en-US" sz="2800" baseline="-25000" dirty="0">
                    <a:effectLst/>
                    <a:latin typeface="Times New Roman" panose="02020603050405020304" pitchFamily="18" charset="0"/>
                    <a:ea typeface="Times New Roman" panose="02020603050405020304" pitchFamily="18" charset="0"/>
                    <a:cs typeface="Times New Roman" panose="02020603050405020304" pitchFamily="18" charset="0"/>
                  </a:rPr>
                  <a:t>1</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 2.89 – 1.1 = 1.79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kΩ</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r>
                      <a:rPr lang="el-GR" sz="2800" i="1">
                        <a:latin typeface="Cambria Math" panose="02040503050406030204" pitchFamily="18" charset="0"/>
                        <a:ea typeface="SimSun" panose="02010600030101010101" pitchFamily="2" charset="-122"/>
                        <a:cs typeface="Times New Roman" panose="02020603050405020304" pitchFamily="18" charset="0"/>
                      </a:rPr>
                      <m:t>≅</m:t>
                    </m:r>
                    <m:r>
                      <a:rPr lang="en-US" sz="2800" b="0" i="1" smtClean="0">
                        <a:latin typeface="Cambria Math" panose="02040503050406030204" pitchFamily="18" charset="0"/>
                        <a:ea typeface="SimSun" panose="02010600030101010101" pitchFamily="2" charset="-122"/>
                        <a:cs typeface="Times New Roman" panose="02020603050405020304" pitchFamily="18" charset="0"/>
                      </a:rPr>
                      <m:t>1</m:t>
                    </m:r>
                    <m:r>
                      <a:rPr lang="en-US" sz="2800" i="1">
                        <a:latin typeface="Cambria Math" panose="02040503050406030204" pitchFamily="18" charset="0"/>
                        <a:ea typeface="SimSun" panose="02010600030101010101" pitchFamily="2" charset="-122"/>
                        <a:cs typeface="Times New Roman" panose="02020603050405020304" pitchFamily="18" charset="0"/>
                      </a:rPr>
                      <m:t>.</m:t>
                    </m:r>
                    <m:r>
                      <a:rPr lang="en-US" sz="2800" b="0" i="1" smtClean="0">
                        <a:latin typeface="Cambria Math" panose="02040503050406030204" pitchFamily="18" charset="0"/>
                        <a:ea typeface="SimSun" panose="02010600030101010101" pitchFamily="2" charset="-122"/>
                        <a:cs typeface="Times New Roman" panose="02020603050405020304" pitchFamily="18" charset="0"/>
                      </a:rPr>
                      <m:t>8</m:t>
                    </m:r>
                    <m:r>
                      <a:rPr lang="el-GR" sz="2800" i="1">
                        <a:latin typeface="Cambria Math" panose="02040503050406030204" pitchFamily="18" charset="0"/>
                        <a:ea typeface="SimSun" panose="02010600030101010101" pitchFamily="2" charset="-122"/>
                        <a:cs typeface="Times New Roman" panose="02020603050405020304" pitchFamily="18" charset="0"/>
                      </a:rPr>
                      <m:t> </m:t>
                    </m:r>
                    <m:r>
                      <m:rPr>
                        <m:sty m:val="p"/>
                      </m:rPr>
                      <a:rPr lang="en-US" sz="2800">
                        <a:latin typeface="Cambria Math" panose="02040503050406030204" pitchFamily="18" charset="0"/>
                        <a:ea typeface="Times New Roman" panose="02020603050405020304" pitchFamily="18" charset="0"/>
                        <a:cs typeface="Times New Roman" panose="02020603050405020304" pitchFamily="18" charset="0"/>
                      </a:rPr>
                      <m:t>k</m:t>
                    </m:r>
                    <m:r>
                      <m:rPr>
                        <m:sty m:val="p"/>
                      </m:rPr>
                      <a:rPr lang="el-GR" sz="2800">
                        <a:latin typeface="Cambria Math" panose="02040503050406030204" pitchFamily="18" charset="0"/>
                        <a:ea typeface="Times New Roman" panose="02020603050405020304" pitchFamily="18" charset="0"/>
                        <a:cs typeface="Times New Roman" panose="02020603050405020304" pitchFamily="18" charset="0"/>
                      </a:rPr>
                      <m:t>Ω</m:t>
                    </m:r>
                  </m:oMath>
                </a14:m>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These values are available; therefore, we will use 1.1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kΩ</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for </a:t>
                </a:r>
                <a:r>
                  <a:rPr lang="en-US" sz="2800" i="1" dirty="0">
                    <a:effectLst/>
                    <a:latin typeface="Times New Roman" panose="02020603050405020304" pitchFamily="18" charset="0"/>
                    <a:ea typeface="Times New Roman" panose="02020603050405020304" pitchFamily="18" charset="0"/>
                    <a:cs typeface="Times New Roman" panose="02020603050405020304" pitchFamily="18" charset="0"/>
                  </a:rPr>
                  <a:t>R</a:t>
                </a:r>
                <a:r>
                  <a:rPr lang="en-US" sz="2800" baseline="-25000" dirty="0">
                    <a:effectLst/>
                    <a:latin typeface="Times New Roman" panose="02020603050405020304" pitchFamily="18" charset="0"/>
                    <a:ea typeface="Times New Roman" panose="02020603050405020304" pitchFamily="18" charset="0"/>
                    <a:cs typeface="Times New Roman" panose="02020603050405020304" pitchFamily="18" charset="0"/>
                  </a:rPr>
                  <a:t>2 </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and 1.8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kΩ</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for </a:t>
                </a:r>
                <a:r>
                  <a:rPr lang="en-US" sz="2800" i="1" dirty="0">
                    <a:effectLst/>
                    <a:latin typeface="Times New Roman" panose="02020603050405020304" pitchFamily="18" charset="0"/>
                    <a:ea typeface="Times New Roman" panose="02020603050405020304" pitchFamily="18" charset="0"/>
                    <a:cs typeface="Times New Roman" panose="02020603050405020304" pitchFamily="18" charset="0"/>
                  </a:rPr>
                  <a:t>R</a:t>
                </a:r>
                <a:r>
                  <a:rPr lang="en-US" sz="2800" baseline="-25000" dirty="0">
                    <a:effectLst/>
                    <a:latin typeface="Times New Roman" panose="02020603050405020304" pitchFamily="18" charset="0"/>
                    <a:ea typeface="Times New Roman" panose="02020603050405020304" pitchFamily="18" charset="0"/>
                    <a:cs typeface="Times New Roman" panose="02020603050405020304" pitchFamily="18" charset="0"/>
                  </a:rPr>
                  <a:t>1</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Therefore, the final designed circuit is given as follows</a:t>
                </a: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lgn="just">
                  <a:spcAft>
                    <a:spcPts val="300"/>
                  </a:spcAft>
                  <a:buNone/>
                </a:pPr>
                <a:r>
                  <a:rPr lang="en-US" sz="2800" i="0" dirty="0">
                    <a:effectLst/>
                    <a:latin typeface="Times New Roman" panose="02020603050405020304" pitchFamily="18" charset="0"/>
                    <a:ea typeface="Times New Roman" panose="02020603050405020304" pitchFamily="18" charset="0"/>
                    <a:cs typeface="Times New Roman" panose="02020603050405020304" pitchFamily="18" charset="0"/>
                  </a:rPr>
                  <a:t>The hysteresis voltage is given by</a:t>
                </a:r>
                <a:endParaRPr lang="en-US" sz="2800" i="1" dirty="0">
                  <a:effectLst/>
                  <a:latin typeface="Arial" panose="020B0604020202020204" pitchFamily="34" charset="0"/>
                  <a:ea typeface="Times New Roman" panose="02020603050405020304" pitchFamily="18" charset="0"/>
                  <a:cs typeface="Times New Roman" panose="02020603050405020304" pitchFamily="18" charset="0"/>
                </a:endParaRPr>
              </a:p>
              <a:p>
                <a:pPr>
                  <a:buNone/>
                </a:pPr>
                <a14:m>
                  <m:oMathPara xmlns:m="http://schemas.openxmlformats.org/officeDocument/2006/math">
                    <m:oMathParaPr>
                      <m:jc m:val="centerGroup"/>
                    </m:oMathParaPr>
                    <m:oMath xmlns:m="http://schemas.openxmlformats.org/officeDocument/2006/math">
                      <m:sSub>
                        <m:sSubPr>
                          <m:ctrlPr>
                            <a:rPr lang="en-US" sz="2800" i="1">
                              <a:effectLst/>
                              <a:latin typeface="Cambria Math" panose="02040503050406030204" pitchFamily="18" charset="0"/>
                            </a:rPr>
                          </m:ctrlPr>
                        </m:sSubPr>
                        <m:e>
                          <m:r>
                            <a:rPr lang="en-US" sz="2800" i="1">
                              <a:effectLst/>
                              <a:latin typeface="Cambria Math" panose="02040503050406030204" pitchFamily="18" charset="0"/>
                              <a:ea typeface="Times New Roman" panose="02020603050405020304" pitchFamily="18" charset="0"/>
                              <a:cs typeface="Angsana New" panose="02020603050405020304" pitchFamily="18" charset="-34"/>
                            </a:rPr>
                            <m:t>𝑉</m:t>
                          </m:r>
                        </m:e>
                        <m:sub>
                          <m:r>
                            <a:rPr lang="en-US" sz="2800" i="1">
                              <a:effectLst/>
                              <a:latin typeface="Cambria Math" panose="02040503050406030204" pitchFamily="18" charset="0"/>
                              <a:ea typeface="Times New Roman" panose="02020603050405020304" pitchFamily="18" charset="0"/>
                              <a:cs typeface="Angsana New" panose="02020603050405020304" pitchFamily="18" charset="-34"/>
                            </a:rPr>
                            <m:t>𝐻</m:t>
                          </m:r>
                        </m:sub>
                      </m:sSub>
                      <m:r>
                        <a:rPr lang="en-US" sz="2800" i="1">
                          <a:effectLst/>
                          <a:latin typeface="Cambria Math" panose="02040503050406030204" pitchFamily="18" charset="0"/>
                          <a:ea typeface="Times New Roman" panose="02020603050405020304" pitchFamily="18" charset="0"/>
                          <a:cs typeface="Angsana New" panose="02020603050405020304" pitchFamily="18" charset="-34"/>
                        </a:rPr>
                        <m:t>=</m:t>
                      </m:r>
                      <m:sSub>
                        <m:sSubPr>
                          <m:ctrlPr>
                            <a:rPr lang="en-US" sz="2800" i="1">
                              <a:effectLst/>
                              <a:latin typeface="Cambria Math" panose="02040503050406030204" pitchFamily="18" charset="0"/>
                            </a:rPr>
                          </m:ctrlPr>
                        </m:sSubPr>
                        <m:e>
                          <m:r>
                            <a:rPr lang="en-US" sz="2800" i="1">
                              <a:effectLst/>
                              <a:latin typeface="Cambria Math" panose="02040503050406030204" pitchFamily="18" charset="0"/>
                              <a:ea typeface="Times New Roman" panose="02020603050405020304" pitchFamily="18" charset="0"/>
                              <a:cs typeface="Angsana New" panose="02020603050405020304" pitchFamily="18" charset="-34"/>
                            </a:rPr>
                            <m:t>𝑉</m:t>
                          </m:r>
                        </m:e>
                        <m:sub>
                          <m:r>
                            <a:rPr lang="en-US" sz="2800" i="1">
                              <a:effectLst/>
                              <a:latin typeface="Cambria Math" panose="02040503050406030204" pitchFamily="18" charset="0"/>
                              <a:ea typeface="Times New Roman" panose="02020603050405020304" pitchFamily="18" charset="0"/>
                              <a:cs typeface="Angsana New" panose="02020603050405020304" pitchFamily="18" charset="-34"/>
                            </a:rPr>
                            <m:t>𝑡h</m:t>
                          </m:r>
                          <m:r>
                            <a:rPr lang="en-US" sz="2800" i="1">
                              <a:effectLst/>
                              <a:latin typeface="Cambria Math" panose="02040503050406030204" pitchFamily="18" charset="0"/>
                              <a:ea typeface="Times New Roman" panose="02020603050405020304" pitchFamily="18" charset="0"/>
                              <a:cs typeface="Angsana New" panose="02020603050405020304" pitchFamily="18" charset="-34"/>
                            </a:rPr>
                            <m:t>,</m:t>
                          </m:r>
                          <m:r>
                            <a:rPr lang="en-US" sz="2800" i="1">
                              <a:effectLst/>
                              <a:latin typeface="Cambria Math" panose="02040503050406030204" pitchFamily="18" charset="0"/>
                              <a:ea typeface="Times New Roman" panose="02020603050405020304" pitchFamily="18" charset="0"/>
                              <a:cs typeface="Angsana New" panose="02020603050405020304" pitchFamily="18" charset="-34"/>
                            </a:rPr>
                            <m:t>𝐻</m:t>
                          </m:r>
                        </m:sub>
                      </m:sSub>
                      <m:r>
                        <a:rPr lang="en-US" sz="2800" i="1">
                          <a:effectLst/>
                          <a:latin typeface="Cambria Math" panose="02040503050406030204" pitchFamily="18" charset="0"/>
                          <a:ea typeface="Times New Roman" panose="02020603050405020304" pitchFamily="18" charset="0"/>
                          <a:cs typeface="Angsana New" panose="02020603050405020304" pitchFamily="18" charset="-34"/>
                        </a:rPr>
                        <m:t>−</m:t>
                      </m:r>
                      <m:sSub>
                        <m:sSubPr>
                          <m:ctrlPr>
                            <a:rPr lang="en-US" sz="2800" i="1">
                              <a:effectLst/>
                              <a:latin typeface="Cambria Math" panose="02040503050406030204" pitchFamily="18" charset="0"/>
                            </a:rPr>
                          </m:ctrlPr>
                        </m:sSubPr>
                        <m:e>
                          <m:r>
                            <a:rPr lang="en-US" sz="2800" i="1">
                              <a:effectLst/>
                              <a:latin typeface="Cambria Math" panose="02040503050406030204" pitchFamily="18" charset="0"/>
                              <a:ea typeface="Times New Roman" panose="02020603050405020304" pitchFamily="18" charset="0"/>
                              <a:cs typeface="Angsana New" panose="02020603050405020304" pitchFamily="18" charset="-34"/>
                            </a:rPr>
                            <m:t>𝑉</m:t>
                          </m:r>
                        </m:e>
                        <m:sub>
                          <m:r>
                            <a:rPr lang="en-US" sz="2800" i="1">
                              <a:effectLst/>
                              <a:latin typeface="Cambria Math" panose="02040503050406030204" pitchFamily="18" charset="0"/>
                              <a:ea typeface="Times New Roman" panose="02020603050405020304" pitchFamily="18" charset="0"/>
                              <a:cs typeface="Angsana New" panose="02020603050405020304" pitchFamily="18" charset="-34"/>
                            </a:rPr>
                            <m:t>𝑡h</m:t>
                          </m:r>
                          <m:r>
                            <a:rPr lang="en-US" sz="2800" i="1">
                              <a:effectLst/>
                              <a:latin typeface="Cambria Math" panose="02040503050406030204" pitchFamily="18" charset="0"/>
                              <a:ea typeface="Times New Roman" panose="02020603050405020304" pitchFamily="18" charset="0"/>
                              <a:cs typeface="Angsana New" panose="02020603050405020304" pitchFamily="18" charset="-34"/>
                            </a:rPr>
                            <m:t>,</m:t>
                          </m:r>
                          <m:r>
                            <a:rPr lang="en-US" sz="2800" i="1">
                              <a:effectLst/>
                              <a:latin typeface="Cambria Math" panose="02040503050406030204" pitchFamily="18" charset="0"/>
                              <a:ea typeface="Times New Roman" panose="02020603050405020304" pitchFamily="18" charset="0"/>
                              <a:cs typeface="Angsana New" panose="02020603050405020304" pitchFamily="18" charset="-34"/>
                            </a:rPr>
                            <m:t>𝐿</m:t>
                          </m:r>
                        </m:sub>
                      </m:sSub>
                      <m:r>
                        <a:rPr lang="en-US" sz="2800" i="1">
                          <a:effectLst/>
                          <a:latin typeface="Cambria Math" panose="02040503050406030204" pitchFamily="18" charset="0"/>
                          <a:ea typeface="Times New Roman" panose="02020603050405020304" pitchFamily="18" charset="0"/>
                          <a:cs typeface="Angsana New" panose="02020603050405020304" pitchFamily="18" charset="-34"/>
                        </a:rPr>
                        <m:t>=2.5−0.8=1.7 </m:t>
                      </m:r>
                      <m:r>
                        <a:rPr lang="en-US" sz="2800" i="1">
                          <a:effectLst/>
                          <a:latin typeface="Cambria Math" panose="02040503050406030204" pitchFamily="18" charset="0"/>
                          <a:ea typeface="Times New Roman" panose="02020603050405020304" pitchFamily="18" charset="0"/>
                          <a:cs typeface="Angsana New" panose="02020603050405020304" pitchFamily="18" charset="-34"/>
                        </a:rPr>
                        <m:t>𝑉</m:t>
                      </m:r>
                    </m:oMath>
                  </m:oMathPara>
                </a14:m>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p:txBody>
          </p:sp>
        </mc:Choice>
        <mc:Fallback xmlns="">
          <p:sp>
            <p:nvSpPr>
              <p:cNvPr id="3" name="Content Placeholder 2">
                <a:extLst>
                  <a:ext uri="{FF2B5EF4-FFF2-40B4-BE49-F238E27FC236}">
                    <a16:creationId xmlns:a16="http://schemas.microsoft.com/office/drawing/2014/main" id="{09CE6811-43F3-41CA-64B5-7BB2EACEC4A9}"/>
                  </a:ext>
                </a:extLst>
              </p:cNvPr>
              <p:cNvSpPr>
                <a:spLocks noGrp="1" noRot="1" noChangeAspect="1" noMove="1" noResize="1" noEditPoints="1" noAdjustHandles="1" noChangeArrowheads="1" noChangeShapeType="1" noTextEdit="1"/>
              </p:cNvSpPr>
              <p:nvPr>
                <p:ph idx="1"/>
              </p:nvPr>
            </p:nvSpPr>
            <p:spPr>
              <a:xfrm>
                <a:off x="167149" y="1447800"/>
                <a:ext cx="14310851" cy="6096000"/>
              </a:xfrm>
              <a:blipFill>
                <a:blip r:embed="rId3"/>
                <a:stretch>
                  <a:fillRect l="-1491" t="-1100" r="-149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42E915B4-8511-02C5-DB95-B609E09534A4}"/>
              </a:ext>
            </a:extLst>
          </p:cNvPr>
          <p:cNvSpPr>
            <a:spLocks noGrp="1"/>
          </p:cNvSpPr>
          <p:nvPr>
            <p:ph type="ftr" sz="quarter" idx="11"/>
          </p:nvPr>
        </p:nvSpPr>
        <p:spPr/>
        <p:txBody>
          <a:bodyPr/>
          <a:lstStyle/>
          <a:p>
            <a:r>
              <a:rPr lang="en-US"/>
              <a:t>Course Teacher: Prof. Dr. Engr. Muhibul Haque Bhuyan</a:t>
            </a:r>
          </a:p>
        </p:txBody>
      </p:sp>
      <p:sp>
        <p:nvSpPr>
          <p:cNvPr id="5" name="Slide Number Placeholder 4">
            <a:extLst>
              <a:ext uri="{FF2B5EF4-FFF2-40B4-BE49-F238E27FC236}">
                <a16:creationId xmlns:a16="http://schemas.microsoft.com/office/drawing/2014/main" id="{D653A0C7-88BD-890D-F120-8964802B56A1}"/>
              </a:ext>
            </a:extLst>
          </p:cNvPr>
          <p:cNvSpPr>
            <a:spLocks noGrp="1"/>
          </p:cNvSpPr>
          <p:nvPr>
            <p:ph type="sldNum" sz="quarter" idx="12"/>
          </p:nvPr>
        </p:nvSpPr>
        <p:spPr/>
        <p:txBody>
          <a:bodyPr/>
          <a:lstStyle/>
          <a:p>
            <a:fld id="{B6F15528-21DE-4FAA-801E-634DDDAF4B2B}" type="slidenum">
              <a:rPr lang="en-US" smtClean="0"/>
              <a:pPr/>
              <a:t>29</a:t>
            </a:fld>
            <a:endParaRPr lang="en-US"/>
          </a:p>
        </p:txBody>
      </p:sp>
      <p:sp>
        <p:nvSpPr>
          <p:cNvPr id="6" name="Date Placeholder 5">
            <a:extLst>
              <a:ext uri="{FF2B5EF4-FFF2-40B4-BE49-F238E27FC236}">
                <a16:creationId xmlns:a16="http://schemas.microsoft.com/office/drawing/2014/main" id="{15038BF9-1B55-0AA7-78D9-A67FEC33766F}"/>
              </a:ext>
            </a:extLst>
          </p:cNvPr>
          <p:cNvSpPr>
            <a:spLocks noGrp="1"/>
          </p:cNvSpPr>
          <p:nvPr>
            <p:ph type="dt" sz="half" idx="10"/>
          </p:nvPr>
        </p:nvSpPr>
        <p:spPr/>
        <p:txBody>
          <a:bodyPr/>
          <a:lstStyle/>
          <a:p>
            <a:fld id="{0A7EAEA6-ABFA-44F2-B6E5-81382F9BE97B}" type="datetime3">
              <a:rPr lang="en-US" smtClean="0"/>
              <a:t>15 June 2026</a:t>
            </a:fld>
            <a:endParaRPr lang="en-US"/>
          </a:p>
        </p:txBody>
      </p:sp>
      <p:pic>
        <p:nvPicPr>
          <p:cNvPr id="12" name="Picture 11">
            <a:extLst>
              <a:ext uri="{FF2B5EF4-FFF2-40B4-BE49-F238E27FC236}">
                <a16:creationId xmlns:a16="http://schemas.microsoft.com/office/drawing/2014/main" id="{EB5DA82D-5917-F07D-617E-F7CB1937C316}"/>
              </a:ext>
            </a:extLst>
          </p:cNvPr>
          <p:cNvPicPr>
            <a:picLocks noChangeAspect="1"/>
          </p:cNvPicPr>
          <p:nvPr/>
        </p:nvPicPr>
        <p:blipFill>
          <a:blip r:embed="rId4"/>
          <a:stretch>
            <a:fillRect/>
          </a:stretch>
        </p:blipFill>
        <p:spPr>
          <a:xfrm>
            <a:off x="5867399" y="2410286"/>
            <a:ext cx="4572001" cy="4523913"/>
          </a:xfrm>
          <a:prstGeom prst="rect">
            <a:avLst/>
          </a:prstGeom>
        </p:spPr>
      </p:pic>
    </p:spTree>
    <p:extLst>
      <p:ext uri="{BB962C8B-B14F-4D97-AF65-F5344CB8AC3E}">
        <p14:creationId xmlns:p14="http://schemas.microsoft.com/office/powerpoint/2010/main" val="20109687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0FA2D-C0DF-0BFF-DD95-72D7E91165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BBCBB4-106C-CA83-2DF3-4D2ABAC9769B}"/>
              </a:ext>
            </a:extLst>
          </p:cNvPr>
          <p:cNvSpPr>
            <a:spLocks noGrp="1"/>
          </p:cNvSpPr>
          <p:nvPr>
            <p:ph type="title"/>
          </p:nvPr>
        </p:nvSpPr>
        <p:spPr>
          <a:xfrm>
            <a:off x="73808" y="304800"/>
            <a:ext cx="13336901" cy="1066800"/>
          </a:xfrm>
        </p:spPr>
        <p:txBody>
          <a:bodyPr>
            <a:normAutofit/>
          </a:bodyPr>
          <a:lstStyle/>
          <a:p>
            <a:r>
              <a:rPr lang="en-US" sz="5400" b="1" dirty="0">
                <a:solidFill>
                  <a:srgbClr val="FF0000"/>
                </a:solidFill>
              </a:rPr>
              <a:t>Example 3 on Debouncing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4863E8-6D91-7E2A-0AE7-C2F2B260D09A}"/>
                  </a:ext>
                </a:extLst>
              </p:cNvPr>
              <p:cNvSpPr>
                <a:spLocks noGrp="1"/>
              </p:cNvSpPr>
              <p:nvPr>
                <p:ph idx="1"/>
              </p:nvPr>
            </p:nvSpPr>
            <p:spPr>
              <a:xfrm>
                <a:off x="167149" y="1219200"/>
                <a:ext cx="14310851" cy="6324600"/>
              </a:xfrm>
            </p:spPr>
            <p:txBody>
              <a:bodyPr lIns="0" rIns="0">
                <a:noAutofit/>
              </a:bodyPr>
              <a:lstStyle/>
              <a:p>
                <a:pPr marL="0" marR="0" indent="0" algn="just">
                  <a:spcBef>
                    <a:spcPts val="0"/>
                  </a:spcBef>
                  <a:spcAft>
                    <a:spcPts val="600"/>
                  </a:spcAft>
                  <a:buNone/>
                </a:pPr>
                <a:r>
                  <a:rPr lang="en-US" sz="2800" i="0" dirty="0">
                    <a:effectLst/>
                    <a:latin typeface="Times New Roman" panose="02020603050405020304" pitchFamily="18" charset="0"/>
                    <a:ea typeface="Times New Roman" panose="02020603050405020304" pitchFamily="18" charset="0"/>
                    <a:cs typeface="Times New Roman" panose="02020603050405020304" pitchFamily="18" charset="0"/>
                  </a:rPr>
                  <a:t>A TV remote controller is to be designed with the channel selection buttons to be debounced. It was observed that the switches exhibit bounce times well under 10 </a:t>
                </a:r>
                <a:r>
                  <a:rPr lang="en-US" sz="2800" i="0" dirty="0" err="1">
                    <a:effectLst/>
                    <a:latin typeface="Times New Roman" panose="02020603050405020304" pitchFamily="18" charset="0"/>
                    <a:ea typeface="Times New Roman" panose="02020603050405020304" pitchFamily="18" charset="0"/>
                    <a:cs typeface="Times New Roman" panose="02020603050405020304" pitchFamily="18" charset="0"/>
                  </a:rPr>
                  <a:t>ms.</a:t>
                </a:r>
                <a:r>
                  <a:rPr lang="en-US" sz="2800" i="0" dirty="0">
                    <a:effectLst/>
                    <a:latin typeface="Times New Roman" panose="02020603050405020304" pitchFamily="18" charset="0"/>
                    <a:ea typeface="Times New Roman" panose="02020603050405020304" pitchFamily="18" charset="0"/>
                    <a:cs typeface="Times New Roman" panose="02020603050405020304" pitchFamily="18" charset="0"/>
                  </a:rPr>
                  <a:t> A </a:t>
                </a:r>
                <a:r>
                  <a:rPr lang="en-US" sz="2800" b="1" i="0" dirty="0">
                    <a:effectLst/>
                    <a:latin typeface="Times New Roman" panose="02020603050405020304" pitchFamily="18" charset="0"/>
                    <a:ea typeface="Times New Roman" panose="02020603050405020304" pitchFamily="18" charset="0"/>
                    <a:cs typeface="Times New Roman" panose="02020603050405020304" pitchFamily="18" charset="0"/>
                  </a:rPr>
                  <a:t>Si diode</a:t>
                </a:r>
                <a:r>
                  <a:rPr lang="en-US" sz="2800" i="0" dirty="0">
                    <a:effectLst/>
                    <a:latin typeface="Times New Roman" panose="02020603050405020304" pitchFamily="18" charset="0"/>
                    <a:ea typeface="Times New Roman" panose="02020603050405020304" pitchFamily="18" charset="0"/>
                    <a:cs typeface="Times New Roman" panose="02020603050405020304" pitchFamily="18" charset="0"/>
                  </a:rPr>
                  <a:t> is used across the second resistor to make the duty cycle 50%. </a:t>
                </a:r>
                <a:r>
                  <a:rPr lang="en-US" sz="2800" b="1" i="0" dirty="0">
                    <a:effectLst/>
                    <a:latin typeface="Times New Roman" panose="02020603050405020304" pitchFamily="18" charset="0"/>
                    <a:ea typeface="Times New Roman" panose="02020603050405020304" pitchFamily="18" charset="0"/>
                    <a:cs typeface="Times New Roman" panose="02020603050405020304" pitchFamily="18" charset="0"/>
                  </a:rPr>
                  <a:t>Design</a:t>
                </a:r>
                <a:r>
                  <a:rPr lang="en-US" sz="2800" i="0" dirty="0">
                    <a:effectLst/>
                    <a:latin typeface="Times New Roman" panose="02020603050405020304" pitchFamily="18" charset="0"/>
                    <a:ea typeface="Times New Roman" panose="02020603050405020304" pitchFamily="18" charset="0"/>
                    <a:cs typeface="Times New Roman" panose="02020603050405020304" pitchFamily="18" charset="0"/>
                  </a:rPr>
                  <a:t> a circuit using the 74HC14 Schmitt trigger IC along with the resistance and capacitance. The worst-case </a:t>
                </a:r>
                <a:r>
                  <a:rPr lang="en-US" sz="2800" i="1" dirty="0">
                    <a:effectLst/>
                    <a:latin typeface="Times New Roman" panose="02020603050405020304" pitchFamily="18" charset="0"/>
                    <a:ea typeface="Times New Roman" panose="02020603050405020304" pitchFamily="18" charset="0"/>
                    <a:cs typeface="Times New Roman" panose="02020603050405020304" pitchFamily="18" charset="0"/>
                  </a:rPr>
                  <a:t>V</a:t>
                </a:r>
                <a:r>
                  <a:rPr lang="en-US" sz="2800" i="1" baseline="-25000" dirty="0">
                    <a:effectLst/>
                    <a:latin typeface="Times New Roman" panose="02020603050405020304" pitchFamily="18" charset="0"/>
                    <a:ea typeface="Times New Roman" panose="02020603050405020304" pitchFamily="18" charset="0"/>
                    <a:cs typeface="Times New Roman" panose="02020603050405020304" pitchFamily="18" charset="0"/>
                  </a:rPr>
                  <a:t>th</a:t>
                </a:r>
                <a:r>
                  <a:rPr lang="en-US" sz="2800" i="0" dirty="0">
                    <a:effectLst/>
                    <a:latin typeface="Times New Roman" panose="02020603050405020304" pitchFamily="18" charset="0"/>
                    <a:ea typeface="Times New Roman" panose="02020603050405020304" pitchFamily="18" charset="0"/>
                    <a:cs typeface="Times New Roman" panose="02020603050405020304" pitchFamily="18" charset="0"/>
                  </a:rPr>
                  <a:t> of 74HC14 for a signal going low is 2.3 V, and that of when going high is 0.95 V. Consider that the CMOS device leakage current is 5 </a:t>
                </a:r>
                <a:r>
                  <a:rPr lang="en-US" sz="2800" i="0" dirty="0">
                    <a:effectLst/>
                    <a:latin typeface="Symbol" panose="05050102010706020507" pitchFamily="18" charset="2"/>
                    <a:ea typeface="Times New Roman" panose="02020603050405020304" pitchFamily="18" charset="0"/>
                    <a:cs typeface="Times New Roman" panose="02020603050405020304" pitchFamily="18" charset="0"/>
                  </a:rPr>
                  <a:t></a:t>
                </a:r>
                <a:r>
                  <a:rPr lang="en-US" sz="2800" i="0" dirty="0">
                    <a:effectLst/>
                    <a:latin typeface="Times New Roman" panose="02020603050405020304" pitchFamily="18" charset="0"/>
                    <a:ea typeface="Times New Roman" panose="02020603050405020304" pitchFamily="18" charset="0"/>
                    <a:cs typeface="Times New Roman" panose="02020603050405020304" pitchFamily="18" charset="0"/>
                  </a:rPr>
                  <a:t>A and the gate’s best-case switching point is of the order of 0.5 V. </a:t>
                </a:r>
                <a:r>
                  <a:rPr lang="en-US" sz="2800" b="1" i="0" dirty="0">
                    <a:effectLst/>
                    <a:latin typeface="Times New Roman" panose="02020603050405020304" pitchFamily="18" charset="0"/>
                    <a:ea typeface="Times New Roman" panose="02020603050405020304" pitchFamily="18" charset="0"/>
                    <a:cs typeface="Times New Roman" panose="02020603050405020304" pitchFamily="18" charset="0"/>
                  </a:rPr>
                  <a:t>Compute</a:t>
                </a:r>
                <a:r>
                  <a:rPr lang="en-US" sz="2800" i="0" dirty="0">
                    <a:effectLst/>
                    <a:latin typeface="Times New Roman" panose="02020603050405020304" pitchFamily="18" charset="0"/>
                    <a:ea typeface="Times New Roman" panose="02020603050405020304" pitchFamily="18" charset="0"/>
                    <a:cs typeface="Times New Roman" panose="02020603050405020304" pitchFamily="18" charset="0"/>
                  </a:rPr>
                  <a:t> the hysteresis voltage.</a:t>
                </a:r>
              </a:p>
              <a:p>
                <a:pPr marL="0" marR="0" algn="just">
                  <a:spcBef>
                    <a:spcPts val="0"/>
                  </a:spcBef>
                  <a:buNone/>
                </a:pPr>
                <a:r>
                  <a:rPr lang="en-US" sz="28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Answer: </a:t>
                </a:r>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a:p>
                <a:pPr marL="0" marR="0" algn="just">
                  <a:spcBef>
                    <a:spcPts val="0"/>
                  </a:spcBef>
                  <a:buNone/>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While falling the signal, we choose a value of capacitance, C = 1 </a:t>
                </a:r>
                <a:r>
                  <a:rPr lang="en-US" sz="2800" dirty="0">
                    <a:effectLst/>
                    <a:latin typeface="Symbol" panose="05050102010706020507" pitchFamily="18" charset="2"/>
                    <a:ea typeface="Times New Roman" panose="02020603050405020304" pitchFamily="18" charset="0"/>
                    <a:cs typeface="Times New Roman" panose="02020603050405020304" pitchFamily="18" charset="0"/>
                  </a:rPr>
                  <a:t>m</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F and use </a:t>
                </a:r>
                <a14:m>
                  <m:oMath xmlns:m="http://schemas.openxmlformats.org/officeDocument/2006/math">
                    <m:sSub>
                      <m:sSub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𝑐</m:t>
                        </m:r>
                      </m:sub>
                    </m:s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𝑡h</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𝐿</m:t>
                        </m:r>
                      </m:sub>
                    </m:s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𝑉</m:t>
                        </m:r>
                      </m:e>
                      <m: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𝑓𝑖𝑛𝑎𝑙</m:t>
                        </m:r>
                      </m:sub>
                    </m:sSub>
                    <m:sSup>
                      <m:sSup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𝑒</m:t>
                        </m:r>
                      </m:e>
                      <m:sup>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f>
                          <m:fPr>
                            <m:type m:val="lin"/>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𝑡</m:t>
                            </m:r>
                          </m:num>
                          <m:den>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𝑅𝐶</m:t>
                            </m:r>
                          </m:den>
                        </m:f>
                      </m:sup>
                    </m:sSup>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oMath>
                </a14:m>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r>
                  <a:rPr lang="en-US" sz="2800" dirty="0">
                    <a:effectLst/>
                    <a:latin typeface="Times New Roman" panose="02020603050405020304" pitchFamily="18" charset="0"/>
                    <a:ea typeface="SimSun" panose="02010600030101010101" pitchFamily="2" charset="-122"/>
                    <a:cs typeface="Times New Roman" panose="02020603050405020304" pitchFamily="18" charset="0"/>
                  </a:rPr>
                  <a:t>After rearranging the equation, we get </a:t>
                </a:r>
                <a14:m>
                  <m:oMath xmlns:m="http://schemas.openxmlformats.org/officeDocument/2006/math">
                    <m:r>
                      <a:rPr lang="en-US" sz="2800" i="1">
                        <a:effectLst/>
                        <a:latin typeface="Cambria Math" panose="02040503050406030204" pitchFamily="18" charset="0"/>
                        <a:ea typeface="SimSun" panose="02010600030101010101" pitchFamily="2" charset="-122"/>
                        <a:cs typeface="Times New Roman" panose="02020603050405020304" pitchFamily="18" charset="0"/>
                      </a:rPr>
                      <m:t>𝑅</m:t>
                    </m:r>
                    <m:r>
                      <a:rPr lang="en-US" sz="2800" i="1">
                        <a:effectLst/>
                        <a:latin typeface="Cambria Math" panose="02040503050406030204" pitchFamily="18" charset="0"/>
                        <a:ea typeface="SimSun" panose="02010600030101010101" pitchFamily="2" charset="-122"/>
                        <a:cs typeface="Times New Roman" panose="02020603050405020304" pitchFamily="18" charset="0"/>
                      </a:rPr>
                      <m:t>=−</m:t>
                    </m:r>
                    <m:f>
                      <m:fPr>
                        <m:ctrlPr>
                          <a:rPr lang="en-US" sz="2800" i="1">
                            <a:effectLst/>
                            <a:latin typeface="Cambria Math" panose="02040503050406030204" pitchFamily="18" charset="0"/>
                            <a:ea typeface="SimSun" panose="02010600030101010101" pitchFamily="2" charset="-122"/>
                            <a:cs typeface="Times New Roman" panose="02020603050405020304" pitchFamily="18" charset="0"/>
                          </a:rPr>
                        </m:ctrlPr>
                      </m:fPr>
                      <m:num>
                        <m:r>
                          <a:rPr lang="en-US" sz="2800" i="1">
                            <a:effectLst/>
                            <a:latin typeface="Cambria Math" panose="02040503050406030204" pitchFamily="18" charset="0"/>
                            <a:ea typeface="SimSun" panose="02010600030101010101" pitchFamily="2" charset="-122"/>
                            <a:cs typeface="Times New Roman" panose="02020603050405020304" pitchFamily="18" charset="0"/>
                          </a:rPr>
                          <m:t>𝑡</m:t>
                        </m:r>
                      </m:num>
                      <m:den>
                        <m:r>
                          <a:rPr lang="en-US" sz="2800" i="1">
                            <a:effectLst/>
                            <a:latin typeface="Cambria Math" panose="02040503050406030204" pitchFamily="18" charset="0"/>
                            <a:ea typeface="SimSun" panose="02010600030101010101" pitchFamily="2" charset="-122"/>
                            <a:cs typeface="Times New Roman" panose="02020603050405020304" pitchFamily="18" charset="0"/>
                          </a:rPr>
                          <m:t>𝐶𝑙𝑛</m:t>
                        </m:r>
                        <m:f>
                          <m:fPr>
                            <m:ctrlPr>
                              <a:rPr lang="en-US" sz="2800" i="1">
                                <a:effectLst/>
                                <a:latin typeface="Cambria Math" panose="02040503050406030204" pitchFamily="18" charset="0"/>
                                <a:ea typeface="SimSun" panose="02010600030101010101" pitchFamily="2" charset="-122"/>
                                <a:cs typeface="Times New Roman" panose="02020603050405020304" pitchFamily="18" charset="0"/>
                              </a:rPr>
                            </m:ctrlPr>
                          </m:fPr>
                          <m:num>
                            <m:sSub>
                              <m:sSubPr>
                                <m:ctrlPr>
                                  <a:rPr lang="en-US" sz="2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2800" i="1">
                                    <a:effectLst/>
                                    <a:latin typeface="Cambria Math" panose="02040503050406030204" pitchFamily="18" charset="0"/>
                                    <a:ea typeface="SimSun" panose="02010600030101010101" pitchFamily="2" charset="-122"/>
                                    <a:cs typeface="Times New Roman" panose="02020603050405020304" pitchFamily="18" charset="0"/>
                                  </a:rPr>
                                  <m:t>𝑉</m:t>
                                </m:r>
                              </m:e>
                              <m:sub>
                                <m:r>
                                  <a:rPr lang="en-US" sz="2800" i="1">
                                    <a:effectLst/>
                                    <a:latin typeface="Cambria Math" panose="02040503050406030204" pitchFamily="18" charset="0"/>
                                    <a:ea typeface="SimSun" panose="02010600030101010101" pitchFamily="2" charset="-122"/>
                                    <a:cs typeface="Times New Roman" panose="02020603050405020304" pitchFamily="18" charset="0"/>
                                  </a:rPr>
                                  <m:t>𝑡h</m:t>
                                </m:r>
                                <m:r>
                                  <a:rPr lang="en-US" sz="2800" b="0" i="1" smtClean="0">
                                    <a:effectLst/>
                                    <a:latin typeface="Cambria Math" panose="02040503050406030204" pitchFamily="18" charset="0"/>
                                    <a:ea typeface="SimSun" panose="02010600030101010101" pitchFamily="2" charset="-122"/>
                                    <a:cs typeface="Times New Roman" panose="02020603050405020304" pitchFamily="18" charset="0"/>
                                  </a:rPr>
                                  <m:t>,</m:t>
                                </m:r>
                                <m:r>
                                  <a:rPr lang="en-US" sz="2800" b="0" i="1" smtClean="0">
                                    <a:effectLst/>
                                    <a:latin typeface="Cambria Math" panose="02040503050406030204" pitchFamily="18" charset="0"/>
                                    <a:ea typeface="SimSun" panose="02010600030101010101" pitchFamily="2" charset="-122"/>
                                    <a:cs typeface="Times New Roman" panose="02020603050405020304" pitchFamily="18" charset="0"/>
                                  </a:rPr>
                                  <m:t>𝐿</m:t>
                                </m:r>
                              </m:sub>
                            </m:sSub>
                          </m:num>
                          <m:den>
                            <m:sSub>
                              <m:sSubPr>
                                <m:ctrlPr>
                                  <a:rPr lang="en-US" sz="2800" i="1">
                                    <a:effectLst/>
                                    <a:latin typeface="Cambria Math" panose="02040503050406030204" pitchFamily="18" charset="0"/>
                                    <a:ea typeface="SimSun" panose="02010600030101010101" pitchFamily="2" charset="-122"/>
                                    <a:cs typeface="Times New Roman" panose="02020603050405020304" pitchFamily="18" charset="0"/>
                                  </a:rPr>
                                </m:ctrlPr>
                              </m:sSubPr>
                              <m:e>
                                <m:r>
                                  <a:rPr lang="en-US" sz="2800" i="1">
                                    <a:effectLst/>
                                    <a:latin typeface="Cambria Math" panose="02040503050406030204" pitchFamily="18" charset="0"/>
                                    <a:ea typeface="SimSun" panose="02010600030101010101" pitchFamily="2" charset="-122"/>
                                    <a:cs typeface="Times New Roman" panose="02020603050405020304" pitchFamily="18" charset="0"/>
                                  </a:rPr>
                                  <m:t>𝑉</m:t>
                                </m:r>
                              </m:e>
                              <m:sub>
                                <m:r>
                                  <a:rPr lang="en-US" sz="2800" i="1">
                                    <a:effectLst/>
                                    <a:latin typeface="Cambria Math" panose="02040503050406030204" pitchFamily="18" charset="0"/>
                                    <a:ea typeface="SimSun" panose="02010600030101010101" pitchFamily="2" charset="-122"/>
                                    <a:cs typeface="Times New Roman" panose="02020603050405020304" pitchFamily="18" charset="0"/>
                                  </a:rPr>
                                  <m:t>𝑓𝑖𝑛𝑎𝑙</m:t>
                                </m:r>
                              </m:sub>
                            </m:sSub>
                          </m:den>
                        </m:f>
                      </m:den>
                    </m:f>
                  </m:oMath>
                </a14:m>
                <a:r>
                  <a:rPr lang="en-US" sz="2800" dirty="0">
                    <a:effectLst/>
                    <a:latin typeface="Times New Roman" panose="02020603050405020304" pitchFamily="18" charset="0"/>
                    <a:ea typeface="SimSun" panose="02010600030101010101" pitchFamily="2" charset="-122"/>
                    <a:cs typeface="Times New Roman" panose="02020603050405020304" pitchFamily="18" charset="0"/>
                  </a:rPr>
                  <a:t>, and then putting the values, we find-</a:t>
                </a:r>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a:p>
                <a:pPr marL="0" marR="0" algn="just">
                  <a:spcBef>
                    <a:spcPts val="0"/>
                  </a:spcBef>
                  <a:buNone/>
                </a:pPr>
                <a14:m>
                  <m:oMathPara xmlns:m="http://schemas.openxmlformats.org/officeDocument/2006/math">
                    <m:oMathParaPr>
                      <m:jc m:val="centerGroup"/>
                    </m:oMathParaPr>
                    <m:oMath xmlns:m="http://schemas.openxmlformats.org/officeDocument/2006/math">
                      <m:sSub>
                        <m:sSub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1</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0×</m:t>
                          </m:r>
                          <m:sSup>
                            <m:sSup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−3</m:t>
                              </m:r>
                            </m:sup>
                          </m:sSup>
                        </m:num>
                        <m:den>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1×</m:t>
                          </m:r>
                          <m:sSup>
                            <m:sSup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−6</m:t>
                              </m:r>
                            </m:sup>
                          </m:sSup>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𝑙𝑛</m:t>
                          </m:r>
                          <m:f>
                            <m:f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0</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95</m:t>
                              </m:r>
                            </m:num>
                            <m:den>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5</m:t>
                              </m:r>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−0.7</m:t>
                              </m:r>
                            </m:den>
                          </m:f>
                        </m:den>
                      </m:f>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6</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6</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n-US" sz="2800">
                          <a:effectLst/>
                          <a:latin typeface="Cambria Math" panose="02040503050406030204" pitchFamily="18" charset="0"/>
                          <a:ea typeface="Times New Roman" panose="02020603050405020304" pitchFamily="18" charset="0"/>
                          <a:cs typeface="Times New Roman" panose="02020603050405020304" pitchFamily="18" charset="0"/>
                        </a:rPr>
                        <m:t>k</m:t>
                      </m:r>
                      <m:r>
                        <m:rPr>
                          <m:sty m:val="p"/>
                        </m:rPr>
                        <a:rPr lang="el-GR" sz="2800">
                          <a:effectLst/>
                          <a:latin typeface="Cambria Math" panose="02040503050406030204" pitchFamily="18" charset="0"/>
                          <a:ea typeface="Times New Roman" panose="02020603050405020304" pitchFamily="18" charset="0"/>
                          <a:cs typeface="Times New Roman" panose="02020603050405020304" pitchFamily="18" charset="0"/>
                        </a:rPr>
                        <m:t>Ω</m:t>
                      </m:r>
                      <m:r>
                        <a:rPr lang="el-GR" sz="2800" i="1">
                          <a:effectLst/>
                          <a:latin typeface="Cambria Math" panose="02040503050406030204" pitchFamily="18" charset="0"/>
                          <a:ea typeface="SimSun" panose="02010600030101010101" pitchFamily="2" charset="-122"/>
                          <a:cs typeface="Times New Roman" panose="02020603050405020304" pitchFamily="18" charset="0"/>
                        </a:rPr>
                        <m:t> ≅</m:t>
                      </m:r>
                      <m:r>
                        <a:rPr lang="en-US" sz="2800" b="0" i="1" smtClean="0">
                          <a:effectLst/>
                          <a:latin typeface="Cambria Math" panose="02040503050406030204" pitchFamily="18" charset="0"/>
                          <a:ea typeface="SimSun" panose="02010600030101010101" pitchFamily="2" charset="-122"/>
                          <a:cs typeface="Times New Roman" panose="02020603050405020304" pitchFamily="18" charset="0"/>
                        </a:rPr>
                        <m:t>6.8</m:t>
                      </m:r>
                      <m:r>
                        <a:rPr lang="el-GR" sz="2800" i="1">
                          <a:effectLst/>
                          <a:latin typeface="Cambria Math" panose="02040503050406030204" pitchFamily="18" charset="0"/>
                          <a:ea typeface="SimSun" panose="02010600030101010101" pitchFamily="2" charset="-122"/>
                          <a:cs typeface="Times New Roman" panose="02020603050405020304" pitchFamily="18" charset="0"/>
                        </a:rPr>
                        <m:t> </m:t>
                      </m:r>
                      <m:r>
                        <m:rPr>
                          <m:sty m:val="p"/>
                        </m:rPr>
                        <a:rPr lang="en-US" sz="2800">
                          <a:effectLst/>
                          <a:latin typeface="Cambria Math" panose="02040503050406030204" pitchFamily="18" charset="0"/>
                          <a:ea typeface="Times New Roman" panose="02020603050405020304" pitchFamily="18" charset="0"/>
                          <a:cs typeface="Times New Roman" panose="02020603050405020304" pitchFamily="18" charset="0"/>
                        </a:rPr>
                        <m:t>k</m:t>
                      </m:r>
                      <m:r>
                        <m:rPr>
                          <m:sty m:val="p"/>
                        </m:rPr>
                        <a:rPr lang="el-GR" sz="2800">
                          <a:effectLst/>
                          <a:latin typeface="Cambria Math" panose="02040503050406030204" pitchFamily="18" charset="0"/>
                          <a:ea typeface="Times New Roman" panose="02020603050405020304" pitchFamily="18" charset="0"/>
                          <a:cs typeface="Times New Roman" panose="02020603050405020304" pitchFamily="18" charset="0"/>
                        </a:rPr>
                        <m:t>Ω</m:t>
                      </m:r>
                    </m:oMath>
                  </m:oMathPara>
                </a14:m>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a:p>
                <a:pPr marL="0" marR="0" algn="just">
                  <a:spcBef>
                    <a:spcPts val="0"/>
                  </a:spcBef>
                  <a:buNone/>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800" i="1" dirty="0">
                  <a:effectLst/>
                  <a:latin typeface="Arial" panose="020B0604020202020204" pitchFamily="34" charset="0"/>
                  <a:ea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D94863E8-6D91-7E2A-0AE7-C2F2B260D09A}"/>
                  </a:ext>
                </a:extLst>
              </p:cNvPr>
              <p:cNvSpPr>
                <a:spLocks noGrp="1" noRot="1" noChangeAspect="1" noMove="1" noResize="1" noEditPoints="1" noAdjustHandles="1" noChangeArrowheads="1" noChangeShapeType="1" noTextEdit="1"/>
              </p:cNvSpPr>
              <p:nvPr>
                <p:ph idx="1"/>
              </p:nvPr>
            </p:nvSpPr>
            <p:spPr>
              <a:xfrm>
                <a:off x="167149" y="1219200"/>
                <a:ext cx="14310851" cy="6324600"/>
              </a:xfrm>
              <a:blipFill>
                <a:blip r:embed="rId3"/>
                <a:stretch>
                  <a:fillRect l="-1491" t="-963" r="-149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2954BD92-281A-EB00-EBD3-B4231C9E8029}"/>
              </a:ext>
            </a:extLst>
          </p:cNvPr>
          <p:cNvSpPr>
            <a:spLocks noGrp="1"/>
          </p:cNvSpPr>
          <p:nvPr>
            <p:ph type="ftr" sz="quarter" idx="11"/>
          </p:nvPr>
        </p:nvSpPr>
        <p:spPr/>
        <p:txBody>
          <a:bodyPr/>
          <a:lstStyle/>
          <a:p>
            <a:r>
              <a:rPr lang="en-US"/>
              <a:t>Course Teacher: Prof. Dr. Engr. Muhibul Haque Bhuyan</a:t>
            </a:r>
          </a:p>
        </p:txBody>
      </p:sp>
      <p:sp>
        <p:nvSpPr>
          <p:cNvPr id="5" name="Slide Number Placeholder 4">
            <a:extLst>
              <a:ext uri="{FF2B5EF4-FFF2-40B4-BE49-F238E27FC236}">
                <a16:creationId xmlns:a16="http://schemas.microsoft.com/office/drawing/2014/main" id="{58B021C3-D778-FB75-2C72-B5D8448583B3}"/>
              </a:ext>
            </a:extLst>
          </p:cNvPr>
          <p:cNvSpPr>
            <a:spLocks noGrp="1"/>
          </p:cNvSpPr>
          <p:nvPr>
            <p:ph type="sldNum" sz="quarter" idx="12"/>
          </p:nvPr>
        </p:nvSpPr>
        <p:spPr/>
        <p:txBody>
          <a:bodyPr/>
          <a:lstStyle/>
          <a:p>
            <a:fld id="{B6F15528-21DE-4FAA-801E-634DDDAF4B2B}" type="slidenum">
              <a:rPr lang="en-US" smtClean="0"/>
              <a:pPr/>
              <a:t>30</a:t>
            </a:fld>
            <a:endParaRPr lang="en-US" dirty="0"/>
          </a:p>
        </p:txBody>
      </p:sp>
      <p:sp>
        <p:nvSpPr>
          <p:cNvPr id="6" name="Date Placeholder 5">
            <a:extLst>
              <a:ext uri="{FF2B5EF4-FFF2-40B4-BE49-F238E27FC236}">
                <a16:creationId xmlns:a16="http://schemas.microsoft.com/office/drawing/2014/main" id="{876E93DD-8029-D7CD-5BF4-AB8B0ADC8FFB}"/>
              </a:ext>
            </a:extLst>
          </p:cNvPr>
          <p:cNvSpPr>
            <a:spLocks noGrp="1"/>
          </p:cNvSpPr>
          <p:nvPr>
            <p:ph type="dt" sz="half" idx="10"/>
          </p:nvPr>
        </p:nvSpPr>
        <p:spPr/>
        <p:txBody>
          <a:bodyPr/>
          <a:lstStyle/>
          <a:p>
            <a:fld id="{0A7EAEA6-ABFA-44F2-B6E5-81382F9BE97B}" type="datetime3">
              <a:rPr lang="en-US" smtClean="0"/>
              <a:t>15 June 2026</a:t>
            </a:fld>
            <a:endParaRPr lang="en-US"/>
          </a:p>
        </p:txBody>
      </p:sp>
      <p:sp>
        <p:nvSpPr>
          <p:cNvPr id="13" name="Text Box 2">
            <a:extLst>
              <a:ext uri="{FF2B5EF4-FFF2-40B4-BE49-F238E27FC236}">
                <a16:creationId xmlns:a16="http://schemas.microsoft.com/office/drawing/2014/main" id="{2C4F4FC1-A821-8E97-52A8-A2D0770C29DE}"/>
              </a:ext>
            </a:extLst>
          </p:cNvPr>
          <p:cNvSpPr txBox="1">
            <a:spLocks noChangeArrowheads="1"/>
          </p:cNvSpPr>
          <p:nvPr/>
        </p:nvSpPr>
        <p:spPr bwMode="auto">
          <a:xfrm>
            <a:off x="11277600" y="5791200"/>
            <a:ext cx="2406650" cy="990600"/>
          </a:xfrm>
          <a:prstGeom prst="rect">
            <a:avLst/>
          </a:prstGeom>
          <a:solidFill>
            <a:srgbClr val="FFFFFF"/>
          </a:solidFill>
          <a:ln w="9525">
            <a:solidFill>
              <a:srgbClr val="000000"/>
            </a:solidFill>
            <a:miter lim="800000"/>
            <a:headEnd/>
            <a:tailEnd/>
          </a:ln>
        </p:spPr>
        <p:txBody>
          <a:bodyPr rot="0" vert="horz" wrap="square" lIns="45720" tIns="0" rIns="0" bIns="0" anchor="t" anchorCtr="0">
            <a:noAutofit/>
          </a:bodyPr>
          <a:lstStyle/>
          <a:p>
            <a:pPr marL="0" marR="0"/>
            <a:r>
              <a:rPr lang="en-US" sz="2000" dirty="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rPr>
              <a:t>For TTL IC family, we usually choose supply voltage, </a:t>
            </a:r>
            <a:r>
              <a:rPr lang="en-US" sz="2000" i="1" dirty="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rPr>
              <a:t>V</a:t>
            </a:r>
            <a:r>
              <a:rPr lang="en-US" sz="2000" i="1" baseline="-25000" dirty="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rPr>
              <a:t>CC</a:t>
            </a:r>
            <a:r>
              <a:rPr lang="en-US" sz="2000" dirty="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rPr>
              <a:t> = 5 V.</a:t>
            </a:r>
            <a:endParaRPr lang="en-US" sz="3200" dirty="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endParaRPr>
          </a:p>
        </p:txBody>
      </p:sp>
      <p:sp>
        <p:nvSpPr>
          <p:cNvPr id="7" name="Text Box 2">
            <a:extLst>
              <a:ext uri="{FF2B5EF4-FFF2-40B4-BE49-F238E27FC236}">
                <a16:creationId xmlns:a16="http://schemas.microsoft.com/office/drawing/2014/main" id="{84BEAF1C-8378-0F73-9E53-4445770B9CE4}"/>
              </a:ext>
            </a:extLst>
          </p:cNvPr>
          <p:cNvSpPr txBox="1">
            <a:spLocks noChangeArrowheads="1"/>
          </p:cNvSpPr>
          <p:nvPr/>
        </p:nvSpPr>
        <p:spPr bwMode="auto">
          <a:xfrm>
            <a:off x="7962901" y="6970064"/>
            <a:ext cx="3619499" cy="664160"/>
          </a:xfrm>
          <a:prstGeom prst="rect">
            <a:avLst/>
          </a:prstGeom>
          <a:solidFill>
            <a:srgbClr val="FFFFFF"/>
          </a:solidFill>
          <a:ln w="9525">
            <a:solidFill>
              <a:srgbClr val="000000"/>
            </a:solidFill>
            <a:miter lim="800000"/>
            <a:headEnd/>
            <a:tailEnd/>
          </a:ln>
        </p:spPr>
        <p:txBody>
          <a:bodyPr rot="0" vert="horz" wrap="square" lIns="45720" tIns="0" rIns="0" bIns="0" anchor="t" anchorCtr="0">
            <a:noAutofit/>
          </a:bodyPr>
          <a:lstStyle/>
          <a:p>
            <a:pPr marL="0" marR="0"/>
            <a:r>
              <a:rPr lang="en-US" sz="2000" dirty="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rPr>
              <a:t>Assuming the Si diode’s forward voltage drop, </a:t>
            </a:r>
            <a:r>
              <a:rPr lang="en-US" sz="2000" i="1" dirty="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rPr>
              <a:t>V</a:t>
            </a:r>
            <a:r>
              <a:rPr lang="en-US" sz="2000" i="1" baseline="-25000" dirty="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rPr>
              <a:t>D</a:t>
            </a:r>
            <a:r>
              <a:rPr lang="en-US" sz="2000" dirty="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rPr>
              <a:t> = 0.7 V.</a:t>
            </a:r>
            <a:endParaRPr lang="en-US" sz="3200" dirty="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endParaRPr>
          </a:p>
        </p:txBody>
      </p:sp>
    </p:spTree>
    <p:extLst>
      <p:ext uri="{BB962C8B-B14F-4D97-AF65-F5344CB8AC3E}">
        <p14:creationId xmlns:p14="http://schemas.microsoft.com/office/powerpoint/2010/main" val="20916611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5AE88-3E6E-59F8-F586-326F33840C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2FC609-337E-A611-A8A5-161D77CF8818}"/>
              </a:ext>
            </a:extLst>
          </p:cNvPr>
          <p:cNvSpPr>
            <a:spLocks noGrp="1"/>
          </p:cNvSpPr>
          <p:nvPr>
            <p:ph type="title"/>
          </p:nvPr>
        </p:nvSpPr>
        <p:spPr>
          <a:xfrm>
            <a:off x="73808" y="457200"/>
            <a:ext cx="13336901" cy="1066800"/>
          </a:xfrm>
        </p:spPr>
        <p:txBody>
          <a:bodyPr>
            <a:normAutofit/>
          </a:bodyPr>
          <a:lstStyle/>
          <a:p>
            <a:r>
              <a:rPr lang="en-US" sz="5400" b="1" dirty="0">
                <a:solidFill>
                  <a:srgbClr val="FF0000"/>
                </a:solidFill>
              </a:rPr>
              <a:t>Example 3 on Debouncing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860F296-2CB0-D8E4-F245-7FBB80881704}"/>
                  </a:ext>
                </a:extLst>
              </p:cNvPr>
              <p:cNvSpPr>
                <a:spLocks noGrp="1"/>
              </p:cNvSpPr>
              <p:nvPr>
                <p:ph idx="1"/>
              </p:nvPr>
            </p:nvSpPr>
            <p:spPr>
              <a:xfrm>
                <a:off x="167149" y="1447800"/>
                <a:ext cx="14310851" cy="6096000"/>
              </a:xfrm>
            </p:spPr>
            <p:txBody>
              <a:bodyPr lIns="0" rIns="0">
                <a:noAutofit/>
              </a:bodyPr>
              <a:lstStyle/>
              <a:p>
                <a:pPr marL="0" algn="just">
                  <a:spcBef>
                    <a:spcPts val="0"/>
                  </a:spcBef>
                  <a:buNone/>
                </a:pPr>
                <a:r>
                  <a:rPr lang="en-US" sz="2800" dirty="0">
                    <a:latin typeface="Times New Roman" panose="02020603050405020304" pitchFamily="18" charset="0"/>
                    <a:ea typeface="Times New Roman" panose="02020603050405020304" pitchFamily="18" charset="0"/>
                    <a:cs typeface="Times New Roman" panose="02020603050405020304" pitchFamily="18" charset="0"/>
                  </a:rPr>
                  <a:t>If we choose this value, therefore, during discharging, due to leakage current of 5 </a:t>
                </a:r>
                <a:r>
                  <a:rPr lang="en-US" sz="2800" dirty="0">
                    <a:latin typeface="Symbol" panose="05050102010706020507" pitchFamily="18" charset="2"/>
                    <a:ea typeface="Times New Roman" panose="02020603050405020304" pitchFamily="18" charset="0"/>
                    <a:cs typeface="Times New Roman" panose="02020603050405020304" pitchFamily="18" charset="0"/>
                  </a:rPr>
                  <a:t>m</a:t>
                </a:r>
                <a:r>
                  <a:rPr lang="en-US" sz="2800" dirty="0">
                    <a:latin typeface="Times New Roman" panose="02020603050405020304" pitchFamily="18" charset="0"/>
                    <a:ea typeface="Times New Roman" panose="02020603050405020304" pitchFamily="18" charset="0"/>
                    <a:cs typeface="Times New Roman" panose="02020603050405020304" pitchFamily="18" charset="0"/>
                  </a:rPr>
                  <a:t>A, a voltage drops of </a:t>
                </a:r>
                <a14:m>
                  <m:oMath xmlns:m="http://schemas.openxmlformats.org/officeDocument/2006/math">
                    <m:r>
                      <a:rPr lang="en-US" sz="2800" i="1">
                        <a:latin typeface="Cambria Math" panose="02040503050406030204" pitchFamily="18" charset="0"/>
                        <a:ea typeface="Times New Roman" panose="02020603050405020304" pitchFamily="18" charset="0"/>
                        <a:cs typeface="Times New Roman" panose="02020603050405020304" pitchFamily="18" charset="0"/>
                      </a:rPr>
                      <m:t>𝑉</m:t>
                    </m:r>
                    <m:r>
                      <a:rPr lang="en-US" sz="2800" i="1">
                        <a:latin typeface="Cambria Math" panose="02040503050406030204" pitchFamily="18" charset="0"/>
                        <a:ea typeface="Times New Roman" panose="02020603050405020304" pitchFamily="18" charset="0"/>
                        <a:cs typeface="Times New Roman" panose="02020603050405020304" pitchFamily="18" charset="0"/>
                      </a:rPr>
                      <m:t>=</m:t>
                    </m:r>
                    <m:r>
                      <a:rPr lang="en-US" sz="2800" i="1">
                        <a:latin typeface="Cambria Math" panose="02040503050406030204" pitchFamily="18" charset="0"/>
                        <a:ea typeface="Times New Roman" panose="02020603050405020304" pitchFamily="18" charset="0"/>
                        <a:cs typeface="Times New Roman" panose="02020603050405020304" pitchFamily="18" charset="0"/>
                      </a:rPr>
                      <m:t>𝐼𝑅</m:t>
                    </m:r>
                    <m:r>
                      <a:rPr lang="en-US" sz="2800" i="1">
                        <a:latin typeface="Cambria Math" panose="02040503050406030204" pitchFamily="18" charset="0"/>
                        <a:ea typeface="Times New Roman" panose="02020603050405020304" pitchFamily="18" charset="0"/>
                        <a:cs typeface="Times New Roman" panose="02020603050405020304" pitchFamily="18" charset="0"/>
                      </a:rPr>
                      <m:t>=5×</m:t>
                    </m:r>
                    <m:sSup>
                      <m:sSupPr>
                        <m:ctrlPr>
                          <a:rPr lang="en-US" sz="28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2800" i="1">
                            <a:latin typeface="Cambria Math" panose="02040503050406030204" pitchFamily="18" charset="0"/>
                            <a:ea typeface="Times New Roman" panose="02020603050405020304" pitchFamily="18" charset="0"/>
                            <a:cs typeface="Times New Roman" panose="02020603050405020304" pitchFamily="18" charset="0"/>
                          </a:rPr>
                          <m:t>10</m:t>
                        </m:r>
                      </m:e>
                      <m:sup>
                        <m:r>
                          <a:rPr lang="en-US" sz="2800" i="1">
                            <a:latin typeface="Cambria Math" panose="02040503050406030204" pitchFamily="18" charset="0"/>
                            <a:ea typeface="Times New Roman" panose="02020603050405020304" pitchFamily="18" charset="0"/>
                            <a:cs typeface="Times New Roman" panose="02020603050405020304" pitchFamily="18" charset="0"/>
                          </a:rPr>
                          <m:t>−6</m:t>
                        </m:r>
                      </m:sup>
                    </m:sSup>
                    <m:r>
                      <a:rPr lang="en-US" sz="2800" i="1">
                        <a:latin typeface="Cambria Math" panose="02040503050406030204" pitchFamily="18" charset="0"/>
                        <a:ea typeface="Times New Roman" panose="02020603050405020304" pitchFamily="18" charset="0"/>
                        <a:cs typeface="Times New Roman" panose="02020603050405020304" pitchFamily="18" charset="0"/>
                      </a:rPr>
                      <m:t>×</m:t>
                    </m:r>
                    <m:r>
                      <a:rPr lang="en-US" sz="2800" b="0" i="1" smtClean="0">
                        <a:latin typeface="Cambria Math" panose="02040503050406030204" pitchFamily="18" charset="0"/>
                        <a:ea typeface="Times New Roman" panose="02020603050405020304" pitchFamily="18" charset="0"/>
                        <a:cs typeface="Times New Roman" panose="02020603050405020304" pitchFamily="18" charset="0"/>
                      </a:rPr>
                      <m:t>6.8</m:t>
                    </m:r>
                    <m:r>
                      <a:rPr lang="en-US" sz="2800" i="1">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US" sz="28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2800" i="1">
                            <a:latin typeface="Cambria Math" panose="02040503050406030204" pitchFamily="18" charset="0"/>
                            <a:ea typeface="Times New Roman" panose="02020603050405020304" pitchFamily="18" charset="0"/>
                            <a:cs typeface="Times New Roman" panose="02020603050405020304" pitchFamily="18" charset="0"/>
                          </a:rPr>
                          <m:t>10</m:t>
                        </m:r>
                      </m:e>
                      <m:sup>
                        <m:r>
                          <a:rPr lang="en-US" sz="2800" i="1">
                            <a:latin typeface="Cambria Math" panose="02040503050406030204" pitchFamily="18" charset="0"/>
                            <a:ea typeface="Times New Roman" panose="02020603050405020304" pitchFamily="18" charset="0"/>
                            <a:cs typeface="Times New Roman" panose="02020603050405020304" pitchFamily="18" charset="0"/>
                          </a:rPr>
                          <m:t>3</m:t>
                        </m:r>
                      </m:sup>
                    </m:sSup>
                    <m:r>
                      <a:rPr lang="en-US" sz="2800" i="1">
                        <a:latin typeface="Cambria Math" panose="02040503050406030204" pitchFamily="18" charset="0"/>
                        <a:ea typeface="Times New Roman" panose="02020603050405020304" pitchFamily="18" charset="0"/>
                        <a:cs typeface="Times New Roman" panose="02020603050405020304" pitchFamily="18" charset="0"/>
                      </a:rPr>
                      <m:t>=0.</m:t>
                    </m:r>
                  </m:oMath>
                </a14:m>
                <a:r>
                  <a:rPr lang="en-US" sz="2800" dirty="0">
                    <a:latin typeface="Times New Roman" panose="02020603050405020304" pitchFamily="18" charset="0"/>
                    <a:ea typeface="SimSun" panose="02010600030101010101" pitchFamily="2" charset="-122"/>
                    <a:cs typeface="Times New Roman" panose="02020603050405020304" pitchFamily="18" charset="0"/>
                  </a:rPr>
                  <a:t>034 </a:t>
                </a:r>
                <a:r>
                  <a:rPr lang="en-US" sz="2800" dirty="0">
                    <a:latin typeface="Times New Roman" panose="02020603050405020304" pitchFamily="18" charset="0"/>
                    <a:ea typeface="Times New Roman" panose="02020603050405020304" pitchFamily="18" charset="0"/>
                    <a:cs typeface="Times New Roman" panose="02020603050405020304" pitchFamily="18" charset="0"/>
                  </a:rPr>
                  <a:t>V would occur, and it is comfortably well below the gate’s best-case switching point of 0.5 V. Therefore, we use this capacitor’s capacitance of 1 </a:t>
                </a:r>
                <a:r>
                  <a:rPr lang="en-US" sz="2800" dirty="0" err="1">
                    <a:latin typeface="Times New Roman" panose="02020603050405020304" pitchFamily="18" charset="0"/>
                    <a:ea typeface="Times New Roman" panose="02020603050405020304" pitchFamily="18" charset="0"/>
                    <a:cs typeface="Times New Roman" panose="02020603050405020304" pitchFamily="18" charset="0"/>
                  </a:rPr>
                  <a:t>μF</a:t>
                </a:r>
                <a:r>
                  <a:rPr lang="en-US" sz="2800" dirty="0">
                    <a:latin typeface="Times New Roman" panose="02020603050405020304" pitchFamily="18" charset="0"/>
                    <a:ea typeface="Times New Roman" panose="02020603050405020304" pitchFamily="18" charset="0"/>
                    <a:cs typeface="Times New Roman" panose="02020603050405020304" pitchFamily="18" charset="0"/>
                  </a:rPr>
                  <a:t> so that the resistance of the discharging path remains at </a:t>
                </a:r>
                <a14:m>
                  <m:oMath xmlns:m="http://schemas.openxmlformats.org/officeDocument/2006/math">
                    <m:r>
                      <a:rPr lang="en-US" sz="2800" b="0" i="0" smtClean="0">
                        <a:latin typeface="Cambria Math" panose="02040503050406030204" pitchFamily="18" charset="0"/>
                        <a:ea typeface="SimSun" panose="02010600030101010101" pitchFamily="2" charset="-122"/>
                        <a:cs typeface="Times New Roman" panose="02020603050405020304" pitchFamily="18" charset="0"/>
                      </a:rPr>
                      <m:t>6.8</m:t>
                    </m:r>
                    <m:r>
                      <a:rPr lang="el-GR" sz="2800" i="1">
                        <a:latin typeface="Cambria Math" panose="02040503050406030204" pitchFamily="18" charset="0"/>
                        <a:ea typeface="SimSun" panose="02010600030101010101" pitchFamily="2" charset="-122"/>
                        <a:cs typeface="Times New Roman" panose="02020603050405020304" pitchFamily="18" charset="0"/>
                      </a:rPr>
                      <m:t> </m:t>
                    </m:r>
                    <m:r>
                      <m:rPr>
                        <m:sty m:val="p"/>
                      </m:rPr>
                      <a:rPr lang="en-US" sz="2800">
                        <a:latin typeface="Cambria Math" panose="02040503050406030204" pitchFamily="18" charset="0"/>
                        <a:ea typeface="Times New Roman" panose="02020603050405020304" pitchFamily="18" charset="0"/>
                        <a:cs typeface="Times New Roman" panose="02020603050405020304" pitchFamily="18" charset="0"/>
                      </a:rPr>
                      <m:t>k</m:t>
                    </m:r>
                    <m:r>
                      <m:rPr>
                        <m:sty m:val="p"/>
                      </m:rPr>
                      <a:rPr lang="el-GR" sz="2800">
                        <a:latin typeface="Cambria Math" panose="02040503050406030204" pitchFamily="18" charset="0"/>
                        <a:ea typeface="Times New Roman" panose="02020603050405020304" pitchFamily="18" charset="0"/>
                        <a:cs typeface="Times New Roman" panose="02020603050405020304" pitchFamily="18" charset="0"/>
                      </a:rPr>
                      <m:t>Ω</m:t>
                    </m:r>
                  </m:oMath>
                </a14:m>
                <a:r>
                  <a:rPr lang="en-US" sz="2800" dirty="0">
                    <a:latin typeface="Times New Roman" panose="02020603050405020304" pitchFamily="18" charset="0"/>
                    <a:ea typeface="Times New Roman" panose="02020603050405020304" pitchFamily="18" charset="0"/>
                    <a:cs typeface="Times New Roman" panose="02020603050405020304" pitchFamily="18" charset="0"/>
                  </a:rPr>
                  <a:t> and as such the voltage drop becomes </a:t>
                </a:r>
                <a14:m>
                  <m:oMath xmlns:m="http://schemas.openxmlformats.org/officeDocument/2006/math">
                    <m:r>
                      <a:rPr lang="en-US" sz="2800" i="1">
                        <a:latin typeface="Cambria Math" panose="02040503050406030204" pitchFamily="18" charset="0"/>
                        <a:ea typeface="Times New Roman" panose="02020603050405020304" pitchFamily="18" charset="0"/>
                        <a:cs typeface="Times New Roman" panose="02020603050405020304" pitchFamily="18" charset="0"/>
                      </a:rPr>
                      <m:t>0.0</m:t>
                    </m:r>
                    <m:r>
                      <a:rPr lang="en-US" sz="2800" b="0" i="1" smtClean="0">
                        <a:latin typeface="Cambria Math" panose="02040503050406030204" pitchFamily="18" charset="0"/>
                        <a:ea typeface="Times New Roman" panose="02020603050405020304" pitchFamily="18" charset="0"/>
                        <a:cs typeface="Times New Roman" panose="02020603050405020304" pitchFamily="18" charset="0"/>
                      </a:rPr>
                      <m:t>34</m:t>
                    </m:r>
                    <m:r>
                      <a:rPr lang="en-US" sz="2800" i="1">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n-US" sz="2800">
                        <a:latin typeface="Cambria Math" panose="02040503050406030204" pitchFamily="18" charset="0"/>
                        <a:ea typeface="Times New Roman" panose="02020603050405020304" pitchFamily="18" charset="0"/>
                        <a:cs typeface="Times New Roman" panose="02020603050405020304" pitchFamily="18" charset="0"/>
                      </a:rPr>
                      <m:t>V</m:t>
                    </m:r>
                  </m:oMath>
                </a14:m>
                <a:r>
                  <a:rPr lang="en-US" sz="280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ea typeface="Times New Roman" panose="02020603050405020304" pitchFamily="18" charset="0"/>
                  <a:cs typeface="Angsana New" panose="02020603050405020304" pitchFamily="18" charset="-34"/>
                </a:endParaRPr>
              </a:p>
              <a:p>
                <a:pPr marL="0" marR="0" algn="just">
                  <a:spcBef>
                    <a:spcPts val="0"/>
                  </a:spcBef>
                  <a:buNone/>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Again, during rising the signal, we choose this capacitance value of </a:t>
                </a:r>
                <a:r>
                  <a:rPr lang="en-US" sz="2800" i="1" dirty="0">
                    <a:effectLst/>
                    <a:latin typeface="Times New Roman" panose="02020603050405020304" pitchFamily="18" charset="0"/>
                    <a:ea typeface="Times New Roman" panose="02020603050405020304" pitchFamily="18" charset="0"/>
                    <a:cs typeface="Times New Roman" panose="02020603050405020304" pitchFamily="18" charset="0"/>
                  </a:rPr>
                  <a:t>C</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 1 </a:t>
                </a:r>
                <a:r>
                  <a:rPr lang="en-US" sz="2800" dirty="0">
                    <a:effectLst/>
                    <a:latin typeface="Symbol" panose="05050102010706020507" pitchFamily="18" charset="2"/>
                    <a:ea typeface="Times New Roman" panose="02020603050405020304" pitchFamily="18" charset="0"/>
                    <a:cs typeface="Times New Roman" panose="02020603050405020304" pitchFamily="18" charset="0"/>
                  </a:rPr>
                  <a:t>m</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F and use this in capacitor’s charging equation, </a:t>
                </a:r>
                <a14:m>
                  <m:oMath xmlns:m="http://schemas.openxmlformats.org/officeDocument/2006/math">
                    <m:sSub>
                      <m:sSub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𝑉</m:t>
                        </m:r>
                      </m:e>
                      <m: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𝑐</m:t>
                        </m:r>
                      </m:sub>
                    </m:s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𝑡h</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𝐻</m:t>
                        </m:r>
                      </m:sub>
                    </m:s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𝑉</m:t>
                        </m:r>
                      </m:e>
                      <m: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𝑓𝑖𝑛𝑎𝑙</m:t>
                        </m:r>
                      </m:sub>
                    </m:sSub>
                    <m:d>
                      <m:d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1−</m:t>
                        </m:r>
                        <m:sSup>
                          <m:sSup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𝑒</m:t>
                            </m:r>
                          </m:e>
                          <m:sup>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f>
                              <m:fPr>
                                <m:type m:val="lin"/>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𝑡</m:t>
                                </m:r>
                              </m:num>
                              <m:den>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𝑅𝐶</m:t>
                                </m:r>
                              </m:den>
                            </m:f>
                          </m:sup>
                        </m:sSup>
                      </m:e>
                    </m:d>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oMath>
                </a14:m>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r>
                  <a:rPr lang="en-US" sz="2800" dirty="0">
                    <a:effectLst/>
                    <a:latin typeface="Times New Roman" panose="02020603050405020304" pitchFamily="18" charset="0"/>
                    <a:ea typeface="SimSun" panose="02010600030101010101" pitchFamily="2" charset="-122"/>
                    <a:cs typeface="Times New Roman" panose="02020603050405020304" pitchFamily="18" charset="0"/>
                  </a:rPr>
                  <a:t>After rearranging the equation, we get </a:t>
                </a:r>
                <a14:m>
                  <m:oMath xmlns:m="http://schemas.openxmlformats.org/officeDocument/2006/math">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𝑅</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𝑡</m:t>
                        </m:r>
                      </m:num>
                      <m:den>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𝐶𝑙𝑛</m:t>
                        </m:r>
                        <m:d>
                          <m:d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1−</m:t>
                            </m:r>
                            <m:f>
                              <m:f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𝑉</m:t>
                                    </m:r>
                                  </m:e>
                                  <m: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𝑡h</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𝐻</m:t>
                                    </m:r>
                                  </m:sub>
                                </m:sSub>
                              </m:num>
                              <m:den>
                                <m:sSub>
                                  <m:sSub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𝑉</m:t>
                                    </m:r>
                                  </m:e>
                                  <m: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𝑓𝑖𝑛𝑎𝑙</m:t>
                                    </m:r>
                                  </m:sub>
                                </m:sSub>
                              </m:den>
                            </m:f>
                          </m:e>
                        </m:d>
                      </m:den>
                    </m:f>
                  </m:oMath>
                </a14:m>
                <a:r>
                  <a:rPr lang="en-US" sz="2800" dirty="0">
                    <a:effectLst/>
                    <a:latin typeface="Times New Roman" panose="02020603050405020304" pitchFamily="18" charset="0"/>
                    <a:ea typeface="SimSun" panose="02010600030101010101" pitchFamily="2" charset="-122"/>
                    <a:cs typeface="Times New Roman" panose="02020603050405020304" pitchFamily="18" charset="0"/>
                  </a:rPr>
                  <a:t>, and then putting the values, we find</a:t>
                </a:r>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a:p>
                <a:pPr marL="0" marR="0" algn="ctr">
                  <a:spcBef>
                    <a:spcPts val="0"/>
                  </a:spcBef>
                  <a:buNone/>
                </a:pPr>
                <a14:m>
                  <m:oMathPara xmlns:m="http://schemas.openxmlformats.org/officeDocument/2006/math">
                    <m:oMathParaPr>
                      <m:jc m:val="centerGroup"/>
                    </m:oMathParaPr>
                    <m:oMath xmlns:m="http://schemas.openxmlformats.org/officeDocument/2006/math">
                      <m:sSub>
                        <m:sSub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1</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0×</m:t>
                          </m:r>
                          <m:sSup>
                            <m:sSup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−3</m:t>
                              </m:r>
                            </m:sup>
                          </m:sSup>
                        </m:num>
                        <m:den>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1×</m:t>
                          </m:r>
                          <m:sSup>
                            <m:sSup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−6</m:t>
                              </m:r>
                            </m:sup>
                          </m:sSup>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𝑙𝑛</m:t>
                          </m:r>
                          <m:d>
                            <m:d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1−</m:t>
                              </m:r>
                              <m:f>
                                <m:fPr>
                                  <m:ctrlPr>
                                    <a:rPr lang="en-US" sz="2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2</m:t>
                                  </m:r>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3</m:t>
                                  </m:r>
                                </m:num>
                                <m:den>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5</m:t>
                                  </m:r>
                                  <m:r>
                                    <a:rPr lang="en-US" sz="2800" b="0" i="1" smtClean="0">
                                      <a:effectLst/>
                                      <a:latin typeface="Cambria Math" panose="02040503050406030204" pitchFamily="18" charset="0"/>
                                      <a:ea typeface="Times New Roman" panose="02020603050405020304" pitchFamily="18" charset="0"/>
                                      <a:cs typeface="Times New Roman" panose="02020603050405020304" pitchFamily="18" charset="0"/>
                                    </a:rPr>
                                    <m:t>−0.7</m:t>
                                  </m:r>
                                </m:den>
                              </m:f>
                            </m:e>
                          </m:d>
                        </m:den>
                      </m:f>
                      <m:r>
                        <a:rPr lang="en-US" sz="2800" i="1">
                          <a:effectLst/>
                          <a:latin typeface="Cambria Math" panose="02040503050406030204" pitchFamily="18" charset="0"/>
                          <a:ea typeface="Times New Roman" panose="02020603050405020304" pitchFamily="18" charset="0"/>
                          <a:cs typeface="Times New Roman" panose="02020603050405020304" pitchFamily="18" charset="0"/>
                        </a:rPr>
                        <m:t>=</m:t>
                      </m:r>
                      <m:r>
                        <m:rPr>
                          <m:nor/>
                        </m:rPr>
                        <a:rPr lang="en-US" sz="2800" b="0" i="0" smtClean="0">
                          <a:effectLst/>
                          <a:latin typeface="Cambria Math" panose="02040503050406030204" pitchFamily="18" charset="0"/>
                          <a:ea typeface="Times New Roman" panose="02020603050405020304" pitchFamily="18" charset="0"/>
                          <a:cs typeface="Times New Roman" panose="02020603050405020304" pitchFamily="18" charset="0"/>
                        </a:rPr>
                        <m:t>16.23</m:t>
                      </m:r>
                      <m:r>
                        <m:rPr>
                          <m:nor/>
                        </m:rPr>
                        <a:rPr lang="en-US" sz="2800">
                          <a:effectLst/>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n-US" sz="2800">
                          <a:effectLst/>
                          <a:latin typeface="Cambria Math" panose="02040503050406030204" pitchFamily="18" charset="0"/>
                          <a:ea typeface="Times New Roman" panose="02020603050405020304" pitchFamily="18" charset="0"/>
                          <a:cs typeface="Times New Roman" panose="02020603050405020304" pitchFamily="18" charset="0"/>
                        </a:rPr>
                        <m:t>k</m:t>
                      </m:r>
                      <m:r>
                        <m:rPr>
                          <m:sty m:val="p"/>
                        </m:rPr>
                        <a:rPr lang="el-GR" sz="2800">
                          <a:effectLst/>
                          <a:latin typeface="Cambria Math" panose="02040503050406030204" pitchFamily="18" charset="0"/>
                          <a:ea typeface="Times New Roman" panose="02020603050405020304" pitchFamily="18" charset="0"/>
                          <a:cs typeface="Times New Roman" panose="02020603050405020304" pitchFamily="18" charset="0"/>
                        </a:rPr>
                        <m:t>Ω</m:t>
                      </m:r>
                      <m:r>
                        <a:rPr lang="el-GR" sz="2800" i="1">
                          <a:effectLst/>
                          <a:latin typeface="Cambria Math" panose="02040503050406030204" pitchFamily="18" charset="0"/>
                          <a:ea typeface="Times New Roman" panose="02020603050405020304" pitchFamily="18" charset="0"/>
                          <a:cs typeface="Times New Roman" panose="02020603050405020304" pitchFamily="18" charset="0"/>
                        </a:rPr>
                        <m:t> </m:t>
                      </m:r>
                      <m:r>
                        <a:rPr lang="el-GR" sz="2800" i="1">
                          <a:effectLst/>
                          <a:latin typeface="Cambria Math" panose="02040503050406030204" pitchFamily="18" charset="0"/>
                          <a:ea typeface="SimSun" panose="02010600030101010101" pitchFamily="2" charset="-122"/>
                          <a:cs typeface="Times New Roman" panose="02020603050405020304" pitchFamily="18" charset="0"/>
                        </a:rPr>
                        <m:t>≅</m:t>
                      </m:r>
                      <m:r>
                        <a:rPr lang="en-US" sz="2800" b="0" i="1" smtClean="0">
                          <a:effectLst/>
                          <a:latin typeface="Cambria Math" panose="02040503050406030204" pitchFamily="18" charset="0"/>
                          <a:ea typeface="SimSun" panose="02010600030101010101" pitchFamily="2" charset="-122"/>
                          <a:cs typeface="Times New Roman" panose="02020603050405020304" pitchFamily="18" charset="0"/>
                        </a:rPr>
                        <m:t>18</m:t>
                      </m:r>
                      <m:r>
                        <a:rPr lang="el-GR" sz="2800" i="1">
                          <a:effectLst/>
                          <a:latin typeface="Cambria Math" panose="02040503050406030204" pitchFamily="18" charset="0"/>
                          <a:ea typeface="SimSun" panose="02010600030101010101" pitchFamily="2" charset="-122"/>
                          <a:cs typeface="Times New Roman" panose="02020603050405020304" pitchFamily="18" charset="0"/>
                        </a:rPr>
                        <m:t> </m:t>
                      </m:r>
                      <m:r>
                        <m:rPr>
                          <m:sty m:val="p"/>
                        </m:rPr>
                        <a:rPr lang="en-US" sz="2800">
                          <a:effectLst/>
                          <a:latin typeface="Cambria Math" panose="02040503050406030204" pitchFamily="18" charset="0"/>
                          <a:ea typeface="Times New Roman" panose="02020603050405020304" pitchFamily="18" charset="0"/>
                          <a:cs typeface="Times New Roman" panose="02020603050405020304" pitchFamily="18" charset="0"/>
                        </a:rPr>
                        <m:t>k</m:t>
                      </m:r>
                      <m:r>
                        <m:rPr>
                          <m:sty m:val="p"/>
                        </m:rPr>
                        <a:rPr lang="el-GR" sz="2800">
                          <a:effectLst/>
                          <a:latin typeface="Cambria Math" panose="02040503050406030204" pitchFamily="18" charset="0"/>
                          <a:ea typeface="Times New Roman" panose="02020603050405020304" pitchFamily="18" charset="0"/>
                          <a:cs typeface="Times New Roman" panose="02020603050405020304" pitchFamily="18" charset="0"/>
                        </a:rPr>
                        <m:t>Ω</m:t>
                      </m:r>
                    </m:oMath>
                  </m:oMathPara>
                </a14:m>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a:p>
                <a:pPr marL="0">
                  <a:spcBef>
                    <a:spcPts val="0"/>
                  </a:spcBef>
                  <a:buNone/>
                </a:pPr>
                <a:r>
                  <a:rPr lang="en-US" sz="2800" dirty="0">
                    <a:latin typeface="Times New Roman" panose="02020603050405020304" pitchFamily="18" charset="0"/>
                    <a:ea typeface="Times New Roman" panose="02020603050405020304" pitchFamily="18" charset="0"/>
                    <a:cs typeface="Angsana New" panose="02020603050405020304" pitchFamily="18" charset="-34"/>
                  </a:rPr>
                  <a:t>Neglecting a very small diode’s forward resistance.</a:t>
                </a:r>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p:txBody>
          </p:sp>
        </mc:Choice>
        <mc:Fallback xmlns="">
          <p:sp>
            <p:nvSpPr>
              <p:cNvPr id="3" name="Content Placeholder 2">
                <a:extLst>
                  <a:ext uri="{FF2B5EF4-FFF2-40B4-BE49-F238E27FC236}">
                    <a16:creationId xmlns:a16="http://schemas.microsoft.com/office/drawing/2014/main" id="{8860F296-2CB0-D8E4-F245-7FBB80881704}"/>
                  </a:ext>
                </a:extLst>
              </p:cNvPr>
              <p:cNvSpPr>
                <a:spLocks noGrp="1" noRot="1" noChangeAspect="1" noMove="1" noResize="1" noEditPoints="1" noAdjustHandles="1" noChangeArrowheads="1" noChangeShapeType="1" noTextEdit="1"/>
              </p:cNvSpPr>
              <p:nvPr>
                <p:ph idx="1"/>
              </p:nvPr>
            </p:nvSpPr>
            <p:spPr>
              <a:xfrm>
                <a:off x="167149" y="1447800"/>
                <a:ext cx="14310851" cy="6096000"/>
              </a:xfrm>
              <a:blipFill>
                <a:blip r:embed="rId3"/>
                <a:stretch>
                  <a:fillRect l="-1491" t="-1100" r="-149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FCE53E62-A031-F134-0038-C12620F9EFEB}"/>
              </a:ext>
            </a:extLst>
          </p:cNvPr>
          <p:cNvSpPr>
            <a:spLocks noGrp="1"/>
          </p:cNvSpPr>
          <p:nvPr>
            <p:ph type="ftr" sz="quarter" idx="11"/>
          </p:nvPr>
        </p:nvSpPr>
        <p:spPr/>
        <p:txBody>
          <a:bodyPr/>
          <a:lstStyle/>
          <a:p>
            <a:r>
              <a:rPr lang="en-US"/>
              <a:t>Course Teacher: Prof. Dr. Engr. Muhibul Haque Bhuyan</a:t>
            </a:r>
          </a:p>
        </p:txBody>
      </p:sp>
      <p:sp>
        <p:nvSpPr>
          <p:cNvPr id="5" name="Slide Number Placeholder 4">
            <a:extLst>
              <a:ext uri="{FF2B5EF4-FFF2-40B4-BE49-F238E27FC236}">
                <a16:creationId xmlns:a16="http://schemas.microsoft.com/office/drawing/2014/main" id="{6221D8D3-2C76-5116-756C-CD68D1E621C3}"/>
              </a:ext>
            </a:extLst>
          </p:cNvPr>
          <p:cNvSpPr>
            <a:spLocks noGrp="1"/>
          </p:cNvSpPr>
          <p:nvPr>
            <p:ph type="sldNum" sz="quarter" idx="12"/>
          </p:nvPr>
        </p:nvSpPr>
        <p:spPr/>
        <p:txBody>
          <a:bodyPr/>
          <a:lstStyle/>
          <a:p>
            <a:fld id="{B6F15528-21DE-4FAA-801E-634DDDAF4B2B}" type="slidenum">
              <a:rPr lang="en-US" smtClean="0"/>
              <a:pPr/>
              <a:t>31</a:t>
            </a:fld>
            <a:endParaRPr lang="en-US"/>
          </a:p>
        </p:txBody>
      </p:sp>
      <p:sp>
        <p:nvSpPr>
          <p:cNvPr id="6" name="Date Placeholder 5">
            <a:extLst>
              <a:ext uri="{FF2B5EF4-FFF2-40B4-BE49-F238E27FC236}">
                <a16:creationId xmlns:a16="http://schemas.microsoft.com/office/drawing/2014/main" id="{E91368B8-A6B1-E7A5-8E3B-5D9379051E67}"/>
              </a:ext>
            </a:extLst>
          </p:cNvPr>
          <p:cNvSpPr>
            <a:spLocks noGrp="1"/>
          </p:cNvSpPr>
          <p:nvPr>
            <p:ph type="dt" sz="half" idx="10"/>
          </p:nvPr>
        </p:nvSpPr>
        <p:spPr/>
        <p:txBody>
          <a:bodyPr/>
          <a:lstStyle/>
          <a:p>
            <a:fld id="{0A7EAEA6-ABFA-44F2-B6E5-81382F9BE97B}" type="datetime3">
              <a:rPr lang="en-US" smtClean="0"/>
              <a:t>15 June 2026</a:t>
            </a:fld>
            <a:endParaRPr lang="en-US"/>
          </a:p>
        </p:txBody>
      </p:sp>
      <p:sp>
        <p:nvSpPr>
          <p:cNvPr id="7" name="Text Box 2">
            <a:extLst>
              <a:ext uri="{FF2B5EF4-FFF2-40B4-BE49-F238E27FC236}">
                <a16:creationId xmlns:a16="http://schemas.microsoft.com/office/drawing/2014/main" id="{52A5FC1B-3659-837F-FEB9-B7BCD6C392C9}"/>
              </a:ext>
            </a:extLst>
          </p:cNvPr>
          <p:cNvSpPr txBox="1">
            <a:spLocks noChangeArrowheads="1"/>
          </p:cNvSpPr>
          <p:nvPr/>
        </p:nvSpPr>
        <p:spPr bwMode="auto">
          <a:xfrm>
            <a:off x="8077200" y="6346240"/>
            <a:ext cx="3619499" cy="664160"/>
          </a:xfrm>
          <a:prstGeom prst="rect">
            <a:avLst/>
          </a:prstGeom>
          <a:solidFill>
            <a:srgbClr val="FFFFFF"/>
          </a:solidFill>
          <a:ln w="9525">
            <a:solidFill>
              <a:srgbClr val="000000"/>
            </a:solidFill>
            <a:miter lim="800000"/>
            <a:headEnd/>
            <a:tailEnd/>
          </a:ln>
        </p:spPr>
        <p:txBody>
          <a:bodyPr rot="0" vert="horz" wrap="square" lIns="45720" tIns="0" rIns="0" bIns="0" anchor="t" anchorCtr="0">
            <a:noAutofit/>
          </a:bodyPr>
          <a:lstStyle/>
          <a:p>
            <a:pPr marL="0" marR="0"/>
            <a:r>
              <a:rPr lang="en-US" sz="2000" dirty="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rPr>
              <a:t>Assuming the Si diode’s forward voltage drop, </a:t>
            </a:r>
            <a:r>
              <a:rPr lang="en-US" sz="2000" i="1" dirty="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rPr>
              <a:t>V</a:t>
            </a:r>
            <a:r>
              <a:rPr lang="en-US" sz="2000" i="1" baseline="-25000" dirty="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rPr>
              <a:t>D</a:t>
            </a:r>
            <a:r>
              <a:rPr lang="en-US" sz="2000" dirty="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rPr>
              <a:t> = 0.7 V.</a:t>
            </a:r>
            <a:endParaRPr lang="en-US" sz="3200" dirty="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endParaRPr>
          </a:p>
        </p:txBody>
      </p:sp>
    </p:spTree>
    <p:extLst>
      <p:ext uri="{BB962C8B-B14F-4D97-AF65-F5344CB8AC3E}">
        <p14:creationId xmlns:p14="http://schemas.microsoft.com/office/powerpoint/2010/main" val="37467205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754DB-1E3B-B4B3-6E11-164C43E070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795D47-77D0-B8D5-E15F-8AD1A949D7FF}"/>
              </a:ext>
            </a:extLst>
          </p:cNvPr>
          <p:cNvSpPr>
            <a:spLocks noGrp="1"/>
          </p:cNvSpPr>
          <p:nvPr>
            <p:ph type="title"/>
          </p:nvPr>
        </p:nvSpPr>
        <p:spPr>
          <a:xfrm>
            <a:off x="73808" y="457200"/>
            <a:ext cx="13336901" cy="1066800"/>
          </a:xfrm>
        </p:spPr>
        <p:txBody>
          <a:bodyPr>
            <a:normAutofit/>
          </a:bodyPr>
          <a:lstStyle/>
          <a:p>
            <a:r>
              <a:rPr lang="en-US" sz="5400" b="1" dirty="0">
                <a:solidFill>
                  <a:srgbClr val="FF0000"/>
                </a:solidFill>
              </a:rPr>
              <a:t>Example 3 on Debouncing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07C62AC-0414-1834-FD06-9EC6FA8FB1EA}"/>
                  </a:ext>
                </a:extLst>
              </p:cNvPr>
              <p:cNvSpPr>
                <a:spLocks noGrp="1"/>
              </p:cNvSpPr>
              <p:nvPr>
                <p:ph idx="1"/>
              </p:nvPr>
            </p:nvSpPr>
            <p:spPr>
              <a:xfrm>
                <a:off x="167149" y="1447800"/>
                <a:ext cx="14310851" cy="6096000"/>
              </a:xfrm>
            </p:spPr>
            <p:txBody>
              <a:bodyPr lIns="0" rIns="0">
                <a:noAutofit/>
              </a:bodyPr>
              <a:lstStyle/>
              <a:p>
                <a:pPr marL="0" marR="0" algn="just">
                  <a:spcBef>
                    <a:spcPts val="0"/>
                  </a:spcBef>
                  <a:buNone/>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So, our calculated values for the designed circuit are</a:t>
                </a:r>
                <a:r>
                  <a:rPr lang="en-US" sz="2800" i="1" dirty="0">
                    <a:effectLst/>
                    <a:latin typeface="Times New Roman" panose="02020603050405020304" pitchFamily="18" charset="0"/>
                    <a:ea typeface="Times New Roman" panose="02020603050405020304" pitchFamily="18" charset="0"/>
                    <a:cs typeface="Times New Roman" panose="02020603050405020304" pitchFamily="18" charset="0"/>
                  </a:rPr>
                  <a:t> R</a:t>
                </a:r>
                <a:r>
                  <a:rPr lang="en-US" sz="2800" baseline="-25000" dirty="0">
                    <a:effectLst/>
                    <a:latin typeface="Times New Roman" panose="02020603050405020304" pitchFamily="18" charset="0"/>
                    <a:ea typeface="Times New Roman" panose="02020603050405020304" pitchFamily="18" charset="0"/>
                    <a:cs typeface="Times New Roman" panose="02020603050405020304" pitchFamily="18" charset="0"/>
                  </a:rPr>
                  <a:t>1</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 18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kΩ</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800" i="1" dirty="0">
                    <a:effectLst/>
                    <a:latin typeface="Times New Roman" panose="02020603050405020304" pitchFamily="18" charset="0"/>
                    <a:ea typeface="Times New Roman" panose="02020603050405020304" pitchFamily="18" charset="0"/>
                    <a:cs typeface="Times New Roman" panose="02020603050405020304" pitchFamily="18" charset="0"/>
                  </a:rPr>
                  <a:t>R</a:t>
                </a:r>
                <a:r>
                  <a:rPr lang="en-US" sz="2800" baseline="-25000" dirty="0">
                    <a:effectLst/>
                    <a:latin typeface="Times New Roman" panose="02020603050405020304" pitchFamily="18" charset="0"/>
                    <a:ea typeface="Times New Roman" panose="02020603050405020304" pitchFamily="18" charset="0"/>
                    <a:cs typeface="Times New Roman" panose="02020603050405020304" pitchFamily="18" charset="0"/>
                  </a:rPr>
                  <a:t>2</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 6.8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kΩ</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and </a:t>
                </a:r>
                <a:r>
                  <a:rPr lang="en-US" sz="2800" i="1" dirty="0">
                    <a:effectLst/>
                    <a:latin typeface="Times New Roman" panose="02020603050405020304" pitchFamily="18" charset="0"/>
                    <a:ea typeface="Times New Roman" panose="02020603050405020304" pitchFamily="18" charset="0"/>
                    <a:cs typeface="Times New Roman" panose="02020603050405020304" pitchFamily="18" charset="0"/>
                  </a:rPr>
                  <a:t>C</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 1 </a:t>
                </a:r>
                <a:r>
                  <a:rPr lang="en-US" sz="2800" dirty="0">
                    <a:effectLst/>
                    <a:latin typeface="Symbol" panose="05050102010706020507" pitchFamily="18" charset="2"/>
                    <a:ea typeface="Times New Roman" panose="02020603050405020304" pitchFamily="18" charset="0"/>
                    <a:cs typeface="Times New Roman" panose="02020603050405020304" pitchFamily="18" charset="0"/>
                  </a:rPr>
                  <a:t>m</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F. Therefore, the final designed circuit is given as follows</a:t>
                </a:r>
              </a:p>
              <a:p>
                <a:pPr marL="0" marR="0" algn="just">
                  <a:spcBef>
                    <a:spcPts val="0"/>
                  </a:spcBef>
                  <a:buNone/>
                </a:pPr>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lgn="just">
                  <a:spcAft>
                    <a:spcPts val="300"/>
                  </a:spcAft>
                  <a:buNone/>
                </a:pPr>
                <a:r>
                  <a:rPr lang="en-US" sz="2800" i="0" dirty="0">
                    <a:effectLst/>
                    <a:latin typeface="Times New Roman" panose="02020603050405020304" pitchFamily="18" charset="0"/>
                    <a:ea typeface="Times New Roman" panose="02020603050405020304" pitchFamily="18" charset="0"/>
                    <a:cs typeface="Times New Roman" panose="02020603050405020304" pitchFamily="18" charset="0"/>
                  </a:rPr>
                  <a:t>The hysteresis voltage is given by-</a:t>
                </a:r>
                <a:endParaRPr lang="en-US" sz="2800" i="1" dirty="0">
                  <a:effectLst/>
                  <a:latin typeface="Arial" panose="020B0604020202020204" pitchFamily="34" charset="0"/>
                  <a:ea typeface="Times New Roman" panose="02020603050405020304" pitchFamily="18" charset="0"/>
                  <a:cs typeface="Times New Roman" panose="02020603050405020304" pitchFamily="18" charset="0"/>
                </a:endParaRPr>
              </a:p>
              <a:p>
                <a:pPr>
                  <a:buNone/>
                </a:pPr>
                <a14:m>
                  <m:oMathPara xmlns:m="http://schemas.openxmlformats.org/officeDocument/2006/math">
                    <m:oMathParaPr>
                      <m:jc m:val="centerGroup"/>
                    </m:oMathParaPr>
                    <m:oMath xmlns:m="http://schemas.openxmlformats.org/officeDocument/2006/math">
                      <m:sSub>
                        <m:sSubPr>
                          <m:ctrlPr>
                            <a:rPr lang="en-US" sz="2800" i="1">
                              <a:effectLst/>
                              <a:latin typeface="Cambria Math" panose="02040503050406030204" pitchFamily="18" charset="0"/>
                            </a:rPr>
                          </m:ctrlPr>
                        </m:sSubPr>
                        <m:e>
                          <m:r>
                            <a:rPr lang="en-US" sz="2800" i="1">
                              <a:effectLst/>
                              <a:latin typeface="Cambria Math" panose="02040503050406030204" pitchFamily="18" charset="0"/>
                              <a:ea typeface="Times New Roman" panose="02020603050405020304" pitchFamily="18" charset="0"/>
                              <a:cs typeface="Angsana New" panose="02020603050405020304" pitchFamily="18" charset="-34"/>
                            </a:rPr>
                            <m:t>𝑉</m:t>
                          </m:r>
                        </m:e>
                        <m:sub>
                          <m:r>
                            <a:rPr lang="en-US" sz="2800" i="1">
                              <a:effectLst/>
                              <a:latin typeface="Cambria Math" panose="02040503050406030204" pitchFamily="18" charset="0"/>
                              <a:ea typeface="Times New Roman" panose="02020603050405020304" pitchFamily="18" charset="0"/>
                              <a:cs typeface="Angsana New" panose="02020603050405020304" pitchFamily="18" charset="-34"/>
                            </a:rPr>
                            <m:t>𝐻</m:t>
                          </m:r>
                        </m:sub>
                      </m:sSub>
                      <m:r>
                        <a:rPr lang="en-US" sz="2800" i="1">
                          <a:effectLst/>
                          <a:latin typeface="Cambria Math" panose="02040503050406030204" pitchFamily="18" charset="0"/>
                          <a:ea typeface="Times New Roman" panose="02020603050405020304" pitchFamily="18" charset="0"/>
                          <a:cs typeface="Angsana New" panose="02020603050405020304" pitchFamily="18" charset="-34"/>
                        </a:rPr>
                        <m:t>=</m:t>
                      </m:r>
                      <m:sSub>
                        <m:sSubPr>
                          <m:ctrlPr>
                            <a:rPr lang="en-US" sz="2800" i="1">
                              <a:effectLst/>
                              <a:latin typeface="Cambria Math" panose="02040503050406030204" pitchFamily="18" charset="0"/>
                            </a:rPr>
                          </m:ctrlPr>
                        </m:sSubPr>
                        <m:e>
                          <m:r>
                            <a:rPr lang="en-US" sz="2800" i="1">
                              <a:effectLst/>
                              <a:latin typeface="Cambria Math" panose="02040503050406030204" pitchFamily="18" charset="0"/>
                              <a:ea typeface="Times New Roman" panose="02020603050405020304" pitchFamily="18" charset="0"/>
                              <a:cs typeface="Angsana New" panose="02020603050405020304" pitchFamily="18" charset="-34"/>
                            </a:rPr>
                            <m:t>𝑉</m:t>
                          </m:r>
                        </m:e>
                        <m:sub>
                          <m:r>
                            <a:rPr lang="en-US" sz="2800" i="1">
                              <a:effectLst/>
                              <a:latin typeface="Cambria Math" panose="02040503050406030204" pitchFamily="18" charset="0"/>
                              <a:ea typeface="Times New Roman" panose="02020603050405020304" pitchFamily="18" charset="0"/>
                              <a:cs typeface="Angsana New" panose="02020603050405020304" pitchFamily="18" charset="-34"/>
                            </a:rPr>
                            <m:t>𝑡h</m:t>
                          </m:r>
                          <m:r>
                            <a:rPr lang="en-US" sz="2800" i="1">
                              <a:effectLst/>
                              <a:latin typeface="Cambria Math" panose="02040503050406030204" pitchFamily="18" charset="0"/>
                              <a:ea typeface="Times New Roman" panose="02020603050405020304" pitchFamily="18" charset="0"/>
                              <a:cs typeface="Angsana New" panose="02020603050405020304" pitchFamily="18" charset="-34"/>
                            </a:rPr>
                            <m:t>,</m:t>
                          </m:r>
                          <m:r>
                            <a:rPr lang="en-US" sz="2800" i="1">
                              <a:effectLst/>
                              <a:latin typeface="Cambria Math" panose="02040503050406030204" pitchFamily="18" charset="0"/>
                              <a:ea typeface="Times New Roman" panose="02020603050405020304" pitchFamily="18" charset="0"/>
                              <a:cs typeface="Angsana New" panose="02020603050405020304" pitchFamily="18" charset="-34"/>
                            </a:rPr>
                            <m:t>𝐻</m:t>
                          </m:r>
                        </m:sub>
                      </m:sSub>
                      <m:r>
                        <a:rPr lang="en-US" sz="2800" i="1">
                          <a:effectLst/>
                          <a:latin typeface="Cambria Math" panose="02040503050406030204" pitchFamily="18" charset="0"/>
                          <a:ea typeface="Times New Roman" panose="02020603050405020304" pitchFamily="18" charset="0"/>
                          <a:cs typeface="Angsana New" panose="02020603050405020304" pitchFamily="18" charset="-34"/>
                        </a:rPr>
                        <m:t>−</m:t>
                      </m:r>
                      <m:sSub>
                        <m:sSubPr>
                          <m:ctrlPr>
                            <a:rPr lang="en-US" sz="2800" i="1">
                              <a:effectLst/>
                              <a:latin typeface="Cambria Math" panose="02040503050406030204" pitchFamily="18" charset="0"/>
                            </a:rPr>
                          </m:ctrlPr>
                        </m:sSubPr>
                        <m:e>
                          <m:r>
                            <a:rPr lang="en-US" sz="2800" i="1">
                              <a:effectLst/>
                              <a:latin typeface="Cambria Math" panose="02040503050406030204" pitchFamily="18" charset="0"/>
                              <a:ea typeface="Times New Roman" panose="02020603050405020304" pitchFamily="18" charset="0"/>
                              <a:cs typeface="Angsana New" panose="02020603050405020304" pitchFamily="18" charset="-34"/>
                            </a:rPr>
                            <m:t>𝑉</m:t>
                          </m:r>
                        </m:e>
                        <m:sub>
                          <m:r>
                            <a:rPr lang="en-US" sz="2800" i="1">
                              <a:effectLst/>
                              <a:latin typeface="Cambria Math" panose="02040503050406030204" pitchFamily="18" charset="0"/>
                              <a:ea typeface="Times New Roman" panose="02020603050405020304" pitchFamily="18" charset="0"/>
                              <a:cs typeface="Angsana New" panose="02020603050405020304" pitchFamily="18" charset="-34"/>
                            </a:rPr>
                            <m:t>𝑡h</m:t>
                          </m:r>
                          <m:r>
                            <a:rPr lang="en-US" sz="2800" i="1">
                              <a:effectLst/>
                              <a:latin typeface="Cambria Math" panose="02040503050406030204" pitchFamily="18" charset="0"/>
                              <a:ea typeface="Times New Roman" panose="02020603050405020304" pitchFamily="18" charset="0"/>
                              <a:cs typeface="Angsana New" panose="02020603050405020304" pitchFamily="18" charset="-34"/>
                            </a:rPr>
                            <m:t>,</m:t>
                          </m:r>
                          <m:r>
                            <a:rPr lang="en-US" sz="2800" i="1">
                              <a:effectLst/>
                              <a:latin typeface="Cambria Math" panose="02040503050406030204" pitchFamily="18" charset="0"/>
                              <a:ea typeface="Times New Roman" panose="02020603050405020304" pitchFamily="18" charset="0"/>
                              <a:cs typeface="Angsana New" panose="02020603050405020304" pitchFamily="18" charset="-34"/>
                            </a:rPr>
                            <m:t>𝐿</m:t>
                          </m:r>
                        </m:sub>
                      </m:sSub>
                      <m:r>
                        <a:rPr lang="en-US" sz="2800" i="1">
                          <a:effectLst/>
                          <a:latin typeface="Cambria Math" panose="02040503050406030204" pitchFamily="18" charset="0"/>
                          <a:ea typeface="Times New Roman" panose="02020603050405020304" pitchFamily="18" charset="0"/>
                          <a:cs typeface="Angsana New" panose="02020603050405020304" pitchFamily="18" charset="-34"/>
                        </a:rPr>
                        <m:t>=2.</m:t>
                      </m:r>
                      <m:r>
                        <a:rPr lang="en-US" sz="2800" b="0" i="1" smtClean="0">
                          <a:effectLst/>
                          <a:latin typeface="Cambria Math" panose="02040503050406030204" pitchFamily="18" charset="0"/>
                          <a:ea typeface="Times New Roman" panose="02020603050405020304" pitchFamily="18" charset="0"/>
                          <a:cs typeface="Angsana New" panose="02020603050405020304" pitchFamily="18" charset="-34"/>
                        </a:rPr>
                        <m:t>3</m:t>
                      </m:r>
                      <m:r>
                        <a:rPr lang="en-US" sz="2800" i="1">
                          <a:effectLst/>
                          <a:latin typeface="Cambria Math" panose="02040503050406030204" pitchFamily="18" charset="0"/>
                          <a:ea typeface="Times New Roman" panose="02020603050405020304" pitchFamily="18" charset="0"/>
                          <a:cs typeface="Angsana New" panose="02020603050405020304" pitchFamily="18" charset="-34"/>
                        </a:rPr>
                        <m:t>−0.</m:t>
                      </m:r>
                      <m:r>
                        <a:rPr lang="en-US" sz="2800" b="0" i="1" smtClean="0">
                          <a:effectLst/>
                          <a:latin typeface="Cambria Math" panose="02040503050406030204" pitchFamily="18" charset="0"/>
                          <a:ea typeface="Times New Roman" panose="02020603050405020304" pitchFamily="18" charset="0"/>
                          <a:cs typeface="Angsana New" panose="02020603050405020304" pitchFamily="18" charset="-34"/>
                        </a:rPr>
                        <m:t>95</m:t>
                      </m:r>
                      <m:r>
                        <a:rPr lang="en-US" sz="2800" i="1">
                          <a:effectLst/>
                          <a:latin typeface="Cambria Math" panose="02040503050406030204" pitchFamily="18" charset="0"/>
                          <a:ea typeface="Times New Roman" panose="02020603050405020304" pitchFamily="18" charset="0"/>
                          <a:cs typeface="Angsana New" panose="02020603050405020304" pitchFamily="18" charset="-34"/>
                        </a:rPr>
                        <m:t>=1.</m:t>
                      </m:r>
                      <m:r>
                        <a:rPr lang="en-US" sz="2800" b="0" i="1" smtClean="0">
                          <a:effectLst/>
                          <a:latin typeface="Cambria Math" panose="02040503050406030204" pitchFamily="18" charset="0"/>
                          <a:ea typeface="Times New Roman" panose="02020603050405020304" pitchFamily="18" charset="0"/>
                          <a:cs typeface="Angsana New" panose="02020603050405020304" pitchFamily="18" charset="-34"/>
                        </a:rPr>
                        <m:t>35</m:t>
                      </m:r>
                      <m:r>
                        <a:rPr lang="en-US" sz="2800" i="1">
                          <a:effectLst/>
                          <a:latin typeface="Cambria Math" panose="02040503050406030204" pitchFamily="18" charset="0"/>
                          <a:ea typeface="Times New Roman" panose="02020603050405020304" pitchFamily="18" charset="0"/>
                          <a:cs typeface="Angsana New" panose="02020603050405020304" pitchFamily="18" charset="-34"/>
                        </a:rPr>
                        <m:t> </m:t>
                      </m:r>
                      <m:r>
                        <a:rPr lang="en-US" sz="2800" i="1">
                          <a:effectLst/>
                          <a:latin typeface="Cambria Math" panose="02040503050406030204" pitchFamily="18" charset="0"/>
                          <a:ea typeface="Times New Roman" panose="02020603050405020304" pitchFamily="18" charset="0"/>
                          <a:cs typeface="Angsana New" panose="02020603050405020304" pitchFamily="18" charset="-34"/>
                        </a:rPr>
                        <m:t>𝑉</m:t>
                      </m:r>
                    </m:oMath>
                  </m:oMathPara>
                </a14:m>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p:txBody>
          </p:sp>
        </mc:Choice>
        <mc:Fallback xmlns="">
          <p:sp>
            <p:nvSpPr>
              <p:cNvPr id="3" name="Content Placeholder 2">
                <a:extLst>
                  <a:ext uri="{FF2B5EF4-FFF2-40B4-BE49-F238E27FC236}">
                    <a16:creationId xmlns:a16="http://schemas.microsoft.com/office/drawing/2014/main" id="{E07C62AC-0414-1834-FD06-9EC6FA8FB1EA}"/>
                  </a:ext>
                </a:extLst>
              </p:cNvPr>
              <p:cNvSpPr>
                <a:spLocks noGrp="1" noRot="1" noChangeAspect="1" noMove="1" noResize="1" noEditPoints="1" noAdjustHandles="1" noChangeArrowheads="1" noChangeShapeType="1" noTextEdit="1"/>
              </p:cNvSpPr>
              <p:nvPr>
                <p:ph idx="1"/>
              </p:nvPr>
            </p:nvSpPr>
            <p:spPr>
              <a:xfrm>
                <a:off x="167149" y="1447800"/>
                <a:ext cx="14310851" cy="6096000"/>
              </a:xfrm>
              <a:blipFill>
                <a:blip r:embed="rId3"/>
                <a:stretch>
                  <a:fillRect l="-1491" t="-1100" r="-1491" b="-300"/>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2827DC5C-2599-1C82-40DD-6EA2E7C770D2}"/>
              </a:ext>
            </a:extLst>
          </p:cNvPr>
          <p:cNvSpPr>
            <a:spLocks noGrp="1"/>
          </p:cNvSpPr>
          <p:nvPr>
            <p:ph type="ftr" sz="quarter" idx="11"/>
          </p:nvPr>
        </p:nvSpPr>
        <p:spPr/>
        <p:txBody>
          <a:bodyPr/>
          <a:lstStyle/>
          <a:p>
            <a:r>
              <a:rPr lang="en-US"/>
              <a:t>Course Teacher: Prof. Dr. Engr. Muhibul Haque Bhuyan</a:t>
            </a:r>
          </a:p>
        </p:txBody>
      </p:sp>
      <p:sp>
        <p:nvSpPr>
          <p:cNvPr id="5" name="Slide Number Placeholder 4">
            <a:extLst>
              <a:ext uri="{FF2B5EF4-FFF2-40B4-BE49-F238E27FC236}">
                <a16:creationId xmlns:a16="http://schemas.microsoft.com/office/drawing/2014/main" id="{6F846128-EB1C-5FDB-3429-8F0F2E45C9CE}"/>
              </a:ext>
            </a:extLst>
          </p:cNvPr>
          <p:cNvSpPr>
            <a:spLocks noGrp="1"/>
          </p:cNvSpPr>
          <p:nvPr>
            <p:ph type="sldNum" sz="quarter" idx="12"/>
          </p:nvPr>
        </p:nvSpPr>
        <p:spPr/>
        <p:txBody>
          <a:bodyPr/>
          <a:lstStyle/>
          <a:p>
            <a:fld id="{B6F15528-21DE-4FAA-801E-634DDDAF4B2B}" type="slidenum">
              <a:rPr lang="en-US" smtClean="0"/>
              <a:pPr/>
              <a:t>32</a:t>
            </a:fld>
            <a:endParaRPr lang="en-US"/>
          </a:p>
        </p:txBody>
      </p:sp>
      <p:sp>
        <p:nvSpPr>
          <p:cNvPr id="6" name="Date Placeholder 5">
            <a:extLst>
              <a:ext uri="{FF2B5EF4-FFF2-40B4-BE49-F238E27FC236}">
                <a16:creationId xmlns:a16="http://schemas.microsoft.com/office/drawing/2014/main" id="{739A2FB5-89D7-A1B4-A4E9-76CF6ECAB66F}"/>
              </a:ext>
            </a:extLst>
          </p:cNvPr>
          <p:cNvSpPr>
            <a:spLocks noGrp="1"/>
          </p:cNvSpPr>
          <p:nvPr>
            <p:ph type="dt" sz="half" idx="10"/>
          </p:nvPr>
        </p:nvSpPr>
        <p:spPr/>
        <p:txBody>
          <a:bodyPr/>
          <a:lstStyle/>
          <a:p>
            <a:fld id="{0A7EAEA6-ABFA-44F2-B6E5-81382F9BE97B}" type="datetime3">
              <a:rPr lang="en-US" smtClean="0"/>
              <a:t>15 June 2026</a:t>
            </a:fld>
            <a:endParaRPr lang="en-US"/>
          </a:p>
        </p:txBody>
      </p:sp>
      <p:pic>
        <p:nvPicPr>
          <p:cNvPr id="9" name="Picture 8">
            <a:extLst>
              <a:ext uri="{FF2B5EF4-FFF2-40B4-BE49-F238E27FC236}">
                <a16:creationId xmlns:a16="http://schemas.microsoft.com/office/drawing/2014/main" id="{AB980CD2-1340-1F54-E7D9-E4BC208B82D8}"/>
              </a:ext>
            </a:extLst>
          </p:cNvPr>
          <p:cNvPicPr>
            <a:picLocks noChangeAspect="1"/>
          </p:cNvPicPr>
          <p:nvPr/>
        </p:nvPicPr>
        <p:blipFill>
          <a:blip r:embed="rId4"/>
          <a:stretch>
            <a:fillRect/>
          </a:stretch>
        </p:blipFill>
        <p:spPr>
          <a:xfrm>
            <a:off x="8610600" y="2019300"/>
            <a:ext cx="4023356" cy="5065618"/>
          </a:xfrm>
          <a:prstGeom prst="rect">
            <a:avLst/>
          </a:prstGeom>
        </p:spPr>
      </p:pic>
    </p:spTree>
    <p:extLst>
      <p:ext uri="{BB962C8B-B14F-4D97-AF65-F5344CB8AC3E}">
        <p14:creationId xmlns:p14="http://schemas.microsoft.com/office/powerpoint/2010/main" val="16177477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739FA-BE7A-AF35-98EA-F572CEAEC9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EFB644-B224-40FD-6462-D2DEF0A25E89}"/>
              </a:ext>
            </a:extLst>
          </p:cNvPr>
          <p:cNvSpPr>
            <a:spLocks noGrp="1"/>
          </p:cNvSpPr>
          <p:nvPr>
            <p:ph type="title"/>
          </p:nvPr>
        </p:nvSpPr>
        <p:spPr>
          <a:xfrm>
            <a:off x="73808" y="304800"/>
            <a:ext cx="13336901" cy="1066800"/>
          </a:xfrm>
        </p:spPr>
        <p:txBody>
          <a:bodyPr>
            <a:normAutofit/>
          </a:bodyPr>
          <a:lstStyle/>
          <a:p>
            <a:r>
              <a:rPr lang="en-US" sz="5400" b="1" dirty="0">
                <a:solidFill>
                  <a:srgbClr val="FF0000"/>
                </a:solidFill>
              </a:rPr>
              <a:t>Example 4 on Debouncing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578D0DC-F522-4D4C-1AC7-BBEC72353D15}"/>
                  </a:ext>
                </a:extLst>
              </p:cNvPr>
              <p:cNvSpPr>
                <a:spLocks noGrp="1"/>
              </p:cNvSpPr>
              <p:nvPr>
                <p:ph idx="1"/>
              </p:nvPr>
            </p:nvSpPr>
            <p:spPr>
              <a:xfrm>
                <a:off x="167149" y="1219200"/>
                <a:ext cx="14310851" cy="6324600"/>
              </a:xfrm>
            </p:spPr>
            <p:txBody>
              <a:bodyPr lIns="0" rIns="0">
                <a:noAutofit/>
              </a:bodyPr>
              <a:lstStyle/>
              <a:p>
                <a:pPr marL="0" marR="0" indent="0" algn="just">
                  <a:spcBef>
                    <a:spcPts val="0"/>
                  </a:spcBef>
                  <a:spcAft>
                    <a:spcPts val="600"/>
                  </a:spcAft>
                  <a:buNone/>
                </a:pPr>
                <a:r>
                  <a:rPr lang="en-US" dirty="0"/>
                  <a:t>A TV remote controller is designed with channel selection buttons to be debounced. It was observed that the switches exhibit bounce times well under 15 </a:t>
                </a:r>
                <a:r>
                  <a:rPr lang="en-US" dirty="0" err="1"/>
                  <a:t>ms</a:t>
                </a:r>
                <a:r>
                  <a:rPr lang="en-US" dirty="0"/>
                  <a:t>, and the duty cycle is 50%. Design a circuit using the 74HC14 Schmitt trigger IC along with resistance and capacitance. The worst-case V</a:t>
                </a:r>
                <a:r>
                  <a:rPr lang="en-US" baseline="-25000" dirty="0"/>
                  <a:t>th</a:t>
                </a:r>
                <a:r>
                  <a:rPr lang="en-US" dirty="0"/>
                  <a:t> of this IC for a signal going low is 2.1 V, and that of when going high is 0.8 V. Also, consider that the CMOS device leakage current is 2 </a:t>
                </a:r>
                <a:r>
                  <a:rPr lang="en-US" dirty="0">
                    <a:latin typeface="Symbol" panose="05050102010706020507" pitchFamily="18" charset="2"/>
                  </a:rPr>
                  <a:t>m</a:t>
                </a:r>
                <a:r>
                  <a:rPr lang="en-US" dirty="0"/>
                  <a:t>A and the gate’s best-case switching point is of the order of 0.4 V. Compute the hysteresis voltage.</a:t>
                </a:r>
              </a:p>
              <a:p>
                <a:pPr marL="0" marR="0" indent="0" algn="just">
                  <a:spcBef>
                    <a:spcPts val="0"/>
                  </a:spcBef>
                  <a:spcAft>
                    <a:spcPts val="600"/>
                  </a:spcAft>
                  <a:buNone/>
                </a:pPr>
                <a:r>
                  <a:rPr lang="en-US" sz="28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Answer: </a:t>
                </a:r>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a:p>
                <a:pPr marL="0" algn="just">
                  <a:spcBef>
                    <a:spcPts val="0"/>
                  </a:spcBef>
                  <a:buNone/>
                </a:pPr>
                <a:r>
                  <a:rPr lang="en-US" sz="3000" dirty="0"/>
                  <a:t>While falling the signal, we choose a value of capacitance, C = 1 </a:t>
                </a:r>
                <a:r>
                  <a:rPr lang="en-US" sz="3000" dirty="0">
                    <a:latin typeface="Symbol" panose="05050102010706020507" pitchFamily="18" charset="2"/>
                  </a:rPr>
                  <a:t>m</a:t>
                </a:r>
                <a:r>
                  <a:rPr lang="en-US" sz="3000" dirty="0"/>
                  <a:t>F, and use </a:t>
                </a:r>
                <a14:m>
                  <m:oMath xmlns:m="http://schemas.openxmlformats.org/officeDocument/2006/math">
                    <m:sSub>
                      <m:sSubPr>
                        <m:ctrlPr>
                          <a:rPr lang="en-US" sz="3000" i="1">
                            <a:latin typeface="Cambria Math" panose="02040503050406030204" pitchFamily="18" charset="0"/>
                          </a:rPr>
                        </m:ctrlPr>
                      </m:sSubPr>
                      <m:e>
                        <m:r>
                          <a:rPr lang="en-US" sz="3000" i="1">
                            <a:latin typeface="Cambria Math" panose="02040503050406030204" pitchFamily="18" charset="0"/>
                          </a:rPr>
                          <m:t>𝑣</m:t>
                        </m:r>
                      </m:e>
                      <m:sub>
                        <m:r>
                          <a:rPr lang="en-US" sz="3000" i="1">
                            <a:latin typeface="Cambria Math" panose="02040503050406030204" pitchFamily="18" charset="0"/>
                          </a:rPr>
                          <m:t>𝑐</m:t>
                        </m:r>
                      </m:sub>
                    </m:sSub>
                    <m:r>
                      <a:rPr lang="en-US" sz="3000" i="1">
                        <a:latin typeface="Cambria Math" panose="02040503050406030204" pitchFamily="18" charset="0"/>
                      </a:rPr>
                      <m:t>=</m:t>
                    </m:r>
                    <m:sSub>
                      <m:sSubPr>
                        <m:ctrlPr>
                          <a:rPr lang="en-US" sz="3000" i="1">
                            <a:latin typeface="Cambria Math" panose="02040503050406030204" pitchFamily="18" charset="0"/>
                          </a:rPr>
                        </m:ctrlPr>
                      </m:sSubPr>
                      <m:e>
                        <m:r>
                          <a:rPr lang="en-US" sz="3000" i="1">
                            <a:latin typeface="Cambria Math" panose="02040503050406030204" pitchFamily="18" charset="0"/>
                          </a:rPr>
                          <m:t>𝑣</m:t>
                        </m:r>
                      </m:e>
                      <m:sub>
                        <m:r>
                          <a:rPr lang="en-US" sz="3000" i="1">
                            <a:latin typeface="Cambria Math" panose="02040503050406030204" pitchFamily="18" charset="0"/>
                          </a:rPr>
                          <m:t>𝑡h</m:t>
                        </m:r>
                        <m:r>
                          <a:rPr lang="en-US" sz="3000" b="0" i="1" smtClean="0">
                            <a:latin typeface="Cambria Math" panose="02040503050406030204" pitchFamily="18" charset="0"/>
                          </a:rPr>
                          <m:t>−</m:t>
                        </m:r>
                      </m:sub>
                    </m:sSub>
                    <m:r>
                      <a:rPr lang="en-US" sz="3000" i="1">
                        <a:latin typeface="Cambria Math" panose="02040503050406030204" pitchFamily="18" charset="0"/>
                      </a:rPr>
                      <m:t>=</m:t>
                    </m:r>
                    <m:sSub>
                      <m:sSubPr>
                        <m:ctrlPr>
                          <a:rPr lang="en-US" sz="3000" i="1">
                            <a:latin typeface="Cambria Math" panose="02040503050406030204" pitchFamily="18" charset="0"/>
                          </a:rPr>
                        </m:ctrlPr>
                      </m:sSubPr>
                      <m:e>
                        <m:r>
                          <a:rPr lang="en-US" sz="3000" i="1">
                            <a:latin typeface="Cambria Math" panose="02040503050406030204" pitchFamily="18" charset="0"/>
                          </a:rPr>
                          <m:t>𝑉</m:t>
                        </m:r>
                      </m:e>
                      <m:sub>
                        <m:r>
                          <a:rPr lang="en-US" sz="3000" i="1">
                            <a:latin typeface="Cambria Math" panose="02040503050406030204" pitchFamily="18" charset="0"/>
                          </a:rPr>
                          <m:t>𝑓𝑖𝑛𝑎𝑙</m:t>
                        </m:r>
                      </m:sub>
                    </m:sSub>
                    <m:sSup>
                      <m:sSupPr>
                        <m:ctrlPr>
                          <a:rPr lang="en-US" sz="3000" i="1">
                            <a:latin typeface="Cambria Math" panose="02040503050406030204" pitchFamily="18" charset="0"/>
                          </a:rPr>
                        </m:ctrlPr>
                      </m:sSupPr>
                      <m:e>
                        <m:r>
                          <a:rPr lang="en-US" sz="3000" i="1">
                            <a:latin typeface="Cambria Math" panose="02040503050406030204" pitchFamily="18" charset="0"/>
                          </a:rPr>
                          <m:t>𝑒</m:t>
                        </m:r>
                      </m:e>
                      <m:sup>
                        <m:r>
                          <a:rPr lang="en-US" sz="3000" i="1">
                            <a:latin typeface="Cambria Math" panose="02040503050406030204" pitchFamily="18" charset="0"/>
                          </a:rPr>
                          <m:t>−</m:t>
                        </m:r>
                        <m:f>
                          <m:fPr>
                            <m:type m:val="lin"/>
                            <m:ctrlPr>
                              <a:rPr lang="en-US" sz="3000" i="1">
                                <a:latin typeface="Cambria Math" panose="02040503050406030204" pitchFamily="18" charset="0"/>
                              </a:rPr>
                            </m:ctrlPr>
                          </m:fPr>
                          <m:num>
                            <m:r>
                              <a:rPr lang="en-US" sz="3000" i="1">
                                <a:latin typeface="Cambria Math" panose="02040503050406030204" pitchFamily="18" charset="0"/>
                              </a:rPr>
                              <m:t>𝑡</m:t>
                            </m:r>
                          </m:num>
                          <m:den>
                            <m:r>
                              <a:rPr lang="en-US" sz="3000" i="1">
                                <a:latin typeface="Cambria Math" panose="02040503050406030204" pitchFamily="18" charset="0"/>
                              </a:rPr>
                              <m:t>𝑅𝐶</m:t>
                            </m:r>
                          </m:den>
                        </m:f>
                      </m:sup>
                    </m:sSup>
                    <m:r>
                      <a:rPr lang="en-US" sz="3000" i="1">
                        <a:latin typeface="Cambria Math" panose="02040503050406030204" pitchFamily="18" charset="0"/>
                      </a:rPr>
                      <m:t>.</m:t>
                    </m:r>
                  </m:oMath>
                </a14:m>
                <a:r>
                  <a:rPr lang="en-US" sz="3000" dirty="0"/>
                  <a:t> After rearranging the equation, we get </a:t>
                </a:r>
                <a14:m>
                  <m:oMath xmlns:m="http://schemas.openxmlformats.org/officeDocument/2006/math">
                    <m:r>
                      <a:rPr lang="en-US" sz="3000" i="1">
                        <a:latin typeface="Cambria Math" panose="02040503050406030204" pitchFamily="18" charset="0"/>
                      </a:rPr>
                      <m:t>𝑅</m:t>
                    </m:r>
                    <m:r>
                      <a:rPr lang="en-US" sz="3000" i="1">
                        <a:latin typeface="Cambria Math" panose="02040503050406030204" pitchFamily="18" charset="0"/>
                      </a:rPr>
                      <m:t>=−</m:t>
                    </m:r>
                    <m:f>
                      <m:fPr>
                        <m:ctrlPr>
                          <a:rPr lang="en-US" sz="3000" i="1">
                            <a:latin typeface="Cambria Math" panose="02040503050406030204" pitchFamily="18" charset="0"/>
                          </a:rPr>
                        </m:ctrlPr>
                      </m:fPr>
                      <m:num>
                        <m:r>
                          <a:rPr lang="en-US" sz="3000" i="1">
                            <a:latin typeface="Cambria Math" panose="02040503050406030204" pitchFamily="18" charset="0"/>
                          </a:rPr>
                          <m:t>𝑡</m:t>
                        </m:r>
                      </m:num>
                      <m:den>
                        <m:r>
                          <a:rPr lang="en-US" sz="3000" i="1">
                            <a:latin typeface="Cambria Math" panose="02040503050406030204" pitchFamily="18" charset="0"/>
                          </a:rPr>
                          <m:t>𝐶𝑙𝑛</m:t>
                        </m:r>
                        <m:f>
                          <m:fPr>
                            <m:ctrlPr>
                              <a:rPr lang="en-US" sz="3000" i="1">
                                <a:latin typeface="Cambria Math" panose="02040503050406030204" pitchFamily="18" charset="0"/>
                              </a:rPr>
                            </m:ctrlPr>
                          </m:fPr>
                          <m:num>
                            <m:sSub>
                              <m:sSubPr>
                                <m:ctrlPr>
                                  <a:rPr lang="en-US" sz="3000" i="1">
                                    <a:latin typeface="Cambria Math" panose="02040503050406030204" pitchFamily="18" charset="0"/>
                                  </a:rPr>
                                </m:ctrlPr>
                              </m:sSubPr>
                              <m:e>
                                <m:r>
                                  <a:rPr lang="en-US" sz="3000" i="1">
                                    <a:latin typeface="Cambria Math" panose="02040503050406030204" pitchFamily="18" charset="0"/>
                                  </a:rPr>
                                  <m:t>𝑉</m:t>
                                </m:r>
                              </m:e>
                              <m:sub>
                                <m:r>
                                  <a:rPr lang="en-US" sz="3000" i="1">
                                    <a:latin typeface="Cambria Math" panose="02040503050406030204" pitchFamily="18" charset="0"/>
                                  </a:rPr>
                                  <m:t>𝑡h</m:t>
                                </m:r>
                                <m:r>
                                  <a:rPr lang="en-US" sz="3000" b="0" i="1" smtClean="0">
                                    <a:latin typeface="Cambria Math" panose="02040503050406030204" pitchFamily="18" charset="0"/>
                                  </a:rPr>
                                  <m:t>−</m:t>
                                </m:r>
                              </m:sub>
                            </m:sSub>
                          </m:num>
                          <m:den>
                            <m:sSub>
                              <m:sSubPr>
                                <m:ctrlPr>
                                  <a:rPr lang="en-US" sz="3000" i="1">
                                    <a:latin typeface="Cambria Math" panose="02040503050406030204" pitchFamily="18" charset="0"/>
                                  </a:rPr>
                                </m:ctrlPr>
                              </m:sSubPr>
                              <m:e>
                                <m:r>
                                  <a:rPr lang="en-US" sz="3000" i="1">
                                    <a:latin typeface="Cambria Math" panose="02040503050406030204" pitchFamily="18" charset="0"/>
                                  </a:rPr>
                                  <m:t>𝑉</m:t>
                                </m:r>
                              </m:e>
                              <m:sub>
                                <m:r>
                                  <a:rPr lang="en-US" sz="3000" i="1">
                                    <a:latin typeface="Cambria Math" panose="02040503050406030204" pitchFamily="18" charset="0"/>
                                  </a:rPr>
                                  <m:t>𝑓𝑖𝑛𝑎𝑙</m:t>
                                </m:r>
                              </m:sub>
                            </m:sSub>
                          </m:den>
                        </m:f>
                      </m:den>
                    </m:f>
                  </m:oMath>
                </a14:m>
                <a:r>
                  <a:rPr lang="en-US" sz="3000" dirty="0"/>
                  <a:t>, and then putting the values, we find </a:t>
                </a:r>
                <a14:m>
                  <m:oMath xmlns:m="http://schemas.openxmlformats.org/officeDocument/2006/math">
                    <m:sSub>
                      <m:sSubPr>
                        <m:ctrlPr>
                          <a:rPr lang="en-US" sz="3000" i="1">
                            <a:latin typeface="Cambria Math" panose="02040503050406030204" pitchFamily="18" charset="0"/>
                          </a:rPr>
                        </m:ctrlPr>
                      </m:sSubPr>
                      <m:e>
                        <m:r>
                          <a:rPr lang="en-US" sz="3000" i="1">
                            <a:latin typeface="Cambria Math" panose="02040503050406030204" pitchFamily="18" charset="0"/>
                          </a:rPr>
                          <m:t>𝑅</m:t>
                        </m:r>
                      </m:e>
                      <m:sub>
                        <m:r>
                          <a:rPr lang="en-US" sz="3000" i="1">
                            <a:latin typeface="Cambria Math" panose="02040503050406030204" pitchFamily="18" charset="0"/>
                          </a:rPr>
                          <m:t>2</m:t>
                        </m:r>
                      </m:sub>
                    </m:sSub>
                    <m:r>
                      <a:rPr lang="en-US" sz="3000" i="1">
                        <a:latin typeface="Cambria Math" panose="02040503050406030204" pitchFamily="18" charset="0"/>
                      </a:rPr>
                      <m:t>=</m:t>
                    </m:r>
                    <m:f>
                      <m:fPr>
                        <m:ctrlPr>
                          <a:rPr lang="en-US" sz="3000" i="1">
                            <a:latin typeface="Cambria Math" panose="02040503050406030204" pitchFamily="18" charset="0"/>
                          </a:rPr>
                        </m:ctrlPr>
                      </m:fPr>
                      <m:num>
                        <m:r>
                          <a:rPr lang="en-US" sz="3000" i="1">
                            <a:latin typeface="Cambria Math" panose="02040503050406030204" pitchFamily="18" charset="0"/>
                          </a:rPr>
                          <m:t>−15×</m:t>
                        </m:r>
                        <m:sSup>
                          <m:sSupPr>
                            <m:ctrlPr>
                              <a:rPr lang="en-US" sz="3000" i="1">
                                <a:latin typeface="Cambria Math" panose="02040503050406030204" pitchFamily="18" charset="0"/>
                              </a:rPr>
                            </m:ctrlPr>
                          </m:sSupPr>
                          <m:e>
                            <m:r>
                              <a:rPr lang="en-US" sz="3000" i="1">
                                <a:latin typeface="Cambria Math" panose="02040503050406030204" pitchFamily="18" charset="0"/>
                              </a:rPr>
                              <m:t>10</m:t>
                            </m:r>
                          </m:e>
                          <m:sup>
                            <m:r>
                              <a:rPr lang="en-US" sz="3000" i="1">
                                <a:latin typeface="Cambria Math" panose="02040503050406030204" pitchFamily="18" charset="0"/>
                              </a:rPr>
                              <m:t>−3</m:t>
                            </m:r>
                          </m:sup>
                        </m:sSup>
                      </m:num>
                      <m:den>
                        <m:r>
                          <a:rPr lang="en-US" sz="3000" i="1">
                            <a:latin typeface="Cambria Math" panose="02040503050406030204" pitchFamily="18" charset="0"/>
                          </a:rPr>
                          <m:t>1×</m:t>
                        </m:r>
                        <m:sSup>
                          <m:sSupPr>
                            <m:ctrlPr>
                              <a:rPr lang="en-US" sz="3000" i="1">
                                <a:latin typeface="Cambria Math" panose="02040503050406030204" pitchFamily="18" charset="0"/>
                              </a:rPr>
                            </m:ctrlPr>
                          </m:sSupPr>
                          <m:e>
                            <m:r>
                              <a:rPr lang="en-US" sz="3000" i="1">
                                <a:latin typeface="Cambria Math" panose="02040503050406030204" pitchFamily="18" charset="0"/>
                              </a:rPr>
                              <m:t>10</m:t>
                            </m:r>
                          </m:e>
                          <m:sup>
                            <m:r>
                              <a:rPr lang="en-US" sz="3000" i="1">
                                <a:latin typeface="Cambria Math" panose="02040503050406030204" pitchFamily="18" charset="0"/>
                              </a:rPr>
                              <m:t>−6</m:t>
                            </m:r>
                          </m:sup>
                        </m:sSup>
                        <m:r>
                          <a:rPr lang="en-US" sz="3000" i="1">
                            <a:latin typeface="Cambria Math" panose="02040503050406030204" pitchFamily="18" charset="0"/>
                          </a:rPr>
                          <m:t>𝑙𝑛</m:t>
                        </m:r>
                        <m:f>
                          <m:fPr>
                            <m:ctrlPr>
                              <a:rPr lang="en-US" sz="3000" i="1">
                                <a:latin typeface="Cambria Math" panose="02040503050406030204" pitchFamily="18" charset="0"/>
                              </a:rPr>
                            </m:ctrlPr>
                          </m:fPr>
                          <m:num>
                            <m:r>
                              <a:rPr lang="en-US" sz="3000" b="0" i="1" smtClean="0">
                                <a:latin typeface="Cambria Math" panose="02040503050406030204" pitchFamily="18" charset="0"/>
                              </a:rPr>
                              <m:t>0</m:t>
                            </m:r>
                            <m:r>
                              <a:rPr lang="en-US" sz="3000" i="1">
                                <a:latin typeface="Cambria Math" panose="02040503050406030204" pitchFamily="18" charset="0"/>
                              </a:rPr>
                              <m:t>.</m:t>
                            </m:r>
                            <m:r>
                              <a:rPr lang="en-US" sz="3000" b="0" i="1" smtClean="0">
                                <a:latin typeface="Cambria Math" panose="02040503050406030204" pitchFamily="18" charset="0"/>
                              </a:rPr>
                              <m:t>8</m:t>
                            </m:r>
                          </m:num>
                          <m:den>
                            <m:r>
                              <a:rPr lang="en-US" sz="3000" i="1">
                                <a:latin typeface="Cambria Math" panose="02040503050406030204" pitchFamily="18" charset="0"/>
                              </a:rPr>
                              <m:t>5</m:t>
                            </m:r>
                          </m:den>
                        </m:f>
                      </m:den>
                    </m:f>
                    <m:r>
                      <a:rPr lang="en-US" sz="3000" i="1">
                        <a:latin typeface="Cambria Math" panose="02040503050406030204" pitchFamily="18" charset="0"/>
                      </a:rPr>
                      <m:t>=</m:t>
                    </m:r>
                    <m:r>
                      <a:rPr lang="en-US" sz="3000" b="0" i="1" smtClean="0">
                        <a:latin typeface="Cambria Math" panose="02040503050406030204" pitchFamily="18" charset="0"/>
                      </a:rPr>
                      <m:t>8</m:t>
                    </m:r>
                    <m:r>
                      <a:rPr lang="en-US" sz="3000" i="1">
                        <a:latin typeface="Cambria Math" panose="02040503050406030204" pitchFamily="18" charset="0"/>
                      </a:rPr>
                      <m:t>.</m:t>
                    </m:r>
                    <m:r>
                      <a:rPr lang="en-US" sz="3000" b="0" i="1" smtClean="0">
                        <a:latin typeface="Cambria Math" panose="02040503050406030204" pitchFamily="18" charset="0"/>
                      </a:rPr>
                      <m:t>185</m:t>
                    </m:r>
                    <m:r>
                      <a:rPr lang="en-US" sz="3000" i="1">
                        <a:latin typeface="Cambria Math" panose="02040503050406030204" pitchFamily="18" charset="0"/>
                      </a:rPr>
                      <m:t> </m:t>
                    </m:r>
                    <m:r>
                      <m:rPr>
                        <m:sty m:val="p"/>
                      </m:rPr>
                      <a:rPr lang="en-US" sz="3000">
                        <a:latin typeface="Cambria Math" panose="02040503050406030204" pitchFamily="18" charset="0"/>
                      </a:rPr>
                      <m:t>k</m:t>
                    </m:r>
                    <m:r>
                      <m:rPr>
                        <m:sty m:val="p"/>
                      </m:rPr>
                      <a:rPr lang="el-GR" sz="3000">
                        <a:latin typeface="Cambria Math" panose="02040503050406030204" pitchFamily="18" charset="0"/>
                      </a:rPr>
                      <m:t>Ω</m:t>
                    </m:r>
                    <m:r>
                      <a:rPr lang="el-GR" sz="3000" i="1">
                        <a:latin typeface="Cambria Math" panose="02040503050406030204" pitchFamily="18" charset="0"/>
                      </a:rPr>
                      <m:t> ≅8</m:t>
                    </m:r>
                    <m:r>
                      <a:rPr lang="en-US" sz="3000" b="0" i="1" smtClean="0">
                        <a:latin typeface="Cambria Math" panose="02040503050406030204" pitchFamily="18" charset="0"/>
                      </a:rPr>
                      <m:t>.2</m:t>
                    </m:r>
                    <m:r>
                      <a:rPr lang="el-GR" sz="3000" i="1">
                        <a:latin typeface="Cambria Math" panose="02040503050406030204" pitchFamily="18" charset="0"/>
                      </a:rPr>
                      <m:t> </m:t>
                    </m:r>
                    <m:r>
                      <m:rPr>
                        <m:sty m:val="p"/>
                      </m:rPr>
                      <a:rPr lang="en-US" sz="3000">
                        <a:latin typeface="Cambria Math" panose="02040503050406030204" pitchFamily="18" charset="0"/>
                      </a:rPr>
                      <m:t>k</m:t>
                    </m:r>
                    <m:r>
                      <m:rPr>
                        <m:sty m:val="p"/>
                      </m:rPr>
                      <a:rPr lang="el-GR" sz="3000">
                        <a:latin typeface="Cambria Math" panose="02040503050406030204" pitchFamily="18" charset="0"/>
                      </a:rPr>
                      <m:t>Ω</m:t>
                    </m:r>
                  </m:oMath>
                </a14:m>
                <a:endParaRPr lang="en-US" sz="3000" dirty="0"/>
              </a:p>
              <a:p>
                <a:pPr marL="0" marR="0" algn="just">
                  <a:spcBef>
                    <a:spcPts val="0"/>
                  </a:spcBef>
                  <a:buNone/>
                </a:pPr>
                <a:endParaRPr lang="en-US" dirty="0"/>
              </a:p>
              <a:p>
                <a:pPr marL="0" marR="0" algn="just">
                  <a:spcBef>
                    <a:spcPts val="0"/>
                  </a:spcBef>
                  <a:buNone/>
                </a:pPr>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a:p>
                <a:pPr marL="0" marR="0" algn="just">
                  <a:spcBef>
                    <a:spcPts val="0"/>
                  </a:spcBef>
                  <a:buNone/>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800" i="1" dirty="0">
                  <a:effectLst/>
                  <a:latin typeface="Arial" panose="020B0604020202020204" pitchFamily="34" charset="0"/>
                  <a:ea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C578D0DC-F522-4D4C-1AC7-BBEC72353D15}"/>
                  </a:ext>
                </a:extLst>
              </p:cNvPr>
              <p:cNvSpPr>
                <a:spLocks noGrp="1" noRot="1" noChangeAspect="1" noMove="1" noResize="1" noEditPoints="1" noAdjustHandles="1" noChangeArrowheads="1" noChangeShapeType="1" noTextEdit="1"/>
              </p:cNvSpPr>
              <p:nvPr>
                <p:ph idx="1"/>
              </p:nvPr>
            </p:nvSpPr>
            <p:spPr>
              <a:xfrm>
                <a:off x="167149" y="1219200"/>
                <a:ext cx="14310851" cy="6324600"/>
              </a:xfrm>
              <a:blipFill>
                <a:blip r:embed="rId3"/>
                <a:stretch>
                  <a:fillRect l="-1704" t="-1252" r="-1661" b="-96"/>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2D912B56-66BA-3E6E-87E0-D4561A87AD98}"/>
              </a:ext>
            </a:extLst>
          </p:cNvPr>
          <p:cNvSpPr>
            <a:spLocks noGrp="1"/>
          </p:cNvSpPr>
          <p:nvPr>
            <p:ph type="ftr" sz="quarter" idx="11"/>
          </p:nvPr>
        </p:nvSpPr>
        <p:spPr/>
        <p:txBody>
          <a:bodyPr/>
          <a:lstStyle/>
          <a:p>
            <a:r>
              <a:rPr lang="en-US"/>
              <a:t>Course Teacher: Prof. Dr. Engr. Muhibul Haque Bhuyan</a:t>
            </a:r>
          </a:p>
        </p:txBody>
      </p:sp>
      <p:sp>
        <p:nvSpPr>
          <p:cNvPr id="5" name="Slide Number Placeholder 4">
            <a:extLst>
              <a:ext uri="{FF2B5EF4-FFF2-40B4-BE49-F238E27FC236}">
                <a16:creationId xmlns:a16="http://schemas.microsoft.com/office/drawing/2014/main" id="{AA455481-3377-FC35-EEC8-DE748583FD9A}"/>
              </a:ext>
            </a:extLst>
          </p:cNvPr>
          <p:cNvSpPr>
            <a:spLocks noGrp="1"/>
          </p:cNvSpPr>
          <p:nvPr>
            <p:ph type="sldNum" sz="quarter" idx="12"/>
          </p:nvPr>
        </p:nvSpPr>
        <p:spPr/>
        <p:txBody>
          <a:bodyPr/>
          <a:lstStyle/>
          <a:p>
            <a:fld id="{B6F15528-21DE-4FAA-801E-634DDDAF4B2B}" type="slidenum">
              <a:rPr lang="en-US" smtClean="0"/>
              <a:pPr/>
              <a:t>33</a:t>
            </a:fld>
            <a:endParaRPr lang="en-US"/>
          </a:p>
        </p:txBody>
      </p:sp>
      <p:sp>
        <p:nvSpPr>
          <p:cNvPr id="6" name="Date Placeholder 5">
            <a:extLst>
              <a:ext uri="{FF2B5EF4-FFF2-40B4-BE49-F238E27FC236}">
                <a16:creationId xmlns:a16="http://schemas.microsoft.com/office/drawing/2014/main" id="{51F300D8-4585-D22B-8C98-B3BA5EA8DBC9}"/>
              </a:ext>
            </a:extLst>
          </p:cNvPr>
          <p:cNvSpPr>
            <a:spLocks noGrp="1"/>
          </p:cNvSpPr>
          <p:nvPr>
            <p:ph type="dt" sz="half" idx="10"/>
          </p:nvPr>
        </p:nvSpPr>
        <p:spPr/>
        <p:txBody>
          <a:bodyPr/>
          <a:lstStyle/>
          <a:p>
            <a:fld id="{0A7EAEA6-ABFA-44F2-B6E5-81382F9BE97B}" type="datetime3">
              <a:rPr lang="en-US" smtClean="0"/>
              <a:t>15 June 2026</a:t>
            </a:fld>
            <a:endParaRPr lang="en-US"/>
          </a:p>
        </p:txBody>
      </p:sp>
      <p:sp>
        <p:nvSpPr>
          <p:cNvPr id="13" name="Text Box 2">
            <a:extLst>
              <a:ext uri="{FF2B5EF4-FFF2-40B4-BE49-F238E27FC236}">
                <a16:creationId xmlns:a16="http://schemas.microsoft.com/office/drawing/2014/main" id="{DF7D210A-298E-8267-C6A8-D6F2E419EA90}"/>
              </a:ext>
            </a:extLst>
          </p:cNvPr>
          <p:cNvSpPr txBox="1">
            <a:spLocks noChangeArrowheads="1"/>
          </p:cNvSpPr>
          <p:nvPr/>
        </p:nvSpPr>
        <p:spPr bwMode="auto">
          <a:xfrm>
            <a:off x="11979275" y="4191000"/>
            <a:ext cx="2406650" cy="990600"/>
          </a:xfrm>
          <a:prstGeom prst="rect">
            <a:avLst/>
          </a:prstGeom>
          <a:solidFill>
            <a:srgbClr val="FFFFFF"/>
          </a:solidFill>
          <a:ln w="9525">
            <a:solidFill>
              <a:srgbClr val="000000"/>
            </a:solidFill>
            <a:miter lim="800000"/>
            <a:headEnd/>
            <a:tailEnd/>
          </a:ln>
        </p:spPr>
        <p:txBody>
          <a:bodyPr rot="0" vert="horz" wrap="square" lIns="45720" tIns="0" rIns="0" bIns="0" anchor="t" anchorCtr="0">
            <a:noAutofit/>
          </a:bodyPr>
          <a:lstStyle/>
          <a:p>
            <a:pPr marL="0" marR="0"/>
            <a:r>
              <a:rPr lang="en-US" sz="2000" dirty="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rPr>
              <a:t>For TTL IC family, we usually choose supply voltage, </a:t>
            </a:r>
            <a:r>
              <a:rPr lang="en-US" sz="2000" i="1" dirty="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rPr>
              <a:t>V</a:t>
            </a:r>
            <a:r>
              <a:rPr lang="en-US" sz="2000" i="1" baseline="-25000" dirty="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rPr>
              <a:t>CC</a:t>
            </a:r>
            <a:r>
              <a:rPr lang="en-US" sz="2000" dirty="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rPr>
              <a:t> = 5 V.</a:t>
            </a:r>
            <a:endParaRPr lang="en-US" sz="3200" dirty="0">
              <a:solidFill>
                <a:srgbClr val="FF0000"/>
              </a:solidFill>
              <a:effectLst/>
              <a:latin typeface="Times New Roman" panose="02020603050405020304" pitchFamily="18" charset="0"/>
              <a:ea typeface="Times New Roman" panose="02020603050405020304" pitchFamily="18" charset="0"/>
              <a:cs typeface="Angsana New" panose="02020603050405020304" pitchFamily="18" charset="-34"/>
            </a:endParaRPr>
          </a:p>
        </p:txBody>
      </p:sp>
    </p:spTree>
    <p:extLst>
      <p:ext uri="{BB962C8B-B14F-4D97-AF65-F5344CB8AC3E}">
        <p14:creationId xmlns:p14="http://schemas.microsoft.com/office/powerpoint/2010/main" val="16608562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EFF50-E630-0E87-5B92-927268C328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9A6634-D646-4D3F-16CC-B886D9397602}"/>
              </a:ext>
            </a:extLst>
          </p:cNvPr>
          <p:cNvSpPr>
            <a:spLocks noGrp="1"/>
          </p:cNvSpPr>
          <p:nvPr>
            <p:ph type="title"/>
          </p:nvPr>
        </p:nvSpPr>
        <p:spPr>
          <a:xfrm>
            <a:off x="73808" y="457200"/>
            <a:ext cx="13336901" cy="1066800"/>
          </a:xfrm>
        </p:spPr>
        <p:txBody>
          <a:bodyPr>
            <a:normAutofit/>
          </a:bodyPr>
          <a:lstStyle/>
          <a:p>
            <a:r>
              <a:rPr lang="en-US" sz="5400" b="1" dirty="0">
                <a:solidFill>
                  <a:srgbClr val="FF0000"/>
                </a:solidFill>
              </a:rPr>
              <a:t>Example 4 on Debouncing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67D76F6-D1AF-E04F-47B6-433A358D0704}"/>
                  </a:ext>
                </a:extLst>
              </p:cNvPr>
              <p:cNvSpPr>
                <a:spLocks noGrp="1"/>
              </p:cNvSpPr>
              <p:nvPr>
                <p:ph idx="1"/>
              </p:nvPr>
            </p:nvSpPr>
            <p:spPr>
              <a:xfrm>
                <a:off x="167149" y="1447800"/>
                <a:ext cx="14310851" cy="6096000"/>
              </a:xfrm>
            </p:spPr>
            <p:txBody>
              <a:bodyPr lIns="0" rIns="0">
                <a:noAutofit/>
              </a:bodyPr>
              <a:lstStyle/>
              <a:p>
                <a:pPr marL="124355" indent="0">
                  <a:buNone/>
                </a:pPr>
                <a:r>
                  <a:rPr lang="en-US" sz="3000" dirty="0"/>
                  <a:t>If we choose this value, therefore, during discharging, due to the leakage current of 2 mA, a voltage drop of </a:t>
                </a:r>
                <a14:m>
                  <m:oMath xmlns:m="http://schemas.openxmlformats.org/officeDocument/2006/math">
                    <m:r>
                      <a:rPr lang="en-US" sz="3000" i="1">
                        <a:latin typeface="Cambria Math" panose="02040503050406030204" pitchFamily="18" charset="0"/>
                      </a:rPr>
                      <m:t>𝑉</m:t>
                    </m:r>
                    <m:r>
                      <a:rPr lang="en-US" sz="3000" i="1">
                        <a:latin typeface="Cambria Math" panose="02040503050406030204" pitchFamily="18" charset="0"/>
                      </a:rPr>
                      <m:t>=</m:t>
                    </m:r>
                    <m:r>
                      <a:rPr lang="en-US" sz="3000" i="1">
                        <a:latin typeface="Cambria Math" panose="02040503050406030204" pitchFamily="18" charset="0"/>
                      </a:rPr>
                      <m:t>𝐼𝑅</m:t>
                    </m:r>
                    <m:r>
                      <a:rPr lang="en-US" sz="3000" i="1">
                        <a:latin typeface="Cambria Math" panose="02040503050406030204" pitchFamily="18" charset="0"/>
                      </a:rPr>
                      <m:t>=2×</m:t>
                    </m:r>
                    <m:sSup>
                      <m:sSupPr>
                        <m:ctrlPr>
                          <a:rPr lang="en-US" sz="3000" i="1">
                            <a:latin typeface="Cambria Math" panose="02040503050406030204" pitchFamily="18" charset="0"/>
                          </a:rPr>
                        </m:ctrlPr>
                      </m:sSupPr>
                      <m:e>
                        <m:r>
                          <a:rPr lang="en-US" sz="3000" i="1">
                            <a:latin typeface="Cambria Math" panose="02040503050406030204" pitchFamily="18" charset="0"/>
                          </a:rPr>
                          <m:t>10</m:t>
                        </m:r>
                      </m:e>
                      <m:sup>
                        <m:r>
                          <a:rPr lang="en-US" sz="3000" i="1">
                            <a:latin typeface="Cambria Math" panose="02040503050406030204" pitchFamily="18" charset="0"/>
                          </a:rPr>
                          <m:t>−6</m:t>
                        </m:r>
                      </m:sup>
                    </m:sSup>
                    <m:r>
                      <a:rPr lang="en-US" sz="3000" i="1">
                        <a:latin typeface="Cambria Math" panose="02040503050406030204" pitchFamily="18" charset="0"/>
                      </a:rPr>
                      <m:t>×8</m:t>
                    </m:r>
                    <m:r>
                      <a:rPr lang="en-US" sz="3000" b="0" i="1" smtClean="0">
                        <a:latin typeface="Cambria Math" panose="02040503050406030204" pitchFamily="18" charset="0"/>
                      </a:rPr>
                      <m:t>.2</m:t>
                    </m:r>
                    <m:r>
                      <a:rPr lang="en-US" sz="3000" i="1">
                        <a:latin typeface="Cambria Math" panose="02040503050406030204" pitchFamily="18" charset="0"/>
                      </a:rPr>
                      <m:t>×</m:t>
                    </m:r>
                    <m:sSup>
                      <m:sSupPr>
                        <m:ctrlPr>
                          <a:rPr lang="en-US" sz="3000" i="1">
                            <a:latin typeface="Cambria Math" panose="02040503050406030204" pitchFamily="18" charset="0"/>
                          </a:rPr>
                        </m:ctrlPr>
                      </m:sSupPr>
                      <m:e>
                        <m:r>
                          <a:rPr lang="en-US" sz="3000" i="1">
                            <a:latin typeface="Cambria Math" panose="02040503050406030204" pitchFamily="18" charset="0"/>
                          </a:rPr>
                          <m:t>10</m:t>
                        </m:r>
                      </m:e>
                      <m:sup>
                        <m:r>
                          <a:rPr lang="en-US" sz="3000" i="1">
                            <a:latin typeface="Cambria Math" panose="02040503050406030204" pitchFamily="18" charset="0"/>
                          </a:rPr>
                          <m:t>3</m:t>
                        </m:r>
                      </m:sup>
                    </m:sSup>
                    <m:r>
                      <a:rPr lang="en-US" sz="3000" i="1">
                        <a:latin typeface="Cambria Math" panose="02040503050406030204" pitchFamily="18" charset="0"/>
                      </a:rPr>
                      <m:t>=0.0</m:t>
                    </m:r>
                    <m:r>
                      <a:rPr lang="en-US" sz="3000" b="0" i="1" smtClean="0">
                        <a:latin typeface="Cambria Math" panose="02040503050406030204" pitchFamily="18" charset="0"/>
                      </a:rPr>
                      <m:t>1</m:t>
                    </m:r>
                    <m:r>
                      <a:rPr lang="en-US" sz="3000" i="1">
                        <a:latin typeface="Cambria Math" panose="02040503050406030204" pitchFamily="18" charset="0"/>
                      </a:rPr>
                      <m:t>6</m:t>
                    </m:r>
                    <m:r>
                      <a:rPr lang="en-US" sz="3000" b="0" i="1" smtClean="0">
                        <a:latin typeface="Cambria Math" panose="02040503050406030204" pitchFamily="18" charset="0"/>
                      </a:rPr>
                      <m:t>4</m:t>
                    </m:r>
                  </m:oMath>
                </a14:m>
                <a:r>
                  <a:rPr lang="en-US" sz="3000" dirty="0"/>
                  <a:t> V would occur, and it is comfortably far away from the gate’s best-case switching point of 0.4 V. Therefore, we can choose this capacitor’s capacitance value of 1 </a:t>
                </a:r>
                <a:r>
                  <a:rPr lang="en-US" sz="3000" dirty="0" err="1"/>
                  <a:t>μF</a:t>
                </a:r>
                <a:r>
                  <a:rPr lang="en-US" sz="3000" dirty="0"/>
                  <a:t> so that the resistance of the discharging path is 8.2</a:t>
                </a:r>
                <a14:m>
                  <m:oMath xmlns:m="http://schemas.openxmlformats.org/officeDocument/2006/math">
                    <m:r>
                      <a:rPr lang="en-US" sz="3000" i="1">
                        <a:latin typeface="Cambria Math" panose="02040503050406030204" pitchFamily="18" charset="0"/>
                      </a:rPr>
                      <m:t> </m:t>
                    </m:r>
                    <m:r>
                      <m:rPr>
                        <m:sty m:val="p"/>
                      </m:rPr>
                      <a:rPr lang="en-US" sz="3000">
                        <a:latin typeface="Cambria Math" panose="02040503050406030204" pitchFamily="18" charset="0"/>
                      </a:rPr>
                      <m:t>k</m:t>
                    </m:r>
                    <m:r>
                      <m:rPr>
                        <m:sty m:val="p"/>
                      </m:rPr>
                      <a:rPr lang="el-GR" sz="3000">
                        <a:latin typeface="Cambria Math" panose="02040503050406030204" pitchFamily="18" charset="0"/>
                      </a:rPr>
                      <m:t>Ω</m:t>
                    </m:r>
                  </m:oMath>
                </a14:m>
                <a:r>
                  <a:rPr lang="en-US" sz="3000" dirty="0"/>
                  <a:t>.</a:t>
                </a:r>
              </a:p>
              <a:p>
                <a:pPr marL="124355" indent="0">
                  <a:buNone/>
                </a:pPr>
                <a:r>
                  <a:rPr lang="en-US" sz="3000" dirty="0"/>
                  <a:t>Again, during the rising of the signal, we choose this capacitance value, that is, </a:t>
                </a:r>
                <a:r>
                  <a:rPr lang="en-US" sz="3000" i="1" dirty="0"/>
                  <a:t>C</a:t>
                </a:r>
                <a:r>
                  <a:rPr lang="en-US" sz="3000" dirty="0"/>
                  <a:t> = 1 </a:t>
                </a:r>
                <a:r>
                  <a:rPr lang="en-US" sz="3000" dirty="0">
                    <a:latin typeface="Symbol" panose="05050102010706020507" pitchFamily="18" charset="2"/>
                  </a:rPr>
                  <a:t>m</a:t>
                </a:r>
                <a:r>
                  <a:rPr lang="en-US" sz="3000" dirty="0"/>
                  <a:t>F and use the capacitor’s charging equation, </a:t>
                </a:r>
                <a14:m>
                  <m:oMath xmlns:m="http://schemas.openxmlformats.org/officeDocument/2006/math">
                    <m:sSub>
                      <m:sSubPr>
                        <m:ctrlPr>
                          <a:rPr lang="en-US" sz="3000" i="1">
                            <a:latin typeface="Cambria Math" panose="02040503050406030204" pitchFamily="18" charset="0"/>
                          </a:rPr>
                        </m:ctrlPr>
                      </m:sSubPr>
                      <m:e>
                        <m:r>
                          <a:rPr lang="en-US" sz="3000" i="1">
                            <a:latin typeface="Cambria Math" panose="02040503050406030204" pitchFamily="18" charset="0"/>
                          </a:rPr>
                          <m:t>𝑉</m:t>
                        </m:r>
                      </m:e>
                      <m:sub>
                        <m:r>
                          <a:rPr lang="en-US" sz="3000" i="1">
                            <a:latin typeface="Cambria Math" panose="02040503050406030204" pitchFamily="18" charset="0"/>
                          </a:rPr>
                          <m:t>𝑐</m:t>
                        </m:r>
                      </m:sub>
                    </m:sSub>
                    <m:r>
                      <a:rPr lang="en-US" sz="3000" i="1">
                        <a:latin typeface="Cambria Math" panose="02040503050406030204" pitchFamily="18" charset="0"/>
                      </a:rPr>
                      <m:t>=</m:t>
                    </m:r>
                    <m:sSub>
                      <m:sSubPr>
                        <m:ctrlPr>
                          <a:rPr lang="en-US" sz="3000" i="1">
                            <a:latin typeface="Cambria Math" panose="02040503050406030204" pitchFamily="18" charset="0"/>
                          </a:rPr>
                        </m:ctrlPr>
                      </m:sSubPr>
                      <m:e>
                        <m:r>
                          <a:rPr lang="en-US" sz="3000" i="1">
                            <a:latin typeface="Cambria Math" panose="02040503050406030204" pitchFamily="18" charset="0"/>
                          </a:rPr>
                          <m:t>𝑣</m:t>
                        </m:r>
                      </m:e>
                      <m:sub>
                        <m:r>
                          <a:rPr lang="en-US" sz="3000" i="1">
                            <a:latin typeface="Cambria Math" panose="02040503050406030204" pitchFamily="18" charset="0"/>
                          </a:rPr>
                          <m:t>𝑡h</m:t>
                        </m:r>
                        <m:r>
                          <a:rPr lang="en-US" sz="3000" b="0" i="1" smtClean="0">
                            <a:latin typeface="Cambria Math" panose="02040503050406030204" pitchFamily="18" charset="0"/>
                          </a:rPr>
                          <m:t>+</m:t>
                        </m:r>
                      </m:sub>
                    </m:sSub>
                    <m:r>
                      <a:rPr lang="en-US" sz="3000" i="1">
                        <a:latin typeface="Cambria Math" panose="02040503050406030204" pitchFamily="18" charset="0"/>
                      </a:rPr>
                      <m:t>=</m:t>
                    </m:r>
                    <m:sSub>
                      <m:sSubPr>
                        <m:ctrlPr>
                          <a:rPr lang="en-US" sz="3000" i="1">
                            <a:latin typeface="Cambria Math" panose="02040503050406030204" pitchFamily="18" charset="0"/>
                          </a:rPr>
                        </m:ctrlPr>
                      </m:sSubPr>
                      <m:e>
                        <m:r>
                          <a:rPr lang="en-US" sz="3000" i="1">
                            <a:latin typeface="Cambria Math" panose="02040503050406030204" pitchFamily="18" charset="0"/>
                          </a:rPr>
                          <m:t>𝑉</m:t>
                        </m:r>
                      </m:e>
                      <m:sub>
                        <m:r>
                          <a:rPr lang="en-US" sz="3000" i="1">
                            <a:latin typeface="Cambria Math" panose="02040503050406030204" pitchFamily="18" charset="0"/>
                          </a:rPr>
                          <m:t>𝑓𝑖𝑛𝑎𝑙</m:t>
                        </m:r>
                      </m:sub>
                    </m:sSub>
                    <m:d>
                      <m:dPr>
                        <m:ctrlPr>
                          <a:rPr lang="en-US" sz="3000" i="1">
                            <a:latin typeface="Cambria Math" panose="02040503050406030204" pitchFamily="18" charset="0"/>
                          </a:rPr>
                        </m:ctrlPr>
                      </m:dPr>
                      <m:e>
                        <m:r>
                          <a:rPr lang="en-US" sz="3000" i="1">
                            <a:latin typeface="Cambria Math" panose="02040503050406030204" pitchFamily="18" charset="0"/>
                          </a:rPr>
                          <m:t>1−</m:t>
                        </m:r>
                        <m:sSup>
                          <m:sSupPr>
                            <m:ctrlPr>
                              <a:rPr lang="en-US" sz="3000" i="1">
                                <a:latin typeface="Cambria Math" panose="02040503050406030204" pitchFamily="18" charset="0"/>
                              </a:rPr>
                            </m:ctrlPr>
                          </m:sSupPr>
                          <m:e>
                            <m:r>
                              <a:rPr lang="en-US" sz="3000" i="1">
                                <a:latin typeface="Cambria Math" panose="02040503050406030204" pitchFamily="18" charset="0"/>
                              </a:rPr>
                              <m:t>𝑒</m:t>
                            </m:r>
                          </m:e>
                          <m:sup>
                            <m:r>
                              <a:rPr lang="en-US" sz="3000" i="1">
                                <a:latin typeface="Cambria Math" panose="02040503050406030204" pitchFamily="18" charset="0"/>
                              </a:rPr>
                              <m:t>−</m:t>
                            </m:r>
                            <m:f>
                              <m:fPr>
                                <m:type m:val="lin"/>
                                <m:ctrlPr>
                                  <a:rPr lang="en-US" sz="3000" i="1">
                                    <a:latin typeface="Cambria Math" panose="02040503050406030204" pitchFamily="18" charset="0"/>
                                  </a:rPr>
                                </m:ctrlPr>
                              </m:fPr>
                              <m:num>
                                <m:r>
                                  <a:rPr lang="en-US" sz="3000" i="1">
                                    <a:latin typeface="Cambria Math" panose="02040503050406030204" pitchFamily="18" charset="0"/>
                                  </a:rPr>
                                  <m:t>𝑡</m:t>
                                </m:r>
                              </m:num>
                              <m:den>
                                <m:r>
                                  <a:rPr lang="en-US" sz="3000" i="1">
                                    <a:latin typeface="Cambria Math" panose="02040503050406030204" pitchFamily="18" charset="0"/>
                                  </a:rPr>
                                  <m:t>𝑅𝐶</m:t>
                                </m:r>
                              </m:den>
                            </m:f>
                          </m:sup>
                        </m:sSup>
                      </m:e>
                    </m:d>
                    <m:r>
                      <a:rPr lang="en-US" sz="3000" i="1">
                        <a:latin typeface="Cambria Math" panose="02040503050406030204" pitchFamily="18" charset="0"/>
                      </a:rPr>
                      <m:t>.</m:t>
                    </m:r>
                  </m:oMath>
                </a14:m>
                <a:r>
                  <a:rPr lang="en-US" sz="3000" dirty="0"/>
                  <a:t> After rearranging the equation, we get </a:t>
                </a:r>
                <a14:m>
                  <m:oMath xmlns:m="http://schemas.openxmlformats.org/officeDocument/2006/math">
                    <m:r>
                      <a:rPr lang="en-US" sz="3000" i="1">
                        <a:latin typeface="Cambria Math" panose="02040503050406030204" pitchFamily="18" charset="0"/>
                      </a:rPr>
                      <m:t>𝑅</m:t>
                    </m:r>
                    <m:r>
                      <a:rPr lang="en-US" sz="3000" i="1">
                        <a:latin typeface="Cambria Math" panose="02040503050406030204" pitchFamily="18" charset="0"/>
                      </a:rPr>
                      <m:t>=−</m:t>
                    </m:r>
                    <m:f>
                      <m:fPr>
                        <m:ctrlPr>
                          <a:rPr lang="en-US" sz="3000" i="1">
                            <a:latin typeface="Cambria Math" panose="02040503050406030204" pitchFamily="18" charset="0"/>
                          </a:rPr>
                        </m:ctrlPr>
                      </m:fPr>
                      <m:num>
                        <m:r>
                          <a:rPr lang="en-US" sz="3000" i="1">
                            <a:latin typeface="Cambria Math" panose="02040503050406030204" pitchFamily="18" charset="0"/>
                          </a:rPr>
                          <m:t>𝑡</m:t>
                        </m:r>
                      </m:num>
                      <m:den>
                        <m:r>
                          <a:rPr lang="en-US" sz="3000" i="1">
                            <a:latin typeface="Cambria Math" panose="02040503050406030204" pitchFamily="18" charset="0"/>
                          </a:rPr>
                          <m:t>𝐶𝑙𝑛</m:t>
                        </m:r>
                        <m:d>
                          <m:dPr>
                            <m:ctrlPr>
                              <a:rPr lang="en-US" sz="3000" i="1">
                                <a:latin typeface="Cambria Math" panose="02040503050406030204" pitchFamily="18" charset="0"/>
                              </a:rPr>
                            </m:ctrlPr>
                          </m:dPr>
                          <m:e>
                            <m:r>
                              <a:rPr lang="en-US" sz="3000" i="1">
                                <a:latin typeface="Cambria Math" panose="02040503050406030204" pitchFamily="18" charset="0"/>
                              </a:rPr>
                              <m:t>1−</m:t>
                            </m:r>
                            <m:f>
                              <m:fPr>
                                <m:ctrlPr>
                                  <a:rPr lang="en-US" sz="3000" i="1">
                                    <a:latin typeface="Cambria Math" panose="02040503050406030204" pitchFamily="18" charset="0"/>
                                  </a:rPr>
                                </m:ctrlPr>
                              </m:fPr>
                              <m:num>
                                <m:sSub>
                                  <m:sSubPr>
                                    <m:ctrlPr>
                                      <a:rPr lang="en-US" sz="3000" i="1">
                                        <a:latin typeface="Cambria Math" panose="02040503050406030204" pitchFamily="18" charset="0"/>
                                      </a:rPr>
                                    </m:ctrlPr>
                                  </m:sSubPr>
                                  <m:e>
                                    <m:r>
                                      <a:rPr lang="en-US" sz="3000" i="1">
                                        <a:latin typeface="Cambria Math" panose="02040503050406030204" pitchFamily="18" charset="0"/>
                                      </a:rPr>
                                      <m:t>𝑉</m:t>
                                    </m:r>
                                  </m:e>
                                  <m:sub>
                                    <m:r>
                                      <a:rPr lang="en-US" sz="3000" i="1">
                                        <a:latin typeface="Cambria Math" panose="02040503050406030204" pitchFamily="18" charset="0"/>
                                      </a:rPr>
                                      <m:t>𝑡h</m:t>
                                    </m:r>
                                    <m:r>
                                      <a:rPr lang="en-US" sz="3000" b="0" i="1" smtClean="0">
                                        <a:latin typeface="Cambria Math" panose="02040503050406030204" pitchFamily="18" charset="0"/>
                                      </a:rPr>
                                      <m:t>+</m:t>
                                    </m:r>
                                  </m:sub>
                                </m:sSub>
                              </m:num>
                              <m:den>
                                <m:sSub>
                                  <m:sSubPr>
                                    <m:ctrlPr>
                                      <a:rPr lang="en-US" sz="3000" i="1">
                                        <a:latin typeface="Cambria Math" panose="02040503050406030204" pitchFamily="18" charset="0"/>
                                      </a:rPr>
                                    </m:ctrlPr>
                                  </m:sSubPr>
                                  <m:e>
                                    <m:r>
                                      <a:rPr lang="en-US" sz="3000" i="1">
                                        <a:latin typeface="Cambria Math" panose="02040503050406030204" pitchFamily="18" charset="0"/>
                                      </a:rPr>
                                      <m:t>𝑉</m:t>
                                    </m:r>
                                  </m:e>
                                  <m:sub>
                                    <m:r>
                                      <a:rPr lang="en-US" sz="3000" i="1">
                                        <a:latin typeface="Cambria Math" panose="02040503050406030204" pitchFamily="18" charset="0"/>
                                      </a:rPr>
                                      <m:t>𝑓𝑖𝑛𝑎𝑙</m:t>
                                    </m:r>
                                  </m:sub>
                                </m:sSub>
                              </m:den>
                            </m:f>
                          </m:e>
                        </m:d>
                      </m:den>
                    </m:f>
                  </m:oMath>
                </a14:m>
                <a:r>
                  <a:rPr lang="en-US" sz="3000" dirty="0"/>
                  <a:t>, and then putting the values, we find </a:t>
                </a:r>
                <a14:m>
                  <m:oMath xmlns:m="http://schemas.openxmlformats.org/officeDocument/2006/math">
                    <m:sSub>
                      <m:sSubPr>
                        <m:ctrlPr>
                          <a:rPr lang="en-US" sz="3000" i="1">
                            <a:latin typeface="Cambria Math" panose="02040503050406030204" pitchFamily="18" charset="0"/>
                          </a:rPr>
                        </m:ctrlPr>
                      </m:sSubPr>
                      <m:e>
                        <m:r>
                          <a:rPr lang="en-US" sz="3000" i="1">
                            <a:latin typeface="Cambria Math" panose="02040503050406030204" pitchFamily="18" charset="0"/>
                          </a:rPr>
                          <m:t>𝑅</m:t>
                        </m:r>
                      </m:e>
                      <m:sub>
                        <m:r>
                          <a:rPr lang="en-US" sz="3000" i="1">
                            <a:latin typeface="Cambria Math" panose="02040503050406030204" pitchFamily="18" charset="0"/>
                          </a:rPr>
                          <m:t>1</m:t>
                        </m:r>
                      </m:sub>
                    </m:sSub>
                    <m:r>
                      <a:rPr lang="en-US" sz="3000" i="1">
                        <a:latin typeface="Cambria Math" panose="02040503050406030204" pitchFamily="18" charset="0"/>
                      </a:rPr>
                      <m:t>+</m:t>
                    </m:r>
                    <m:sSub>
                      <m:sSubPr>
                        <m:ctrlPr>
                          <a:rPr lang="en-US" sz="3000" i="1">
                            <a:latin typeface="Cambria Math" panose="02040503050406030204" pitchFamily="18" charset="0"/>
                          </a:rPr>
                        </m:ctrlPr>
                      </m:sSubPr>
                      <m:e>
                        <m:r>
                          <a:rPr lang="en-US" sz="3000" i="1">
                            <a:latin typeface="Cambria Math" panose="02040503050406030204" pitchFamily="18" charset="0"/>
                          </a:rPr>
                          <m:t>𝑅</m:t>
                        </m:r>
                      </m:e>
                      <m:sub>
                        <m:r>
                          <a:rPr lang="en-US" sz="3000" i="1">
                            <a:latin typeface="Cambria Math" panose="02040503050406030204" pitchFamily="18" charset="0"/>
                          </a:rPr>
                          <m:t>2</m:t>
                        </m:r>
                      </m:sub>
                    </m:sSub>
                    <m:r>
                      <a:rPr lang="en-US" sz="3000" i="1">
                        <a:latin typeface="Cambria Math" panose="02040503050406030204" pitchFamily="18" charset="0"/>
                      </a:rPr>
                      <m:t>=</m:t>
                    </m:r>
                    <m:f>
                      <m:fPr>
                        <m:ctrlPr>
                          <a:rPr lang="en-US" sz="3000" i="1">
                            <a:latin typeface="Cambria Math" panose="02040503050406030204" pitchFamily="18" charset="0"/>
                          </a:rPr>
                        </m:ctrlPr>
                      </m:fPr>
                      <m:num>
                        <m:r>
                          <a:rPr lang="en-US" sz="3000" i="1">
                            <a:latin typeface="Cambria Math" panose="02040503050406030204" pitchFamily="18" charset="0"/>
                          </a:rPr>
                          <m:t>−15×</m:t>
                        </m:r>
                        <m:sSup>
                          <m:sSupPr>
                            <m:ctrlPr>
                              <a:rPr lang="en-US" sz="3000" i="1">
                                <a:latin typeface="Cambria Math" panose="02040503050406030204" pitchFamily="18" charset="0"/>
                              </a:rPr>
                            </m:ctrlPr>
                          </m:sSupPr>
                          <m:e>
                            <m:r>
                              <a:rPr lang="en-US" sz="3000" i="1">
                                <a:latin typeface="Cambria Math" panose="02040503050406030204" pitchFamily="18" charset="0"/>
                              </a:rPr>
                              <m:t>10</m:t>
                            </m:r>
                          </m:e>
                          <m:sup>
                            <m:r>
                              <a:rPr lang="en-US" sz="3000" i="1">
                                <a:latin typeface="Cambria Math" panose="02040503050406030204" pitchFamily="18" charset="0"/>
                              </a:rPr>
                              <m:t>−3</m:t>
                            </m:r>
                          </m:sup>
                        </m:sSup>
                      </m:num>
                      <m:den>
                        <m:r>
                          <a:rPr lang="en-US" sz="3000" i="1">
                            <a:latin typeface="Cambria Math" panose="02040503050406030204" pitchFamily="18" charset="0"/>
                          </a:rPr>
                          <m:t>1×</m:t>
                        </m:r>
                        <m:sSup>
                          <m:sSupPr>
                            <m:ctrlPr>
                              <a:rPr lang="en-US" sz="3000" i="1">
                                <a:latin typeface="Cambria Math" panose="02040503050406030204" pitchFamily="18" charset="0"/>
                              </a:rPr>
                            </m:ctrlPr>
                          </m:sSupPr>
                          <m:e>
                            <m:r>
                              <a:rPr lang="en-US" sz="3000" i="1">
                                <a:latin typeface="Cambria Math" panose="02040503050406030204" pitchFamily="18" charset="0"/>
                              </a:rPr>
                              <m:t>10</m:t>
                            </m:r>
                          </m:e>
                          <m:sup>
                            <m:r>
                              <a:rPr lang="en-US" sz="3000" i="1">
                                <a:latin typeface="Cambria Math" panose="02040503050406030204" pitchFamily="18" charset="0"/>
                              </a:rPr>
                              <m:t>−6</m:t>
                            </m:r>
                          </m:sup>
                        </m:sSup>
                        <m:r>
                          <a:rPr lang="en-US" sz="3000" i="1">
                            <a:latin typeface="Cambria Math" panose="02040503050406030204" pitchFamily="18" charset="0"/>
                          </a:rPr>
                          <m:t>𝑙𝑛</m:t>
                        </m:r>
                        <m:d>
                          <m:dPr>
                            <m:ctrlPr>
                              <a:rPr lang="en-US" sz="3000" i="1">
                                <a:latin typeface="Cambria Math" panose="02040503050406030204" pitchFamily="18" charset="0"/>
                              </a:rPr>
                            </m:ctrlPr>
                          </m:dPr>
                          <m:e>
                            <m:r>
                              <a:rPr lang="en-US" sz="3000" i="1">
                                <a:latin typeface="Cambria Math" panose="02040503050406030204" pitchFamily="18" charset="0"/>
                              </a:rPr>
                              <m:t>1−</m:t>
                            </m:r>
                            <m:f>
                              <m:fPr>
                                <m:ctrlPr>
                                  <a:rPr lang="en-US" sz="3000" i="1">
                                    <a:latin typeface="Cambria Math" panose="02040503050406030204" pitchFamily="18" charset="0"/>
                                  </a:rPr>
                                </m:ctrlPr>
                              </m:fPr>
                              <m:num>
                                <m:r>
                                  <a:rPr lang="en-US" sz="3000" b="0" i="1" smtClean="0">
                                    <a:latin typeface="Cambria Math" panose="02040503050406030204" pitchFamily="18" charset="0"/>
                                  </a:rPr>
                                  <m:t>2.1</m:t>
                                </m:r>
                              </m:num>
                              <m:den>
                                <m:r>
                                  <a:rPr lang="en-US" sz="3000" i="1">
                                    <a:latin typeface="Cambria Math" panose="02040503050406030204" pitchFamily="18" charset="0"/>
                                  </a:rPr>
                                  <m:t>5</m:t>
                                </m:r>
                              </m:den>
                            </m:f>
                          </m:e>
                        </m:d>
                      </m:den>
                    </m:f>
                    <m:r>
                      <a:rPr lang="en-US" sz="3000" i="1">
                        <a:latin typeface="Cambria Math" panose="02040503050406030204" pitchFamily="18" charset="0"/>
                      </a:rPr>
                      <m:t>=</m:t>
                    </m:r>
                    <m:r>
                      <a:rPr lang="en-US" sz="3000" b="0" i="1" smtClean="0">
                        <a:latin typeface="Cambria Math" panose="02040503050406030204" pitchFamily="18" charset="0"/>
                      </a:rPr>
                      <m:t>27</m:t>
                    </m:r>
                    <m:r>
                      <a:rPr lang="en-US" sz="3000" i="1">
                        <a:latin typeface="Cambria Math" panose="02040503050406030204" pitchFamily="18" charset="0"/>
                      </a:rPr>
                      <m:t>.</m:t>
                    </m:r>
                    <m:r>
                      <a:rPr lang="en-US" sz="3000" b="0" i="1" smtClean="0">
                        <a:latin typeface="Cambria Math" panose="02040503050406030204" pitchFamily="18" charset="0"/>
                      </a:rPr>
                      <m:t>54</m:t>
                    </m:r>
                    <m:r>
                      <m:rPr>
                        <m:nor/>
                      </m:rPr>
                      <a:rPr lang="en-US" sz="3000"/>
                      <m:t> </m:t>
                    </m:r>
                    <m:r>
                      <m:rPr>
                        <m:sty m:val="p"/>
                      </m:rPr>
                      <a:rPr lang="en-US" sz="3000">
                        <a:latin typeface="Cambria Math" panose="02040503050406030204" pitchFamily="18" charset="0"/>
                      </a:rPr>
                      <m:t>k</m:t>
                    </m:r>
                    <m:r>
                      <m:rPr>
                        <m:sty m:val="p"/>
                      </m:rPr>
                      <a:rPr lang="el-GR" sz="3000">
                        <a:latin typeface="Cambria Math" panose="02040503050406030204" pitchFamily="18" charset="0"/>
                      </a:rPr>
                      <m:t>Ω</m:t>
                    </m:r>
                  </m:oMath>
                </a14:m>
                <a:endParaRPr lang="en-US" sz="3000" dirty="0">
                  <a:effectLst/>
                  <a:latin typeface="Times New Roman" panose="02020603050405020304" pitchFamily="18" charset="0"/>
                  <a:ea typeface="Times New Roman" panose="02020603050405020304" pitchFamily="18" charset="0"/>
                  <a:cs typeface="Angsana New" panose="02020603050405020304" pitchFamily="18" charset="-34"/>
                </a:endParaRPr>
              </a:p>
            </p:txBody>
          </p:sp>
        </mc:Choice>
        <mc:Fallback xmlns="">
          <p:sp>
            <p:nvSpPr>
              <p:cNvPr id="3" name="Content Placeholder 2">
                <a:extLst>
                  <a:ext uri="{FF2B5EF4-FFF2-40B4-BE49-F238E27FC236}">
                    <a16:creationId xmlns:a16="http://schemas.microsoft.com/office/drawing/2014/main" id="{767D76F6-D1AF-E04F-47B6-433A358D0704}"/>
                  </a:ext>
                </a:extLst>
              </p:cNvPr>
              <p:cNvSpPr>
                <a:spLocks noGrp="1" noRot="1" noChangeAspect="1" noMove="1" noResize="1" noEditPoints="1" noAdjustHandles="1" noChangeArrowheads="1" noChangeShapeType="1" noTextEdit="1"/>
              </p:cNvSpPr>
              <p:nvPr>
                <p:ph idx="1"/>
              </p:nvPr>
            </p:nvSpPr>
            <p:spPr>
              <a:xfrm>
                <a:off x="167149" y="1447800"/>
                <a:ext cx="14310851" cy="6096000"/>
              </a:xfrm>
              <a:blipFill>
                <a:blip r:embed="rId3"/>
                <a:stretch>
                  <a:fillRect l="-767" t="-1200" r="-1448"/>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358447D4-4322-B24A-B867-CDDE5461CB95}"/>
              </a:ext>
            </a:extLst>
          </p:cNvPr>
          <p:cNvSpPr>
            <a:spLocks noGrp="1"/>
          </p:cNvSpPr>
          <p:nvPr>
            <p:ph type="ftr" sz="quarter" idx="11"/>
          </p:nvPr>
        </p:nvSpPr>
        <p:spPr/>
        <p:txBody>
          <a:bodyPr/>
          <a:lstStyle/>
          <a:p>
            <a:r>
              <a:rPr lang="en-US"/>
              <a:t>Course Teacher: Prof. Dr. Engr. Muhibul Haque Bhuyan</a:t>
            </a:r>
          </a:p>
        </p:txBody>
      </p:sp>
      <p:sp>
        <p:nvSpPr>
          <p:cNvPr id="5" name="Slide Number Placeholder 4">
            <a:extLst>
              <a:ext uri="{FF2B5EF4-FFF2-40B4-BE49-F238E27FC236}">
                <a16:creationId xmlns:a16="http://schemas.microsoft.com/office/drawing/2014/main" id="{C3884E64-BD6F-CAC2-26B7-33F790444005}"/>
              </a:ext>
            </a:extLst>
          </p:cNvPr>
          <p:cNvSpPr>
            <a:spLocks noGrp="1"/>
          </p:cNvSpPr>
          <p:nvPr>
            <p:ph type="sldNum" sz="quarter" idx="12"/>
          </p:nvPr>
        </p:nvSpPr>
        <p:spPr/>
        <p:txBody>
          <a:bodyPr/>
          <a:lstStyle/>
          <a:p>
            <a:fld id="{B6F15528-21DE-4FAA-801E-634DDDAF4B2B}" type="slidenum">
              <a:rPr lang="en-US" smtClean="0"/>
              <a:pPr/>
              <a:t>34</a:t>
            </a:fld>
            <a:endParaRPr lang="en-US"/>
          </a:p>
        </p:txBody>
      </p:sp>
      <p:sp>
        <p:nvSpPr>
          <p:cNvPr id="6" name="Date Placeholder 5">
            <a:extLst>
              <a:ext uri="{FF2B5EF4-FFF2-40B4-BE49-F238E27FC236}">
                <a16:creationId xmlns:a16="http://schemas.microsoft.com/office/drawing/2014/main" id="{E4D6C142-B56F-E2D6-8E25-D0FA26F3DFD8}"/>
              </a:ext>
            </a:extLst>
          </p:cNvPr>
          <p:cNvSpPr>
            <a:spLocks noGrp="1"/>
          </p:cNvSpPr>
          <p:nvPr>
            <p:ph type="dt" sz="half" idx="10"/>
          </p:nvPr>
        </p:nvSpPr>
        <p:spPr/>
        <p:txBody>
          <a:bodyPr/>
          <a:lstStyle/>
          <a:p>
            <a:fld id="{0A7EAEA6-ABFA-44F2-B6E5-81382F9BE97B}" type="datetime3">
              <a:rPr lang="en-US" smtClean="0"/>
              <a:t>15 June 2026</a:t>
            </a:fld>
            <a:endParaRPr lang="en-US"/>
          </a:p>
        </p:txBody>
      </p:sp>
    </p:spTree>
    <p:extLst>
      <p:ext uri="{BB962C8B-B14F-4D97-AF65-F5344CB8AC3E}">
        <p14:creationId xmlns:p14="http://schemas.microsoft.com/office/powerpoint/2010/main" val="14073408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0716A-44A0-6FC9-340D-8A9FFDA6FD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88D0EC-2695-ACF1-7A18-E3DD43096968}"/>
              </a:ext>
            </a:extLst>
          </p:cNvPr>
          <p:cNvSpPr>
            <a:spLocks noGrp="1"/>
          </p:cNvSpPr>
          <p:nvPr>
            <p:ph type="title"/>
          </p:nvPr>
        </p:nvSpPr>
        <p:spPr>
          <a:xfrm>
            <a:off x="73808" y="457200"/>
            <a:ext cx="13336901" cy="1066800"/>
          </a:xfrm>
        </p:spPr>
        <p:txBody>
          <a:bodyPr>
            <a:normAutofit/>
          </a:bodyPr>
          <a:lstStyle/>
          <a:p>
            <a:r>
              <a:rPr lang="en-US" sz="5400" b="1" dirty="0">
                <a:solidFill>
                  <a:srgbClr val="FF0000"/>
                </a:solidFill>
              </a:rPr>
              <a:t>Example 4 on Debouncing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A18B66A-F7E1-FAED-58F3-D721E2B187E9}"/>
                  </a:ext>
                </a:extLst>
              </p:cNvPr>
              <p:cNvSpPr>
                <a:spLocks noGrp="1"/>
              </p:cNvSpPr>
              <p:nvPr>
                <p:ph idx="1"/>
              </p:nvPr>
            </p:nvSpPr>
            <p:spPr>
              <a:xfrm>
                <a:off x="167149" y="1447800"/>
                <a:ext cx="14310851" cy="6096000"/>
              </a:xfrm>
            </p:spPr>
            <p:txBody>
              <a:bodyPr lIns="0" rIns="0">
                <a:noAutofit/>
              </a:bodyPr>
              <a:lstStyle/>
              <a:p>
                <a:pPr marL="124355" indent="0">
                  <a:buNone/>
                </a:pPr>
                <a:r>
                  <a:rPr lang="en-US" dirty="0"/>
                  <a:t>Since, already we have calculated</a:t>
                </a:r>
                <a:r>
                  <a:rPr lang="en-US" i="1" dirty="0"/>
                  <a:t> R</a:t>
                </a:r>
                <a:r>
                  <a:rPr lang="en-US" baseline="-25000" dirty="0"/>
                  <a:t>2</a:t>
                </a:r>
                <a:r>
                  <a:rPr lang="en-US" dirty="0"/>
                  <a:t> = 8.2 </a:t>
                </a:r>
                <a:r>
                  <a:rPr lang="en-US" dirty="0" err="1"/>
                  <a:t>kΩ</a:t>
                </a:r>
                <a:r>
                  <a:rPr lang="en-US" dirty="0"/>
                  <a:t>, hence, </a:t>
                </a:r>
                <a:r>
                  <a:rPr lang="en-US" i="1" dirty="0"/>
                  <a:t>R</a:t>
                </a:r>
                <a:r>
                  <a:rPr lang="en-US" baseline="-25000" dirty="0"/>
                  <a:t>1</a:t>
                </a:r>
                <a:r>
                  <a:rPr lang="en-US" dirty="0"/>
                  <a:t> = 27.54 – 8.2 = 19.34 </a:t>
                </a:r>
                <a:r>
                  <a:rPr lang="en-US" dirty="0" err="1"/>
                  <a:t>kΩ</a:t>
                </a:r>
                <a:r>
                  <a:rPr lang="en-US" dirty="0"/>
                  <a:t> </a:t>
                </a:r>
                <a14:m>
                  <m:oMath xmlns:m="http://schemas.openxmlformats.org/officeDocument/2006/math">
                    <m:r>
                      <a:rPr lang="el-GR" sz="3200" i="1">
                        <a:latin typeface="Cambria Math" panose="02040503050406030204" pitchFamily="18" charset="0"/>
                      </a:rPr>
                      <m:t>≅</m:t>
                    </m:r>
                    <m:r>
                      <a:rPr lang="en-US" sz="3200" i="1">
                        <a:latin typeface="Cambria Math" panose="02040503050406030204" pitchFamily="18" charset="0"/>
                      </a:rPr>
                      <m:t>2</m:t>
                    </m:r>
                    <m:r>
                      <a:rPr lang="en-US" sz="3200" b="0" i="1" smtClean="0">
                        <a:latin typeface="Cambria Math" panose="02040503050406030204" pitchFamily="18" charset="0"/>
                      </a:rPr>
                      <m:t>0</m:t>
                    </m:r>
                    <m:r>
                      <a:rPr lang="en-US" sz="3200" i="1">
                        <a:latin typeface="Cambria Math" panose="02040503050406030204" pitchFamily="18" charset="0"/>
                      </a:rPr>
                      <m:t> </m:t>
                    </m:r>
                    <m:r>
                      <m:rPr>
                        <m:sty m:val="p"/>
                      </m:rPr>
                      <a:rPr lang="en-US" sz="3200">
                        <a:latin typeface="Cambria Math" panose="02040503050406030204" pitchFamily="18" charset="0"/>
                      </a:rPr>
                      <m:t>k</m:t>
                    </m:r>
                    <m:r>
                      <m:rPr>
                        <m:sty m:val="p"/>
                      </m:rPr>
                      <a:rPr lang="el-GR" sz="3200">
                        <a:latin typeface="Cambria Math" panose="02040503050406030204" pitchFamily="18" charset="0"/>
                      </a:rPr>
                      <m:t>Ω</m:t>
                    </m:r>
                  </m:oMath>
                </a14:m>
                <a:r>
                  <a:rPr lang="en-US" dirty="0"/>
                  <a:t>. Therefore, the final designed circuit is given as follows</a:t>
                </a:r>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spcBef>
                    <a:spcPts val="0"/>
                  </a:spcBef>
                  <a:buNone/>
                </a:pP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124355" indent="0">
                  <a:buNone/>
                </a:pPr>
                <a:r>
                  <a:rPr lang="en-US" dirty="0"/>
                  <a:t>The hysteresis voltage is given by</a:t>
                </a:r>
                <a:endParaRPr lang="en-US" i="1" dirty="0"/>
              </a:p>
              <a:p>
                <a:pPr marL="124355" indent="0">
                  <a:buNone/>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𝐻</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𝑡h</m:t>
                        </m:r>
                        <m:r>
                          <a:rPr lang="en-US" i="1">
                            <a:latin typeface="Cambria Math" panose="02040503050406030204" pitchFamily="18" charset="0"/>
                          </a:rPr>
                          <m:t>+</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𝑡h</m:t>
                        </m:r>
                        <m:r>
                          <a:rPr lang="en-US" i="1">
                            <a:latin typeface="Cambria Math" panose="02040503050406030204" pitchFamily="18" charset="0"/>
                          </a:rPr>
                          <m:t>−</m:t>
                        </m:r>
                      </m:sub>
                    </m:sSub>
                    <m:r>
                      <a:rPr lang="en-US" i="1">
                        <a:latin typeface="Cambria Math" panose="02040503050406030204" pitchFamily="18" charset="0"/>
                      </a:rPr>
                      <m:t>=2.1−0.8=1.3</m:t>
                    </m:r>
                  </m:oMath>
                </a14:m>
                <a:r>
                  <a:rPr lang="en-US" dirty="0"/>
                  <a:t> V</a:t>
                </a:r>
                <a:endParaRPr lang="en-US" i="1" dirty="0"/>
              </a:p>
              <a:p>
                <a:pPr>
                  <a:buNone/>
                </a:pPr>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p:txBody>
          </p:sp>
        </mc:Choice>
        <mc:Fallback xmlns="">
          <p:sp>
            <p:nvSpPr>
              <p:cNvPr id="3" name="Content Placeholder 2">
                <a:extLst>
                  <a:ext uri="{FF2B5EF4-FFF2-40B4-BE49-F238E27FC236}">
                    <a16:creationId xmlns:a16="http://schemas.microsoft.com/office/drawing/2014/main" id="{2A18B66A-F7E1-FAED-58F3-D721E2B187E9}"/>
                  </a:ext>
                </a:extLst>
              </p:cNvPr>
              <p:cNvSpPr>
                <a:spLocks noGrp="1" noRot="1" noChangeAspect="1" noMove="1" noResize="1" noEditPoints="1" noAdjustHandles="1" noChangeArrowheads="1" noChangeShapeType="1" noTextEdit="1"/>
              </p:cNvSpPr>
              <p:nvPr>
                <p:ph idx="1"/>
              </p:nvPr>
            </p:nvSpPr>
            <p:spPr>
              <a:xfrm>
                <a:off x="167149" y="1447800"/>
                <a:ext cx="14310851" cy="6096000"/>
              </a:xfrm>
              <a:blipFill>
                <a:blip r:embed="rId3"/>
                <a:stretch>
                  <a:fillRect l="-852" t="-1300" b="-600"/>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5C3068E6-BF18-1C18-DCBA-78EBD2A3719D}"/>
              </a:ext>
            </a:extLst>
          </p:cNvPr>
          <p:cNvSpPr>
            <a:spLocks noGrp="1"/>
          </p:cNvSpPr>
          <p:nvPr>
            <p:ph type="ftr" sz="quarter" idx="11"/>
          </p:nvPr>
        </p:nvSpPr>
        <p:spPr/>
        <p:txBody>
          <a:bodyPr/>
          <a:lstStyle/>
          <a:p>
            <a:r>
              <a:rPr lang="en-US"/>
              <a:t>Course Teacher: Prof. Dr. Engr. Muhibul Haque Bhuyan</a:t>
            </a:r>
          </a:p>
        </p:txBody>
      </p:sp>
      <p:sp>
        <p:nvSpPr>
          <p:cNvPr id="5" name="Slide Number Placeholder 4">
            <a:extLst>
              <a:ext uri="{FF2B5EF4-FFF2-40B4-BE49-F238E27FC236}">
                <a16:creationId xmlns:a16="http://schemas.microsoft.com/office/drawing/2014/main" id="{CE0C3E3C-0BCB-642C-86F8-6EC0C4107153}"/>
              </a:ext>
            </a:extLst>
          </p:cNvPr>
          <p:cNvSpPr>
            <a:spLocks noGrp="1"/>
          </p:cNvSpPr>
          <p:nvPr>
            <p:ph type="sldNum" sz="quarter" idx="12"/>
          </p:nvPr>
        </p:nvSpPr>
        <p:spPr/>
        <p:txBody>
          <a:bodyPr/>
          <a:lstStyle/>
          <a:p>
            <a:fld id="{B6F15528-21DE-4FAA-801E-634DDDAF4B2B}" type="slidenum">
              <a:rPr lang="en-US" smtClean="0"/>
              <a:pPr/>
              <a:t>35</a:t>
            </a:fld>
            <a:endParaRPr lang="en-US"/>
          </a:p>
        </p:txBody>
      </p:sp>
      <p:sp>
        <p:nvSpPr>
          <p:cNvPr id="6" name="Date Placeholder 5">
            <a:extLst>
              <a:ext uri="{FF2B5EF4-FFF2-40B4-BE49-F238E27FC236}">
                <a16:creationId xmlns:a16="http://schemas.microsoft.com/office/drawing/2014/main" id="{C2D740D0-A734-476C-6D79-0CA54B306504}"/>
              </a:ext>
            </a:extLst>
          </p:cNvPr>
          <p:cNvSpPr>
            <a:spLocks noGrp="1"/>
          </p:cNvSpPr>
          <p:nvPr>
            <p:ph type="dt" sz="half" idx="10"/>
          </p:nvPr>
        </p:nvSpPr>
        <p:spPr/>
        <p:txBody>
          <a:bodyPr/>
          <a:lstStyle/>
          <a:p>
            <a:fld id="{0A7EAEA6-ABFA-44F2-B6E5-81382F9BE97B}" type="datetime3">
              <a:rPr lang="en-US" smtClean="0"/>
              <a:t>15 June 2026</a:t>
            </a:fld>
            <a:endParaRPr lang="en-US"/>
          </a:p>
        </p:txBody>
      </p:sp>
      <p:pic>
        <p:nvPicPr>
          <p:cNvPr id="11" name="Picture 10">
            <a:extLst>
              <a:ext uri="{FF2B5EF4-FFF2-40B4-BE49-F238E27FC236}">
                <a16:creationId xmlns:a16="http://schemas.microsoft.com/office/drawing/2014/main" id="{DCE0F487-98F4-6240-7BA5-0418051A32BD}"/>
              </a:ext>
            </a:extLst>
          </p:cNvPr>
          <p:cNvPicPr>
            <a:picLocks noChangeAspect="1"/>
          </p:cNvPicPr>
          <p:nvPr/>
        </p:nvPicPr>
        <p:blipFill>
          <a:blip r:embed="rId4"/>
          <a:stretch>
            <a:fillRect/>
          </a:stretch>
        </p:blipFill>
        <p:spPr>
          <a:xfrm>
            <a:off x="7543800" y="2514600"/>
            <a:ext cx="4800600" cy="4991100"/>
          </a:xfrm>
          <a:prstGeom prst="rect">
            <a:avLst/>
          </a:prstGeom>
        </p:spPr>
      </p:pic>
    </p:spTree>
    <p:extLst>
      <p:ext uri="{BB962C8B-B14F-4D97-AF65-F5344CB8AC3E}">
        <p14:creationId xmlns:p14="http://schemas.microsoft.com/office/powerpoint/2010/main" val="33715025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59F45-D636-B96B-1DBF-3CD82AAF13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249EE2-35BB-ECA3-D33F-9B1C2364DC9C}"/>
              </a:ext>
            </a:extLst>
          </p:cNvPr>
          <p:cNvSpPr>
            <a:spLocks noGrp="1"/>
          </p:cNvSpPr>
          <p:nvPr>
            <p:ph type="title"/>
          </p:nvPr>
        </p:nvSpPr>
        <p:spPr>
          <a:xfrm>
            <a:off x="243349" y="457200"/>
            <a:ext cx="13167360" cy="1066800"/>
          </a:xfrm>
        </p:spPr>
        <p:txBody>
          <a:bodyPr>
            <a:normAutofit/>
          </a:bodyPr>
          <a:lstStyle/>
          <a:p>
            <a:r>
              <a:rPr lang="en-US" sz="5400" b="1" dirty="0"/>
              <a:t>Software Debouncing</a:t>
            </a:r>
          </a:p>
        </p:txBody>
      </p:sp>
      <p:sp>
        <p:nvSpPr>
          <p:cNvPr id="3" name="Content Placeholder 2">
            <a:extLst>
              <a:ext uri="{FF2B5EF4-FFF2-40B4-BE49-F238E27FC236}">
                <a16:creationId xmlns:a16="http://schemas.microsoft.com/office/drawing/2014/main" id="{985847AE-EFAD-F869-6717-A6EED5A24B57}"/>
              </a:ext>
            </a:extLst>
          </p:cNvPr>
          <p:cNvSpPr>
            <a:spLocks noGrp="1"/>
          </p:cNvSpPr>
          <p:nvPr>
            <p:ph idx="1"/>
          </p:nvPr>
        </p:nvSpPr>
        <p:spPr>
          <a:xfrm>
            <a:off x="167149" y="1447800"/>
            <a:ext cx="14310851" cy="6096000"/>
          </a:xfrm>
        </p:spPr>
        <p:txBody>
          <a:bodyPr lIns="0" rIns="0">
            <a:noAutofit/>
          </a:bodyPr>
          <a:lstStyle/>
          <a:p>
            <a:pPr>
              <a:spcBef>
                <a:spcPts val="0"/>
              </a:spcBef>
              <a:spcAft>
                <a:spcPts val="1200"/>
              </a:spcAft>
            </a:pPr>
            <a:r>
              <a:rPr lang="en-US" sz="3200" dirty="0">
                <a:solidFill>
                  <a:srgbClr val="FF0000"/>
                </a:solidFill>
                <a:cs typeface="Arial" panose="020B0604020202020204" pitchFamily="34" charset="0"/>
              </a:rPr>
              <a:t>Debouncing in hardware </a:t>
            </a:r>
            <a:r>
              <a:rPr lang="en-US" sz="3200" dirty="0">
                <a:cs typeface="Arial" panose="020B0604020202020204" pitchFamily="34" charset="0"/>
              </a:rPr>
              <a:t>may give rise to </a:t>
            </a:r>
            <a:r>
              <a:rPr lang="en-US" sz="3200" dirty="0">
                <a:solidFill>
                  <a:srgbClr val="FF0000"/>
                </a:solidFill>
                <a:cs typeface="Arial" panose="020B0604020202020204" pitchFamily="34" charset="0"/>
              </a:rPr>
              <a:t>additional cost</a:t>
            </a:r>
            <a:r>
              <a:rPr lang="en-US" sz="3200" dirty="0">
                <a:cs typeface="Arial" panose="020B0604020202020204" pitchFamily="34" charset="0"/>
              </a:rPr>
              <a:t>, and it is more difficult to determine a good debouncing for all the push button switches that will be used. So, it may be preferable to debounce the switch in software.</a:t>
            </a:r>
          </a:p>
          <a:p>
            <a:pPr>
              <a:spcBef>
                <a:spcPts val="0"/>
              </a:spcBef>
              <a:spcAft>
                <a:spcPts val="1200"/>
              </a:spcAft>
            </a:pPr>
            <a:r>
              <a:rPr lang="en-US" sz="3200" dirty="0">
                <a:solidFill>
                  <a:srgbClr val="FF0000"/>
                </a:solidFill>
                <a:cs typeface="Arial" panose="020B0604020202020204" pitchFamily="34" charset="0"/>
              </a:rPr>
              <a:t>Debouncing a switch in software is very simple</a:t>
            </a:r>
            <a:r>
              <a:rPr lang="en-US" sz="3200" dirty="0">
                <a:cs typeface="Arial" panose="020B0604020202020204" pitchFamily="34" charset="0"/>
              </a:rPr>
              <a:t>. The basic idea is to sample the switch signal at a regular interval and filter out any glitches. </a:t>
            </a:r>
            <a:r>
              <a:rPr lang="en-US" sz="3200" dirty="0">
                <a:solidFill>
                  <a:srgbClr val="FF0000"/>
                </a:solidFill>
                <a:cs typeface="Arial" panose="020B0604020202020204" pitchFamily="34" charset="0"/>
              </a:rPr>
              <a:t>There are a couple of approaches to achieving </a:t>
            </a:r>
            <a:r>
              <a:rPr lang="en-US" sz="3200" dirty="0">
                <a:cs typeface="Arial" panose="020B0604020202020204" pitchFamily="34" charset="0"/>
              </a:rPr>
              <a:t>this. These approaches assume a switch circuit like that shown in the explanation of switch bounce- a simple push switch with a pull-up resistor.</a:t>
            </a:r>
          </a:p>
          <a:p>
            <a:pPr>
              <a:spcBef>
                <a:spcPts val="0"/>
              </a:spcBef>
              <a:spcAft>
                <a:spcPts val="1200"/>
              </a:spcAft>
            </a:pPr>
            <a:r>
              <a:rPr lang="en-US" sz="3200" dirty="0">
                <a:cs typeface="Arial" panose="020B0604020202020204" pitchFamily="34" charset="0"/>
              </a:rPr>
              <a:t>While </a:t>
            </a:r>
            <a:r>
              <a:rPr lang="en-US" sz="3200" dirty="0">
                <a:solidFill>
                  <a:srgbClr val="FF0000"/>
                </a:solidFill>
                <a:cs typeface="Arial" panose="020B0604020202020204" pitchFamily="34" charset="0"/>
              </a:rPr>
              <a:t>numerous algorithms </a:t>
            </a:r>
            <a:r>
              <a:rPr lang="en-US" sz="3200" dirty="0">
                <a:cs typeface="Arial" panose="020B0604020202020204" pitchFamily="34" charset="0"/>
              </a:rPr>
              <a:t>exist to perform the debouncing function, we are going to limit ourselves to implementing two during the lab. </a:t>
            </a:r>
            <a:r>
              <a:rPr lang="en-US" sz="3200" dirty="0">
                <a:solidFill>
                  <a:srgbClr val="FF0000"/>
                </a:solidFill>
                <a:cs typeface="Arial" panose="020B0604020202020204" pitchFamily="34" charset="0"/>
              </a:rPr>
              <a:t>Both approaches use a timer</a:t>
            </a:r>
            <a:r>
              <a:rPr lang="en-US" sz="3200" dirty="0">
                <a:cs typeface="Arial" panose="020B0604020202020204" pitchFamily="34" charset="0"/>
              </a:rPr>
              <a:t>.</a:t>
            </a:r>
          </a:p>
        </p:txBody>
      </p:sp>
      <p:sp>
        <p:nvSpPr>
          <p:cNvPr id="4" name="Footer Placeholder 3">
            <a:extLst>
              <a:ext uri="{FF2B5EF4-FFF2-40B4-BE49-F238E27FC236}">
                <a16:creationId xmlns:a16="http://schemas.microsoft.com/office/drawing/2014/main" id="{7E63D281-7046-2EE7-053A-5499597423AE}"/>
              </a:ext>
            </a:extLst>
          </p:cNvPr>
          <p:cNvSpPr>
            <a:spLocks noGrp="1"/>
          </p:cNvSpPr>
          <p:nvPr>
            <p:ph type="ftr" sz="quarter" idx="11"/>
          </p:nvPr>
        </p:nvSpPr>
        <p:spPr/>
        <p:txBody>
          <a:bodyPr/>
          <a:lstStyle/>
          <a:p>
            <a:r>
              <a:rPr lang="en-US"/>
              <a:t>Course Teacher: Prof. Dr. Engr. Muhibul Haque Bhuyan</a:t>
            </a:r>
          </a:p>
        </p:txBody>
      </p:sp>
      <p:sp>
        <p:nvSpPr>
          <p:cNvPr id="5" name="Slide Number Placeholder 4">
            <a:extLst>
              <a:ext uri="{FF2B5EF4-FFF2-40B4-BE49-F238E27FC236}">
                <a16:creationId xmlns:a16="http://schemas.microsoft.com/office/drawing/2014/main" id="{1A3DE254-636A-835A-F159-3D63FFCD7D23}"/>
              </a:ext>
            </a:extLst>
          </p:cNvPr>
          <p:cNvSpPr>
            <a:spLocks noGrp="1"/>
          </p:cNvSpPr>
          <p:nvPr>
            <p:ph type="sldNum" sz="quarter" idx="12"/>
          </p:nvPr>
        </p:nvSpPr>
        <p:spPr/>
        <p:txBody>
          <a:bodyPr/>
          <a:lstStyle/>
          <a:p>
            <a:fld id="{B6F15528-21DE-4FAA-801E-634DDDAF4B2B}" type="slidenum">
              <a:rPr lang="en-US" smtClean="0"/>
              <a:pPr/>
              <a:t>36</a:t>
            </a:fld>
            <a:endParaRPr lang="en-US"/>
          </a:p>
        </p:txBody>
      </p:sp>
      <p:sp>
        <p:nvSpPr>
          <p:cNvPr id="6" name="Date Placeholder 5">
            <a:extLst>
              <a:ext uri="{FF2B5EF4-FFF2-40B4-BE49-F238E27FC236}">
                <a16:creationId xmlns:a16="http://schemas.microsoft.com/office/drawing/2014/main" id="{3CF3C68D-A5DA-8939-4610-E9043DBBFEB9}"/>
              </a:ext>
            </a:extLst>
          </p:cNvPr>
          <p:cNvSpPr>
            <a:spLocks noGrp="1"/>
          </p:cNvSpPr>
          <p:nvPr>
            <p:ph type="dt" sz="half" idx="10"/>
          </p:nvPr>
        </p:nvSpPr>
        <p:spPr/>
        <p:txBody>
          <a:bodyPr/>
          <a:lstStyle/>
          <a:p>
            <a:fld id="{0A7EAEA6-ABFA-44F2-B6E5-81382F9BE97B}" type="datetime3">
              <a:rPr lang="en-US" smtClean="0"/>
              <a:t>15 June 2026</a:t>
            </a:fld>
            <a:endParaRPr lang="en-US"/>
          </a:p>
        </p:txBody>
      </p:sp>
    </p:spTree>
    <p:extLst>
      <p:ext uri="{BB962C8B-B14F-4D97-AF65-F5344CB8AC3E}">
        <p14:creationId xmlns:p14="http://schemas.microsoft.com/office/powerpoint/2010/main" val="10151689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3349" y="457200"/>
            <a:ext cx="13167360" cy="1066800"/>
          </a:xfrm>
        </p:spPr>
        <p:txBody>
          <a:bodyPr>
            <a:normAutofit/>
          </a:bodyPr>
          <a:lstStyle/>
          <a:p>
            <a:r>
              <a:rPr lang="en-US" sz="5400" b="1" dirty="0"/>
              <a:t>Software Debouncing</a:t>
            </a:r>
          </a:p>
        </p:txBody>
      </p:sp>
      <p:sp>
        <p:nvSpPr>
          <p:cNvPr id="3" name="Content Placeholder 2"/>
          <p:cNvSpPr>
            <a:spLocks noGrp="1"/>
          </p:cNvSpPr>
          <p:nvPr>
            <p:ph idx="1"/>
          </p:nvPr>
        </p:nvSpPr>
        <p:spPr>
          <a:xfrm>
            <a:off x="243349" y="1371600"/>
            <a:ext cx="14143702" cy="6096000"/>
          </a:xfrm>
        </p:spPr>
        <p:txBody>
          <a:bodyPr lIns="0" tIns="0" rIns="0" bIns="0">
            <a:noAutofit/>
          </a:bodyPr>
          <a:lstStyle/>
          <a:p>
            <a:pPr marL="124355" indent="0">
              <a:spcBef>
                <a:spcPts val="0"/>
              </a:spcBef>
              <a:buNone/>
            </a:pPr>
            <a:r>
              <a:rPr lang="en-US" sz="3600" b="1" dirty="0">
                <a:solidFill>
                  <a:srgbClr val="FF0000"/>
                </a:solidFill>
                <a:cs typeface="Arial" panose="020B0604020202020204" pitchFamily="34" charset="0"/>
              </a:rPr>
              <a:t>Approach 1</a:t>
            </a:r>
          </a:p>
          <a:p>
            <a:pPr marL="124355" indent="0">
              <a:spcBef>
                <a:spcPts val="0"/>
              </a:spcBef>
              <a:buNone/>
            </a:pPr>
            <a:r>
              <a:rPr lang="en-US" sz="2400" dirty="0">
                <a:cs typeface="Arial" panose="020B0604020202020204" pitchFamily="34" charset="0"/>
              </a:rPr>
              <a:t>The first approach uses a counter to time how long the switch signal has been low. If the signal has been low continuously for a set amount of time, then it is considered pressed and stable.</a:t>
            </a:r>
          </a:p>
          <a:p>
            <a:pPr marL="124355" indent="0">
              <a:spcBef>
                <a:spcPts val="0"/>
              </a:spcBef>
              <a:buNone/>
            </a:pPr>
            <a:endParaRPr lang="en-US" sz="1800" dirty="0">
              <a:solidFill>
                <a:srgbClr val="FF0000"/>
              </a:solidFill>
              <a:cs typeface="Arial" panose="020B0604020202020204" pitchFamily="34" charset="0"/>
            </a:endParaRPr>
          </a:p>
          <a:p>
            <a:pPr marL="756491" lvl="2" indent="0">
              <a:spcBef>
                <a:spcPts val="0"/>
              </a:spcBef>
              <a:buNone/>
            </a:pPr>
            <a:r>
              <a:rPr lang="en-US" sz="2400" dirty="0">
                <a:solidFill>
                  <a:schemeClr val="tx1"/>
                </a:solidFill>
                <a:cs typeface="Arial" panose="020B0604020202020204" pitchFamily="34" charset="0"/>
              </a:rPr>
              <a:t> </a:t>
            </a:r>
            <a:r>
              <a:rPr lang="en-US" sz="2400" dirty="0">
                <a:solidFill>
                  <a:srgbClr val="7030A0"/>
                </a:solidFill>
                <a:cs typeface="Arial" panose="020B0604020202020204" pitchFamily="34" charset="0"/>
              </a:rPr>
              <a:t>1 Setup a counter variable, initialized to zero.</a:t>
            </a:r>
          </a:p>
          <a:p>
            <a:pPr marL="756491" lvl="2" indent="0">
              <a:spcBef>
                <a:spcPts val="0"/>
              </a:spcBef>
              <a:buNone/>
            </a:pPr>
            <a:r>
              <a:rPr lang="en-US" sz="2400" dirty="0">
                <a:solidFill>
                  <a:srgbClr val="7030A0"/>
                </a:solidFill>
                <a:cs typeface="Arial" panose="020B0604020202020204" pitchFamily="34" charset="0"/>
              </a:rPr>
              <a:t> 2 Setup a regular sampling event, perhaps using a timer. Use a period of about 1 </a:t>
            </a:r>
            <a:r>
              <a:rPr lang="en-US" sz="2400" dirty="0" err="1">
                <a:solidFill>
                  <a:srgbClr val="7030A0"/>
                </a:solidFill>
                <a:cs typeface="Arial" panose="020B0604020202020204" pitchFamily="34" charset="0"/>
              </a:rPr>
              <a:t>ms.</a:t>
            </a:r>
            <a:endParaRPr lang="en-US" sz="2400" dirty="0">
              <a:solidFill>
                <a:srgbClr val="7030A0"/>
              </a:solidFill>
              <a:cs typeface="Arial" panose="020B0604020202020204" pitchFamily="34" charset="0"/>
            </a:endParaRPr>
          </a:p>
          <a:p>
            <a:pPr marL="756491" lvl="2" indent="0">
              <a:spcBef>
                <a:spcPts val="0"/>
              </a:spcBef>
              <a:buNone/>
            </a:pPr>
            <a:r>
              <a:rPr lang="en-US" sz="2400" dirty="0">
                <a:solidFill>
                  <a:srgbClr val="7030A0"/>
                </a:solidFill>
                <a:cs typeface="Arial" panose="020B0604020202020204" pitchFamily="34" charset="0"/>
              </a:rPr>
              <a:t> 3 On a sample event:</a:t>
            </a:r>
          </a:p>
          <a:p>
            <a:pPr marL="756491" lvl="2" indent="0">
              <a:spcBef>
                <a:spcPts val="0"/>
              </a:spcBef>
              <a:buNone/>
            </a:pPr>
            <a:r>
              <a:rPr lang="en-US" sz="2400" dirty="0">
                <a:solidFill>
                  <a:srgbClr val="7030A0"/>
                </a:solidFill>
                <a:cs typeface="Arial" panose="020B0604020202020204" pitchFamily="34" charset="0"/>
              </a:rPr>
              <a:t> 4   </a:t>
            </a:r>
            <a:r>
              <a:rPr lang="en-US" sz="2400" dirty="0">
                <a:solidFill>
                  <a:srgbClr val="FF0000"/>
                </a:solidFill>
                <a:cs typeface="Arial" panose="020B0604020202020204" pitchFamily="34" charset="0"/>
              </a:rPr>
              <a:t>if</a:t>
            </a:r>
            <a:r>
              <a:rPr lang="en-US" sz="2400" dirty="0">
                <a:solidFill>
                  <a:srgbClr val="7030A0"/>
                </a:solidFill>
                <a:cs typeface="Arial" panose="020B0604020202020204" pitchFamily="34" charset="0"/>
              </a:rPr>
              <a:t> the switch signal is HIGH then</a:t>
            </a:r>
          </a:p>
          <a:p>
            <a:pPr marL="756491" lvl="2" indent="0">
              <a:spcBef>
                <a:spcPts val="0"/>
              </a:spcBef>
              <a:buNone/>
            </a:pPr>
            <a:r>
              <a:rPr lang="en-US" sz="2400" dirty="0">
                <a:solidFill>
                  <a:srgbClr val="7030A0"/>
                </a:solidFill>
                <a:cs typeface="Arial" panose="020B0604020202020204" pitchFamily="34" charset="0"/>
              </a:rPr>
              <a:t> 5     RESET the counter variable to ZERO</a:t>
            </a:r>
          </a:p>
          <a:p>
            <a:pPr marL="756491" lvl="2" indent="0">
              <a:spcBef>
                <a:spcPts val="0"/>
              </a:spcBef>
              <a:buNone/>
            </a:pPr>
            <a:r>
              <a:rPr lang="en-US" sz="2400" dirty="0">
                <a:solidFill>
                  <a:srgbClr val="7030A0"/>
                </a:solidFill>
                <a:cs typeface="Arial" panose="020B0604020202020204" pitchFamily="34" charset="0"/>
              </a:rPr>
              <a:t> 6     SET internal switch state to released</a:t>
            </a:r>
          </a:p>
          <a:p>
            <a:pPr marL="756491" lvl="2" indent="0">
              <a:spcBef>
                <a:spcPts val="0"/>
              </a:spcBef>
              <a:buNone/>
            </a:pPr>
            <a:r>
              <a:rPr lang="en-US" sz="2400" dirty="0">
                <a:solidFill>
                  <a:srgbClr val="7030A0"/>
                </a:solidFill>
                <a:cs typeface="Arial" panose="020B0604020202020204" pitchFamily="34" charset="0"/>
              </a:rPr>
              <a:t> 7   </a:t>
            </a:r>
            <a:r>
              <a:rPr lang="en-US" sz="2400" dirty="0">
                <a:solidFill>
                  <a:srgbClr val="FF0000"/>
                </a:solidFill>
                <a:cs typeface="Arial" panose="020B0604020202020204" pitchFamily="34" charset="0"/>
              </a:rPr>
              <a:t>else</a:t>
            </a:r>
          </a:p>
          <a:p>
            <a:pPr marL="756491" lvl="2" indent="0">
              <a:spcBef>
                <a:spcPts val="0"/>
              </a:spcBef>
              <a:buNone/>
            </a:pPr>
            <a:r>
              <a:rPr lang="en-US" sz="2400" dirty="0">
                <a:solidFill>
                  <a:srgbClr val="7030A0"/>
                </a:solidFill>
                <a:cs typeface="Arial" panose="020B0604020202020204" pitchFamily="34" charset="0"/>
              </a:rPr>
              <a:t> 8     Increment the counter variable to a maximum of 10</a:t>
            </a:r>
          </a:p>
          <a:p>
            <a:pPr marL="756491" lvl="2" indent="0">
              <a:spcBef>
                <a:spcPts val="0"/>
              </a:spcBef>
              <a:buNone/>
            </a:pPr>
            <a:r>
              <a:rPr lang="en-US" sz="2400" dirty="0">
                <a:solidFill>
                  <a:srgbClr val="7030A0"/>
                </a:solidFill>
                <a:cs typeface="Arial" panose="020B0604020202020204" pitchFamily="34" charset="0"/>
              </a:rPr>
              <a:t> 9   </a:t>
            </a:r>
            <a:r>
              <a:rPr lang="en-US" sz="2400" dirty="0">
                <a:solidFill>
                  <a:srgbClr val="FF0000"/>
                </a:solidFill>
                <a:cs typeface="Arial" panose="020B0604020202020204" pitchFamily="34" charset="0"/>
              </a:rPr>
              <a:t>end if</a:t>
            </a:r>
          </a:p>
          <a:p>
            <a:pPr marL="756491" lvl="2" indent="0">
              <a:spcBef>
                <a:spcPts val="0"/>
              </a:spcBef>
              <a:buNone/>
            </a:pPr>
            <a:r>
              <a:rPr lang="en-US" sz="2400" dirty="0">
                <a:solidFill>
                  <a:srgbClr val="7030A0"/>
                </a:solidFill>
                <a:cs typeface="Arial" panose="020B0604020202020204" pitchFamily="34" charset="0"/>
              </a:rPr>
              <a:t>10   </a:t>
            </a:r>
            <a:r>
              <a:rPr lang="en-US" sz="2400" dirty="0">
                <a:solidFill>
                  <a:srgbClr val="FF0000"/>
                </a:solidFill>
                <a:cs typeface="Arial" panose="020B0604020202020204" pitchFamily="34" charset="0"/>
              </a:rPr>
              <a:t>if</a:t>
            </a:r>
            <a:r>
              <a:rPr lang="en-US" sz="2400" dirty="0">
                <a:solidFill>
                  <a:srgbClr val="7030A0"/>
                </a:solidFill>
                <a:cs typeface="Arial" panose="020B0604020202020204" pitchFamily="34" charset="0"/>
              </a:rPr>
              <a:t> counter=10 then</a:t>
            </a:r>
          </a:p>
          <a:p>
            <a:pPr marL="756491" lvl="2" indent="0">
              <a:spcBef>
                <a:spcPts val="0"/>
              </a:spcBef>
              <a:buNone/>
            </a:pPr>
            <a:r>
              <a:rPr lang="en-US" sz="2400" dirty="0">
                <a:solidFill>
                  <a:srgbClr val="7030A0"/>
                </a:solidFill>
                <a:cs typeface="Arial" panose="020B0604020202020204" pitchFamily="34" charset="0"/>
              </a:rPr>
              <a:t>11     SET internal switch state to pressed</a:t>
            </a:r>
          </a:p>
          <a:p>
            <a:pPr marL="756491" lvl="2" indent="0">
              <a:spcBef>
                <a:spcPts val="0"/>
              </a:spcBef>
              <a:buNone/>
            </a:pPr>
            <a:r>
              <a:rPr lang="en-US" sz="2400" dirty="0">
                <a:solidFill>
                  <a:srgbClr val="7030A0"/>
                </a:solidFill>
                <a:cs typeface="Arial" panose="020B0604020202020204" pitchFamily="34" charset="0"/>
              </a:rPr>
              <a:t>12   </a:t>
            </a:r>
            <a:r>
              <a:rPr lang="en-US" sz="2400" dirty="0">
                <a:solidFill>
                  <a:srgbClr val="FF0000"/>
                </a:solidFill>
                <a:cs typeface="Arial" panose="020B0604020202020204" pitchFamily="34" charset="0"/>
              </a:rPr>
              <a:t>end if</a:t>
            </a:r>
          </a:p>
        </p:txBody>
      </p:sp>
      <p:sp>
        <p:nvSpPr>
          <p:cNvPr id="4" name="Footer Placeholder 3"/>
          <p:cNvSpPr>
            <a:spLocks noGrp="1"/>
          </p:cNvSpPr>
          <p:nvPr>
            <p:ph type="ftr" sz="quarter" idx="11"/>
          </p:nvPr>
        </p:nvSpPr>
        <p:spPr/>
        <p:txBody>
          <a:bodyPr/>
          <a:lstStyle/>
          <a:p>
            <a:r>
              <a:rPr lang="en-US"/>
              <a:t>Course Teacher: Prof. Dr. Engr. Muhibul Haque Bhuyan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37</a:t>
            </a:fld>
            <a:endParaRPr lang="en-US"/>
          </a:p>
        </p:txBody>
      </p:sp>
      <p:sp>
        <p:nvSpPr>
          <p:cNvPr id="6" name="Date Placeholder 5"/>
          <p:cNvSpPr>
            <a:spLocks noGrp="1"/>
          </p:cNvSpPr>
          <p:nvPr>
            <p:ph type="dt" sz="half" idx="10"/>
          </p:nvPr>
        </p:nvSpPr>
        <p:spPr/>
        <p:txBody>
          <a:bodyPr/>
          <a:lstStyle/>
          <a:p>
            <a:fld id="{0A7EAEA6-ABFA-44F2-B6E5-81382F9BE97B}" type="datetime3">
              <a:rPr lang="en-US" smtClean="0"/>
              <a:t>15 June 2026</a:t>
            </a:fld>
            <a:endParaRPr lang="en-US"/>
          </a:p>
        </p:txBody>
      </p:sp>
    </p:spTree>
    <p:extLst>
      <p:ext uri="{BB962C8B-B14F-4D97-AF65-F5344CB8AC3E}">
        <p14:creationId xmlns:p14="http://schemas.microsoft.com/office/powerpoint/2010/main" val="24122410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3349" y="457200"/>
            <a:ext cx="13167360" cy="1066800"/>
          </a:xfrm>
        </p:spPr>
        <p:txBody>
          <a:bodyPr>
            <a:normAutofit/>
          </a:bodyPr>
          <a:lstStyle/>
          <a:p>
            <a:r>
              <a:rPr lang="en-US" sz="5400" b="1" dirty="0"/>
              <a:t>Software Debouncing</a:t>
            </a:r>
          </a:p>
        </p:txBody>
      </p:sp>
      <p:sp>
        <p:nvSpPr>
          <p:cNvPr id="3" name="Content Placeholder 2"/>
          <p:cNvSpPr>
            <a:spLocks noGrp="1"/>
          </p:cNvSpPr>
          <p:nvPr>
            <p:ph idx="1"/>
          </p:nvPr>
        </p:nvSpPr>
        <p:spPr>
          <a:xfrm>
            <a:off x="243349" y="1447800"/>
            <a:ext cx="14133870" cy="6003340"/>
          </a:xfrm>
        </p:spPr>
        <p:txBody>
          <a:bodyPr lIns="0" tIns="0" rIns="0" bIns="0">
            <a:noAutofit/>
          </a:bodyPr>
          <a:lstStyle/>
          <a:p>
            <a:pPr marL="124355" indent="0">
              <a:spcBef>
                <a:spcPts val="0"/>
              </a:spcBef>
              <a:buNone/>
            </a:pPr>
            <a:r>
              <a:rPr lang="en-US" sz="3600" b="1" dirty="0">
                <a:solidFill>
                  <a:srgbClr val="FF0000"/>
                </a:solidFill>
                <a:cs typeface="Arial" panose="020B0604020202020204" pitchFamily="34" charset="0"/>
              </a:rPr>
              <a:t>Approach 2</a:t>
            </a:r>
          </a:p>
          <a:p>
            <a:pPr marL="124355" indent="0">
              <a:spcBef>
                <a:spcPts val="0"/>
              </a:spcBef>
              <a:buNone/>
            </a:pPr>
            <a:r>
              <a:rPr lang="en-US" sz="2600" dirty="0">
                <a:cs typeface="Arial" panose="020B0604020202020204" pitchFamily="34" charset="0"/>
              </a:rPr>
              <a:t>The second approach is like the first but uses a shift register instead of a counter. The algorithm assumes an </a:t>
            </a:r>
            <a:r>
              <a:rPr lang="en-US" sz="2600" b="1" dirty="0">
                <a:solidFill>
                  <a:srgbClr val="FF0000"/>
                </a:solidFill>
                <a:cs typeface="Arial" panose="020B0604020202020204" pitchFamily="34" charset="0"/>
              </a:rPr>
              <a:t>unsigned 8-bit register value</a:t>
            </a:r>
            <a:r>
              <a:rPr lang="en-US" sz="2600" dirty="0">
                <a:cs typeface="Arial" panose="020B0604020202020204" pitchFamily="34" charset="0"/>
              </a:rPr>
              <a:t>, such as that found in 8-bit microcontrollers.</a:t>
            </a:r>
          </a:p>
          <a:p>
            <a:pPr marL="124355" indent="0">
              <a:spcBef>
                <a:spcPts val="0"/>
              </a:spcBef>
              <a:buNone/>
            </a:pPr>
            <a:endParaRPr lang="en-US" sz="2400" dirty="0">
              <a:cs typeface="Arial" panose="020B0604020202020204" pitchFamily="34" charset="0"/>
            </a:endParaRPr>
          </a:p>
          <a:p>
            <a:pPr marL="756491" lvl="2" indent="0">
              <a:spcBef>
                <a:spcPts val="0"/>
              </a:spcBef>
              <a:buNone/>
            </a:pPr>
            <a:r>
              <a:rPr lang="en-US" sz="2400" dirty="0">
                <a:cs typeface="Arial" panose="020B0604020202020204" pitchFamily="34" charset="0"/>
              </a:rPr>
              <a:t> 1 Set up a variable to act as a shift register and initialize it to 0xFF.</a:t>
            </a:r>
          </a:p>
          <a:p>
            <a:pPr marL="756491" lvl="2" indent="0">
              <a:spcBef>
                <a:spcPts val="0"/>
              </a:spcBef>
              <a:buNone/>
            </a:pPr>
            <a:r>
              <a:rPr lang="en-US" sz="2400" dirty="0">
                <a:cs typeface="Arial" panose="020B0604020202020204" pitchFamily="34" charset="0"/>
              </a:rPr>
              <a:t> 2 Set up a regular sampling event, perhaps using a timer. Use a period of about 1 </a:t>
            </a:r>
            <a:r>
              <a:rPr lang="en-US" sz="2400" dirty="0" err="1">
                <a:cs typeface="Arial" panose="020B0604020202020204" pitchFamily="34" charset="0"/>
              </a:rPr>
              <a:t>ms.</a:t>
            </a:r>
            <a:endParaRPr lang="en-US" sz="2400" dirty="0">
              <a:cs typeface="Arial" panose="020B0604020202020204" pitchFamily="34" charset="0"/>
            </a:endParaRPr>
          </a:p>
          <a:p>
            <a:pPr marL="756491" lvl="2" indent="0">
              <a:spcBef>
                <a:spcPts val="0"/>
              </a:spcBef>
              <a:buNone/>
            </a:pPr>
            <a:r>
              <a:rPr lang="en-US" sz="2400" dirty="0">
                <a:cs typeface="Arial" panose="020B0604020202020204" pitchFamily="34" charset="0"/>
              </a:rPr>
              <a:t> 3 On a sample event:</a:t>
            </a:r>
          </a:p>
          <a:p>
            <a:pPr marL="756491" lvl="2" indent="0">
              <a:spcBef>
                <a:spcPts val="0"/>
              </a:spcBef>
              <a:buNone/>
            </a:pPr>
            <a:r>
              <a:rPr lang="en-US" sz="2400" dirty="0">
                <a:cs typeface="Arial" panose="020B0604020202020204" pitchFamily="34" charset="0"/>
              </a:rPr>
              <a:t> 4   SHIFT the variable towards the most significant bit</a:t>
            </a:r>
          </a:p>
          <a:p>
            <a:pPr marL="756491" lvl="2" indent="0">
              <a:spcBef>
                <a:spcPts val="0"/>
              </a:spcBef>
              <a:buNone/>
            </a:pPr>
            <a:r>
              <a:rPr lang="en-US" sz="2400" dirty="0">
                <a:cs typeface="Arial" panose="020B0604020202020204" pitchFamily="34" charset="0"/>
              </a:rPr>
              <a:t> 5   SET the least significant bit to the current switch value</a:t>
            </a:r>
          </a:p>
          <a:p>
            <a:pPr marL="756491" lvl="2" indent="0">
              <a:spcBef>
                <a:spcPts val="0"/>
              </a:spcBef>
              <a:buNone/>
            </a:pPr>
            <a:r>
              <a:rPr lang="en-US" sz="2400" dirty="0">
                <a:cs typeface="Arial" panose="020B0604020202020204" pitchFamily="34" charset="0"/>
              </a:rPr>
              <a:t> 6   </a:t>
            </a:r>
            <a:r>
              <a:rPr lang="en-US" sz="2400" dirty="0">
                <a:solidFill>
                  <a:srgbClr val="FF0000"/>
                </a:solidFill>
                <a:cs typeface="Arial" panose="020B0604020202020204" pitchFamily="34" charset="0"/>
              </a:rPr>
              <a:t>if</a:t>
            </a:r>
            <a:r>
              <a:rPr lang="en-US" sz="2400" dirty="0">
                <a:cs typeface="Arial" panose="020B0604020202020204" pitchFamily="34" charset="0"/>
              </a:rPr>
              <a:t> shift register value = 0 then</a:t>
            </a:r>
          </a:p>
          <a:p>
            <a:pPr marL="756491" lvl="2" indent="0">
              <a:spcBef>
                <a:spcPts val="0"/>
              </a:spcBef>
              <a:buNone/>
            </a:pPr>
            <a:r>
              <a:rPr lang="en-US" sz="2400" dirty="0">
                <a:cs typeface="Arial" panose="020B0604020202020204" pitchFamily="34" charset="0"/>
              </a:rPr>
              <a:t> 7     SET internal switch state to pressed</a:t>
            </a:r>
          </a:p>
          <a:p>
            <a:pPr marL="756491" lvl="2" indent="0">
              <a:spcBef>
                <a:spcPts val="0"/>
              </a:spcBef>
              <a:buNone/>
            </a:pPr>
            <a:r>
              <a:rPr lang="en-US" sz="2400" dirty="0">
                <a:cs typeface="Arial" panose="020B0604020202020204" pitchFamily="34" charset="0"/>
              </a:rPr>
              <a:t> 8   </a:t>
            </a:r>
            <a:r>
              <a:rPr lang="en-US" sz="2400" dirty="0">
                <a:solidFill>
                  <a:srgbClr val="FF0000"/>
                </a:solidFill>
                <a:cs typeface="Arial" panose="020B0604020202020204" pitchFamily="34" charset="0"/>
              </a:rPr>
              <a:t>else</a:t>
            </a:r>
          </a:p>
          <a:p>
            <a:pPr marL="756491" lvl="2" indent="0">
              <a:spcBef>
                <a:spcPts val="0"/>
              </a:spcBef>
              <a:buNone/>
            </a:pPr>
            <a:r>
              <a:rPr lang="en-US" sz="2400" dirty="0">
                <a:cs typeface="Arial" panose="020B0604020202020204" pitchFamily="34" charset="0"/>
              </a:rPr>
              <a:t> 9     SET internal switch state to released</a:t>
            </a:r>
          </a:p>
          <a:p>
            <a:pPr marL="756491" lvl="2" indent="0">
              <a:spcBef>
                <a:spcPts val="0"/>
              </a:spcBef>
              <a:buNone/>
            </a:pPr>
            <a:r>
              <a:rPr lang="en-US" sz="2400" dirty="0">
                <a:cs typeface="Arial" panose="020B0604020202020204" pitchFamily="34" charset="0"/>
              </a:rPr>
              <a:t>10   </a:t>
            </a:r>
            <a:r>
              <a:rPr lang="en-US" sz="2400" dirty="0">
                <a:solidFill>
                  <a:srgbClr val="FF0000"/>
                </a:solidFill>
                <a:cs typeface="Arial" panose="020B0604020202020204" pitchFamily="34" charset="0"/>
              </a:rPr>
              <a:t>end if</a:t>
            </a:r>
          </a:p>
        </p:txBody>
      </p:sp>
      <p:sp>
        <p:nvSpPr>
          <p:cNvPr id="4" name="Footer Placeholder 3"/>
          <p:cNvSpPr>
            <a:spLocks noGrp="1"/>
          </p:cNvSpPr>
          <p:nvPr>
            <p:ph type="ftr" sz="quarter" idx="11"/>
          </p:nvPr>
        </p:nvSpPr>
        <p:spPr/>
        <p:txBody>
          <a:bodyPr/>
          <a:lstStyle/>
          <a:p>
            <a:r>
              <a:rPr lang="en-US"/>
              <a:t>Course Teacher: Prof. Dr. Engr. Muhibul Haque Bhuyan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38</a:t>
            </a:fld>
            <a:endParaRPr lang="en-US"/>
          </a:p>
        </p:txBody>
      </p:sp>
      <p:sp>
        <p:nvSpPr>
          <p:cNvPr id="6" name="Date Placeholder 5"/>
          <p:cNvSpPr>
            <a:spLocks noGrp="1"/>
          </p:cNvSpPr>
          <p:nvPr>
            <p:ph type="dt" sz="half" idx="10"/>
          </p:nvPr>
        </p:nvSpPr>
        <p:spPr/>
        <p:txBody>
          <a:bodyPr/>
          <a:lstStyle/>
          <a:p>
            <a:fld id="{0A7EAEA6-ABFA-44F2-B6E5-81382F9BE97B}" type="datetime3">
              <a:rPr lang="en-US" smtClean="0"/>
              <a:t>15 June 2026</a:t>
            </a:fld>
            <a:endParaRPr lang="en-US"/>
          </a:p>
        </p:txBody>
      </p:sp>
    </p:spTree>
    <p:extLst>
      <p:ext uri="{BB962C8B-B14F-4D97-AF65-F5344CB8AC3E}">
        <p14:creationId xmlns:p14="http://schemas.microsoft.com/office/powerpoint/2010/main" val="1454236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4B0EB-7177-444F-9D66-D84DFDAA9727}"/>
              </a:ext>
            </a:extLst>
          </p:cNvPr>
          <p:cNvSpPr>
            <a:spLocks noGrp="1"/>
          </p:cNvSpPr>
          <p:nvPr>
            <p:ph type="title"/>
          </p:nvPr>
        </p:nvSpPr>
        <p:spPr>
          <a:xfrm>
            <a:off x="255639" y="457200"/>
            <a:ext cx="13167360" cy="1209040"/>
          </a:xfrm>
        </p:spPr>
        <p:txBody>
          <a:bodyPr>
            <a:normAutofit/>
          </a:bodyPr>
          <a:lstStyle/>
          <a:p>
            <a:r>
              <a:rPr lang="en-US" sz="5400" b="1" dirty="0"/>
              <a:t>Software Debouncing</a:t>
            </a:r>
          </a:p>
        </p:txBody>
      </p:sp>
      <p:sp>
        <p:nvSpPr>
          <p:cNvPr id="3" name="Content Placeholder 2">
            <a:extLst>
              <a:ext uri="{FF2B5EF4-FFF2-40B4-BE49-F238E27FC236}">
                <a16:creationId xmlns:a16="http://schemas.microsoft.com/office/drawing/2014/main" id="{310F57AC-F59A-40DE-ACC4-2BB61A85F728}"/>
              </a:ext>
            </a:extLst>
          </p:cNvPr>
          <p:cNvSpPr>
            <a:spLocks noGrp="1"/>
          </p:cNvSpPr>
          <p:nvPr>
            <p:ph idx="1"/>
          </p:nvPr>
        </p:nvSpPr>
        <p:spPr>
          <a:xfrm>
            <a:off x="270386" y="1524000"/>
            <a:ext cx="14104375" cy="5791200"/>
          </a:xfrm>
        </p:spPr>
        <p:txBody>
          <a:bodyPr lIns="0" tIns="0" rIns="0" bIns="0">
            <a:noAutofit/>
          </a:bodyPr>
          <a:lstStyle/>
          <a:p>
            <a:r>
              <a:rPr lang="en-US" sz="2800" dirty="0">
                <a:cs typeface="Arial" panose="020B0604020202020204" pitchFamily="34" charset="0"/>
              </a:rPr>
              <a:t>There are </a:t>
            </a:r>
            <a:r>
              <a:rPr lang="en-US" sz="2800" b="1" dirty="0">
                <a:solidFill>
                  <a:srgbClr val="FF0000"/>
                </a:solidFill>
                <a:cs typeface="Arial" panose="020B0604020202020204" pitchFamily="34" charset="0"/>
              </a:rPr>
              <a:t>two more approaches to software debouncing</a:t>
            </a:r>
            <a:r>
              <a:rPr lang="en-US" sz="2800" dirty="0">
                <a:cs typeface="Arial" panose="020B0604020202020204" pitchFamily="34" charset="0"/>
              </a:rPr>
              <a:t>.</a:t>
            </a:r>
          </a:p>
          <a:p>
            <a:r>
              <a:rPr lang="en-US" sz="2800" dirty="0">
                <a:cs typeface="Arial" panose="020B0604020202020204" pitchFamily="34" charset="0"/>
              </a:rPr>
              <a:t>In the first technique, wait for a switch closure, then </a:t>
            </a:r>
            <a:r>
              <a:rPr lang="en-US" sz="2800" dirty="0">
                <a:solidFill>
                  <a:srgbClr val="FF0000"/>
                </a:solidFill>
                <a:cs typeface="Arial" panose="020B0604020202020204" pitchFamily="34" charset="0"/>
              </a:rPr>
              <a:t>test </a:t>
            </a:r>
            <a:r>
              <a:rPr lang="en-US" sz="2800" dirty="0">
                <a:cs typeface="Arial" panose="020B0604020202020204" pitchFamily="34" charset="0"/>
              </a:rPr>
              <a:t>the switch again </a:t>
            </a:r>
            <a:r>
              <a:rPr lang="en-US" sz="2800" dirty="0">
                <a:solidFill>
                  <a:srgbClr val="FF0000"/>
                </a:solidFill>
                <a:cs typeface="Arial" panose="020B0604020202020204" pitchFamily="34" charset="0"/>
              </a:rPr>
              <a:t>after a</a:t>
            </a:r>
            <a:r>
              <a:rPr lang="en-US" sz="2800" dirty="0">
                <a:cs typeface="Arial" panose="020B0604020202020204" pitchFamily="34" charset="0"/>
              </a:rPr>
              <a:t> </a:t>
            </a:r>
            <a:r>
              <a:rPr lang="en-US" sz="2800" b="1" dirty="0">
                <a:solidFill>
                  <a:srgbClr val="FF0000"/>
                </a:solidFill>
                <a:cs typeface="Arial" panose="020B0604020202020204" pitchFamily="34" charset="0"/>
              </a:rPr>
              <a:t>short delay </a:t>
            </a:r>
            <a:r>
              <a:rPr lang="en-US" sz="2800" dirty="0">
                <a:cs typeface="Arial" panose="020B0604020202020204" pitchFamily="34" charset="0"/>
              </a:rPr>
              <a:t>(</a:t>
            </a:r>
            <a:r>
              <a:rPr lang="en-US" sz="2800" b="1" dirty="0">
                <a:solidFill>
                  <a:srgbClr val="FF0000"/>
                </a:solidFill>
                <a:cs typeface="Arial" panose="020B0604020202020204" pitchFamily="34" charset="0"/>
              </a:rPr>
              <a:t>15 </a:t>
            </a:r>
            <a:r>
              <a:rPr lang="en-US" sz="2800" b="1" dirty="0" err="1">
                <a:solidFill>
                  <a:srgbClr val="FF0000"/>
                </a:solidFill>
                <a:cs typeface="Arial" panose="020B0604020202020204" pitchFamily="34" charset="0"/>
              </a:rPr>
              <a:t>ms</a:t>
            </a:r>
            <a:r>
              <a:rPr lang="en-US" sz="2800" b="1" dirty="0">
                <a:solidFill>
                  <a:srgbClr val="FF0000"/>
                </a:solidFill>
                <a:cs typeface="Arial" panose="020B0604020202020204" pitchFamily="34" charset="0"/>
              </a:rPr>
              <a:t> </a:t>
            </a:r>
            <a:r>
              <a:rPr lang="en-US" sz="2800" dirty="0">
                <a:solidFill>
                  <a:srgbClr val="FF0000"/>
                </a:solidFill>
                <a:cs typeface="Arial" panose="020B0604020202020204" pitchFamily="34" charset="0"/>
              </a:rPr>
              <a:t>or so</a:t>
            </a:r>
            <a:r>
              <a:rPr lang="en-US" sz="2800" dirty="0">
                <a:cs typeface="Arial" panose="020B0604020202020204" pitchFamily="34" charset="0"/>
              </a:rPr>
              <a:t>). If it is still closed, detect that the switch has changed state.</a:t>
            </a:r>
          </a:p>
          <a:p>
            <a:r>
              <a:rPr lang="en-US" sz="2800" dirty="0">
                <a:cs typeface="Arial" panose="020B0604020202020204" pitchFamily="34" charset="0"/>
              </a:rPr>
              <a:t>In the second technique, </a:t>
            </a:r>
            <a:r>
              <a:rPr lang="en-US" sz="2800" b="1" dirty="0">
                <a:solidFill>
                  <a:srgbClr val="FF0000"/>
                </a:solidFill>
                <a:cs typeface="Arial" panose="020B0604020202020204" pitchFamily="34" charset="0"/>
              </a:rPr>
              <a:t>check the switch state periodically </a:t>
            </a:r>
            <a:r>
              <a:rPr lang="en-US" sz="2800" dirty="0">
                <a:cs typeface="Arial" panose="020B0604020202020204" pitchFamily="34" charset="0"/>
              </a:rPr>
              <a:t>to see if it </a:t>
            </a:r>
            <a:r>
              <a:rPr lang="en-US" sz="2800" b="1" dirty="0">
                <a:solidFill>
                  <a:srgbClr val="FF0000"/>
                </a:solidFill>
                <a:cs typeface="Arial" panose="020B0604020202020204" pitchFamily="34" charset="0"/>
              </a:rPr>
              <a:t>has changed its state</a:t>
            </a:r>
            <a:r>
              <a:rPr lang="en-US" sz="2800" dirty="0">
                <a:cs typeface="Arial" panose="020B0604020202020204" pitchFamily="34" charset="0"/>
              </a:rPr>
              <a:t>. </a:t>
            </a:r>
          </a:p>
          <a:p>
            <a:r>
              <a:rPr lang="en-US" sz="2800" dirty="0"/>
              <a:t>When working with microcontrollers, we can deal with switch </a:t>
            </a:r>
            <a:r>
              <a:rPr lang="en-US" sz="2800" dirty="0">
                <a:solidFill>
                  <a:srgbClr val="FF0000"/>
                </a:solidFill>
              </a:rPr>
              <a:t>bounce in a different way that may save both hardware, space, and money</a:t>
            </a:r>
            <a:r>
              <a:rPr lang="en-US" sz="2800" dirty="0"/>
              <a:t>. Some programmers do not care much about bouncing switches and just add a 50 </a:t>
            </a:r>
            <a:r>
              <a:rPr lang="en-US" sz="2800" dirty="0" err="1"/>
              <a:t>ms</a:t>
            </a:r>
            <a:r>
              <a:rPr lang="en-US" sz="2800" dirty="0"/>
              <a:t> delay after the first bounce. This forces the microcontroller to wait 50 </a:t>
            </a:r>
            <a:r>
              <a:rPr lang="en-US" sz="2800" dirty="0" err="1"/>
              <a:t>ms</a:t>
            </a:r>
            <a:r>
              <a:rPr lang="en-US" sz="2800" dirty="0"/>
              <a:t> for the bouncing to stop, and then continue with the program. This is not a good practice, as it keeps the microcontroller waiting.</a:t>
            </a:r>
          </a:p>
          <a:p>
            <a:r>
              <a:rPr lang="en-US" sz="2800" dirty="0"/>
              <a:t>Another way is to use an interrupt for handling the switch bounce. Be aware that the interrupt might be fired on both the rising and falling edge, and some microcontrollers might stack up one waiting interrupt.</a:t>
            </a:r>
          </a:p>
        </p:txBody>
      </p:sp>
      <p:sp>
        <p:nvSpPr>
          <p:cNvPr id="4" name="Footer Placeholder 3"/>
          <p:cNvSpPr>
            <a:spLocks noGrp="1"/>
          </p:cNvSpPr>
          <p:nvPr>
            <p:ph type="ftr" sz="quarter" idx="11"/>
          </p:nvPr>
        </p:nvSpPr>
        <p:spPr/>
        <p:txBody>
          <a:bodyPr/>
          <a:lstStyle/>
          <a:p>
            <a:r>
              <a:rPr lang="en-US"/>
              <a:t>Course Teacher: Prof. Dr. Engr. Muhibul Haque Bhuyan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39</a:t>
            </a:fld>
            <a:endParaRPr lang="en-US"/>
          </a:p>
        </p:txBody>
      </p:sp>
      <p:sp>
        <p:nvSpPr>
          <p:cNvPr id="6" name="Date Placeholder 5"/>
          <p:cNvSpPr>
            <a:spLocks noGrp="1"/>
          </p:cNvSpPr>
          <p:nvPr>
            <p:ph type="dt" sz="half" idx="10"/>
          </p:nvPr>
        </p:nvSpPr>
        <p:spPr/>
        <p:txBody>
          <a:bodyPr/>
          <a:lstStyle/>
          <a:p>
            <a:fld id="{DD9CD2F0-A315-49BE-9E6D-7AFD7D73F4F1}" type="datetime3">
              <a:rPr lang="en-US" smtClean="0"/>
              <a:t>15 June 2026</a:t>
            </a:fld>
            <a:endParaRPr lang="en-US"/>
          </a:p>
        </p:txBody>
      </p:sp>
    </p:spTree>
    <p:extLst>
      <p:ext uri="{BB962C8B-B14F-4D97-AF65-F5344CB8AC3E}">
        <p14:creationId xmlns:p14="http://schemas.microsoft.com/office/powerpoint/2010/main" val="21922390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4B0EB-7177-444F-9D66-D84DFDAA9727}"/>
              </a:ext>
            </a:extLst>
          </p:cNvPr>
          <p:cNvSpPr>
            <a:spLocks noGrp="1"/>
          </p:cNvSpPr>
          <p:nvPr>
            <p:ph type="title"/>
          </p:nvPr>
        </p:nvSpPr>
        <p:spPr>
          <a:xfrm>
            <a:off x="255639" y="457200"/>
            <a:ext cx="13167360" cy="1209040"/>
          </a:xfrm>
        </p:spPr>
        <p:txBody>
          <a:bodyPr>
            <a:normAutofit/>
          </a:bodyPr>
          <a:lstStyle/>
          <a:p>
            <a:r>
              <a:rPr lang="en-US" sz="5400" b="1" dirty="0"/>
              <a:t>Software Debouncing</a:t>
            </a:r>
          </a:p>
        </p:txBody>
      </p:sp>
      <p:sp>
        <p:nvSpPr>
          <p:cNvPr id="3" name="Content Placeholder 2">
            <a:extLst>
              <a:ext uri="{FF2B5EF4-FFF2-40B4-BE49-F238E27FC236}">
                <a16:creationId xmlns:a16="http://schemas.microsoft.com/office/drawing/2014/main" id="{310F57AC-F59A-40DE-ACC4-2BB61A85F728}"/>
              </a:ext>
            </a:extLst>
          </p:cNvPr>
          <p:cNvSpPr>
            <a:spLocks noGrp="1"/>
          </p:cNvSpPr>
          <p:nvPr>
            <p:ph idx="1"/>
          </p:nvPr>
        </p:nvSpPr>
        <p:spPr>
          <a:xfrm>
            <a:off x="270386" y="1524000"/>
            <a:ext cx="14207614" cy="5972048"/>
          </a:xfrm>
        </p:spPr>
        <p:txBody>
          <a:bodyPr lIns="0" rIns="0">
            <a:noAutofit/>
          </a:bodyPr>
          <a:lstStyle/>
          <a:p>
            <a:pPr marL="124355" indent="0">
              <a:buNone/>
            </a:pPr>
            <a:r>
              <a:rPr lang="en-US" sz="3200" dirty="0">
                <a:solidFill>
                  <a:srgbClr val="FF0000"/>
                </a:solidFill>
              </a:rPr>
              <a:t>The following is a simple software debounce code for Arduino written in IDE</a:t>
            </a:r>
          </a:p>
          <a:p>
            <a:pPr marL="124355" indent="0">
              <a:buNone/>
            </a:pPr>
            <a:endParaRPr lang="en-US" sz="1600" dirty="0"/>
          </a:p>
          <a:p>
            <a:pPr marL="124355" indent="0">
              <a:buNone/>
            </a:pPr>
            <a:r>
              <a:rPr lang="en-US" sz="1600" dirty="0"/>
              <a:t>int </a:t>
            </a:r>
            <a:r>
              <a:rPr lang="en-US" sz="1600" dirty="0" err="1"/>
              <a:t>inPin</a:t>
            </a:r>
            <a:r>
              <a:rPr lang="en-US" sz="1600" dirty="0"/>
              <a:t> = 7;         // the pin number of the input pin</a:t>
            </a:r>
          </a:p>
          <a:p>
            <a:pPr marL="124355" indent="0">
              <a:buNone/>
            </a:pPr>
            <a:r>
              <a:rPr lang="en-US" sz="1600" dirty="0"/>
              <a:t>int </a:t>
            </a:r>
            <a:r>
              <a:rPr lang="en-US" sz="1600" dirty="0" err="1"/>
              <a:t>outPin</a:t>
            </a:r>
            <a:r>
              <a:rPr lang="en-US" sz="1600" dirty="0"/>
              <a:t> = 13;       // the pin number of the output pin</a:t>
            </a:r>
          </a:p>
          <a:p>
            <a:pPr marL="124355" indent="0">
              <a:buNone/>
            </a:pPr>
            <a:endParaRPr lang="en-US" sz="1600" dirty="0"/>
          </a:p>
          <a:p>
            <a:pPr marL="124355" indent="0">
              <a:buNone/>
            </a:pPr>
            <a:r>
              <a:rPr lang="en-US" sz="1600" dirty="0" err="1"/>
              <a:t>int</a:t>
            </a:r>
            <a:r>
              <a:rPr lang="en-US" sz="1600" dirty="0"/>
              <a:t> counter = 0;       // how many times we have seen new value</a:t>
            </a:r>
          </a:p>
          <a:p>
            <a:pPr marL="124355" indent="0">
              <a:buNone/>
            </a:pPr>
            <a:r>
              <a:rPr lang="en-US" sz="1600" dirty="0" err="1"/>
              <a:t>int</a:t>
            </a:r>
            <a:r>
              <a:rPr lang="en-US" sz="1600" dirty="0"/>
              <a:t> reading;           // the current value read from the input pin</a:t>
            </a:r>
          </a:p>
          <a:p>
            <a:pPr marL="124355" indent="0">
              <a:buNone/>
            </a:pPr>
            <a:r>
              <a:rPr lang="en-US" sz="1600" dirty="0" err="1"/>
              <a:t>int</a:t>
            </a:r>
            <a:r>
              <a:rPr lang="en-US" sz="1600" dirty="0"/>
              <a:t> </a:t>
            </a:r>
            <a:r>
              <a:rPr lang="en-US" sz="1600" dirty="0" err="1"/>
              <a:t>current_state</a:t>
            </a:r>
            <a:r>
              <a:rPr lang="en-US" sz="1600" dirty="0"/>
              <a:t> = LOW;    // the </a:t>
            </a:r>
            <a:r>
              <a:rPr lang="en-US" sz="1600" dirty="0" err="1"/>
              <a:t>debounced</a:t>
            </a:r>
            <a:r>
              <a:rPr lang="en-US" sz="1600" dirty="0"/>
              <a:t> input value</a:t>
            </a:r>
          </a:p>
          <a:p>
            <a:pPr marL="124355" indent="0">
              <a:buNone/>
            </a:pPr>
            <a:endParaRPr lang="en-US" sz="1600" dirty="0"/>
          </a:p>
          <a:p>
            <a:pPr marL="124355" indent="0">
              <a:buNone/>
            </a:pPr>
            <a:r>
              <a:rPr lang="en-US" sz="1600" dirty="0"/>
              <a:t>// the following variable is a long because the time, measured in milliseconds,</a:t>
            </a:r>
          </a:p>
          <a:p>
            <a:pPr marL="124355" indent="0">
              <a:buNone/>
            </a:pPr>
            <a:r>
              <a:rPr lang="en-US" sz="1600" dirty="0"/>
              <a:t>// will quickly become a bigger number than can be stored in an int.</a:t>
            </a:r>
          </a:p>
          <a:p>
            <a:pPr marL="124355" indent="0">
              <a:buNone/>
            </a:pPr>
            <a:r>
              <a:rPr lang="en-US" sz="1600" dirty="0"/>
              <a:t>long time = 0;         // the last time the output pin was sampled</a:t>
            </a:r>
          </a:p>
          <a:p>
            <a:pPr marL="124355" indent="0">
              <a:buNone/>
            </a:pPr>
            <a:r>
              <a:rPr lang="en-US" sz="1600" b="1" dirty="0">
                <a:solidFill>
                  <a:srgbClr val="FF0000"/>
                </a:solidFill>
              </a:rPr>
              <a:t>int </a:t>
            </a:r>
            <a:r>
              <a:rPr lang="en-US" sz="1600" b="1" dirty="0" err="1">
                <a:solidFill>
                  <a:srgbClr val="FF0000"/>
                </a:solidFill>
              </a:rPr>
              <a:t>debounce_count</a:t>
            </a:r>
            <a:r>
              <a:rPr lang="en-US" sz="1600" b="1" dirty="0">
                <a:solidFill>
                  <a:srgbClr val="FF0000"/>
                </a:solidFill>
              </a:rPr>
              <a:t> = 10; // number of millisecond/samples to consider before declaring a debounced input</a:t>
            </a:r>
          </a:p>
          <a:p>
            <a:pPr marL="124355" indent="0">
              <a:buNone/>
            </a:pPr>
            <a:endParaRPr lang="en-US" sz="1600" dirty="0"/>
          </a:p>
          <a:p>
            <a:pPr marL="124355" indent="0">
              <a:buNone/>
            </a:pPr>
            <a:r>
              <a:rPr lang="en-US" sz="1600" dirty="0"/>
              <a:t>void setup()</a:t>
            </a:r>
          </a:p>
          <a:p>
            <a:pPr marL="124355" indent="0">
              <a:buNone/>
            </a:pPr>
            <a:r>
              <a:rPr lang="en-US" sz="1600" dirty="0"/>
              <a:t>{</a:t>
            </a:r>
          </a:p>
          <a:p>
            <a:pPr marL="124355" indent="0">
              <a:buNone/>
            </a:pPr>
            <a:r>
              <a:rPr lang="en-US" sz="1600" dirty="0"/>
              <a:t>  </a:t>
            </a:r>
            <a:r>
              <a:rPr lang="en-US" sz="1600" dirty="0" err="1"/>
              <a:t>pinMode</a:t>
            </a:r>
            <a:r>
              <a:rPr lang="en-US" sz="1600" dirty="0"/>
              <a:t>(</a:t>
            </a:r>
            <a:r>
              <a:rPr lang="en-US" sz="1600" dirty="0" err="1"/>
              <a:t>inPin</a:t>
            </a:r>
            <a:r>
              <a:rPr lang="en-US" sz="1600" dirty="0"/>
              <a:t>, INPUT);</a:t>
            </a:r>
          </a:p>
          <a:p>
            <a:pPr marL="124355" indent="0">
              <a:buNone/>
            </a:pPr>
            <a:r>
              <a:rPr lang="en-US" sz="1600" dirty="0"/>
              <a:t>  </a:t>
            </a:r>
            <a:r>
              <a:rPr lang="en-US" sz="1600" dirty="0" err="1"/>
              <a:t>pinMode</a:t>
            </a:r>
            <a:r>
              <a:rPr lang="en-US" sz="1600" dirty="0"/>
              <a:t>(</a:t>
            </a:r>
            <a:r>
              <a:rPr lang="en-US" sz="1600" dirty="0" err="1"/>
              <a:t>outPin</a:t>
            </a:r>
            <a:r>
              <a:rPr lang="en-US" sz="1600" dirty="0"/>
              <a:t>, OUTPUT);</a:t>
            </a:r>
          </a:p>
          <a:p>
            <a:pPr marL="124355" indent="0">
              <a:buNone/>
            </a:pPr>
            <a:r>
              <a:rPr lang="en-US" sz="1600" dirty="0"/>
              <a:t>  </a:t>
            </a:r>
            <a:r>
              <a:rPr lang="en-US" sz="1600" dirty="0" err="1"/>
              <a:t>digitalWrite</a:t>
            </a:r>
            <a:r>
              <a:rPr lang="en-US" sz="1600" dirty="0"/>
              <a:t>(</a:t>
            </a:r>
            <a:r>
              <a:rPr lang="en-US" sz="1600" dirty="0" err="1"/>
              <a:t>outPin</a:t>
            </a:r>
            <a:r>
              <a:rPr lang="en-US" sz="1600" dirty="0"/>
              <a:t>, </a:t>
            </a:r>
            <a:r>
              <a:rPr lang="en-US" sz="1600" dirty="0" err="1"/>
              <a:t>current_state</a:t>
            </a:r>
            <a:r>
              <a:rPr lang="en-US" sz="1600" dirty="0"/>
              <a:t>); // setup the Output LED for initial state</a:t>
            </a:r>
          </a:p>
          <a:p>
            <a:pPr marL="124355" indent="0">
              <a:buNone/>
            </a:pPr>
            <a:r>
              <a:rPr lang="en-US" sz="1600" dirty="0"/>
              <a:t>}</a:t>
            </a:r>
          </a:p>
        </p:txBody>
      </p:sp>
      <p:sp>
        <p:nvSpPr>
          <p:cNvPr id="4" name="Footer Placeholder 3"/>
          <p:cNvSpPr>
            <a:spLocks noGrp="1"/>
          </p:cNvSpPr>
          <p:nvPr>
            <p:ph type="ftr" sz="quarter" idx="11"/>
          </p:nvPr>
        </p:nvSpPr>
        <p:spPr/>
        <p:txBody>
          <a:bodyPr/>
          <a:lstStyle/>
          <a:p>
            <a:r>
              <a:rPr lang="en-US"/>
              <a:t>Course Teacher: Prof. Dr. Engr. Muhibul Haque Bhuyan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40</a:t>
            </a:fld>
            <a:endParaRPr lang="en-US"/>
          </a:p>
        </p:txBody>
      </p:sp>
      <p:sp>
        <p:nvSpPr>
          <p:cNvPr id="6" name="Date Placeholder 5"/>
          <p:cNvSpPr>
            <a:spLocks noGrp="1"/>
          </p:cNvSpPr>
          <p:nvPr>
            <p:ph type="dt" sz="half" idx="10"/>
          </p:nvPr>
        </p:nvSpPr>
        <p:spPr/>
        <p:txBody>
          <a:bodyPr/>
          <a:lstStyle/>
          <a:p>
            <a:fld id="{DD9CD2F0-A315-49BE-9E6D-7AFD7D73F4F1}" type="datetime3">
              <a:rPr lang="en-US" smtClean="0"/>
              <a:t>15 June 2026</a:t>
            </a:fld>
            <a:endParaRPr lang="en-US"/>
          </a:p>
        </p:txBody>
      </p:sp>
    </p:spTree>
    <p:extLst>
      <p:ext uri="{BB962C8B-B14F-4D97-AF65-F5344CB8AC3E}">
        <p14:creationId xmlns:p14="http://schemas.microsoft.com/office/powerpoint/2010/main" val="42484545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0F57AC-F59A-40DE-ACC4-2BB61A85F728}"/>
              </a:ext>
            </a:extLst>
          </p:cNvPr>
          <p:cNvSpPr>
            <a:spLocks noGrp="1"/>
          </p:cNvSpPr>
          <p:nvPr>
            <p:ph idx="1"/>
          </p:nvPr>
        </p:nvSpPr>
        <p:spPr>
          <a:xfrm>
            <a:off x="152400" y="504952"/>
            <a:ext cx="14249400" cy="7038848"/>
          </a:xfrm>
        </p:spPr>
        <p:txBody>
          <a:bodyPr>
            <a:noAutofit/>
          </a:bodyPr>
          <a:lstStyle/>
          <a:p>
            <a:pPr marL="124355" indent="0">
              <a:buNone/>
            </a:pPr>
            <a:r>
              <a:rPr lang="en-US" sz="1600" dirty="0"/>
              <a:t>void loop()</a:t>
            </a:r>
          </a:p>
          <a:p>
            <a:pPr marL="124355" indent="0">
              <a:buNone/>
            </a:pPr>
            <a:r>
              <a:rPr lang="en-US" sz="1600" dirty="0"/>
              <a:t>{</a:t>
            </a:r>
          </a:p>
          <a:p>
            <a:pPr marL="124355" indent="0">
              <a:buNone/>
            </a:pPr>
            <a:r>
              <a:rPr lang="en-US" sz="1600" dirty="0"/>
              <a:t>  // If we have gone on to the next millisecond</a:t>
            </a:r>
          </a:p>
          <a:p>
            <a:pPr marL="124355" indent="0">
              <a:buNone/>
            </a:pPr>
            <a:r>
              <a:rPr lang="en-US" sz="1600" dirty="0"/>
              <a:t>  if(</a:t>
            </a:r>
            <a:r>
              <a:rPr lang="en-US" sz="1600" dirty="0" err="1">
                <a:solidFill>
                  <a:srgbClr val="FF0000"/>
                </a:solidFill>
              </a:rPr>
              <a:t>millis</a:t>
            </a:r>
            <a:r>
              <a:rPr lang="en-US" sz="1600" dirty="0">
                <a:solidFill>
                  <a:srgbClr val="FF0000"/>
                </a:solidFill>
              </a:rPr>
              <a:t>() </a:t>
            </a:r>
            <a:r>
              <a:rPr lang="en-US" sz="1600" dirty="0"/>
              <a:t>!= time)</a:t>
            </a:r>
          </a:p>
          <a:p>
            <a:pPr marL="124355" indent="0">
              <a:buNone/>
            </a:pPr>
            <a:r>
              <a:rPr lang="en-US" sz="1600" dirty="0"/>
              <a:t>  {</a:t>
            </a:r>
          </a:p>
          <a:p>
            <a:pPr marL="124355" indent="0">
              <a:buNone/>
            </a:pPr>
            <a:r>
              <a:rPr lang="en-US" sz="1600" dirty="0"/>
              <a:t>    reading = </a:t>
            </a:r>
            <a:r>
              <a:rPr lang="en-US" sz="1600" dirty="0" err="1"/>
              <a:t>digitalRead</a:t>
            </a:r>
            <a:r>
              <a:rPr lang="en-US" sz="1600" dirty="0"/>
              <a:t>(</a:t>
            </a:r>
            <a:r>
              <a:rPr lang="en-US" sz="1600" dirty="0" err="1"/>
              <a:t>inPin</a:t>
            </a:r>
            <a:r>
              <a:rPr lang="en-US" sz="1600" dirty="0"/>
              <a:t>);</a:t>
            </a:r>
          </a:p>
          <a:p>
            <a:pPr marL="124355" indent="0">
              <a:buNone/>
            </a:pPr>
            <a:endParaRPr lang="en-US" sz="1600" dirty="0"/>
          </a:p>
          <a:p>
            <a:pPr marL="124355" indent="0">
              <a:buNone/>
            </a:pPr>
            <a:r>
              <a:rPr lang="en-US" sz="1600" dirty="0"/>
              <a:t>    if(reading == </a:t>
            </a:r>
            <a:r>
              <a:rPr lang="en-US" sz="1600" dirty="0" err="1"/>
              <a:t>current_state</a:t>
            </a:r>
            <a:r>
              <a:rPr lang="en-US" sz="1600" dirty="0"/>
              <a:t> &amp;&amp; counter &gt; 0)</a:t>
            </a:r>
          </a:p>
          <a:p>
            <a:pPr marL="124355" indent="0">
              <a:buNone/>
            </a:pPr>
            <a:r>
              <a:rPr lang="en-US" sz="1600" dirty="0"/>
              <a:t>    {</a:t>
            </a:r>
          </a:p>
          <a:p>
            <a:pPr marL="124355" indent="0">
              <a:buNone/>
            </a:pPr>
            <a:r>
              <a:rPr lang="en-US" sz="1600" dirty="0"/>
              <a:t>      counter--;</a:t>
            </a:r>
          </a:p>
          <a:p>
            <a:pPr marL="124355" indent="0">
              <a:buNone/>
            </a:pPr>
            <a:r>
              <a:rPr lang="en-US" sz="1600" dirty="0"/>
              <a:t>    }</a:t>
            </a:r>
          </a:p>
          <a:p>
            <a:pPr marL="124355" indent="0">
              <a:buNone/>
            </a:pPr>
            <a:r>
              <a:rPr lang="en-US" sz="1600" dirty="0"/>
              <a:t>    if(reading != </a:t>
            </a:r>
            <a:r>
              <a:rPr lang="en-US" sz="1600" dirty="0" err="1"/>
              <a:t>current_state</a:t>
            </a:r>
            <a:r>
              <a:rPr lang="en-US" sz="1600" dirty="0"/>
              <a:t>)</a:t>
            </a:r>
          </a:p>
          <a:p>
            <a:pPr marL="124355" indent="0">
              <a:buNone/>
            </a:pPr>
            <a:r>
              <a:rPr lang="en-US" sz="1600" dirty="0"/>
              <a:t>    {</a:t>
            </a:r>
          </a:p>
          <a:p>
            <a:pPr marL="124355" indent="0">
              <a:buNone/>
            </a:pPr>
            <a:r>
              <a:rPr lang="en-US" sz="1600" dirty="0"/>
              <a:t>       counter++; </a:t>
            </a:r>
          </a:p>
          <a:p>
            <a:pPr marL="124355" indent="0">
              <a:buNone/>
            </a:pPr>
            <a:r>
              <a:rPr lang="en-US" sz="1600" dirty="0"/>
              <a:t>    }</a:t>
            </a:r>
          </a:p>
          <a:p>
            <a:pPr marL="124355" indent="0">
              <a:buNone/>
            </a:pPr>
            <a:r>
              <a:rPr lang="en-US" sz="1600" dirty="0"/>
              <a:t>    // If the Input has shown the same value for long enough let's switch it</a:t>
            </a:r>
          </a:p>
          <a:p>
            <a:pPr marL="124355" indent="0">
              <a:buNone/>
            </a:pPr>
            <a:r>
              <a:rPr lang="en-US" sz="1600" dirty="0"/>
              <a:t>    </a:t>
            </a:r>
            <a:r>
              <a:rPr lang="en-US" sz="1600" b="1" dirty="0">
                <a:solidFill>
                  <a:srgbClr val="FF0000"/>
                </a:solidFill>
              </a:rPr>
              <a:t>if(counter &gt;= </a:t>
            </a:r>
            <a:r>
              <a:rPr lang="en-US" sz="1600" b="1" dirty="0" err="1">
                <a:solidFill>
                  <a:srgbClr val="FF0000"/>
                </a:solidFill>
              </a:rPr>
              <a:t>debounce_count</a:t>
            </a:r>
            <a:r>
              <a:rPr lang="en-US" sz="1600" b="1" dirty="0">
                <a:solidFill>
                  <a:srgbClr val="FF0000"/>
                </a:solidFill>
              </a:rPr>
              <a:t>)</a:t>
            </a:r>
          </a:p>
          <a:p>
            <a:pPr marL="124355" indent="0">
              <a:buNone/>
            </a:pPr>
            <a:r>
              <a:rPr lang="en-US" sz="1600" dirty="0"/>
              <a:t>    {</a:t>
            </a:r>
          </a:p>
          <a:p>
            <a:pPr marL="124355" indent="0">
              <a:buNone/>
            </a:pPr>
            <a:r>
              <a:rPr lang="en-US" sz="1600" dirty="0"/>
              <a:t>      counter = 0;</a:t>
            </a:r>
          </a:p>
          <a:p>
            <a:pPr marL="124355" indent="0">
              <a:buNone/>
            </a:pPr>
            <a:r>
              <a:rPr lang="en-US" sz="1600" dirty="0"/>
              <a:t>      </a:t>
            </a:r>
            <a:r>
              <a:rPr lang="en-US" sz="1600" dirty="0" err="1"/>
              <a:t>current_state</a:t>
            </a:r>
            <a:r>
              <a:rPr lang="en-US" sz="1600" dirty="0"/>
              <a:t> = reading;</a:t>
            </a:r>
          </a:p>
          <a:p>
            <a:pPr marL="124355" indent="0">
              <a:buNone/>
            </a:pPr>
            <a:r>
              <a:rPr lang="en-US" sz="1600" dirty="0"/>
              <a:t>      </a:t>
            </a:r>
            <a:r>
              <a:rPr lang="en-US" sz="1600" dirty="0" err="1"/>
              <a:t>digitalWrite</a:t>
            </a:r>
            <a:r>
              <a:rPr lang="en-US" sz="1600" dirty="0"/>
              <a:t>(</a:t>
            </a:r>
            <a:r>
              <a:rPr lang="en-US" sz="1600" dirty="0" err="1"/>
              <a:t>outPin</a:t>
            </a:r>
            <a:r>
              <a:rPr lang="en-US" sz="1600" dirty="0"/>
              <a:t>, </a:t>
            </a:r>
            <a:r>
              <a:rPr lang="en-US" sz="1600" dirty="0" err="1"/>
              <a:t>current_state</a:t>
            </a:r>
            <a:r>
              <a:rPr lang="en-US" sz="1600" dirty="0"/>
              <a:t>);</a:t>
            </a:r>
          </a:p>
          <a:p>
            <a:pPr marL="124355" indent="0">
              <a:buNone/>
            </a:pPr>
            <a:r>
              <a:rPr lang="en-US" sz="1600" dirty="0"/>
              <a:t>    }</a:t>
            </a:r>
          </a:p>
          <a:p>
            <a:pPr marL="124355" indent="0">
              <a:buNone/>
            </a:pPr>
            <a:r>
              <a:rPr lang="en-US" sz="1600" dirty="0"/>
              <a:t>    time = </a:t>
            </a:r>
            <a:r>
              <a:rPr lang="en-US" sz="1600" dirty="0" err="1">
                <a:solidFill>
                  <a:srgbClr val="FF0000"/>
                </a:solidFill>
              </a:rPr>
              <a:t>millis</a:t>
            </a:r>
            <a:r>
              <a:rPr lang="en-US" sz="1600" dirty="0">
                <a:solidFill>
                  <a:srgbClr val="FF0000"/>
                </a:solidFill>
              </a:rPr>
              <a:t>()</a:t>
            </a:r>
            <a:r>
              <a:rPr lang="en-US" sz="1600" dirty="0"/>
              <a:t>;</a:t>
            </a:r>
          </a:p>
          <a:p>
            <a:pPr marL="124355" indent="0">
              <a:buNone/>
            </a:pPr>
            <a:r>
              <a:rPr lang="en-US" sz="1600" dirty="0"/>
              <a:t>  }</a:t>
            </a:r>
          </a:p>
          <a:p>
            <a:pPr marL="124355" indent="0">
              <a:buNone/>
            </a:pPr>
            <a:r>
              <a:rPr lang="en-US" sz="1600" dirty="0"/>
              <a:t>}</a:t>
            </a:r>
          </a:p>
        </p:txBody>
      </p:sp>
      <p:sp>
        <p:nvSpPr>
          <p:cNvPr id="4" name="Footer Placeholder 3"/>
          <p:cNvSpPr>
            <a:spLocks noGrp="1"/>
          </p:cNvSpPr>
          <p:nvPr>
            <p:ph type="ftr" sz="quarter" idx="11"/>
          </p:nvPr>
        </p:nvSpPr>
        <p:spPr/>
        <p:txBody>
          <a:bodyPr/>
          <a:lstStyle/>
          <a:p>
            <a:r>
              <a:rPr lang="en-US"/>
              <a:t>Course Teacher: Prof. Dr. Engr. Muhibul Haque Bhuyan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41</a:t>
            </a:fld>
            <a:endParaRPr lang="en-US"/>
          </a:p>
        </p:txBody>
      </p:sp>
      <p:sp>
        <p:nvSpPr>
          <p:cNvPr id="6" name="Date Placeholder 5"/>
          <p:cNvSpPr>
            <a:spLocks noGrp="1"/>
          </p:cNvSpPr>
          <p:nvPr>
            <p:ph type="dt" sz="half" idx="10"/>
          </p:nvPr>
        </p:nvSpPr>
        <p:spPr/>
        <p:txBody>
          <a:bodyPr/>
          <a:lstStyle/>
          <a:p>
            <a:fld id="{DD9CD2F0-A315-49BE-9E6D-7AFD7D73F4F1}" type="datetime3">
              <a:rPr lang="en-US" smtClean="0"/>
              <a:t>15 June 2026</a:t>
            </a:fld>
            <a:endParaRPr lang="en-US"/>
          </a:p>
        </p:txBody>
      </p:sp>
      <p:sp>
        <p:nvSpPr>
          <p:cNvPr id="7" name="TextBox 6">
            <a:extLst>
              <a:ext uri="{FF2B5EF4-FFF2-40B4-BE49-F238E27FC236}">
                <a16:creationId xmlns:a16="http://schemas.microsoft.com/office/drawing/2014/main" id="{7B729575-EFFC-AB14-F6D8-6F838D7A092A}"/>
              </a:ext>
            </a:extLst>
          </p:cNvPr>
          <p:cNvSpPr txBox="1"/>
          <p:nvPr/>
        </p:nvSpPr>
        <p:spPr>
          <a:xfrm>
            <a:off x="7309486" y="838200"/>
            <a:ext cx="7092314" cy="5324535"/>
          </a:xfrm>
          <a:prstGeom prst="rect">
            <a:avLst/>
          </a:prstGeom>
          <a:noFill/>
          <a:ln w="38100">
            <a:solidFill>
              <a:srgbClr val="7030A0"/>
            </a:solidFill>
          </a:ln>
        </p:spPr>
        <p:txBody>
          <a:bodyPr wrap="square">
            <a:spAutoFit/>
          </a:bodyPr>
          <a:lstStyle/>
          <a:p>
            <a:r>
              <a:rPr lang="en-US" sz="2800" dirty="0" err="1">
                <a:solidFill>
                  <a:srgbClr val="FF0000"/>
                </a:solidFill>
              </a:rPr>
              <a:t>millis</a:t>
            </a:r>
            <a:r>
              <a:rPr lang="en-US" sz="2800" dirty="0">
                <a:solidFill>
                  <a:srgbClr val="FF0000"/>
                </a:solidFill>
              </a:rPr>
              <a:t> () function: </a:t>
            </a:r>
          </a:p>
          <a:p>
            <a:r>
              <a:rPr lang="en-US" sz="2400" dirty="0"/>
              <a:t>This function is used to return the number of milliseconds at the time, the Arduino board begins running the current program, that is, this Arduino function returns the present time in milliseconds from the moment the Arduino board is powered on or reset. The return value of </a:t>
            </a:r>
            <a:r>
              <a:rPr lang="en-US" sz="2400" dirty="0" err="1"/>
              <a:t>millis</a:t>
            </a:r>
            <a:r>
              <a:rPr lang="en-US" sz="2400" dirty="0"/>
              <a:t> is the number of milliseconds through an unsigned long variable since the program in Arduino started.</a:t>
            </a:r>
          </a:p>
          <a:p>
            <a:endParaRPr lang="en-US" sz="2400" dirty="0"/>
          </a:p>
          <a:p>
            <a:r>
              <a:rPr lang="en-US" sz="2400" dirty="0"/>
              <a:t>This number overflows i.e., goes back to zero after approximately 50 </a:t>
            </a:r>
            <a:r>
              <a:rPr lang="en-US" sz="2400"/>
              <a:t>days.</a:t>
            </a:r>
          </a:p>
          <a:p>
            <a:r>
              <a:rPr lang="en-US" sz="2400"/>
              <a:t>millis</a:t>
            </a:r>
            <a:r>
              <a:rPr lang="en-US" sz="2400" dirty="0"/>
              <a:t>() function Syntax. </a:t>
            </a:r>
            <a:r>
              <a:rPr lang="en-US" sz="2400" dirty="0" err="1"/>
              <a:t>millis</a:t>
            </a:r>
            <a:r>
              <a:rPr lang="en-US" sz="2400" dirty="0"/>
              <a:t>(); This function returns milliseconds from the start of the program.</a:t>
            </a:r>
          </a:p>
        </p:txBody>
      </p:sp>
    </p:spTree>
    <p:extLst>
      <p:ext uri="{BB962C8B-B14F-4D97-AF65-F5344CB8AC3E}">
        <p14:creationId xmlns:p14="http://schemas.microsoft.com/office/powerpoint/2010/main" val="1062338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0F57AC-F59A-40DE-ACC4-2BB61A85F728}"/>
              </a:ext>
            </a:extLst>
          </p:cNvPr>
          <p:cNvSpPr>
            <a:spLocks noGrp="1"/>
          </p:cNvSpPr>
          <p:nvPr>
            <p:ph idx="1"/>
          </p:nvPr>
        </p:nvSpPr>
        <p:spPr>
          <a:xfrm>
            <a:off x="253181" y="838200"/>
            <a:ext cx="14207614" cy="6657848"/>
          </a:xfrm>
        </p:spPr>
        <p:txBody>
          <a:bodyPr>
            <a:noAutofit/>
          </a:bodyPr>
          <a:lstStyle/>
          <a:p>
            <a:pPr marL="124355" indent="0">
              <a:buNone/>
            </a:pPr>
            <a:r>
              <a:rPr lang="en-US" sz="2800" dirty="0"/>
              <a:t>Standard Values of Resistance (Commercially Available in the Market):</a:t>
            </a:r>
          </a:p>
          <a:p>
            <a:pPr marL="124355" indent="0">
              <a:buNone/>
            </a:pPr>
            <a:endParaRPr lang="en-US" sz="2000" dirty="0"/>
          </a:p>
        </p:txBody>
      </p:sp>
      <p:sp>
        <p:nvSpPr>
          <p:cNvPr id="4" name="Footer Placeholder 3"/>
          <p:cNvSpPr>
            <a:spLocks noGrp="1"/>
          </p:cNvSpPr>
          <p:nvPr>
            <p:ph type="ftr" sz="quarter" idx="11"/>
          </p:nvPr>
        </p:nvSpPr>
        <p:spPr/>
        <p:txBody>
          <a:bodyPr/>
          <a:lstStyle/>
          <a:p>
            <a:r>
              <a:rPr lang="en-US" dirty="0"/>
              <a:t>Course Teacher: Prof. Dr. Engr. </a:t>
            </a:r>
            <a:r>
              <a:rPr lang="en-US" dirty="0" err="1"/>
              <a:t>Muhibul</a:t>
            </a:r>
            <a:r>
              <a:rPr lang="en-US" dirty="0"/>
              <a:t> </a:t>
            </a:r>
            <a:r>
              <a:rPr lang="en-US" dirty="0" err="1"/>
              <a:t>Haque</a:t>
            </a:r>
            <a:r>
              <a:rPr lang="en-US" dirty="0"/>
              <a:t> </a:t>
            </a:r>
            <a:r>
              <a:rPr lang="en-US" dirty="0" err="1"/>
              <a:t>Bhuyan</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42</a:t>
            </a:fld>
            <a:endParaRPr lang="en-US"/>
          </a:p>
        </p:txBody>
      </p:sp>
      <p:sp>
        <p:nvSpPr>
          <p:cNvPr id="6" name="Date Placeholder 5"/>
          <p:cNvSpPr>
            <a:spLocks noGrp="1"/>
          </p:cNvSpPr>
          <p:nvPr>
            <p:ph type="dt" sz="half" idx="10"/>
          </p:nvPr>
        </p:nvSpPr>
        <p:spPr/>
        <p:txBody>
          <a:bodyPr/>
          <a:lstStyle/>
          <a:p>
            <a:fld id="{DD9CD2F0-A315-49BE-9E6D-7AFD7D73F4F1}" type="datetime3">
              <a:rPr lang="en-US" smtClean="0"/>
              <a:t>15 June 2026</a:t>
            </a:fld>
            <a:endParaRPr lang="en-US"/>
          </a:p>
        </p:txBody>
      </p:sp>
      <p:pic>
        <p:nvPicPr>
          <p:cNvPr id="10" name="Picture 9">
            <a:extLst>
              <a:ext uri="{FF2B5EF4-FFF2-40B4-BE49-F238E27FC236}">
                <a16:creationId xmlns:a16="http://schemas.microsoft.com/office/drawing/2014/main" id="{7C664F81-5DC6-F540-62EE-1C445929E6EE}"/>
              </a:ext>
            </a:extLst>
          </p:cNvPr>
          <p:cNvPicPr>
            <a:picLocks noChangeAspect="1"/>
          </p:cNvPicPr>
          <p:nvPr/>
        </p:nvPicPr>
        <p:blipFill>
          <a:blip r:embed="rId2"/>
          <a:stretch>
            <a:fillRect/>
          </a:stretch>
        </p:blipFill>
        <p:spPr>
          <a:xfrm>
            <a:off x="4191000" y="1348902"/>
            <a:ext cx="7391400" cy="6423498"/>
          </a:xfrm>
          <a:prstGeom prst="rect">
            <a:avLst/>
          </a:prstGeom>
        </p:spPr>
      </p:pic>
    </p:spTree>
    <p:extLst>
      <p:ext uri="{BB962C8B-B14F-4D97-AF65-F5344CB8AC3E}">
        <p14:creationId xmlns:p14="http://schemas.microsoft.com/office/powerpoint/2010/main" val="10146034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42816"/>
            <a:ext cx="6096000" cy="1209040"/>
          </a:xfrm>
        </p:spPr>
        <p:txBody>
          <a:bodyPr>
            <a:normAutofit/>
          </a:bodyPr>
          <a:lstStyle/>
          <a:p>
            <a:r>
              <a:rPr lang="en-US" sz="4800" b="1" dirty="0"/>
              <a:t>References</a:t>
            </a:r>
          </a:p>
        </p:txBody>
      </p:sp>
      <p:sp>
        <p:nvSpPr>
          <p:cNvPr id="3" name="Content Placeholder 2"/>
          <p:cNvSpPr>
            <a:spLocks noGrp="1"/>
          </p:cNvSpPr>
          <p:nvPr>
            <p:ph idx="1"/>
          </p:nvPr>
        </p:nvSpPr>
        <p:spPr>
          <a:xfrm>
            <a:off x="253181" y="1880885"/>
            <a:ext cx="8052619" cy="2662740"/>
          </a:xfrm>
        </p:spPr>
        <p:txBody>
          <a:bodyPr>
            <a:normAutofit/>
          </a:bodyPr>
          <a:lstStyle/>
          <a:p>
            <a:pPr algn="just"/>
            <a:r>
              <a:rPr lang="en-US" sz="2800" dirty="0"/>
              <a:t>ATMega328 manual</a:t>
            </a:r>
          </a:p>
          <a:p>
            <a:pPr algn="just"/>
            <a:r>
              <a:rPr lang="en-US" sz="2800" dirty="0">
                <a:hlinkClick r:id="rId2"/>
              </a:rPr>
              <a:t>http://www.ganssle.com/debouncing-pt2.htm</a:t>
            </a:r>
            <a:endParaRPr lang="en-US" sz="2800" dirty="0"/>
          </a:p>
          <a:p>
            <a:pPr algn="just"/>
            <a:r>
              <a:rPr lang="en-US" sz="2800" dirty="0">
                <a:hlinkClick r:id="rId3"/>
              </a:rPr>
              <a:t>https://mansfield-devine.com/speculatrix/ 2018/04/debouncing-fun-with-schmitt-triggers-and-capacitors/</a:t>
            </a:r>
            <a:endParaRPr lang="en-US" sz="2800" dirty="0"/>
          </a:p>
        </p:txBody>
      </p:sp>
      <p:sp>
        <p:nvSpPr>
          <p:cNvPr id="4" name="Footer Placeholder 3"/>
          <p:cNvSpPr>
            <a:spLocks noGrp="1"/>
          </p:cNvSpPr>
          <p:nvPr>
            <p:ph type="ftr" sz="quarter" idx="11"/>
          </p:nvPr>
        </p:nvSpPr>
        <p:spPr/>
        <p:txBody>
          <a:bodyPr/>
          <a:lstStyle/>
          <a:p>
            <a:r>
              <a:rPr lang="en-US"/>
              <a:t>Course Teacher: Prof. Dr. Engr. Muhibul Haque Bhuyan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43</a:t>
            </a:fld>
            <a:endParaRPr lang="en-US"/>
          </a:p>
        </p:txBody>
      </p:sp>
      <p:sp>
        <p:nvSpPr>
          <p:cNvPr id="6" name="Date Placeholder 5"/>
          <p:cNvSpPr>
            <a:spLocks noGrp="1"/>
          </p:cNvSpPr>
          <p:nvPr>
            <p:ph type="dt" sz="half" idx="10"/>
          </p:nvPr>
        </p:nvSpPr>
        <p:spPr/>
        <p:txBody>
          <a:bodyPr/>
          <a:lstStyle/>
          <a:p>
            <a:fld id="{EDB1B3B5-D420-4F9E-A461-A8B0CACB960E}" type="datetime3">
              <a:rPr lang="en-US" smtClean="0"/>
              <a:t>15 June 2026</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99652-6805-4BCB-82F2-65ABD02EC79B}"/>
              </a:ext>
            </a:extLst>
          </p:cNvPr>
          <p:cNvSpPr>
            <a:spLocks noGrp="1"/>
          </p:cNvSpPr>
          <p:nvPr>
            <p:ph type="title"/>
          </p:nvPr>
        </p:nvSpPr>
        <p:spPr>
          <a:xfrm>
            <a:off x="777687" y="617191"/>
            <a:ext cx="12412287" cy="1125461"/>
          </a:xfrm>
        </p:spPr>
        <p:txBody>
          <a:bodyPr>
            <a:normAutofit/>
          </a:bodyPr>
          <a:lstStyle/>
          <a:p>
            <a:r>
              <a:rPr lang="en-US" sz="6120" b="1" dirty="0"/>
              <a:t>Thanks </a:t>
            </a:r>
            <a:r>
              <a:rPr lang="en-US" sz="6600" b="1" dirty="0"/>
              <a:t>for</a:t>
            </a:r>
            <a:r>
              <a:rPr lang="en-US" sz="6120" b="1" dirty="0"/>
              <a:t> Attending….</a:t>
            </a:r>
          </a:p>
        </p:txBody>
      </p:sp>
      <p:grpSp>
        <p:nvGrpSpPr>
          <p:cNvPr id="5" name="Group 6"/>
          <p:cNvGrpSpPr>
            <a:grpSpLocks/>
          </p:cNvGrpSpPr>
          <p:nvPr/>
        </p:nvGrpSpPr>
        <p:grpSpPr bwMode="auto">
          <a:xfrm>
            <a:off x="7086600" y="1179921"/>
            <a:ext cx="6626168" cy="5998094"/>
            <a:chOff x="432" y="1584"/>
            <a:chExt cx="3072" cy="2426"/>
          </a:xfrm>
        </p:grpSpPr>
        <p:sp>
          <p:nvSpPr>
            <p:cNvPr id="6" name="AutoShape 3"/>
            <p:cNvSpPr>
              <a:spLocks noChangeArrowheads="1"/>
            </p:cNvSpPr>
            <p:nvPr/>
          </p:nvSpPr>
          <p:spPr bwMode="auto">
            <a:xfrm>
              <a:off x="1296" y="1584"/>
              <a:ext cx="2208" cy="816"/>
            </a:xfrm>
            <a:prstGeom prst="cloudCallout">
              <a:avLst>
                <a:gd name="adj1" fmla="val -41574"/>
                <a:gd name="adj2" fmla="val 140565"/>
              </a:avLst>
            </a:prstGeom>
            <a:solidFill>
              <a:schemeClr val="accent3"/>
            </a:solidFill>
            <a:ln w="9525">
              <a:solidFill>
                <a:schemeClr val="accent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endParaRPr lang="en-US" altLang="en-US" sz="2856"/>
            </a:p>
          </p:txBody>
        </p:sp>
        <p:pic>
          <p:nvPicPr>
            <p:cNvPr id="7" name="Picture 4" descr="j030125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2" y="3024"/>
              <a:ext cx="1153" cy="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WordArt 5"/>
            <p:cNvSpPr>
              <a:spLocks noChangeArrowheads="1" noChangeShapeType="1" noTextEdit="1"/>
            </p:cNvSpPr>
            <p:nvPr/>
          </p:nvSpPr>
          <p:spPr bwMode="auto">
            <a:xfrm>
              <a:off x="2208" y="1728"/>
              <a:ext cx="421" cy="612"/>
            </a:xfrm>
            <a:prstGeom prst="rect">
              <a:avLst/>
            </a:prstGeom>
          </p:spPr>
          <p:txBody>
            <a:bodyPr wrap="none" fromWordArt="1">
              <a:prstTxWarp prst="textPlain">
                <a:avLst>
                  <a:gd name="adj" fmla="val 50000"/>
                </a:avLst>
              </a:prstTxWarp>
            </a:bodyPr>
            <a:lstStyle/>
            <a:p>
              <a:pPr algn="ctr"/>
              <a:r>
                <a:rPr lang="en-US" sz="5213" kern="10" dirty="0">
                  <a:ln w="9525">
                    <a:solidFill>
                      <a:schemeClr val="accent5">
                        <a:lumMod val="75000"/>
                      </a:schemeClr>
                    </a:solidFill>
                    <a:round/>
                    <a:headEnd/>
                    <a:tailEnd/>
                  </a:ln>
                  <a:solidFill>
                    <a:srgbClr val="00B050"/>
                  </a:solidFill>
                  <a:latin typeface="Arial Black"/>
                </a:rPr>
                <a:t>?</a:t>
              </a:r>
            </a:p>
          </p:txBody>
        </p:sp>
      </p:grpSp>
      <p:sp>
        <p:nvSpPr>
          <p:cNvPr id="3" name="Date Placeholder 2"/>
          <p:cNvSpPr>
            <a:spLocks noGrp="1"/>
          </p:cNvSpPr>
          <p:nvPr>
            <p:ph type="dt" sz="half" idx="10"/>
          </p:nvPr>
        </p:nvSpPr>
        <p:spPr/>
        <p:txBody>
          <a:bodyPr/>
          <a:lstStyle/>
          <a:p>
            <a:fld id="{9238FA2E-EF7F-4A21-A6E9-4228BCC9D0C4}" type="datetime3">
              <a:rPr lang="en-US" noProof="0" smtClean="0"/>
              <a:t>15 June 2026</a:t>
            </a:fld>
            <a:endParaRPr lang="en-US" noProof="0" dirty="0"/>
          </a:p>
        </p:txBody>
      </p:sp>
      <p:sp>
        <p:nvSpPr>
          <p:cNvPr id="4" name="Footer Placeholder 3"/>
          <p:cNvSpPr>
            <a:spLocks noGrp="1"/>
          </p:cNvSpPr>
          <p:nvPr>
            <p:ph type="ftr" sz="quarter" idx="11"/>
          </p:nvPr>
        </p:nvSpPr>
        <p:spPr/>
        <p:txBody>
          <a:bodyPr/>
          <a:lstStyle/>
          <a:p>
            <a:r>
              <a:rPr lang="en-US" noProof="0"/>
              <a:t>Course Teacher: Prof. Dr. Engr. Muhibul Haque Bhuyan</a:t>
            </a:r>
            <a:endParaRPr lang="en-US" noProof="0" dirty="0"/>
          </a:p>
        </p:txBody>
      </p:sp>
      <p:sp>
        <p:nvSpPr>
          <p:cNvPr id="9" name="Slide Number Placeholder 8"/>
          <p:cNvSpPr>
            <a:spLocks noGrp="1"/>
          </p:cNvSpPr>
          <p:nvPr>
            <p:ph type="sldNum" sz="quarter" idx="12"/>
          </p:nvPr>
        </p:nvSpPr>
        <p:spPr/>
        <p:txBody>
          <a:bodyPr/>
          <a:lstStyle/>
          <a:p>
            <a:fld id="{5D99DD2A-B520-4620-9B43-64B657BA2D42}" type="slidenum">
              <a:rPr lang="en-US" noProof="0" smtClean="0"/>
              <a:t>44</a:t>
            </a:fld>
            <a:endParaRPr lang="en-US" noProof="0" dirty="0"/>
          </a:p>
        </p:txBody>
      </p:sp>
    </p:spTree>
    <p:extLst>
      <p:ext uri="{BB962C8B-B14F-4D97-AF65-F5344CB8AC3E}">
        <p14:creationId xmlns:p14="http://schemas.microsoft.com/office/powerpoint/2010/main" val="35022783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20210</TotalTime>
  <Words>5984</Words>
  <Application>Microsoft Office PowerPoint</Application>
  <PresentationFormat>Custom</PresentationFormat>
  <Paragraphs>508</Paragraphs>
  <Slides>44</Slides>
  <Notes>38</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44</vt:i4>
      </vt:variant>
    </vt:vector>
  </HeadingPairs>
  <TitlesOfParts>
    <vt:vector size="56" baseType="lpstr">
      <vt:lpstr>Amasis MT Pro Black</vt:lpstr>
      <vt:lpstr>Arial</vt:lpstr>
      <vt:lpstr>Arial Black</vt:lpstr>
      <vt:lpstr>Calibri</vt:lpstr>
      <vt:lpstr>Cambria Math</vt:lpstr>
      <vt:lpstr>Georgia</vt:lpstr>
      <vt:lpstr>Symbol</vt:lpstr>
      <vt:lpstr>Times New Roman</vt:lpstr>
      <vt:lpstr>Trebuchet MS</vt:lpstr>
      <vt:lpstr>Wingdings</vt:lpstr>
      <vt:lpstr>Wingdings 2</vt:lpstr>
      <vt:lpstr>Urban</vt:lpstr>
      <vt:lpstr>Lecture # 04M:  Switch Debouncing</vt:lpstr>
      <vt:lpstr>What is Debouncing?</vt:lpstr>
      <vt:lpstr>Why does Bouncing Happen?</vt:lpstr>
      <vt:lpstr>Why does Bouncing Happen?</vt:lpstr>
      <vt:lpstr>Why does Bouncing Happen?</vt:lpstr>
      <vt:lpstr>How does Bouncing Happen?</vt:lpstr>
      <vt:lpstr>How to Avoid Bouncing?</vt:lpstr>
      <vt:lpstr>How to Avoid Bouncing?</vt:lpstr>
      <vt:lpstr>How to Avoid Bouncing?</vt:lpstr>
      <vt:lpstr>How to Avoid Bouncing?</vt:lpstr>
      <vt:lpstr>Types of Debouncing</vt:lpstr>
      <vt:lpstr>Hardware Debouncing</vt:lpstr>
      <vt:lpstr>Hardware Debouncing Circuit</vt:lpstr>
      <vt:lpstr>Hardware Debouncing Circuit</vt:lpstr>
      <vt:lpstr>Hardware Debouncing</vt:lpstr>
      <vt:lpstr>Hardware Debouncing Circuit Design</vt:lpstr>
      <vt:lpstr>Hardware Debouncing Circuit Operation</vt:lpstr>
      <vt:lpstr>Hardware Debouncing Circuit Design</vt:lpstr>
      <vt:lpstr>Hardware Debouncing Circuit Design</vt:lpstr>
      <vt:lpstr>Hardware Debouncing Circuit Design</vt:lpstr>
      <vt:lpstr>Hardware Debouncing Circuit Design</vt:lpstr>
      <vt:lpstr>Hardware Debouncing</vt:lpstr>
      <vt:lpstr>Hardware Debouncing</vt:lpstr>
      <vt:lpstr>Hardware Debouncing</vt:lpstr>
      <vt:lpstr>Hardware Debouncing (Summary)</vt:lpstr>
      <vt:lpstr>Hardware Debouncing (Summary)</vt:lpstr>
      <vt:lpstr>Example 2 on Debouncing</vt:lpstr>
      <vt:lpstr>Example 2 on Debouncing</vt:lpstr>
      <vt:lpstr>Example 2 on Debouncing</vt:lpstr>
      <vt:lpstr>Example 3 on Debouncing</vt:lpstr>
      <vt:lpstr>Example 3 on Debouncing</vt:lpstr>
      <vt:lpstr>Example 3 on Debouncing</vt:lpstr>
      <vt:lpstr>Example 4 on Debouncing</vt:lpstr>
      <vt:lpstr>Example 4 on Debouncing</vt:lpstr>
      <vt:lpstr>Example 4 on Debouncing</vt:lpstr>
      <vt:lpstr>Software Debouncing</vt:lpstr>
      <vt:lpstr>Software Debouncing</vt:lpstr>
      <vt:lpstr>Software Debouncing</vt:lpstr>
      <vt:lpstr>Software Debouncing</vt:lpstr>
      <vt:lpstr>Software Debouncing</vt:lpstr>
      <vt:lpstr>PowerPoint Presentation</vt:lpstr>
      <vt:lpstr>PowerPoint Presentation</vt:lpstr>
      <vt:lpstr>References</vt:lpstr>
      <vt:lpstr>Thanks for Attending….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debouncing and interrupt</dc:title>
  <dc:creator>Teacher</dc:creator>
  <cp:lastModifiedBy>Md. Shaoran Sayem</cp:lastModifiedBy>
  <cp:revision>449</cp:revision>
  <dcterms:created xsi:type="dcterms:W3CDTF">2006-08-16T00:00:00Z</dcterms:created>
  <dcterms:modified xsi:type="dcterms:W3CDTF">2026-06-15T06:07:17Z</dcterms:modified>
</cp:coreProperties>
</file>