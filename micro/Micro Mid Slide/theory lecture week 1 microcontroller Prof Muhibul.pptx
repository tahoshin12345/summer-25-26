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56" r:id="rId2"/>
    <p:sldId id="315" r:id="rId3"/>
    <p:sldId id="350" r:id="rId4"/>
    <p:sldId id="351" r:id="rId5"/>
    <p:sldId id="352" r:id="rId6"/>
    <p:sldId id="353" r:id="rId7"/>
    <p:sldId id="354" r:id="rId8"/>
    <p:sldId id="355" r:id="rId9"/>
    <p:sldId id="356" r:id="rId10"/>
    <p:sldId id="357" r:id="rId11"/>
    <p:sldId id="358" r:id="rId12"/>
    <p:sldId id="359" r:id="rId13"/>
    <p:sldId id="360" r:id="rId14"/>
    <p:sldId id="361" r:id="rId15"/>
    <p:sldId id="380" r:id="rId16"/>
    <p:sldId id="362" r:id="rId17"/>
    <p:sldId id="363" r:id="rId18"/>
    <p:sldId id="364" r:id="rId19"/>
    <p:sldId id="365" r:id="rId20"/>
    <p:sldId id="366" r:id="rId21"/>
    <p:sldId id="367" r:id="rId22"/>
    <p:sldId id="368" r:id="rId23"/>
    <p:sldId id="381" r:id="rId24"/>
    <p:sldId id="382" r:id="rId25"/>
    <p:sldId id="383" r:id="rId26"/>
    <p:sldId id="371" r:id="rId27"/>
    <p:sldId id="384" r:id="rId28"/>
    <p:sldId id="385" r:id="rId29"/>
    <p:sldId id="386" r:id="rId30"/>
    <p:sldId id="387" r:id="rId31"/>
    <p:sldId id="377" r:id="rId32"/>
    <p:sldId id="378" r:id="rId33"/>
    <p:sldId id="379" r:id="rId34"/>
    <p:sldId id="314" r:id="rId35"/>
  </p:sldIdLst>
  <p:sldSz cx="16459200" cy="8229600"/>
  <p:notesSz cx="9232900" cy="6934200"/>
  <p:defaultTextStyle>
    <a:defPPr>
      <a:defRPr lang="en-US"/>
    </a:defPPr>
    <a:lvl1pPr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1pPr>
    <a:lvl2pPr marL="704850" indent="-24765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2pPr>
    <a:lvl3pPr marL="1409700" indent="-49530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3pPr>
    <a:lvl4pPr marL="2114550" indent="-74295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4pPr>
    <a:lvl5pPr marL="2820988" indent="-992188"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5pPr>
    <a:lvl6pPr marL="2286000" algn="l" defTabSz="914400" rtl="0" eaLnBrk="1" latinLnBrk="0" hangingPunct="1">
      <a:defRPr sz="3700" kern="1200">
        <a:solidFill>
          <a:schemeClr val="tx1"/>
        </a:solidFill>
        <a:latin typeface="Times New Roman" panose="02020603050405020304" pitchFamily="18" charset="0"/>
        <a:ea typeface="+mn-ea"/>
        <a:cs typeface="+mn-cs"/>
      </a:defRPr>
    </a:lvl6pPr>
    <a:lvl7pPr marL="2743200" algn="l" defTabSz="914400" rtl="0" eaLnBrk="1" latinLnBrk="0" hangingPunct="1">
      <a:defRPr sz="3700" kern="1200">
        <a:solidFill>
          <a:schemeClr val="tx1"/>
        </a:solidFill>
        <a:latin typeface="Times New Roman" panose="02020603050405020304" pitchFamily="18" charset="0"/>
        <a:ea typeface="+mn-ea"/>
        <a:cs typeface="+mn-cs"/>
      </a:defRPr>
    </a:lvl7pPr>
    <a:lvl8pPr marL="3200400" algn="l" defTabSz="914400" rtl="0" eaLnBrk="1" latinLnBrk="0" hangingPunct="1">
      <a:defRPr sz="3700" kern="1200">
        <a:solidFill>
          <a:schemeClr val="tx1"/>
        </a:solidFill>
        <a:latin typeface="Times New Roman" panose="02020603050405020304" pitchFamily="18" charset="0"/>
        <a:ea typeface="+mn-ea"/>
        <a:cs typeface="+mn-cs"/>
      </a:defRPr>
    </a:lvl8pPr>
    <a:lvl9pPr marL="3657600" algn="l" defTabSz="914400" rtl="0" eaLnBrk="1" latinLnBrk="0" hangingPunct="1">
      <a:defRPr sz="37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5184">
          <p15:clr>
            <a:srgbClr val="A4A3A4"/>
          </p15:clr>
        </p15:guide>
      </p15:sldGuideLst>
    </p:ext>
    <p:ext uri="{2D200454-40CA-4A62-9FC3-DE9A4176ACB9}">
      <p15:notesGuideLst xmlns:p15="http://schemas.microsoft.com/office/powerpoint/2012/main">
        <p15:guide id="1" orient="horz" pos="2184">
          <p15:clr>
            <a:srgbClr val="A4A3A4"/>
          </p15:clr>
        </p15:guide>
        <p15:guide id="2" pos="29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66FF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71" autoAdjust="0"/>
    <p:restoredTop sz="94601" autoAdjust="0"/>
  </p:normalViewPr>
  <p:slideViewPr>
    <p:cSldViewPr>
      <p:cViewPr varScale="1">
        <p:scale>
          <a:sx n="61" d="100"/>
          <a:sy n="61" d="100"/>
        </p:scale>
        <p:origin x="112" y="140"/>
      </p:cViewPr>
      <p:guideLst>
        <p:guide orient="horz" pos="2592"/>
        <p:guide pos="51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3" d="100"/>
          <a:sy n="43" d="100"/>
        </p:scale>
        <p:origin x="-581" y="-58"/>
      </p:cViewPr>
      <p:guideLst>
        <p:guide orient="horz" pos="2184"/>
        <p:guide pos="29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defTabSz="920925" eaLnBrk="1" hangingPunct="1">
              <a:defRPr sz="1200"/>
            </a:lvl1pPr>
          </a:lstStyle>
          <a:p>
            <a:pPr>
              <a:defRPr/>
            </a:pPr>
            <a:endParaRPr lang="en-US"/>
          </a:p>
        </p:txBody>
      </p:sp>
      <p:sp>
        <p:nvSpPr>
          <p:cNvPr id="5123" name="Rectangle 3"/>
          <p:cNvSpPr>
            <a:spLocks noGrp="1" noChangeArrowheads="1"/>
          </p:cNvSpPr>
          <p:nvPr>
            <p:ph type="dt" sz="quarter" idx="1"/>
          </p:nvPr>
        </p:nvSpPr>
        <p:spPr bwMode="auto">
          <a:xfrm>
            <a:off x="523240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algn="r" defTabSz="920925" eaLnBrk="1" hangingPunct="1">
              <a:defRPr sz="1200"/>
            </a:lvl1pPr>
          </a:lstStyle>
          <a:p>
            <a:pPr>
              <a:defRPr/>
            </a:pPr>
            <a:endParaRPr lang="en-US"/>
          </a:p>
        </p:txBody>
      </p:sp>
      <p:sp>
        <p:nvSpPr>
          <p:cNvPr id="5124" name="Rectangle 4"/>
          <p:cNvSpPr>
            <a:spLocks noGrp="1" noChangeArrowheads="1"/>
          </p:cNvSpPr>
          <p:nvPr>
            <p:ph type="ftr" sz="quarter" idx="2"/>
          </p:nvPr>
        </p:nvSpPr>
        <p:spPr bwMode="auto">
          <a:xfrm>
            <a:off x="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defTabSz="920925" eaLnBrk="1" hangingPunct="1">
              <a:defRPr sz="1200"/>
            </a:lvl1pPr>
          </a:lstStyle>
          <a:p>
            <a:pPr>
              <a:defRPr/>
            </a:pPr>
            <a:endParaRPr lang="en-US"/>
          </a:p>
        </p:txBody>
      </p:sp>
      <p:sp>
        <p:nvSpPr>
          <p:cNvPr id="5125" name="Rectangle 5"/>
          <p:cNvSpPr>
            <a:spLocks noGrp="1" noChangeArrowheads="1"/>
          </p:cNvSpPr>
          <p:nvPr>
            <p:ph type="sldNum" sz="quarter" idx="3"/>
          </p:nvPr>
        </p:nvSpPr>
        <p:spPr bwMode="auto">
          <a:xfrm>
            <a:off x="523240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algn="r" defTabSz="920750" eaLnBrk="1" hangingPunct="1">
              <a:defRPr sz="1200" smtClean="0"/>
            </a:lvl1pPr>
          </a:lstStyle>
          <a:p>
            <a:pPr>
              <a:defRPr/>
            </a:pPr>
            <a:fld id="{77875FC0-46AE-4733-AEC8-5C1521AE5FCD}"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defTabSz="920925" eaLnBrk="1" hangingPunct="1">
              <a:defRPr sz="1200"/>
            </a:lvl1pPr>
          </a:lstStyle>
          <a:p>
            <a:pPr>
              <a:defRPr/>
            </a:pPr>
            <a:endParaRPr lang="en-US"/>
          </a:p>
        </p:txBody>
      </p:sp>
      <p:sp>
        <p:nvSpPr>
          <p:cNvPr id="4099" name="Rectangle 3"/>
          <p:cNvSpPr>
            <a:spLocks noGrp="1" noChangeArrowheads="1"/>
          </p:cNvSpPr>
          <p:nvPr>
            <p:ph type="dt" idx="1"/>
          </p:nvPr>
        </p:nvSpPr>
        <p:spPr bwMode="auto">
          <a:xfrm>
            <a:off x="523240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algn="r" defTabSz="920925" eaLnBrk="1" hangingPunct="1">
              <a:defRPr sz="1200"/>
            </a:lvl1pPr>
          </a:lstStyle>
          <a:p>
            <a:pPr>
              <a:defRPr/>
            </a:pPr>
            <a:endParaRPr lang="en-US"/>
          </a:p>
        </p:txBody>
      </p:sp>
      <p:sp>
        <p:nvSpPr>
          <p:cNvPr id="2052" name="Rectangle 4"/>
          <p:cNvSpPr>
            <a:spLocks noGrp="1" noRot="1" noChangeAspect="1" noChangeArrowheads="1" noTextEdit="1"/>
          </p:cNvSpPr>
          <p:nvPr>
            <p:ph type="sldImg" idx="2"/>
          </p:nvPr>
        </p:nvSpPr>
        <p:spPr bwMode="auto">
          <a:xfrm>
            <a:off x="2016125" y="519113"/>
            <a:ext cx="5205413" cy="26035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1233488" y="3295650"/>
            <a:ext cx="6765925" cy="3119438"/>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defTabSz="920925" eaLnBrk="1" hangingPunct="1">
              <a:defRPr sz="1200"/>
            </a:lvl1pPr>
          </a:lstStyle>
          <a:p>
            <a:pPr>
              <a:defRPr/>
            </a:pPr>
            <a:endParaRPr lang="en-US"/>
          </a:p>
        </p:txBody>
      </p:sp>
      <p:sp>
        <p:nvSpPr>
          <p:cNvPr id="4103" name="Rectangle 7"/>
          <p:cNvSpPr>
            <a:spLocks noGrp="1" noChangeArrowheads="1"/>
          </p:cNvSpPr>
          <p:nvPr>
            <p:ph type="sldNum" sz="quarter" idx="5"/>
          </p:nvPr>
        </p:nvSpPr>
        <p:spPr bwMode="auto">
          <a:xfrm>
            <a:off x="523240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algn="r" defTabSz="920750" eaLnBrk="1" hangingPunct="1">
              <a:defRPr sz="1200" smtClean="0"/>
            </a:lvl1pPr>
          </a:lstStyle>
          <a:p>
            <a:pPr>
              <a:defRPr/>
            </a:pPr>
            <a:fld id="{E545AC70-609B-45AB-A613-8BF9B949A7C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Times New Roman" pitchFamily="18" charset="0"/>
        <a:ea typeface="+mn-ea"/>
        <a:cs typeface="+mn-cs"/>
      </a:defRPr>
    </a:lvl1pPr>
    <a:lvl2pPr marL="704850" algn="l" rtl="0" eaLnBrk="0" fontAlgn="base" hangingPunct="0">
      <a:spcBef>
        <a:spcPct val="30000"/>
      </a:spcBef>
      <a:spcAft>
        <a:spcPct val="0"/>
      </a:spcAft>
      <a:defRPr kern="1200">
        <a:solidFill>
          <a:schemeClr val="tx1"/>
        </a:solidFill>
        <a:latin typeface="Times New Roman" pitchFamily="18" charset="0"/>
        <a:ea typeface="+mn-ea"/>
        <a:cs typeface="+mn-cs"/>
      </a:defRPr>
    </a:lvl2pPr>
    <a:lvl3pPr marL="1409700" algn="l" rtl="0" eaLnBrk="0" fontAlgn="base" hangingPunct="0">
      <a:spcBef>
        <a:spcPct val="30000"/>
      </a:spcBef>
      <a:spcAft>
        <a:spcPct val="0"/>
      </a:spcAft>
      <a:defRPr kern="1200">
        <a:solidFill>
          <a:schemeClr val="tx1"/>
        </a:solidFill>
        <a:latin typeface="Times New Roman" pitchFamily="18" charset="0"/>
        <a:ea typeface="+mn-ea"/>
        <a:cs typeface="+mn-cs"/>
      </a:defRPr>
    </a:lvl3pPr>
    <a:lvl4pPr marL="2114550" algn="l" rtl="0" eaLnBrk="0" fontAlgn="base" hangingPunct="0">
      <a:spcBef>
        <a:spcPct val="30000"/>
      </a:spcBef>
      <a:spcAft>
        <a:spcPct val="0"/>
      </a:spcAft>
      <a:defRPr kern="1200">
        <a:solidFill>
          <a:schemeClr val="tx1"/>
        </a:solidFill>
        <a:latin typeface="Times New Roman" pitchFamily="18" charset="0"/>
        <a:ea typeface="+mn-ea"/>
        <a:cs typeface="+mn-cs"/>
      </a:defRPr>
    </a:lvl4pPr>
    <a:lvl5pPr marL="2820988" algn="l" rtl="0" eaLnBrk="0" fontAlgn="base" hangingPunct="0">
      <a:spcBef>
        <a:spcPct val="30000"/>
      </a:spcBef>
      <a:spcAft>
        <a:spcPct val="0"/>
      </a:spcAft>
      <a:defRPr kern="1200">
        <a:solidFill>
          <a:schemeClr val="tx1"/>
        </a:solidFill>
        <a:latin typeface="Times New Roman" pitchFamily="18" charset="0"/>
        <a:ea typeface="+mn-ea"/>
        <a:cs typeface="+mn-cs"/>
      </a:defRPr>
    </a:lvl5pPr>
    <a:lvl6pPr marL="3526841" algn="l" defTabSz="1410736" rtl="0" eaLnBrk="1" latinLnBrk="0" hangingPunct="1">
      <a:defRPr sz="1851" kern="1200">
        <a:solidFill>
          <a:schemeClr val="tx1"/>
        </a:solidFill>
        <a:latin typeface="+mn-lt"/>
        <a:ea typeface="+mn-ea"/>
        <a:cs typeface="+mn-cs"/>
      </a:defRPr>
    </a:lvl6pPr>
    <a:lvl7pPr marL="4232209" algn="l" defTabSz="1410736" rtl="0" eaLnBrk="1" latinLnBrk="0" hangingPunct="1">
      <a:defRPr sz="1851" kern="1200">
        <a:solidFill>
          <a:schemeClr val="tx1"/>
        </a:solidFill>
        <a:latin typeface="+mn-lt"/>
        <a:ea typeface="+mn-ea"/>
        <a:cs typeface="+mn-cs"/>
      </a:defRPr>
    </a:lvl7pPr>
    <a:lvl8pPr marL="4937577" algn="l" defTabSz="1410736" rtl="0" eaLnBrk="1" latinLnBrk="0" hangingPunct="1">
      <a:defRPr sz="1851" kern="1200">
        <a:solidFill>
          <a:schemeClr val="tx1"/>
        </a:solidFill>
        <a:latin typeface="+mn-lt"/>
        <a:ea typeface="+mn-ea"/>
        <a:cs typeface="+mn-cs"/>
      </a:defRPr>
    </a:lvl8pPr>
    <a:lvl9pPr marL="5642945" algn="l" defTabSz="1410736" rtl="0" eaLnBrk="1" latinLnBrk="0" hangingPunct="1">
      <a:defRPr sz="185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197BAB13-D4A1-40A8-A557-79A139C3ED67}" type="slidenum">
              <a:rPr lang="en-US" altLang="en-US"/>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7900">
              <a:spcBef>
                <a:spcPct val="30000"/>
              </a:spcBef>
              <a:defRPr sz="1200">
                <a:solidFill>
                  <a:schemeClr val="tx1"/>
                </a:solidFill>
                <a:latin typeface="Times New Roman" panose="02020603050405020304" pitchFamily="18" charset="0"/>
              </a:defRPr>
            </a:lvl1pPr>
            <a:lvl2pPr marL="742950" indent="-285750" defTabSz="977900">
              <a:spcBef>
                <a:spcPct val="30000"/>
              </a:spcBef>
              <a:defRPr sz="1200">
                <a:solidFill>
                  <a:schemeClr val="tx1"/>
                </a:solidFill>
                <a:latin typeface="Times New Roman" panose="02020603050405020304" pitchFamily="18" charset="0"/>
              </a:defRPr>
            </a:lvl2pPr>
            <a:lvl3pPr marL="1143000" indent="-228600" defTabSz="977900">
              <a:spcBef>
                <a:spcPct val="30000"/>
              </a:spcBef>
              <a:defRPr sz="1200">
                <a:solidFill>
                  <a:schemeClr val="tx1"/>
                </a:solidFill>
                <a:latin typeface="Times New Roman" panose="02020603050405020304" pitchFamily="18" charset="0"/>
              </a:defRPr>
            </a:lvl3pPr>
            <a:lvl4pPr marL="1600200" indent="-228600" defTabSz="977900">
              <a:spcBef>
                <a:spcPct val="30000"/>
              </a:spcBef>
              <a:defRPr sz="1200">
                <a:solidFill>
                  <a:schemeClr val="tx1"/>
                </a:solidFill>
                <a:latin typeface="Times New Roman" panose="02020603050405020304" pitchFamily="18" charset="0"/>
              </a:defRPr>
            </a:lvl4pPr>
            <a:lvl5pPr marL="2057400" indent="-228600" defTabSz="977900">
              <a:spcBef>
                <a:spcPct val="30000"/>
              </a:spcBef>
              <a:defRPr sz="1200">
                <a:solidFill>
                  <a:schemeClr val="tx1"/>
                </a:solidFill>
                <a:latin typeface="Times New Roman" panose="02020603050405020304" pitchFamily="18" charset="0"/>
              </a:defRPr>
            </a:lvl5pPr>
            <a:lvl6pPr marL="2514600" indent="-228600" defTabSz="9779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779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779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779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9FEB136-550E-41E0-9FF6-C4E4F2D6776F}" type="slidenum">
              <a:rPr lang="en-US" altLang="en-US"/>
              <a:pPr>
                <a:spcBef>
                  <a:spcPct val="0"/>
                </a:spcBef>
              </a:pPr>
              <a:t>2</a:t>
            </a:fld>
            <a:endParaRPr lang="en-US" alt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40425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4</a:t>
            </a:fld>
            <a:endParaRPr lang="en-US" dirty="0"/>
          </a:p>
        </p:txBody>
      </p:sp>
    </p:spTree>
    <p:extLst>
      <p:ext uri="{BB962C8B-B14F-4D97-AF65-F5344CB8AC3E}">
        <p14:creationId xmlns:p14="http://schemas.microsoft.com/office/powerpoint/2010/main" val="3469425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BCD5281-AB0E-4AE5-96D1-620E2E6C6426}" type="slidenum">
              <a:rPr lang="en-US" smtClean="0"/>
              <a:t>18</a:t>
            </a:fld>
            <a:endParaRPr lang="en-US"/>
          </a:p>
        </p:txBody>
      </p:sp>
    </p:spTree>
    <p:extLst>
      <p:ext uri="{BB962C8B-B14F-4D97-AF65-F5344CB8AC3E}">
        <p14:creationId xmlns:p14="http://schemas.microsoft.com/office/powerpoint/2010/main" val="1697250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DA04E247-7352-46AD-ADBD-23A6E41A24BA}" type="slidenum">
              <a:rPr lang="en-US" altLang="en-US"/>
              <a:pPr>
                <a:spcBef>
                  <a:spcPct val="0"/>
                </a:spcBef>
              </a:pPr>
              <a:t>34</a:t>
            </a:fld>
            <a:endParaRPr lang="en-US" altLang="en-US"/>
          </a:p>
        </p:txBody>
      </p:sp>
      <p:sp>
        <p:nvSpPr>
          <p:cNvPr id="93187"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0" y="2556511"/>
            <a:ext cx="13990320" cy="1764030"/>
          </a:xfrm>
        </p:spPr>
        <p:txBody>
          <a:bodyPr/>
          <a:lstStyle/>
          <a:p>
            <a:r>
              <a:rPr lang="en-US"/>
              <a:t>Click to edit Master title style</a:t>
            </a:r>
          </a:p>
        </p:txBody>
      </p:sp>
      <p:sp>
        <p:nvSpPr>
          <p:cNvPr id="3" name="Subtitle 2"/>
          <p:cNvSpPr>
            <a:spLocks noGrp="1"/>
          </p:cNvSpPr>
          <p:nvPr>
            <p:ph type="subTitle" idx="1"/>
          </p:nvPr>
        </p:nvSpPr>
        <p:spPr>
          <a:xfrm>
            <a:off x="2468880" y="4663440"/>
            <a:ext cx="11521440" cy="2103120"/>
          </a:xfrm>
        </p:spPr>
        <p:txBody>
          <a:bodyPr/>
          <a:lstStyle>
            <a:lvl1pPr marL="0" indent="0" algn="ctr">
              <a:buNone/>
              <a:defRPr/>
            </a:lvl1pPr>
            <a:lvl2pPr marL="548640" indent="0" algn="ctr">
              <a:buNone/>
              <a:defRPr/>
            </a:lvl2pPr>
            <a:lvl3pPr marL="1097280" indent="0" algn="ctr">
              <a:buNone/>
              <a:defRPr/>
            </a:lvl3pPr>
            <a:lvl4pPr marL="1645920" indent="0" algn="ctr">
              <a:buNone/>
              <a:defRPr/>
            </a:lvl4pPr>
            <a:lvl5pPr marL="2194560" indent="0" algn="ctr">
              <a:buNone/>
              <a:defRPr/>
            </a:lvl5pPr>
            <a:lvl6pPr marL="2743200" indent="0" algn="ctr">
              <a:buNone/>
              <a:defRPr/>
            </a:lvl6pPr>
            <a:lvl7pPr marL="3291840" indent="0" algn="ctr">
              <a:buNone/>
              <a:defRPr/>
            </a:lvl7pPr>
            <a:lvl8pPr marL="3840480" indent="0" algn="ctr">
              <a:buNone/>
              <a:defRPr/>
            </a:lvl8pPr>
            <a:lvl9pPr marL="4389120" indent="0" algn="ctr">
              <a:buNone/>
              <a:defRPr/>
            </a:lvl9pPr>
          </a:lstStyle>
          <a:p>
            <a:r>
              <a:rPr lang="en-US"/>
              <a:t>Click to edit Master subtitle style</a:t>
            </a:r>
          </a:p>
        </p:txBody>
      </p:sp>
      <p:sp>
        <p:nvSpPr>
          <p:cNvPr id="4" name="Rectangle 16"/>
          <p:cNvSpPr>
            <a:spLocks noGrp="1" noChangeArrowheads="1"/>
          </p:cNvSpPr>
          <p:nvPr>
            <p:ph type="dt" sz="half" idx="10"/>
          </p:nvPr>
        </p:nvSpPr>
        <p:spPr>
          <a:xfrm>
            <a:off x="103188" y="7924800"/>
            <a:ext cx="1779587" cy="279400"/>
          </a:xfrm>
          <a:ln/>
        </p:spPr>
        <p:txBody>
          <a:bodyPr/>
          <a:lstStyle>
            <a:lvl1pPr>
              <a:defRPr/>
            </a:lvl1pPr>
          </a:lstStyle>
          <a:p>
            <a:pPr>
              <a:defRPr/>
            </a:pPr>
            <a:fld id="{D772E854-8A5A-41DB-9951-5DFB5B9985DF}" type="datetime3">
              <a:rPr lang="en-US" smtClean="0"/>
              <a:t>15 June 2026</a:t>
            </a:fld>
            <a:endParaRPr lang="en-US" dirty="0"/>
          </a:p>
        </p:txBody>
      </p:sp>
    </p:spTree>
    <p:extLst>
      <p:ext uri="{BB962C8B-B14F-4D97-AF65-F5344CB8AC3E}">
        <p14:creationId xmlns:p14="http://schemas.microsoft.com/office/powerpoint/2010/main" val="3449165277"/>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dt" sz="half" idx="10"/>
          </p:nvPr>
        </p:nvSpPr>
        <p:spPr>
          <a:xfrm>
            <a:off x="103188" y="7924800"/>
            <a:ext cx="1779587" cy="279400"/>
          </a:xfrm>
          <a:ln/>
        </p:spPr>
        <p:txBody>
          <a:bodyPr/>
          <a:lstStyle>
            <a:lvl1pPr>
              <a:defRPr/>
            </a:lvl1pPr>
          </a:lstStyle>
          <a:p>
            <a:pPr>
              <a:defRPr/>
            </a:pPr>
            <a:fld id="{4A79C504-8A26-4E12-A4FA-A7C494B1F4DB}" type="datetime3">
              <a:rPr lang="en-US" smtClean="0"/>
              <a:t>15 June 2026</a:t>
            </a:fld>
            <a:endParaRPr lang="en-US" dirty="0"/>
          </a:p>
        </p:txBody>
      </p:sp>
    </p:spTree>
    <p:extLst>
      <p:ext uri="{BB962C8B-B14F-4D97-AF65-F5344CB8AC3E}">
        <p14:creationId xmlns:p14="http://schemas.microsoft.com/office/powerpoint/2010/main" val="64094793"/>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724472"/>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521B3F-3F80-41D6-B29B-9D7D49B5045B}" type="datetimeFigureOut">
              <a:rPr lang="en-CA" smtClean="0"/>
              <a:t>2026-06-15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441D65A7-F927-4C10-B62E-78F1BA97AAD6}" type="slidenum">
              <a:rPr lang="en-CA" smtClean="0"/>
              <a:t>‹#›</a:t>
            </a:fld>
            <a:endParaRPr lang="en-CA"/>
          </a:p>
        </p:txBody>
      </p:sp>
    </p:spTree>
    <p:extLst>
      <p:ext uri="{BB962C8B-B14F-4D97-AF65-F5344CB8AC3E}">
        <p14:creationId xmlns:p14="http://schemas.microsoft.com/office/powerpoint/2010/main" val="452686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97280" y="1920248"/>
            <a:ext cx="9738360" cy="5431156"/>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109960" y="1920248"/>
            <a:ext cx="9738360" cy="5431156"/>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670761-B9AD-4A18-8D4A-0AC0220D14AE}" type="datetime1">
              <a:rPr lang="en-US" noProof="0" smtClean="0"/>
              <a:t>6/15/2026</a:t>
            </a:fld>
            <a:endParaRPr lang="en-US" noProof="0" dirty="0"/>
          </a:p>
        </p:txBody>
      </p:sp>
      <p:sp>
        <p:nvSpPr>
          <p:cNvPr id="6" name="Footer Placeholder 5"/>
          <p:cNvSpPr>
            <a:spLocks noGrp="1"/>
          </p:cNvSpPr>
          <p:nvPr>
            <p:ph type="ftr" sz="quarter" idx="11"/>
          </p:nvPr>
        </p:nvSpPr>
        <p:spPr/>
        <p:txBody>
          <a:bodyPr/>
          <a:lstStyle/>
          <a:p>
            <a:r>
              <a:rPr lang="en-US" noProof="0"/>
              <a:t>Add a Footer</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8" name="Rectangle: Rounded Corners 8">
            <a:extLst>
              <a:ext uri="{FF2B5EF4-FFF2-40B4-BE49-F238E27FC236}">
                <a16:creationId xmlns:a16="http://schemas.microsoft.com/office/drawing/2014/main" id="{E44449DE-635B-4B23-9B8B-C95A5B8764DB}"/>
              </a:ext>
            </a:extLst>
          </p:cNvPr>
          <p:cNvSpPr/>
          <p:nvPr userDrawn="1"/>
        </p:nvSpPr>
        <p:spPr>
          <a:xfrm>
            <a:off x="895531" y="2148273"/>
            <a:ext cx="14665533" cy="489641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40" noProof="0" dirty="0"/>
          </a:p>
        </p:txBody>
      </p:sp>
      <p:cxnSp>
        <p:nvCxnSpPr>
          <p:cNvPr id="9" name="Straight Connector 8">
            <a:extLst>
              <a:ext uri="{FF2B5EF4-FFF2-40B4-BE49-F238E27FC236}">
                <a16:creationId xmlns:a16="http://schemas.microsoft.com/office/drawing/2014/main" id="{E8539E0A-8009-4A6E-A7A1-5AEFA52206C3}"/>
              </a:ext>
              <a:ext uri="{C183D7F6-B498-43B3-948B-1728B52AA6E4}">
                <adec:decorative xmlns:adec="http://schemas.microsoft.com/office/drawing/2017/decorative" val="1"/>
              </a:ext>
            </a:extLst>
          </p:cNvPr>
          <p:cNvCxnSpPr>
            <a:cxnSpLocks/>
          </p:cNvCxnSpPr>
          <p:nvPr userDrawn="1"/>
        </p:nvCxnSpPr>
        <p:spPr>
          <a:xfrm flipV="1">
            <a:off x="77153" y="1196294"/>
            <a:ext cx="4949" cy="589372"/>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75571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64" y="327660"/>
            <a:ext cx="5414963" cy="1394460"/>
          </a:xfrm>
        </p:spPr>
        <p:txBody>
          <a:bodyPr anchor="b"/>
          <a:lstStyle>
            <a:lvl1pPr algn="l">
              <a:defRPr sz="2400" b="1"/>
            </a:lvl1pPr>
          </a:lstStyle>
          <a:p>
            <a:r>
              <a:rPr lang="en-US"/>
              <a:t>Click to edit Master title style</a:t>
            </a:r>
          </a:p>
        </p:txBody>
      </p:sp>
      <p:sp>
        <p:nvSpPr>
          <p:cNvPr id="3" name="Content Placeholder 2"/>
          <p:cNvSpPr>
            <a:spLocks noGrp="1"/>
          </p:cNvSpPr>
          <p:nvPr>
            <p:ph idx="1"/>
          </p:nvPr>
        </p:nvSpPr>
        <p:spPr>
          <a:xfrm>
            <a:off x="6435090" y="327669"/>
            <a:ext cx="9201150" cy="7023736"/>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22964" y="1722124"/>
            <a:ext cx="5414963" cy="5629276"/>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E3254ED7-B85D-42A2-BCC3-582FEC32E5FA}" type="datetime1">
              <a:rPr lang="en-US" noProof="0" smtClean="0"/>
              <a:t>6/15/2026</a:t>
            </a:fld>
            <a:endParaRPr lang="en-US" noProof="0" dirty="0"/>
          </a:p>
        </p:txBody>
      </p:sp>
      <p:sp>
        <p:nvSpPr>
          <p:cNvPr id="6" name="Footer Placeholder 5"/>
          <p:cNvSpPr>
            <a:spLocks noGrp="1"/>
          </p:cNvSpPr>
          <p:nvPr>
            <p:ph type="ftr" sz="quarter" idx="11"/>
          </p:nvPr>
        </p:nvSpPr>
        <p:spPr/>
        <p:txBody>
          <a:bodyPr/>
          <a:lstStyle/>
          <a:p>
            <a:r>
              <a:rPr lang="en-US" noProof="0"/>
              <a:t>Add a Footer</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772658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ED9836-5928-4956-80A8-800F093E6377}" type="datetime1">
              <a:rPr lang="en-US" noProof="0" smtClean="0"/>
              <a:t>6/15/2026</a:t>
            </a:fld>
            <a:endParaRPr lang="en-US" noProof="0" dirty="0"/>
          </a:p>
        </p:txBody>
      </p:sp>
      <p:sp>
        <p:nvSpPr>
          <p:cNvPr id="3" name="Footer Placeholder 2"/>
          <p:cNvSpPr>
            <a:spLocks noGrp="1"/>
          </p:cNvSpPr>
          <p:nvPr>
            <p:ph type="ftr" sz="quarter" idx="11"/>
          </p:nvPr>
        </p:nvSpPr>
        <p:spPr/>
        <p:txBody>
          <a:bodyPr/>
          <a:lstStyle/>
          <a:p>
            <a:r>
              <a:rPr lang="en-US" noProof="0"/>
              <a:t>Add a Footer</a:t>
            </a:r>
            <a:endParaRPr lang="en-US" noProof="0" dirty="0"/>
          </a:p>
        </p:txBody>
      </p:sp>
      <p:sp>
        <p:nvSpPr>
          <p:cNvPr id="4" name="Slide Number Placeholder 3"/>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450078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1235075" y="639763"/>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a:t>
            </a:r>
          </a:p>
        </p:txBody>
      </p:sp>
      <p:sp>
        <p:nvSpPr>
          <p:cNvPr id="34819" name="Rectangle 3"/>
          <p:cNvSpPr>
            <a:spLocks noGrp="1" noChangeArrowheads="1"/>
          </p:cNvSpPr>
          <p:nvPr>
            <p:ph type="body" idx="1"/>
          </p:nvPr>
        </p:nvSpPr>
        <p:spPr bwMode="auto">
          <a:xfrm>
            <a:off x="1235075" y="1641475"/>
            <a:ext cx="13989050" cy="5911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5" name="Rectangle 11" descr="Small checker board"/>
          <p:cNvSpPr>
            <a:spLocks noChangeArrowheads="1"/>
          </p:cNvSpPr>
          <p:nvPr userDrawn="1"/>
        </p:nvSpPr>
        <p:spPr bwMode="auto">
          <a:xfrm>
            <a:off x="1235075" y="7589837"/>
            <a:ext cx="13989050" cy="182563"/>
          </a:xfrm>
          <a:prstGeom prst="rect">
            <a:avLst/>
          </a:prstGeom>
          <a:pattFill prst="smCheck">
            <a:fgClr>
              <a:srgbClr val="0000FF"/>
            </a:fgClr>
            <a:bgClr>
              <a:srgbClr val="FFFFFF"/>
            </a:bgClr>
          </a:pattFill>
          <a:ln w="9525">
            <a:noFill/>
            <a:miter lim="800000"/>
            <a:headEnd/>
            <a:tailEnd/>
          </a:ln>
          <a:effectLst/>
        </p:spPr>
        <p:txBody>
          <a:bodyPr wrap="none" anchor="ctr"/>
          <a:lstStyle/>
          <a:p>
            <a:pPr eaLnBrk="1" hangingPunct="1">
              <a:defRPr/>
            </a:pPr>
            <a:endParaRPr lang="en-US" sz="4444"/>
          </a:p>
        </p:txBody>
      </p:sp>
      <p:sp>
        <p:nvSpPr>
          <p:cNvPr id="1036" name="Rectangle 12" descr="Small checker board"/>
          <p:cNvSpPr>
            <a:spLocks noChangeArrowheads="1"/>
          </p:cNvSpPr>
          <p:nvPr userDrawn="1"/>
        </p:nvSpPr>
        <p:spPr bwMode="auto">
          <a:xfrm>
            <a:off x="1235075" y="1447800"/>
            <a:ext cx="13989050" cy="182562"/>
          </a:xfrm>
          <a:prstGeom prst="rect">
            <a:avLst/>
          </a:prstGeom>
          <a:pattFill prst="smCheck">
            <a:fgClr>
              <a:srgbClr val="0000FF"/>
            </a:fgClr>
            <a:bgClr>
              <a:srgbClr val="FFFFFF"/>
            </a:bgClr>
          </a:pattFill>
          <a:ln w="9525">
            <a:noFill/>
            <a:miter lim="800000"/>
            <a:headEnd/>
            <a:tailEnd/>
          </a:ln>
          <a:effectLst/>
        </p:spPr>
        <p:txBody>
          <a:bodyPr wrap="none" anchor="ctr"/>
          <a:lstStyle/>
          <a:p>
            <a:pPr eaLnBrk="1" hangingPunct="1">
              <a:defRPr/>
            </a:pPr>
            <a:endParaRPr lang="en-US" sz="4444"/>
          </a:p>
        </p:txBody>
      </p:sp>
      <p:sp>
        <p:nvSpPr>
          <p:cNvPr id="13" name="Text Box 16"/>
          <p:cNvSpPr txBox="1">
            <a:spLocks noChangeArrowheads="1"/>
          </p:cNvSpPr>
          <p:nvPr userDrawn="1"/>
        </p:nvSpPr>
        <p:spPr bwMode="auto">
          <a:xfrm>
            <a:off x="76200" y="58738"/>
            <a:ext cx="16362363" cy="246062"/>
          </a:xfrm>
          <a:prstGeom prst="rect">
            <a:avLst/>
          </a:prstGeom>
          <a:solidFill>
            <a:schemeClr val="bg1"/>
          </a:solidFill>
          <a:ln w="9525">
            <a:solidFill>
              <a:schemeClr val="bg1"/>
            </a:solidFill>
            <a:miter lim="800000"/>
            <a:headEnd/>
            <a:tailEnd/>
          </a:ln>
        </p:spPr>
        <p:txBody>
          <a:bodyPr lIns="117208" tIns="0" rIns="117208"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eaLnBrk="1" hangingPunct="1">
              <a:spcBef>
                <a:spcPct val="50000"/>
              </a:spcBef>
              <a:defRPr/>
            </a:pPr>
            <a:r>
              <a:rPr lang="en-US" sz="1600" b="1" dirty="0">
                <a:solidFill>
                  <a:srgbClr val="0000FF"/>
                </a:solidFill>
              </a:rPr>
              <a:t>Lecture # 01M: Introduction to Microcontroller</a:t>
            </a:r>
          </a:p>
        </p:txBody>
      </p:sp>
      <p:sp>
        <p:nvSpPr>
          <p:cNvPr id="14" name="Rectangle 5"/>
          <p:cNvSpPr>
            <a:spLocks noChangeAspect="1" noChangeArrowheads="1"/>
          </p:cNvSpPr>
          <p:nvPr userDrawn="1"/>
        </p:nvSpPr>
        <p:spPr bwMode="auto">
          <a:xfrm>
            <a:off x="2720975" y="7848600"/>
            <a:ext cx="12115800" cy="381000"/>
          </a:xfrm>
          <a:prstGeom prst="rect">
            <a:avLst/>
          </a:prstGeom>
          <a:solidFill>
            <a:schemeClr val="bg1"/>
          </a:solidFill>
          <a:ln w="9525">
            <a:solidFill>
              <a:schemeClr val="bg1"/>
            </a:solidFill>
            <a:miter lim="800000"/>
            <a:headEnd/>
            <a:tailEnd/>
          </a:ln>
        </p:spPr>
        <p:txBody>
          <a:bodyPr lIns="117191" tIns="0" rIns="117191" bIns="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US" altLang="en-US" sz="1200" dirty="0"/>
              <a:t>Course Teacher:</a:t>
            </a:r>
            <a:r>
              <a:rPr lang="en-US" altLang="en-US" sz="1200" b="1" dirty="0">
                <a:solidFill>
                  <a:srgbClr val="0000FF"/>
                </a:solidFill>
              </a:rPr>
              <a:t> Prof. Dr. Engr. </a:t>
            </a:r>
            <a:r>
              <a:rPr lang="en-US" altLang="en-US" sz="1200" b="1" dirty="0" err="1">
                <a:solidFill>
                  <a:srgbClr val="0000FF"/>
                </a:solidFill>
              </a:rPr>
              <a:t>Muhibul</a:t>
            </a:r>
            <a:r>
              <a:rPr lang="en-US" altLang="en-US" sz="1200" b="1" dirty="0">
                <a:solidFill>
                  <a:srgbClr val="0000FF"/>
                </a:solidFill>
              </a:rPr>
              <a:t> </a:t>
            </a:r>
            <a:r>
              <a:rPr lang="en-US" altLang="en-US" sz="1200" b="1" dirty="0" err="1">
                <a:solidFill>
                  <a:srgbClr val="0000FF"/>
                </a:solidFill>
              </a:rPr>
              <a:t>Haque</a:t>
            </a:r>
            <a:r>
              <a:rPr lang="en-US" altLang="en-US" sz="1200" b="1" dirty="0">
                <a:solidFill>
                  <a:srgbClr val="0000FF"/>
                </a:solidFill>
              </a:rPr>
              <a:t> </a:t>
            </a:r>
            <a:r>
              <a:rPr lang="en-US" altLang="en-US" sz="1200" b="1" dirty="0" err="1">
                <a:solidFill>
                  <a:srgbClr val="0000FF"/>
                </a:solidFill>
              </a:rPr>
              <a:t>Bhuyan</a:t>
            </a:r>
            <a:endParaRPr lang="en-US" altLang="en-US" sz="1200" b="1" dirty="0">
              <a:solidFill>
                <a:srgbClr val="0000FF"/>
              </a:solidFill>
            </a:endParaRPr>
          </a:p>
          <a:p>
            <a:pPr algn="ctr" eaLnBrk="1" hangingPunct="1">
              <a:defRPr/>
            </a:pPr>
            <a:r>
              <a:rPr lang="en-US" altLang="en-US" sz="1200" dirty="0">
                <a:solidFill>
                  <a:srgbClr val="00B050"/>
                </a:solidFill>
              </a:rPr>
              <a:t>Professor, Department of EEE,</a:t>
            </a:r>
            <a:r>
              <a:rPr lang="en-US" altLang="en-US" sz="1200" dirty="0"/>
              <a:t> </a:t>
            </a:r>
            <a:r>
              <a:rPr lang="en-US" altLang="en-US" sz="1200" b="1" dirty="0">
                <a:solidFill>
                  <a:srgbClr val="008000"/>
                </a:solidFill>
              </a:rPr>
              <a:t>American International University-Bangladesh (AIUB), Dhaka, Bangladesh</a:t>
            </a:r>
          </a:p>
        </p:txBody>
      </p:sp>
      <p:sp>
        <p:nvSpPr>
          <p:cNvPr id="15" name="Rectangle 14"/>
          <p:cNvSpPr/>
          <p:nvPr userDrawn="1"/>
        </p:nvSpPr>
        <p:spPr>
          <a:xfrm>
            <a:off x="12700" y="763588"/>
            <a:ext cx="1655763" cy="303212"/>
          </a:xfrm>
          <a:prstGeom prst="rect">
            <a:avLst/>
          </a:prstGeom>
        </p:spPr>
        <p:txBody>
          <a:bodyPr lIns="0" tIns="58604" rIns="0" bIns="58604">
            <a:spAutoFit/>
          </a:bodyPr>
          <a:lstStyle/>
          <a:p>
            <a:pPr eaLnBrk="1" hangingPunct="1">
              <a:defRPr/>
            </a:pPr>
            <a:r>
              <a:rPr lang="en-US" altLang="en-US" sz="1200" b="1" i="1" cap="small" dirty="0">
                <a:solidFill>
                  <a:srgbClr val="002060"/>
                </a:solidFill>
                <a:latin typeface="Calibri" panose="020F0502020204030204" pitchFamily="34" charset="0"/>
                <a:ea typeface="Agency FB" charset="0"/>
                <a:cs typeface="Calibri" panose="020F0502020204030204" pitchFamily="34" charset="0"/>
              </a:rPr>
              <a:t>Where Leaders are Created</a:t>
            </a:r>
            <a:endParaRPr lang="en-US" sz="1200" i="1" dirty="0">
              <a:solidFill>
                <a:srgbClr val="002060"/>
              </a:solidFill>
              <a:latin typeface="Calibri" panose="020F0502020204030204" pitchFamily="34" charset="0"/>
              <a:cs typeface="Calibri" panose="020F0502020204030204" pitchFamily="34" charset="0"/>
            </a:endParaRPr>
          </a:p>
        </p:txBody>
      </p:sp>
      <p:sp>
        <p:nvSpPr>
          <p:cNvPr id="16" name="Rectangle 16"/>
          <p:cNvSpPr>
            <a:spLocks noGrp="1" noChangeArrowheads="1"/>
          </p:cNvSpPr>
          <p:nvPr>
            <p:ph type="dt" sz="half" idx="2"/>
          </p:nvPr>
        </p:nvSpPr>
        <p:spPr bwMode="auto">
          <a:xfrm>
            <a:off x="103188" y="7950200"/>
            <a:ext cx="1779587" cy="279400"/>
          </a:xfrm>
          <a:prstGeom prst="rect">
            <a:avLst/>
          </a:prstGeom>
          <a:solidFill>
            <a:schemeClr val="bg1"/>
          </a:solidFill>
          <a:ln w="9525">
            <a:solidFill>
              <a:schemeClr val="bg1"/>
            </a:solidFill>
            <a:miter lim="800000"/>
            <a:headEnd/>
            <a:tailEnd/>
          </a:ln>
          <a:effectLst/>
        </p:spPr>
        <p:txBody>
          <a:bodyPr vert="horz" wrap="square" lIns="117208" tIns="58604" rIns="117208" bIns="58604" numCol="1" anchor="t" anchorCtr="0" compatLnSpc="1">
            <a:prstTxWarp prst="textNoShape">
              <a:avLst/>
            </a:prstTxWarp>
          </a:bodyPr>
          <a:lstStyle>
            <a:lvl1pPr eaLnBrk="1" hangingPunct="1">
              <a:defRPr sz="1300" smtClean="0">
                <a:latin typeface="Arial" charset="0"/>
                <a:cs typeface="Arial" charset="0"/>
              </a:defRPr>
            </a:lvl1pPr>
          </a:lstStyle>
          <a:p>
            <a:pPr>
              <a:defRPr/>
            </a:pPr>
            <a:fld id="{C606520B-F858-45C6-87E9-3C43CC3A2CF1}" type="datetime3">
              <a:rPr lang="en-US" smtClean="0"/>
              <a:t>15 June 2026</a:t>
            </a:fld>
            <a:endParaRPr lang="en-US" dirty="0"/>
          </a:p>
        </p:txBody>
      </p:sp>
      <p:sp>
        <p:nvSpPr>
          <p:cNvPr id="17" name="Rectangle 6"/>
          <p:cNvSpPr>
            <a:spLocks noChangeArrowheads="1"/>
          </p:cNvSpPr>
          <p:nvPr userDrawn="1"/>
        </p:nvSpPr>
        <p:spPr bwMode="auto">
          <a:xfrm>
            <a:off x="13654088" y="7950200"/>
            <a:ext cx="2743200" cy="279400"/>
          </a:xfrm>
          <a:prstGeom prst="rect">
            <a:avLst/>
          </a:prstGeom>
          <a:solidFill>
            <a:schemeClr val="bg1"/>
          </a:solidFill>
          <a:ln w="9525">
            <a:solidFill>
              <a:schemeClr val="bg1"/>
            </a:solidFill>
            <a:miter lim="800000"/>
            <a:headEnd/>
            <a:tailEnd/>
          </a:ln>
        </p:spPr>
        <p:txBody>
          <a:bodyPr lIns="117191" tIns="58595" rIns="117191" bIns="58595"/>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defRPr/>
            </a:pPr>
            <a:r>
              <a:rPr lang="en-US" altLang="en-US" sz="1200" dirty="0"/>
              <a:t>Slide # </a:t>
            </a:r>
            <a:fld id="{6501C82C-20DD-4AB7-8FA5-C736E197E819}" type="slidenum">
              <a:rPr lang="en-US" altLang="en-US" sz="1200" smtClean="0"/>
              <a:pPr algn="r" eaLnBrk="1" hangingPunct="1">
                <a:defRPr/>
              </a:pPr>
              <a:t>‹#›</a:t>
            </a:fld>
            <a:r>
              <a:rPr lang="en-US" altLang="en-US" sz="1200" dirty="0"/>
              <a:t> of Total 34 Slides</a:t>
            </a:r>
          </a:p>
        </p:txBody>
      </p:sp>
      <p:pic>
        <p:nvPicPr>
          <p:cNvPr id="2" name="Picture 17"/>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33338" y="22225"/>
            <a:ext cx="788987"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zoom/>
  </p:transition>
  <p:hf sldNum="0" hdr="0" ftr="0" dt="0"/>
  <p:txStyles>
    <p:title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p:titleStyle>
    <p:bodyStyle>
      <a:lvl1pPr marL="546100" indent="-5461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n-ea"/>
          <a:cs typeface="+mn-cs"/>
        </a:defRPr>
      </a:lvl1pPr>
      <a:lvl2pPr marL="1025525" indent="-342900" algn="l" rtl="0" eaLnBrk="0" fontAlgn="base" hangingPunct="0">
        <a:spcBef>
          <a:spcPct val="20000"/>
        </a:spcBef>
        <a:spcAft>
          <a:spcPct val="0"/>
        </a:spcAft>
        <a:buChar char="–"/>
        <a:defRPr sz="2800">
          <a:solidFill>
            <a:schemeClr val="tx1"/>
          </a:solidFill>
          <a:latin typeface="+mn-lt"/>
        </a:defRPr>
      </a:lvl2pPr>
      <a:lvl3pPr marL="1438275" indent="-273050" algn="l" rtl="0" eaLnBrk="0" fontAlgn="base" hangingPunct="0">
        <a:spcBef>
          <a:spcPct val="20000"/>
        </a:spcBef>
        <a:spcAft>
          <a:spcPct val="0"/>
        </a:spcAft>
        <a:buChar char="•"/>
        <a:defRPr sz="2800">
          <a:solidFill>
            <a:schemeClr val="tx1"/>
          </a:solidFill>
          <a:latin typeface="+mn-lt"/>
        </a:defRPr>
      </a:lvl3pPr>
      <a:lvl4pPr marL="1919288" indent="-273050" algn="l" rtl="0" eaLnBrk="0" fontAlgn="base" hangingPunct="0">
        <a:spcBef>
          <a:spcPct val="20000"/>
        </a:spcBef>
        <a:spcAft>
          <a:spcPct val="0"/>
        </a:spcAft>
        <a:buChar char="–"/>
        <a:defRPr sz="2400">
          <a:solidFill>
            <a:schemeClr val="tx1"/>
          </a:solidFill>
          <a:latin typeface="+mn-lt"/>
        </a:defRPr>
      </a:lvl4pPr>
      <a:lvl5pPr marL="2468563" indent="-273050" algn="l" rtl="0" eaLnBrk="0" fontAlgn="base" hangingPunct="0">
        <a:spcBef>
          <a:spcPct val="20000"/>
        </a:spcBef>
        <a:spcAft>
          <a:spcPct val="0"/>
        </a:spcAft>
        <a:buChar char="»"/>
        <a:defRPr sz="2400">
          <a:solidFill>
            <a:schemeClr val="tx1"/>
          </a:solidFill>
          <a:latin typeface="+mn-lt"/>
        </a:defRPr>
      </a:lvl5pPr>
      <a:lvl6pPr marL="3017520" indent="-274320" algn="l" rtl="0" fontAlgn="base">
        <a:spcBef>
          <a:spcPct val="20000"/>
        </a:spcBef>
        <a:spcAft>
          <a:spcPct val="0"/>
        </a:spcAft>
        <a:buChar char="»"/>
        <a:defRPr sz="2400">
          <a:solidFill>
            <a:schemeClr val="tx1"/>
          </a:solidFill>
          <a:latin typeface="+mn-lt"/>
        </a:defRPr>
      </a:lvl6pPr>
      <a:lvl7pPr marL="3566160" indent="-274320" algn="l" rtl="0" fontAlgn="base">
        <a:spcBef>
          <a:spcPct val="20000"/>
        </a:spcBef>
        <a:spcAft>
          <a:spcPct val="0"/>
        </a:spcAft>
        <a:buChar char="»"/>
        <a:defRPr sz="2400">
          <a:solidFill>
            <a:schemeClr val="tx1"/>
          </a:solidFill>
          <a:latin typeface="+mn-lt"/>
        </a:defRPr>
      </a:lvl7pPr>
      <a:lvl8pPr marL="4114800" indent="-274320" algn="l" rtl="0" fontAlgn="base">
        <a:spcBef>
          <a:spcPct val="20000"/>
        </a:spcBef>
        <a:spcAft>
          <a:spcPct val="0"/>
        </a:spcAft>
        <a:buChar char="»"/>
        <a:defRPr sz="2400">
          <a:solidFill>
            <a:schemeClr val="tx1"/>
          </a:solidFill>
          <a:latin typeface="+mn-lt"/>
        </a:defRPr>
      </a:lvl8pPr>
      <a:lvl9pPr marL="4663440" indent="-274320" algn="l" rtl="0" fontAlgn="base">
        <a:spcBef>
          <a:spcPct val="20000"/>
        </a:spcBef>
        <a:spcAft>
          <a:spcPct val="0"/>
        </a:spcAft>
        <a:buChar char="»"/>
        <a:defRPr sz="2400">
          <a:solidFill>
            <a:schemeClr val="tx1"/>
          </a:solidFill>
          <a:latin typeface="+mn-lt"/>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517521" y="381000"/>
            <a:ext cx="9711267" cy="5943600"/>
          </a:xfrm>
          <a:prstGeom prst="rect">
            <a:avLst/>
          </a:prstGeom>
        </p:spPr>
      </p:pic>
      <p:sp>
        <p:nvSpPr>
          <p:cNvPr id="4098" name="Rectangle 2"/>
          <p:cNvSpPr>
            <a:spLocks noGrp="1" noChangeArrowheads="1"/>
          </p:cNvSpPr>
          <p:nvPr>
            <p:ph type="ctrTitle"/>
          </p:nvPr>
        </p:nvSpPr>
        <p:spPr>
          <a:xfrm>
            <a:off x="6477000" y="381000"/>
            <a:ext cx="9677400" cy="3352800"/>
          </a:xfrm>
        </p:spPr>
        <p:txBody>
          <a:bodyPr anchor="t"/>
          <a:lstStyle/>
          <a:p>
            <a:pPr algn="l" eaLnBrk="1" hangingPunct="1"/>
            <a:r>
              <a:rPr lang="en-US" altLang="en-US" sz="4800" dirty="0">
                <a:solidFill>
                  <a:schemeClr val="tx1"/>
                </a:solidFill>
              </a:rPr>
              <a:t>Lecture # 01M: </a:t>
            </a:r>
            <a:br>
              <a:rPr lang="en-US" altLang="en-US" sz="4800" dirty="0">
                <a:solidFill>
                  <a:schemeClr val="tx1"/>
                </a:solidFill>
              </a:rPr>
            </a:br>
            <a:r>
              <a:rPr lang="en-US" altLang="en-US" sz="5400" dirty="0">
                <a:solidFill>
                  <a:schemeClr val="tx1"/>
                </a:solidFill>
              </a:rPr>
              <a:t>Introduction to Microcontroller</a:t>
            </a:r>
            <a:endParaRPr lang="en-US" altLang="en-US" sz="4800" dirty="0">
              <a:solidFill>
                <a:schemeClr val="tx1"/>
              </a:solidFill>
            </a:endParaRPr>
          </a:p>
        </p:txBody>
      </p:sp>
      <p:sp>
        <p:nvSpPr>
          <p:cNvPr id="4100" name="Rectangle 5"/>
          <p:cNvSpPr>
            <a:spLocks noChangeAspect="1" noChangeArrowheads="1"/>
          </p:cNvSpPr>
          <p:nvPr/>
        </p:nvSpPr>
        <p:spPr bwMode="auto">
          <a:xfrm>
            <a:off x="6551388" y="6496580"/>
            <a:ext cx="9677400" cy="1508125"/>
          </a:xfrm>
          <a:prstGeom prst="rect">
            <a:avLst/>
          </a:prstGeom>
          <a:solidFill>
            <a:schemeClr val="bg1"/>
          </a:solidFill>
          <a:ln w="28575">
            <a:solidFill>
              <a:srgbClr val="0070C0"/>
            </a:solidFill>
            <a:miter lim="800000"/>
            <a:headEnd/>
            <a:tailEnd/>
          </a:ln>
        </p:spPr>
        <p:txBody>
          <a:bodyPr lIns="117191" tIns="0" rIns="117191" bIns="0"/>
          <a:lstStyle>
            <a:lvl1pPr>
              <a:spcBef>
                <a:spcPct val="20000"/>
              </a:spcBef>
              <a:buFont typeface="Wingdings" panose="05000000000000000000" pitchFamily="2" charset="2"/>
              <a:buChar char="q"/>
              <a:defRPr sz="28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800">
                <a:solidFill>
                  <a:schemeClr val="tx1"/>
                </a:solidFill>
                <a:latin typeface="Arial" panose="020B0604020202020204" pitchFamily="34" charset="0"/>
              </a:defRPr>
            </a:lvl3pPr>
            <a:lvl4pPr marL="1600200" indent="-228600">
              <a:spcBef>
                <a:spcPct val="20000"/>
              </a:spcBef>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eaLnBrk="1" hangingPunct="1">
              <a:spcBef>
                <a:spcPct val="0"/>
              </a:spcBef>
              <a:buFontTx/>
              <a:buNone/>
            </a:pPr>
            <a:r>
              <a:rPr lang="en-US" altLang="en-US" sz="2400" dirty="0">
                <a:cs typeface="Arial" panose="020B0604020202020204" pitchFamily="34" charset="0"/>
              </a:rPr>
              <a:t>Course Teacher:</a:t>
            </a:r>
            <a:r>
              <a:rPr lang="en-US" altLang="en-US" sz="2400" b="1" dirty="0">
                <a:solidFill>
                  <a:srgbClr val="0000FF"/>
                </a:solidFill>
                <a:cs typeface="Arial" panose="020B0604020202020204" pitchFamily="34" charset="0"/>
              </a:rPr>
              <a:t> Prof. Dr. Engr. </a:t>
            </a:r>
            <a:r>
              <a:rPr lang="en-US" altLang="en-US" sz="2400" b="1" dirty="0" err="1">
                <a:solidFill>
                  <a:srgbClr val="0000FF"/>
                </a:solidFill>
                <a:cs typeface="Arial" panose="020B0604020202020204" pitchFamily="34" charset="0"/>
              </a:rPr>
              <a:t>Muhibul</a:t>
            </a:r>
            <a:r>
              <a:rPr lang="en-US" altLang="en-US" sz="2400" b="1" dirty="0">
                <a:solidFill>
                  <a:srgbClr val="0000FF"/>
                </a:solidFill>
                <a:cs typeface="Arial" panose="020B0604020202020204" pitchFamily="34" charset="0"/>
              </a:rPr>
              <a:t> </a:t>
            </a:r>
            <a:r>
              <a:rPr lang="en-US" altLang="en-US" sz="2400" b="1" dirty="0" err="1">
                <a:solidFill>
                  <a:srgbClr val="0000FF"/>
                </a:solidFill>
                <a:cs typeface="Arial" panose="020B0604020202020204" pitchFamily="34" charset="0"/>
              </a:rPr>
              <a:t>Haque</a:t>
            </a:r>
            <a:r>
              <a:rPr lang="en-US" altLang="en-US" sz="2400" b="1" dirty="0">
                <a:solidFill>
                  <a:srgbClr val="0000FF"/>
                </a:solidFill>
                <a:cs typeface="Arial" panose="020B0604020202020204" pitchFamily="34" charset="0"/>
              </a:rPr>
              <a:t> </a:t>
            </a:r>
            <a:r>
              <a:rPr lang="en-US" altLang="en-US" sz="2400" b="1" dirty="0" err="1">
                <a:solidFill>
                  <a:srgbClr val="0000FF"/>
                </a:solidFill>
                <a:cs typeface="Arial" panose="020B0604020202020204" pitchFamily="34" charset="0"/>
              </a:rPr>
              <a:t>Bhuyan</a:t>
            </a:r>
            <a:endParaRPr lang="en-US" altLang="en-US" sz="2400" b="1" dirty="0">
              <a:solidFill>
                <a:srgbClr val="0000FF"/>
              </a:solidFill>
              <a:cs typeface="Arial" panose="020B0604020202020204" pitchFamily="34" charset="0"/>
            </a:endParaRPr>
          </a:p>
          <a:p>
            <a:pPr eaLnBrk="1" hangingPunct="1">
              <a:spcBef>
                <a:spcPct val="0"/>
              </a:spcBef>
              <a:buFontTx/>
              <a:buNone/>
            </a:pPr>
            <a:r>
              <a:rPr lang="en-US" altLang="en-US" sz="2400" b="1" dirty="0">
                <a:solidFill>
                  <a:srgbClr val="FF0000"/>
                </a:solidFill>
                <a:cs typeface="Arial" panose="020B0604020202020204" pitchFamily="34" charset="0"/>
              </a:rPr>
              <a:t>Professor, Department of EEE</a:t>
            </a:r>
          </a:p>
          <a:p>
            <a:pPr eaLnBrk="1" hangingPunct="1">
              <a:spcBef>
                <a:spcPct val="0"/>
              </a:spcBef>
              <a:buFontTx/>
              <a:buNone/>
            </a:pPr>
            <a:r>
              <a:rPr lang="en-US" altLang="en-US" sz="2400" b="1" dirty="0">
                <a:solidFill>
                  <a:srgbClr val="008000"/>
                </a:solidFill>
                <a:cs typeface="Arial" panose="020B0604020202020204" pitchFamily="34" charset="0"/>
              </a:rPr>
              <a:t>American International University-Bangladesh (AIUB)</a:t>
            </a:r>
          </a:p>
          <a:p>
            <a:pPr eaLnBrk="1" hangingPunct="1">
              <a:spcBef>
                <a:spcPct val="0"/>
              </a:spcBef>
              <a:buFontTx/>
              <a:buNone/>
            </a:pPr>
            <a:r>
              <a:rPr lang="en-US" altLang="en-US" sz="2400" b="1" dirty="0">
                <a:solidFill>
                  <a:srgbClr val="008000"/>
                </a:solidFill>
                <a:cs typeface="Arial" panose="020B0604020202020204" pitchFamily="34" charset="0"/>
              </a:rPr>
              <a:t>Dhaka, Bangladesh</a:t>
            </a:r>
          </a:p>
        </p:txBody>
      </p:sp>
      <p:pic>
        <p:nvPicPr>
          <p:cNvPr id="6" name="Picture 5"/>
          <p:cNvPicPr>
            <a:picLocks noChangeAspect="1"/>
          </p:cNvPicPr>
          <p:nvPr/>
        </p:nvPicPr>
        <p:blipFill>
          <a:blip r:embed="rId4"/>
          <a:stretch>
            <a:fillRect/>
          </a:stretch>
        </p:blipFill>
        <p:spPr>
          <a:xfrm>
            <a:off x="381000" y="380999"/>
            <a:ext cx="6021612" cy="7623705"/>
          </a:xfrm>
          <a:prstGeom prst="rect">
            <a:avLst/>
          </a:prstGeom>
        </p:spPr>
      </p:pic>
    </p:spTree>
  </p:cSld>
  <p:clrMapOvr>
    <a:masterClrMapping/>
  </p:clrMapOvr>
  <p:transition advTm="7000">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idx="4294967295"/>
          </p:nvPr>
        </p:nvSpPr>
        <p:spPr>
          <a:xfrm>
            <a:off x="3566160" y="381000"/>
            <a:ext cx="9326880" cy="1082040"/>
          </a:xfrm>
        </p:spPr>
        <p:txBody>
          <a:bodyPr/>
          <a:lstStyle/>
          <a:p>
            <a:pPr eaLnBrk="1" hangingPunct="1"/>
            <a:r>
              <a:rPr lang="en-US" altLang="en-US" sz="5400" dirty="0"/>
              <a:t>Outline</a:t>
            </a:r>
          </a:p>
        </p:txBody>
      </p:sp>
      <p:sp>
        <p:nvSpPr>
          <p:cNvPr id="6149" name="Rectangle 3"/>
          <p:cNvSpPr>
            <a:spLocks noGrp="1" noChangeArrowheads="1"/>
          </p:cNvSpPr>
          <p:nvPr>
            <p:ph type="body" idx="4294967295"/>
          </p:nvPr>
        </p:nvSpPr>
        <p:spPr>
          <a:xfrm>
            <a:off x="685800" y="1828800"/>
            <a:ext cx="15163800" cy="5486400"/>
          </a:xfrm>
        </p:spPr>
        <p:txBody>
          <a:bodyPr/>
          <a:lstStyle/>
          <a:p>
            <a:pPr eaLnBrk="1" hangingPunct="1">
              <a:spcBef>
                <a:spcPts val="1200"/>
              </a:spcBef>
            </a:pPr>
            <a:r>
              <a:rPr lang="en-US" altLang="en-US" sz="4000" dirty="0"/>
              <a:t>Differences between microcontroller and microprocessor</a:t>
            </a:r>
          </a:p>
          <a:p>
            <a:pPr eaLnBrk="1" hangingPunct="1">
              <a:spcBef>
                <a:spcPts val="1200"/>
              </a:spcBef>
            </a:pPr>
            <a:r>
              <a:rPr lang="en-US" altLang="en-US" sz="4000" dirty="0"/>
              <a:t>Differences between Harvard and Von Neumann Architectures</a:t>
            </a:r>
          </a:p>
          <a:p>
            <a:pPr eaLnBrk="1" hangingPunct="1">
              <a:spcBef>
                <a:spcPts val="1200"/>
              </a:spcBef>
            </a:pPr>
            <a:r>
              <a:rPr lang="en-US" altLang="en-US" sz="4000" dirty="0"/>
              <a:t>Introducing STM32 Microcontroller Board</a:t>
            </a:r>
          </a:p>
          <a:p>
            <a:pPr eaLnBrk="1" hangingPunct="1">
              <a:spcBef>
                <a:spcPts val="1200"/>
              </a:spcBef>
            </a:pPr>
            <a:r>
              <a:rPr lang="en-US" altLang="en-US" sz="4000" dirty="0"/>
              <a:t>Embedded Systems and IoT</a:t>
            </a:r>
          </a:p>
          <a:p>
            <a:pPr eaLnBrk="1" hangingPunct="1">
              <a:spcBef>
                <a:spcPts val="1200"/>
              </a:spcBef>
            </a:pPr>
            <a:r>
              <a:rPr lang="en-US" altLang="en-US" sz="4000" dirty="0"/>
              <a:t>Architecture of a Modern  Microcontroller</a:t>
            </a:r>
          </a:p>
        </p:txBody>
      </p:sp>
    </p:spTree>
    <p:extLst>
      <p:ext uri="{BB962C8B-B14F-4D97-AF65-F5344CB8AC3E}">
        <p14:creationId xmlns:p14="http://schemas.microsoft.com/office/powerpoint/2010/main" val="4177092267"/>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a:xfrm>
            <a:off x="1235075" y="457200"/>
            <a:ext cx="13989050" cy="1006475"/>
          </a:xfrm>
        </p:spPr>
        <p:txBody>
          <a:bodyPr/>
          <a:lstStyle/>
          <a:p>
            <a:r>
              <a:rPr lang="en-US" sz="4400" dirty="0"/>
              <a:t>Some important Differences</a:t>
            </a:r>
          </a:p>
        </p:txBody>
      </p:sp>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a:xfrm>
            <a:off x="288393" y="1600200"/>
            <a:ext cx="14935731" cy="495299"/>
          </a:xfrm>
        </p:spPr>
        <p:txBody>
          <a:bodyPr/>
          <a:lstStyle/>
          <a:p>
            <a:pPr marL="0" indent="0">
              <a:buNone/>
            </a:pPr>
            <a:r>
              <a:rPr lang="en-US" sz="2640" b="1" dirty="0">
                <a:latin typeface="Arial" panose="020B0604020202020204" pitchFamily="34" charset="0"/>
                <a:cs typeface="Arial" panose="020B0604020202020204" pitchFamily="34" charset="0"/>
              </a:rPr>
              <a:t>Microprocessor</a:t>
            </a:r>
            <a:r>
              <a:rPr lang="en-US" sz="2400" b="1"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Microcontroller</a:t>
            </a:r>
            <a:endParaRPr lang="en-US" sz="2640" b="1"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rotWithShape="1">
          <a:blip r:embed="rId2"/>
          <a:srcRect l="6607" t="5206" r="7286" b="3490"/>
          <a:stretch/>
        </p:blipFill>
        <p:spPr>
          <a:xfrm>
            <a:off x="8458200" y="2057400"/>
            <a:ext cx="7772400" cy="5486400"/>
          </a:xfrm>
          <a:prstGeom prst="rect">
            <a:avLst/>
          </a:prstGeom>
        </p:spPr>
      </p:pic>
      <p:pic>
        <p:nvPicPr>
          <p:cNvPr id="6" name="Picture 5"/>
          <p:cNvPicPr>
            <a:picLocks noChangeAspect="1"/>
          </p:cNvPicPr>
          <p:nvPr/>
        </p:nvPicPr>
        <p:blipFill rotWithShape="1">
          <a:blip r:embed="rId3"/>
          <a:srcRect l="5301" r="4589"/>
          <a:stretch/>
        </p:blipFill>
        <p:spPr>
          <a:xfrm>
            <a:off x="288393" y="2171700"/>
            <a:ext cx="8058149" cy="5372099"/>
          </a:xfrm>
          <a:prstGeom prst="rect">
            <a:avLst/>
          </a:prstGeom>
          <a:ln w="38100">
            <a:solidFill>
              <a:schemeClr val="tx1"/>
            </a:solidFill>
          </a:ln>
        </p:spPr>
      </p:pic>
    </p:spTree>
    <p:extLst>
      <p:ext uri="{BB962C8B-B14F-4D97-AF65-F5344CB8AC3E}">
        <p14:creationId xmlns:p14="http://schemas.microsoft.com/office/powerpoint/2010/main" val="57844300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a:xfrm>
            <a:off x="1219200" y="457200"/>
            <a:ext cx="14935200" cy="823912"/>
          </a:xfrm>
        </p:spPr>
        <p:txBody>
          <a:bodyPr>
            <a:noAutofit/>
          </a:bodyPr>
          <a:lstStyle/>
          <a:p>
            <a:r>
              <a:rPr lang="en-US" sz="4000" dirty="0"/>
              <a:t>Comparison of Microprocessor and Microcontroller</a:t>
            </a:r>
          </a:p>
        </p:txBody>
      </p:sp>
      <p:sp>
        <p:nvSpPr>
          <p:cNvPr id="3" name="Content Placeholder 2">
            <a:extLst>
              <a:ext uri="{FF2B5EF4-FFF2-40B4-BE49-F238E27FC236}">
                <a16:creationId xmlns:a16="http://schemas.microsoft.com/office/drawing/2014/main" id="{344B0985-002E-41EF-80D7-888D43261784}"/>
              </a:ext>
            </a:extLst>
          </p:cNvPr>
          <p:cNvSpPr>
            <a:spLocks noGrp="1"/>
          </p:cNvSpPr>
          <p:nvPr>
            <p:ph sz="half" idx="1"/>
          </p:nvPr>
        </p:nvSpPr>
        <p:spPr>
          <a:xfrm>
            <a:off x="304800" y="1752600"/>
            <a:ext cx="7924800" cy="4800600"/>
          </a:xfrm>
          <a:prstGeom prst="roundRect">
            <a:avLst>
              <a:gd name="adj" fmla="val 2515"/>
            </a:avLst>
          </a:prstGeom>
        </p:spPr>
        <p:txBody>
          <a:bodyPr>
            <a:noAutofit/>
          </a:bodyPr>
          <a:lstStyle/>
          <a:p>
            <a:pPr marL="0" indent="0">
              <a:spcBef>
                <a:spcPts val="0"/>
              </a:spcBef>
              <a:buNone/>
            </a:pPr>
            <a:r>
              <a:rPr lang="en-US" sz="2800" b="1" dirty="0">
                <a:latin typeface="Arial" panose="020B0604020202020204" pitchFamily="34" charset="0"/>
                <a:cs typeface="Arial" panose="020B0604020202020204" pitchFamily="34" charset="0"/>
              </a:rPr>
              <a:t>Microprocessor</a:t>
            </a:r>
          </a:p>
          <a:p>
            <a:pPr>
              <a:lnSpc>
                <a:spcPct val="120000"/>
              </a:lnSpc>
              <a:spcBef>
                <a:spcPts val="0"/>
              </a:spcBef>
            </a:pPr>
            <a:r>
              <a:rPr lang="en-CA" sz="2800" dirty="0">
                <a:latin typeface="Arial" panose="020B0604020202020204" pitchFamily="34" charset="0"/>
                <a:cs typeface="Arial" panose="020B0604020202020204" pitchFamily="34" charset="0"/>
              </a:rPr>
              <a:t>The integrated single-chip CPU of a computer system.</a:t>
            </a:r>
          </a:p>
          <a:p>
            <a:pPr>
              <a:lnSpc>
                <a:spcPct val="120000"/>
              </a:lnSpc>
              <a:spcBef>
                <a:spcPts val="0"/>
              </a:spcBef>
            </a:pPr>
            <a:r>
              <a:rPr lang="en-CA" sz="2800" dirty="0">
                <a:latin typeface="Arial" panose="020B0604020202020204" pitchFamily="34" charset="0"/>
                <a:cs typeface="Arial" panose="020B0604020202020204" pitchFamily="34" charset="0"/>
              </a:rPr>
              <a:t>Controls the memory and I/O through a series of connections called busses.</a:t>
            </a:r>
          </a:p>
          <a:p>
            <a:pPr>
              <a:lnSpc>
                <a:spcPct val="120000"/>
              </a:lnSpc>
              <a:spcBef>
                <a:spcPts val="0"/>
              </a:spcBef>
            </a:pPr>
            <a:r>
              <a:rPr lang="en-CA" sz="2800" dirty="0">
                <a:latin typeface="Arial" panose="020B0604020202020204" pitchFamily="34" charset="0"/>
                <a:cs typeface="Arial" panose="020B0604020202020204" pitchFamily="34" charset="0"/>
              </a:rPr>
              <a:t>CPU/Microprocessor:</a:t>
            </a:r>
          </a:p>
          <a:p>
            <a:pPr lvl="1">
              <a:lnSpc>
                <a:spcPct val="120000"/>
              </a:lnSpc>
              <a:spcBef>
                <a:spcPts val="0"/>
              </a:spcBef>
              <a:buFont typeface="Wingdings" pitchFamily="2" charset="2"/>
              <a:buChar char="v"/>
            </a:pPr>
            <a:r>
              <a:rPr lang="en-CA" sz="2800" dirty="0">
                <a:latin typeface="Arial" panose="020B0604020202020204" pitchFamily="34" charset="0"/>
                <a:cs typeface="Arial" panose="020B0604020202020204" pitchFamily="34" charset="0"/>
              </a:rPr>
              <a:t>Performs arithmetic or logic operations</a:t>
            </a:r>
          </a:p>
          <a:p>
            <a:pPr lvl="1">
              <a:lnSpc>
                <a:spcPct val="120000"/>
              </a:lnSpc>
              <a:spcBef>
                <a:spcPts val="0"/>
              </a:spcBef>
              <a:buFont typeface="Wingdings" pitchFamily="2" charset="2"/>
              <a:buChar char="v"/>
            </a:pPr>
            <a:r>
              <a:rPr lang="en-CA" sz="2800" dirty="0">
                <a:latin typeface="Arial" panose="020B0604020202020204" pitchFamily="34" charset="0"/>
                <a:cs typeface="Arial" panose="020B0604020202020204" pitchFamily="34" charset="0"/>
              </a:rPr>
              <a:t>Temporarily stores data and instructions in internal high-speed registers</a:t>
            </a:r>
          </a:p>
        </p:txBody>
      </p:sp>
      <p:sp>
        <p:nvSpPr>
          <p:cNvPr id="4" name="Content Placeholder 3">
            <a:extLst>
              <a:ext uri="{FF2B5EF4-FFF2-40B4-BE49-F238E27FC236}">
                <a16:creationId xmlns:a16="http://schemas.microsoft.com/office/drawing/2014/main" id="{2846FF52-309D-45FC-A407-74955F1EF153}"/>
              </a:ext>
            </a:extLst>
          </p:cNvPr>
          <p:cNvSpPr>
            <a:spLocks noGrp="1"/>
          </p:cNvSpPr>
          <p:nvPr>
            <p:ph sz="half" idx="2"/>
          </p:nvPr>
        </p:nvSpPr>
        <p:spPr>
          <a:xfrm>
            <a:off x="8534400" y="1752601"/>
            <a:ext cx="7619999" cy="4191000"/>
          </a:xfrm>
        </p:spPr>
        <p:txBody>
          <a:bodyPr>
            <a:noAutofit/>
          </a:bodyPr>
          <a:lstStyle/>
          <a:p>
            <a:pPr marL="0" indent="0">
              <a:buNone/>
            </a:pPr>
            <a:r>
              <a:rPr lang="en-US" sz="2800" b="1" dirty="0">
                <a:latin typeface="Arial" panose="020B0604020202020204" pitchFamily="34" charset="0"/>
                <a:cs typeface="Arial" panose="020B0604020202020204" pitchFamily="34" charset="0"/>
              </a:rPr>
              <a:t>Microcontroller</a:t>
            </a:r>
            <a:endParaRPr lang="en-US" sz="2800" dirty="0">
              <a:latin typeface="Arial" panose="020B0604020202020204" pitchFamily="34" charset="0"/>
              <a:cs typeface="Arial" panose="020B0604020202020204" pitchFamily="34" charset="0"/>
            </a:endParaRPr>
          </a:p>
          <a:p>
            <a:pPr>
              <a:lnSpc>
                <a:spcPct val="120000"/>
              </a:lnSpc>
            </a:pPr>
            <a:r>
              <a:rPr lang="en-CA" sz="2800" dirty="0">
                <a:latin typeface="Arial" panose="020B0604020202020204" pitchFamily="34" charset="0"/>
                <a:cs typeface="Arial" panose="020B0604020202020204" pitchFamily="34" charset="0"/>
              </a:rPr>
              <a:t>Single-chip microcomputers with limited capabilities.</a:t>
            </a:r>
          </a:p>
          <a:p>
            <a:pPr>
              <a:lnSpc>
                <a:spcPct val="120000"/>
              </a:lnSpc>
            </a:pPr>
            <a:r>
              <a:rPr lang="en-CA" sz="2800" dirty="0">
                <a:latin typeface="Arial" panose="020B0604020202020204" pitchFamily="34" charset="0"/>
                <a:cs typeface="Arial" panose="020B0604020202020204" pitchFamily="34" charset="0"/>
              </a:rPr>
              <a:t>Microprocessor, memory, and I/O – all fabricated in the same chip.</a:t>
            </a:r>
          </a:p>
          <a:p>
            <a:pPr>
              <a:lnSpc>
                <a:spcPct val="120000"/>
              </a:lnSpc>
            </a:pPr>
            <a:r>
              <a:rPr lang="en-CA" sz="2800" dirty="0">
                <a:latin typeface="Arial" panose="020B0604020202020204" pitchFamily="34" charset="0"/>
                <a:cs typeface="Arial" panose="020B0604020202020204" pitchFamily="34" charset="0"/>
              </a:rPr>
              <a:t>On-chip timers, A/D, and D/A converters.</a:t>
            </a:r>
          </a:p>
          <a:p>
            <a:pPr>
              <a:lnSpc>
                <a:spcPct val="120000"/>
              </a:lnSpc>
            </a:pPr>
            <a:r>
              <a:rPr lang="en-CA" sz="2800" dirty="0">
                <a:latin typeface="Arial" panose="020B0604020202020204" pitchFamily="34" charset="0"/>
                <a:cs typeface="Arial" panose="020B0604020202020204" pitchFamily="34" charset="0"/>
              </a:rPr>
              <a:t>Appropriate for dedicated applications.</a:t>
            </a:r>
          </a:p>
        </p:txBody>
      </p:sp>
    </p:spTree>
    <p:extLst>
      <p:ext uri="{BB962C8B-B14F-4D97-AF65-F5344CB8AC3E}">
        <p14:creationId xmlns:p14="http://schemas.microsoft.com/office/powerpoint/2010/main" val="16652202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A199-95B7-41B3-9A72-44BD819B1C1F}"/>
              </a:ext>
            </a:extLst>
          </p:cNvPr>
          <p:cNvSpPr>
            <a:spLocks noGrp="1"/>
          </p:cNvSpPr>
          <p:nvPr>
            <p:ph type="title"/>
          </p:nvPr>
        </p:nvSpPr>
        <p:spPr>
          <a:xfrm>
            <a:off x="1735048" y="476448"/>
            <a:ext cx="14038352" cy="818952"/>
          </a:xfrm>
        </p:spPr>
        <p:txBody>
          <a:bodyPr/>
          <a:lstStyle/>
          <a:p>
            <a:r>
              <a:rPr lang="en-US" sz="4800" dirty="0"/>
              <a:t>Architectures: Harvard vs. Von Neumann</a:t>
            </a:r>
          </a:p>
        </p:txBody>
      </p:sp>
      <p:graphicFrame>
        <p:nvGraphicFramePr>
          <p:cNvPr id="12" name="Table 11"/>
          <p:cNvGraphicFramePr>
            <a:graphicFrameLocks noGrp="1"/>
          </p:cNvGraphicFramePr>
          <p:nvPr>
            <p:extLst>
              <p:ext uri="{D42A27DB-BD31-4B8C-83A1-F6EECF244321}">
                <p14:modId xmlns:p14="http://schemas.microsoft.com/office/powerpoint/2010/main" val="324076984"/>
              </p:ext>
            </p:extLst>
          </p:nvPr>
        </p:nvGraphicFramePr>
        <p:xfrm>
          <a:off x="304799" y="1600200"/>
          <a:ext cx="15849601" cy="6044674"/>
        </p:xfrm>
        <a:graphic>
          <a:graphicData uri="http://schemas.openxmlformats.org/drawingml/2006/table">
            <a:tbl>
              <a:tblPr firstRow="1" bandRow="1">
                <a:tableStyleId>{5C22544A-7EE6-4342-B048-85BDC9FD1C3A}</a:tableStyleId>
              </a:tblPr>
              <a:tblGrid>
                <a:gridCol w="2297120">
                  <a:extLst>
                    <a:ext uri="{9D8B030D-6E8A-4147-A177-3AD203B41FA5}">
                      <a16:colId xmlns:a16="http://schemas.microsoft.com/office/drawing/2014/main" val="2899699387"/>
                    </a:ext>
                  </a:extLst>
                </a:gridCol>
                <a:gridCol w="6694481">
                  <a:extLst>
                    <a:ext uri="{9D8B030D-6E8A-4147-A177-3AD203B41FA5}">
                      <a16:colId xmlns:a16="http://schemas.microsoft.com/office/drawing/2014/main" val="3293350575"/>
                    </a:ext>
                  </a:extLst>
                </a:gridCol>
                <a:gridCol w="6858000">
                  <a:extLst>
                    <a:ext uri="{9D8B030D-6E8A-4147-A177-3AD203B41FA5}">
                      <a16:colId xmlns:a16="http://schemas.microsoft.com/office/drawing/2014/main" val="830786927"/>
                    </a:ext>
                  </a:extLst>
                </a:gridCol>
              </a:tblGrid>
              <a:tr h="936346">
                <a:tc>
                  <a:txBody>
                    <a:bodyPr/>
                    <a:lstStyle/>
                    <a:p>
                      <a:pPr algn="ctr"/>
                      <a:r>
                        <a:rPr lang="en-CA" sz="2600" dirty="0">
                          <a:effectLst/>
                        </a:rPr>
                        <a:t>Point of Comparison</a:t>
                      </a:r>
                      <a:endParaRPr lang="en-CA" sz="2600" dirty="0">
                        <a:solidFill>
                          <a:schemeClr val="tx1"/>
                        </a:solidFill>
                        <a:effectLst/>
                      </a:endParaRPr>
                    </a:p>
                  </a:txBody>
                  <a:tcPr marL="73152" marR="73152" marT="73152" marB="73152" anchor="ctr"/>
                </a:tc>
                <a:tc>
                  <a:txBody>
                    <a:bodyPr/>
                    <a:lstStyle/>
                    <a:p>
                      <a:pPr algn="ctr"/>
                      <a:r>
                        <a:rPr lang="en-CA" sz="2600" dirty="0">
                          <a:effectLst/>
                        </a:rPr>
                        <a:t>Harvard Architecture</a:t>
                      </a:r>
                      <a:endParaRPr lang="en-CA" sz="2600" dirty="0">
                        <a:solidFill>
                          <a:schemeClr val="tx1"/>
                        </a:solidFill>
                        <a:effectLst/>
                      </a:endParaRPr>
                    </a:p>
                  </a:txBody>
                  <a:tcPr marL="73152" marR="73152" marT="73152" marB="73152" anchor="ctr"/>
                </a:tc>
                <a:tc>
                  <a:txBody>
                    <a:bodyPr/>
                    <a:lstStyle/>
                    <a:p>
                      <a:pPr algn="ctr"/>
                      <a:r>
                        <a:rPr lang="en-CA" sz="2600" dirty="0">
                          <a:effectLst/>
                        </a:rPr>
                        <a:t>Von Neumann Architecture</a:t>
                      </a:r>
                      <a:endParaRPr lang="en-CA" sz="2600" dirty="0">
                        <a:solidFill>
                          <a:schemeClr val="tx1"/>
                        </a:solidFill>
                        <a:effectLst/>
                      </a:endParaRPr>
                    </a:p>
                  </a:txBody>
                  <a:tcPr marL="73152" marR="73152" marT="73152" marB="73152" anchor="ctr"/>
                </a:tc>
                <a:extLst>
                  <a:ext uri="{0D108BD9-81ED-4DB2-BD59-A6C34878D82A}">
                    <a16:rowId xmlns:a16="http://schemas.microsoft.com/office/drawing/2014/main" val="2034119645"/>
                  </a:ext>
                </a:extLst>
              </a:tr>
              <a:tr h="2414016">
                <a:tc>
                  <a:txBody>
                    <a:bodyPr/>
                    <a:lstStyle/>
                    <a:p>
                      <a:pPr algn="l"/>
                      <a:r>
                        <a:rPr lang="en-CA" sz="2600" dirty="0">
                          <a:effectLst/>
                        </a:rPr>
                        <a:t>Arrangement</a:t>
                      </a:r>
                      <a:endParaRPr lang="en-CA" sz="2600" dirty="0">
                        <a:solidFill>
                          <a:schemeClr val="tx1"/>
                        </a:solidFill>
                        <a:effectLst/>
                      </a:endParaRPr>
                    </a:p>
                  </a:txBody>
                  <a:tcPr marL="73152" marR="73152" marT="73152" marB="73152" anchor="ctr"/>
                </a:tc>
                <a:tc>
                  <a:txBody>
                    <a:bodyPr/>
                    <a:lstStyle/>
                    <a:p>
                      <a:pPr marL="285750" indent="-285750" algn="l" fontAlgn="base">
                        <a:buFont typeface="Arial" pitchFamily="34" charset="0"/>
                        <a:buChar char="•"/>
                      </a:pPr>
                      <a:r>
                        <a:rPr lang="en-CA" sz="2600" dirty="0">
                          <a:effectLst/>
                        </a:rPr>
                        <a:t>Memory is divided into</a:t>
                      </a:r>
                      <a:r>
                        <a:rPr lang="en-CA" sz="2600" baseline="0" dirty="0">
                          <a:effectLst/>
                        </a:rPr>
                        <a:t> two memories:</a:t>
                      </a:r>
                    </a:p>
                    <a:p>
                      <a:pPr marL="0" indent="0" algn="l" fontAlgn="base">
                        <a:buFont typeface="Wingdings" pitchFamily="2" charset="2"/>
                        <a:buNone/>
                      </a:pPr>
                      <a:r>
                        <a:rPr lang="en-CA" sz="2600" baseline="0" dirty="0">
                          <a:effectLst/>
                        </a:rPr>
                        <a:t>      - Data memory</a:t>
                      </a:r>
                    </a:p>
                    <a:p>
                      <a:pPr marL="0" indent="0" algn="l" fontAlgn="base">
                        <a:buFont typeface="Wingdings" pitchFamily="2" charset="2"/>
                        <a:buNone/>
                      </a:pPr>
                      <a:r>
                        <a:rPr lang="en-CA" sz="2600" baseline="0" dirty="0">
                          <a:effectLst/>
                        </a:rPr>
                        <a:t>      - Instruction memory</a:t>
                      </a:r>
                    </a:p>
                    <a:p>
                      <a:pPr marL="285750" indent="-285750" algn="l" fontAlgn="base">
                        <a:buFont typeface="Arial" pitchFamily="34" charset="0"/>
                        <a:buChar char="•"/>
                      </a:pPr>
                      <a:r>
                        <a:rPr lang="en-CA" sz="2600" baseline="0" dirty="0">
                          <a:effectLst/>
                        </a:rPr>
                        <a:t>Term originated from Harvard Mark I relay based computer system</a:t>
                      </a:r>
                      <a:endParaRPr lang="en-CA" sz="2600" dirty="0">
                        <a:effectLst/>
                      </a:endParaRPr>
                    </a:p>
                    <a:p>
                      <a:pPr algn="l" fontAlgn="base"/>
                      <a:endParaRPr lang="en-CA" sz="2600" dirty="0">
                        <a:effectLst/>
                      </a:endParaRPr>
                    </a:p>
                  </a:txBody>
                  <a:tcPr marL="73152" marR="73152" marT="73152" marB="73152"/>
                </a:tc>
                <a:tc>
                  <a:txBody>
                    <a:bodyPr/>
                    <a:lstStyle/>
                    <a:p>
                      <a:pPr marL="285750" indent="-285750" algn="l" fontAlgn="base">
                        <a:buFont typeface="Arial" pitchFamily="34" charset="0"/>
                        <a:buChar char="•"/>
                      </a:pPr>
                      <a:r>
                        <a:rPr lang="en-CA" sz="2600" dirty="0">
                          <a:effectLst/>
                        </a:rPr>
                        <a:t>All memory</a:t>
                      </a:r>
                      <a:r>
                        <a:rPr lang="en-CA" sz="2600" baseline="0" dirty="0">
                          <a:effectLst/>
                        </a:rPr>
                        <a:t> is capable of storing all program elements, data and instructions.</a:t>
                      </a:r>
                    </a:p>
                    <a:p>
                      <a:pPr marL="285750" indent="-285750" algn="l" fontAlgn="base">
                        <a:buFont typeface="Arial" pitchFamily="34" charset="0"/>
                        <a:buChar char="•"/>
                      </a:pPr>
                      <a:r>
                        <a:rPr lang="en-CA" sz="2600" baseline="0" dirty="0">
                          <a:effectLst/>
                        </a:rPr>
                        <a:t>Also referred to as Princeton Architecture</a:t>
                      </a:r>
                    </a:p>
                    <a:p>
                      <a:pPr marL="285750" indent="-285750" algn="l" fontAlgn="base">
                        <a:buFont typeface="Arial" pitchFamily="34" charset="0"/>
                        <a:buChar char="•"/>
                      </a:pPr>
                      <a:r>
                        <a:rPr lang="en-CA" sz="2600" baseline="0" dirty="0">
                          <a:effectLst/>
                        </a:rPr>
                        <a:t>Based on the “First Draft of a Report on the EDVAC” by John Von Neumann published in 1945</a:t>
                      </a:r>
                      <a:endParaRPr lang="en-CA" sz="2600" dirty="0">
                        <a:solidFill>
                          <a:schemeClr val="tx1"/>
                        </a:solidFill>
                        <a:effectLst/>
                      </a:endParaRPr>
                    </a:p>
                  </a:txBody>
                  <a:tcPr marL="73152" marR="73152" marT="73152" marB="73152"/>
                </a:tc>
                <a:extLst>
                  <a:ext uri="{0D108BD9-81ED-4DB2-BD59-A6C34878D82A}">
                    <a16:rowId xmlns:a16="http://schemas.microsoft.com/office/drawing/2014/main" val="3148042220"/>
                  </a:ext>
                </a:extLst>
              </a:tr>
              <a:tr h="2582146">
                <a:tc>
                  <a:txBody>
                    <a:bodyPr/>
                    <a:lstStyle/>
                    <a:p>
                      <a:pPr algn="l"/>
                      <a:r>
                        <a:rPr lang="en-CA" sz="2600" dirty="0">
                          <a:effectLst/>
                        </a:rPr>
                        <a:t>System diagrams</a:t>
                      </a:r>
                      <a:endParaRPr lang="en-CA" sz="2600" dirty="0">
                        <a:solidFill>
                          <a:schemeClr val="tx1"/>
                        </a:solidFill>
                        <a:effectLst/>
                      </a:endParaRPr>
                    </a:p>
                  </a:txBody>
                  <a:tcPr marL="73152" marR="73152" marT="73152" marB="73152" anchor="ctr"/>
                </a:tc>
                <a:tc>
                  <a:txBody>
                    <a:bodyPr/>
                    <a:lstStyle/>
                    <a:p>
                      <a:pPr algn="l" fontAlgn="base"/>
                      <a:endParaRPr lang="en-CA" sz="2600" dirty="0">
                        <a:solidFill>
                          <a:schemeClr val="tx1"/>
                        </a:solidFill>
                        <a:effectLst/>
                      </a:endParaRPr>
                    </a:p>
                  </a:txBody>
                  <a:tcPr marL="73152" marR="73152" marT="73152" marB="73152"/>
                </a:tc>
                <a:tc>
                  <a:txBody>
                    <a:bodyPr/>
                    <a:lstStyle/>
                    <a:p>
                      <a:pPr marL="285750" indent="-285750" algn="l" fontAlgn="base">
                        <a:buFont typeface="Arial" pitchFamily="34" charset="0"/>
                        <a:buChar char="•"/>
                      </a:pPr>
                      <a:endParaRPr lang="en-CA" sz="2600" dirty="0">
                        <a:solidFill>
                          <a:schemeClr val="tx1"/>
                        </a:solidFill>
                        <a:effectLst/>
                      </a:endParaRPr>
                    </a:p>
                  </a:txBody>
                  <a:tcPr marL="73152" marR="73152" marT="73152" marB="73152"/>
                </a:tc>
                <a:extLst>
                  <a:ext uri="{0D108BD9-81ED-4DB2-BD59-A6C34878D82A}">
                    <a16:rowId xmlns:a16="http://schemas.microsoft.com/office/drawing/2014/main" val="10002"/>
                  </a:ext>
                </a:extLst>
              </a:tr>
            </a:tbl>
          </a:graphicData>
        </a:graphic>
      </p:graphicFrame>
      <p:pic>
        <p:nvPicPr>
          <p:cNvPr id="13" name="Picture 12"/>
          <p:cNvPicPr>
            <a:picLocks noChangeAspect="1"/>
          </p:cNvPicPr>
          <p:nvPr/>
        </p:nvPicPr>
        <p:blipFill rotWithShape="1">
          <a:blip r:embed="rId2">
            <a:duotone>
              <a:schemeClr val="accent2">
                <a:shade val="45000"/>
                <a:satMod val="135000"/>
              </a:schemeClr>
              <a:prstClr val="white"/>
            </a:duotone>
          </a:blip>
          <a:srcRect t="9453" b="21223"/>
          <a:stretch/>
        </p:blipFill>
        <p:spPr>
          <a:xfrm>
            <a:off x="3048000" y="5046132"/>
            <a:ext cx="3898112" cy="2598741"/>
          </a:xfrm>
          <a:prstGeom prst="rect">
            <a:avLst/>
          </a:prstGeom>
        </p:spPr>
      </p:pic>
      <p:pic>
        <p:nvPicPr>
          <p:cNvPr id="14" name="Picture 13"/>
          <p:cNvPicPr>
            <a:picLocks noChangeAspect="1"/>
          </p:cNvPicPr>
          <p:nvPr/>
        </p:nvPicPr>
        <p:blipFill rotWithShape="1">
          <a:blip r:embed="rId3">
            <a:duotone>
              <a:schemeClr val="accent1">
                <a:shade val="45000"/>
                <a:satMod val="135000"/>
              </a:schemeClr>
              <a:prstClr val="white"/>
            </a:duotone>
          </a:blip>
          <a:srcRect t="14286" b="23077"/>
          <a:stretch/>
        </p:blipFill>
        <p:spPr>
          <a:xfrm>
            <a:off x="10667999" y="5029200"/>
            <a:ext cx="4617017" cy="2615674"/>
          </a:xfrm>
          <a:prstGeom prst="rect">
            <a:avLst/>
          </a:prstGeom>
        </p:spPr>
      </p:pic>
    </p:spTree>
    <p:extLst>
      <p:ext uri="{BB962C8B-B14F-4D97-AF65-F5344CB8AC3E}">
        <p14:creationId xmlns:p14="http://schemas.microsoft.com/office/powerpoint/2010/main" val="38890672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3053950638"/>
              </p:ext>
            </p:extLst>
          </p:nvPr>
        </p:nvGraphicFramePr>
        <p:xfrm>
          <a:off x="380999" y="1447800"/>
          <a:ext cx="15697200" cy="6382512"/>
        </p:xfrm>
        <a:graphic>
          <a:graphicData uri="http://schemas.openxmlformats.org/drawingml/2006/table">
            <a:tbl>
              <a:tblPr firstRow="1" bandRow="1">
                <a:tableStyleId>{5C22544A-7EE6-4342-B048-85BDC9FD1C3A}</a:tableStyleId>
              </a:tblPr>
              <a:tblGrid>
                <a:gridCol w="2466488">
                  <a:extLst>
                    <a:ext uri="{9D8B030D-6E8A-4147-A177-3AD203B41FA5}">
                      <a16:colId xmlns:a16="http://schemas.microsoft.com/office/drawing/2014/main" val="2899699387"/>
                    </a:ext>
                  </a:extLst>
                </a:gridCol>
                <a:gridCol w="7115308">
                  <a:extLst>
                    <a:ext uri="{9D8B030D-6E8A-4147-A177-3AD203B41FA5}">
                      <a16:colId xmlns:a16="http://schemas.microsoft.com/office/drawing/2014/main" val="3293350575"/>
                    </a:ext>
                  </a:extLst>
                </a:gridCol>
                <a:gridCol w="6115404">
                  <a:extLst>
                    <a:ext uri="{9D8B030D-6E8A-4147-A177-3AD203B41FA5}">
                      <a16:colId xmlns:a16="http://schemas.microsoft.com/office/drawing/2014/main" val="830786927"/>
                    </a:ext>
                  </a:extLst>
                </a:gridCol>
              </a:tblGrid>
              <a:tr h="930266">
                <a:tc>
                  <a:txBody>
                    <a:bodyPr/>
                    <a:lstStyle/>
                    <a:p>
                      <a:pPr algn="ctr"/>
                      <a:r>
                        <a:rPr lang="en-CA" sz="2600" dirty="0">
                          <a:effectLst/>
                        </a:rPr>
                        <a:t>Point of Comparison</a:t>
                      </a:r>
                    </a:p>
                  </a:txBody>
                  <a:tcPr marL="73152" marR="73152" marT="73152" marB="73152" anchor="ctr"/>
                </a:tc>
                <a:tc>
                  <a:txBody>
                    <a:bodyPr/>
                    <a:lstStyle/>
                    <a:p>
                      <a:pPr algn="ctr"/>
                      <a:r>
                        <a:rPr lang="en-CA" sz="2600" dirty="0">
                          <a:effectLst/>
                        </a:rPr>
                        <a:t>Harvard Architecture</a:t>
                      </a:r>
                    </a:p>
                  </a:txBody>
                  <a:tcPr marL="73152" marR="73152" marT="73152" marB="73152" anchor="ctr"/>
                </a:tc>
                <a:tc>
                  <a:txBody>
                    <a:bodyPr/>
                    <a:lstStyle/>
                    <a:p>
                      <a:pPr algn="ctr"/>
                      <a:r>
                        <a:rPr lang="en-CA" sz="2600" dirty="0">
                          <a:effectLst/>
                        </a:rPr>
                        <a:t>Von Neumann Architecture</a:t>
                      </a:r>
                    </a:p>
                  </a:txBody>
                  <a:tcPr marL="73152" marR="73152" marT="73152" marB="73152" anchor="ctr"/>
                </a:tc>
                <a:extLst>
                  <a:ext uri="{0D108BD9-81ED-4DB2-BD59-A6C34878D82A}">
                    <a16:rowId xmlns:a16="http://schemas.microsoft.com/office/drawing/2014/main" val="2034119645"/>
                  </a:ext>
                </a:extLst>
              </a:tr>
              <a:tr h="1715555">
                <a:tc>
                  <a:txBody>
                    <a:bodyPr/>
                    <a:lstStyle/>
                    <a:p>
                      <a:pPr algn="l"/>
                      <a:r>
                        <a:rPr lang="en-CA" sz="2600" dirty="0">
                          <a:effectLst/>
                        </a:rPr>
                        <a:t>Addressing</a:t>
                      </a:r>
                      <a:r>
                        <a:rPr lang="en-CA" sz="2600" baseline="0" dirty="0">
                          <a:effectLst/>
                        </a:rPr>
                        <a:t> mode</a:t>
                      </a:r>
                      <a:endParaRPr lang="en-CA" sz="2600" dirty="0">
                        <a:effectLst/>
                      </a:endParaRPr>
                    </a:p>
                  </a:txBody>
                  <a:tcPr marL="73152" marR="73152" marT="73152" marB="73152"/>
                </a:tc>
                <a:tc>
                  <a:txBody>
                    <a:bodyPr/>
                    <a:lstStyle/>
                    <a:p>
                      <a:pPr marL="285750" indent="-285750" algn="l">
                        <a:buFont typeface="Arial" pitchFamily="34" charset="0"/>
                        <a:buChar char="•"/>
                      </a:pPr>
                      <a:r>
                        <a:rPr lang="en-CA" sz="2600" dirty="0">
                          <a:effectLst/>
                        </a:rPr>
                        <a:t>Distinct</a:t>
                      </a:r>
                      <a:r>
                        <a:rPr lang="en-CA" sz="2600" baseline="0" dirty="0">
                          <a:effectLst/>
                        </a:rPr>
                        <a:t> program and data address spaces</a:t>
                      </a:r>
                    </a:p>
                    <a:p>
                      <a:pPr marL="285750" indent="-285750" algn="l">
                        <a:buFont typeface="Arial" pitchFamily="34" charset="0"/>
                        <a:buChar char="•"/>
                      </a:pPr>
                      <a:r>
                        <a:rPr lang="en-CA" sz="2600" baseline="0" dirty="0">
                          <a:effectLst/>
                        </a:rPr>
                        <a:t>E.g. Instruction address zero is not the same as data address zero</a:t>
                      </a:r>
                      <a:endParaRPr lang="en-CA" sz="2600" dirty="0">
                        <a:effectLst/>
                      </a:endParaRPr>
                    </a:p>
                  </a:txBody>
                  <a:tcPr marL="73152" marR="73152" marT="73152" marB="73152"/>
                </a:tc>
                <a:tc>
                  <a:txBody>
                    <a:bodyPr/>
                    <a:lstStyle/>
                    <a:p>
                      <a:pPr marL="285750" indent="-285750" algn="l">
                        <a:buFont typeface="Arial" pitchFamily="34" charset="0"/>
                        <a:buChar char="•"/>
                      </a:pPr>
                      <a:r>
                        <a:rPr lang="en-CA" sz="2600" dirty="0">
                          <a:effectLst/>
                        </a:rPr>
                        <a:t>Same</a:t>
                      </a:r>
                      <a:r>
                        <a:rPr lang="en-CA" sz="2600" baseline="0" dirty="0">
                          <a:effectLst/>
                        </a:rPr>
                        <a:t> memory is capable of storing both data and instructions</a:t>
                      </a:r>
                    </a:p>
                    <a:p>
                      <a:pPr marL="285750" indent="-285750" algn="l">
                        <a:buFont typeface="Arial" pitchFamily="34" charset="0"/>
                        <a:buChar char="•"/>
                      </a:pPr>
                      <a:r>
                        <a:rPr lang="en-CA" sz="2600" baseline="0" dirty="0">
                          <a:effectLst/>
                        </a:rPr>
                        <a:t>Effectively no distinction between instructions and data</a:t>
                      </a:r>
                      <a:endParaRPr lang="en-CA" sz="2600" dirty="0">
                        <a:effectLst/>
                      </a:endParaRPr>
                    </a:p>
                  </a:txBody>
                  <a:tcPr marL="73152" marR="73152" marT="73152" marB="73152"/>
                </a:tc>
                <a:extLst>
                  <a:ext uri="{0D108BD9-81ED-4DB2-BD59-A6C34878D82A}">
                    <a16:rowId xmlns:a16="http://schemas.microsoft.com/office/drawing/2014/main" val="1957072418"/>
                  </a:ext>
                </a:extLst>
              </a:tr>
              <a:tr h="3678778">
                <a:tc>
                  <a:txBody>
                    <a:bodyPr/>
                    <a:lstStyle/>
                    <a:p>
                      <a:pPr algn="l"/>
                      <a:r>
                        <a:rPr lang="en-CA" sz="2600" dirty="0">
                          <a:effectLst/>
                        </a:rPr>
                        <a:t>Speed of execution</a:t>
                      </a:r>
                    </a:p>
                  </a:txBody>
                  <a:tcPr marL="73152" marR="73152" marT="73152" marB="73152"/>
                </a:tc>
                <a:tc>
                  <a:txBody>
                    <a:bodyPr/>
                    <a:lstStyle/>
                    <a:p>
                      <a:pPr marL="285750" indent="-285750" algn="l">
                        <a:buFont typeface="Arial" pitchFamily="34" charset="0"/>
                        <a:buChar char="•"/>
                      </a:pPr>
                      <a:r>
                        <a:rPr lang="en-CA" sz="2600" dirty="0">
                          <a:effectLst/>
                        </a:rPr>
                        <a:t>Separate</a:t>
                      </a:r>
                      <a:r>
                        <a:rPr lang="en-CA" sz="2600" baseline="0" dirty="0">
                          <a:effectLst/>
                        </a:rPr>
                        <a:t> pathways for data and instruction memories</a:t>
                      </a:r>
                    </a:p>
                    <a:p>
                      <a:pPr marL="285750" indent="-285750" algn="l">
                        <a:buFont typeface="Arial" pitchFamily="34" charset="0"/>
                        <a:buChar char="•"/>
                      </a:pPr>
                      <a:r>
                        <a:rPr lang="en-CA" sz="2600" baseline="0" dirty="0">
                          <a:effectLst/>
                        </a:rPr>
                        <a:t>Capable of executing instructions in a single clock cycle</a:t>
                      </a:r>
                    </a:p>
                    <a:p>
                      <a:pPr marL="285750" indent="-285750" algn="l">
                        <a:buFont typeface="Arial" pitchFamily="34" charset="0"/>
                        <a:buChar char="•"/>
                      </a:pPr>
                      <a:r>
                        <a:rPr lang="en-CA" sz="2600" baseline="0" dirty="0">
                          <a:effectLst/>
                        </a:rPr>
                        <a:t>Data and instructions do not contend for a single memory pathway</a:t>
                      </a:r>
                    </a:p>
                    <a:p>
                      <a:pPr marL="285750" indent="-285750" algn="l">
                        <a:buFont typeface="Arial" pitchFamily="34" charset="0"/>
                        <a:buChar char="•"/>
                      </a:pPr>
                      <a:r>
                        <a:rPr lang="en-CA" sz="2600" baseline="0" dirty="0">
                          <a:effectLst/>
                        </a:rPr>
                        <a:t>Faster even without cache memories</a:t>
                      </a:r>
                      <a:endParaRPr lang="en-CA" sz="2600" dirty="0">
                        <a:effectLst/>
                      </a:endParaRPr>
                    </a:p>
                  </a:txBody>
                  <a:tcPr marL="73152" marR="73152" marT="73152" marB="73152"/>
                </a:tc>
                <a:tc>
                  <a:txBody>
                    <a:bodyPr/>
                    <a:lstStyle/>
                    <a:p>
                      <a:pPr marL="285750" indent="-285750" algn="l">
                        <a:buFont typeface="Arial" pitchFamily="34" charset="0"/>
                        <a:buChar char="•"/>
                      </a:pPr>
                      <a:r>
                        <a:rPr lang="en-CA" sz="2600" dirty="0">
                          <a:effectLst/>
                        </a:rPr>
                        <a:t>Shared pathway for data and instruction</a:t>
                      </a:r>
                      <a:r>
                        <a:rPr lang="en-CA" sz="2600" baseline="0" dirty="0">
                          <a:effectLst/>
                        </a:rPr>
                        <a:t> memories</a:t>
                      </a:r>
                    </a:p>
                    <a:p>
                      <a:pPr marL="285750" indent="-285750" algn="l">
                        <a:buFont typeface="Arial" pitchFamily="34" charset="0"/>
                        <a:buChar char="•"/>
                      </a:pPr>
                      <a:r>
                        <a:rPr lang="en-CA" sz="2600" baseline="0" dirty="0">
                          <a:effectLst/>
                        </a:rPr>
                        <a:t>Requires at least 2 clock cycles to execute an instruction</a:t>
                      </a:r>
                    </a:p>
                    <a:p>
                      <a:pPr marL="285750" indent="-285750" algn="l">
                        <a:buFont typeface="Arial" pitchFamily="34" charset="0"/>
                        <a:buChar char="•"/>
                      </a:pPr>
                      <a:r>
                        <a:rPr lang="en-CA" sz="2600" baseline="0" dirty="0">
                          <a:effectLst/>
                        </a:rPr>
                        <a:t>Suffers from “Von Neumann Bottleneck” – the limited data transfer rate between CPU and memory</a:t>
                      </a:r>
                    </a:p>
                    <a:p>
                      <a:pPr marL="285750" indent="-285750" algn="l">
                        <a:buFont typeface="Arial" pitchFamily="34" charset="0"/>
                        <a:buChar char="•"/>
                      </a:pPr>
                      <a:r>
                        <a:rPr lang="en-CA" sz="2600" baseline="0" dirty="0">
                          <a:effectLst/>
                        </a:rPr>
                        <a:t>Introduction of cache memories can mitigate the bottleneck</a:t>
                      </a:r>
                      <a:endParaRPr lang="en-CA" sz="2600" dirty="0">
                        <a:effectLst/>
                      </a:endParaRPr>
                    </a:p>
                  </a:txBody>
                  <a:tcPr marL="73152" marR="73152" marT="73152" marB="73152"/>
                </a:tc>
                <a:extLst>
                  <a:ext uri="{0D108BD9-81ED-4DB2-BD59-A6C34878D82A}">
                    <a16:rowId xmlns:a16="http://schemas.microsoft.com/office/drawing/2014/main" val="2027464966"/>
                  </a:ext>
                </a:extLst>
              </a:tr>
            </a:tbl>
          </a:graphicData>
        </a:graphic>
      </p:graphicFrame>
      <p:sp>
        <p:nvSpPr>
          <p:cNvPr id="5" name="Title 4"/>
          <p:cNvSpPr>
            <a:spLocks noGrp="1"/>
          </p:cNvSpPr>
          <p:nvPr>
            <p:ph type="title"/>
          </p:nvPr>
        </p:nvSpPr>
        <p:spPr>
          <a:xfrm>
            <a:off x="1235074" y="457200"/>
            <a:ext cx="14843125" cy="823912"/>
          </a:xfrm>
        </p:spPr>
        <p:txBody>
          <a:bodyPr/>
          <a:lstStyle/>
          <a:p>
            <a:r>
              <a:rPr lang="en-US" sz="4800" dirty="0"/>
              <a:t>Architectures: Harvard vs. Von Neumann</a:t>
            </a:r>
          </a:p>
        </p:txBody>
      </p:sp>
    </p:spTree>
    <p:extLst>
      <p:ext uri="{BB962C8B-B14F-4D97-AF65-F5344CB8AC3E}">
        <p14:creationId xmlns:p14="http://schemas.microsoft.com/office/powerpoint/2010/main" val="38495849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057400" y="533400"/>
            <a:ext cx="12572999" cy="736663"/>
          </a:xfrm>
        </p:spPr>
        <p:txBody>
          <a:bodyPr>
            <a:noAutofit/>
          </a:bodyPr>
          <a:lstStyle/>
          <a:p>
            <a:pPr algn="ctr"/>
            <a:r>
              <a:rPr lang="en-US" sz="4800" dirty="0"/>
              <a:t>Embedded System</a:t>
            </a:r>
          </a:p>
        </p:txBody>
      </p:sp>
      <p:pic>
        <p:nvPicPr>
          <p:cNvPr id="8" name="Content Placeholder 10"/>
          <p:cNvPicPr>
            <a:picLocks noGrp="1" noChangeAspect="1"/>
          </p:cNvPicPr>
          <p:nvPr>
            <p:ph idx="1"/>
          </p:nvPr>
        </p:nvPicPr>
        <p:blipFill rotWithShape="1">
          <a:blip r:embed="rId2"/>
          <a:srcRect r="14330"/>
          <a:stretch/>
        </p:blipFill>
        <p:spPr>
          <a:xfrm>
            <a:off x="10134600" y="1850323"/>
            <a:ext cx="6172199" cy="5485197"/>
          </a:xfrm>
          <a:prstGeom prst="rect">
            <a:avLst/>
          </a:prstGeom>
          <a:ln w="38100">
            <a:solidFill>
              <a:schemeClr val="tx1"/>
            </a:solidFill>
          </a:ln>
        </p:spPr>
      </p:pic>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228601" y="1625601"/>
            <a:ext cx="9906000" cy="5918199"/>
          </a:xfrm>
        </p:spPr>
        <p:txBody>
          <a:bodyPr>
            <a:noAutofit/>
          </a:bodyPr>
          <a:lstStyle/>
          <a:p>
            <a:pPr marL="457200" indent="-457200">
              <a:spcBef>
                <a:spcPts val="0"/>
              </a:spcBef>
              <a:buFont typeface="Wingdings" panose="05000000000000000000" pitchFamily="2" charset="2"/>
              <a:buChar char="§"/>
            </a:pPr>
            <a:r>
              <a:rPr lang="en-US" sz="3200" dirty="0">
                <a:latin typeface="Arial" panose="020B0604020202020204" pitchFamily="34" charset="0"/>
                <a:cs typeface="Arial" panose="020B0604020202020204" pitchFamily="34" charset="0"/>
              </a:rPr>
              <a:t>A microprocessor-based system designed to control a dedicated function, or a range of functions as opposed to general-purpose computers</a:t>
            </a:r>
          </a:p>
          <a:p>
            <a:pPr marL="457200" indent="-457200">
              <a:spcBef>
                <a:spcPts val="0"/>
              </a:spcBef>
              <a:buFont typeface="Wingdings" panose="05000000000000000000" pitchFamily="2" charset="2"/>
              <a:buChar char="§"/>
            </a:pPr>
            <a:r>
              <a:rPr lang="en-US" sz="3200" dirty="0">
                <a:latin typeface="Arial" panose="020B0604020202020204" pitchFamily="34" charset="0"/>
                <a:cs typeface="Arial" panose="020B0604020202020204" pitchFamily="34" charset="0"/>
              </a:rPr>
              <a:t>A combination of computer hardware and software and additional parts, either mechanical or electronic</a:t>
            </a:r>
          </a:p>
          <a:p>
            <a:pPr marL="457200" indent="-457200">
              <a:spcBef>
                <a:spcPts val="0"/>
              </a:spcBef>
              <a:buFont typeface="Wingdings" panose="05000000000000000000" pitchFamily="2" charset="2"/>
              <a:buChar char="§"/>
            </a:pPr>
            <a:r>
              <a:rPr lang="en-US" sz="3200" dirty="0">
                <a:latin typeface="Arial" panose="020B0604020202020204" pitchFamily="34" charset="0"/>
                <a:cs typeface="Arial" panose="020B0604020202020204" pitchFamily="34" charset="0"/>
              </a:rPr>
              <a:t>Often a component within a larger system</a:t>
            </a:r>
          </a:p>
          <a:p>
            <a:pPr marL="457200" indent="-457200">
              <a:spcBef>
                <a:spcPts val="0"/>
              </a:spcBef>
              <a:buFont typeface="Wingdings" panose="05000000000000000000" pitchFamily="2" charset="2"/>
              <a:buChar char="§"/>
            </a:pPr>
            <a:r>
              <a:rPr lang="en-US" sz="3200" dirty="0">
                <a:latin typeface="Arial" panose="020B0604020202020204" pitchFamily="34" charset="0"/>
                <a:cs typeface="Arial" panose="020B0604020202020204" pitchFamily="34" charset="0"/>
              </a:rPr>
              <a:t>General-purpose computer interfaces to numerous embedded systems, such as keyboard and mouse</a:t>
            </a:r>
          </a:p>
          <a:p>
            <a:pPr marL="457200" indent="-457200">
              <a:spcBef>
                <a:spcPts val="0"/>
              </a:spcBef>
              <a:buFont typeface="Wingdings" panose="05000000000000000000" pitchFamily="2" charset="2"/>
              <a:buChar char="§"/>
            </a:pPr>
            <a:r>
              <a:rPr lang="en-US" sz="3200" dirty="0">
                <a:latin typeface="Arial" panose="020B0604020202020204" pitchFamily="34" charset="0"/>
                <a:cs typeface="Arial" panose="020B0604020202020204" pitchFamily="34" charset="0"/>
              </a:rPr>
              <a:t>Common examples from everyday household appliances include a washing machine and a microwave oven</a:t>
            </a:r>
          </a:p>
          <a:p>
            <a:pPr marL="342900" indent="-342900">
              <a:spcBef>
                <a:spcPts val="0"/>
              </a:spcBef>
              <a:buFont typeface="Arial" pitchFamily="34" charset="0"/>
              <a:buChar char="•"/>
            </a:pPr>
            <a:endParaRPr lang="en-US" sz="3200" dirty="0">
              <a:latin typeface="Arial" panose="020B0604020202020204" pitchFamily="34" charset="0"/>
              <a:cs typeface="Arial" panose="020B0604020202020204" pitchFamily="34" charset="0"/>
            </a:endParaRPr>
          </a:p>
          <a:p>
            <a:pPr>
              <a:spcBef>
                <a:spcPts val="0"/>
              </a:spcBef>
            </a:pPr>
            <a:endParaRPr lang="en-US" sz="3200" dirty="0">
              <a:latin typeface="Arial" panose="020B0604020202020204" pitchFamily="34" charset="0"/>
              <a:cs typeface="Arial" panose="020B0604020202020204" pitchFamily="34" charset="0"/>
            </a:endParaRPr>
          </a:p>
          <a:p>
            <a:pPr marL="342900" indent="-342900">
              <a:spcBef>
                <a:spcPts val="0"/>
              </a:spcBef>
              <a:buFont typeface="Arial" pitchFamily="34" charset="0"/>
              <a:buChar char="•"/>
            </a:pP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80875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4">
                                            <p:txEl>
                                              <p:pRg st="0" end="0"/>
                                            </p:txEl>
                                          </p:spTgt>
                                        </p:tgtEl>
                                        <p:attrNameLst>
                                          <p:attrName>style.color</p:attrName>
                                        </p:attrNameLst>
                                      </p:cBhvr>
                                      <p:to>
                                        <a:schemeClr val="accent2"/>
                                      </p:to>
                                    </p:animClr>
                                    <p:animClr clrSpc="rgb" dir="cw">
                                      <p:cBhvr>
                                        <p:cTn id="7" dur="500" fill="hold"/>
                                        <p:tgtEl>
                                          <p:spTgt spid="4">
                                            <p:txEl>
                                              <p:pRg st="0" end="0"/>
                                            </p:txEl>
                                          </p:spTgt>
                                        </p:tgtEl>
                                        <p:attrNameLst>
                                          <p:attrName>fillcolor</p:attrName>
                                        </p:attrNameLst>
                                      </p:cBhvr>
                                      <p:to>
                                        <a:schemeClr val="accent2"/>
                                      </p:to>
                                    </p:animClr>
                                    <p:set>
                                      <p:cBhvr>
                                        <p:cTn id="8" dur="500" fill="hold"/>
                                        <p:tgtEl>
                                          <p:spTgt spid="4">
                                            <p:txEl>
                                              <p:pRg st="0" end="0"/>
                                            </p:txEl>
                                          </p:spTgt>
                                        </p:tgtEl>
                                        <p:attrNameLst>
                                          <p:attrName>fill.type</p:attrName>
                                        </p:attrNameLst>
                                      </p:cBhvr>
                                      <p:to>
                                        <p:strVal val="solid"/>
                                      </p:to>
                                    </p:set>
                                    <p:set>
                                      <p:cBhvr>
                                        <p:cTn id="9" dur="500" fill="hold"/>
                                        <p:tgtEl>
                                          <p:spTgt spid="4">
                                            <p:txEl>
                                              <p:pRg st="0" end="0"/>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4">
                                            <p:txEl>
                                              <p:pRg st="1" end="1"/>
                                            </p:txEl>
                                          </p:spTgt>
                                        </p:tgtEl>
                                        <p:attrNameLst>
                                          <p:attrName>style.color</p:attrName>
                                        </p:attrNameLst>
                                      </p:cBhvr>
                                      <p:to>
                                        <a:srgbClr val="FF0000"/>
                                      </p:to>
                                    </p:animClr>
                                    <p:animClr clrSpc="rgb" dir="cw">
                                      <p:cBhvr>
                                        <p:cTn id="12" dur="500" fill="hold"/>
                                        <p:tgtEl>
                                          <p:spTgt spid="4">
                                            <p:txEl>
                                              <p:pRg st="1" end="1"/>
                                            </p:txEl>
                                          </p:spTgt>
                                        </p:tgtEl>
                                        <p:attrNameLst>
                                          <p:attrName>fillcolor</p:attrName>
                                        </p:attrNameLst>
                                      </p:cBhvr>
                                      <p:to>
                                        <a:srgbClr val="FF0000"/>
                                      </p:to>
                                    </p:animClr>
                                    <p:set>
                                      <p:cBhvr>
                                        <p:cTn id="13" dur="500" fill="hold"/>
                                        <p:tgtEl>
                                          <p:spTgt spid="4">
                                            <p:txEl>
                                              <p:pRg st="1" end="1"/>
                                            </p:txEl>
                                          </p:spTgt>
                                        </p:tgtEl>
                                        <p:attrNameLst>
                                          <p:attrName>fill.type</p:attrName>
                                        </p:attrNameLst>
                                      </p:cBhvr>
                                      <p:to>
                                        <p:strVal val="solid"/>
                                      </p:to>
                                    </p:set>
                                    <p:set>
                                      <p:cBhvr>
                                        <p:cTn id="14" dur="500" fill="hold"/>
                                        <p:tgtEl>
                                          <p:spTgt spid="4">
                                            <p:txEl>
                                              <p:pRg st="1" end="1"/>
                                            </p:txEl>
                                          </p:spTgt>
                                        </p:tgtEl>
                                        <p:attrNameLst>
                                          <p:attrName>fill.on</p:attrName>
                                        </p:attrNameLst>
                                      </p:cBhvr>
                                      <p:to>
                                        <p:strVal val="true"/>
                                      </p:to>
                                    </p:set>
                                  </p:childTnLst>
                                </p:cTn>
                              </p:par>
                              <p:par>
                                <p:cTn id="15" presetID="19" presetClass="emph" presetSubtype="0" fill="hold" nodeType="withEffect">
                                  <p:stCondLst>
                                    <p:cond delay="0"/>
                                  </p:stCondLst>
                                  <p:childTnLst>
                                    <p:animClr clrSpc="rgb" dir="cw">
                                      <p:cBhvr override="childStyle">
                                        <p:cTn id="16" dur="500" fill="hold"/>
                                        <p:tgtEl>
                                          <p:spTgt spid="4">
                                            <p:txEl>
                                              <p:pRg st="2" end="2"/>
                                            </p:txEl>
                                          </p:spTgt>
                                        </p:tgtEl>
                                        <p:attrNameLst>
                                          <p:attrName>style.color</p:attrName>
                                        </p:attrNameLst>
                                      </p:cBhvr>
                                      <p:to>
                                        <a:srgbClr val="FF0000"/>
                                      </p:to>
                                    </p:animClr>
                                    <p:animClr clrSpc="rgb" dir="cw">
                                      <p:cBhvr>
                                        <p:cTn id="17" dur="500" fill="hold"/>
                                        <p:tgtEl>
                                          <p:spTgt spid="4">
                                            <p:txEl>
                                              <p:pRg st="2" end="2"/>
                                            </p:txEl>
                                          </p:spTgt>
                                        </p:tgtEl>
                                        <p:attrNameLst>
                                          <p:attrName>fillcolor</p:attrName>
                                        </p:attrNameLst>
                                      </p:cBhvr>
                                      <p:to>
                                        <a:srgbClr val="FF0000"/>
                                      </p:to>
                                    </p:animClr>
                                    <p:set>
                                      <p:cBhvr>
                                        <p:cTn id="18" dur="500" fill="hold"/>
                                        <p:tgtEl>
                                          <p:spTgt spid="4">
                                            <p:txEl>
                                              <p:pRg st="2" end="2"/>
                                            </p:txEl>
                                          </p:spTgt>
                                        </p:tgtEl>
                                        <p:attrNameLst>
                                          <p:attrName>fill.type</p:attrName>
                                        </p:attrNameLst>
                                      </p:cBhvr>
                                      <p:to>
                                        <p:strVal val="solid"/>
                                      </p:to>
                                    </p:set>
                                    <p:set>
                                      <p:cBhvr>
                                        <p:cTn id="19" dur="500" fill="hold"/>
                                        <p:tgtEl>
                                          <p:spTgt spid="4">
                                            <p:txEl>
                                              <p:pRg st="2" end="2"/>
                                            </p:txEl>
                                          </p:spTgt>
                                        </p:tgtEl>
                                        <p:attrNameLst>
                                          <p:attrName>fill.on</p:attrName>
                                        </p:attrNameLst>
                                      </p:cBhvr>
                                      <p:to>
                                        <p:strVal val="true"/>
                                      </p:to>
                                    </p:set>
                                  </p:childTnLst>
                                </p:cTn>
                              </p:par>
                              <p:par>
                                <p:cTn id="20" presetID="19" presetClass="emph" presetSubtype="0" fill="hold" nodeType="withEffect">
                                  <p:stCondLst>
                                    <p:cond delay="0"/>
                                  </p:stCondLst>
                                  <p:childTnLst>
                                    <p:animClr clrSpc="rgb" dir="cw">
                                      <p:cBhvr override="childStyle">
                                        <p:cTn id="21" dur="500" fill="hold"/>
                                        <p:tgtEl>
                                          <p:spTgt spid="4">
                                            <p:txEl>
                                              <p:pRg st="3" end="3"/>
                                            </p:txEl>
                                          </p:spTgt>
                                        </p:tgtEl>
                                        <p:attrNameLst>
                                          <p:attrName>style.color</p:attrName>
                                        </p:attrNameLst>
                                      </p:cBhvr>
                                      <p:to>
                                        <a:srgbClr val="00B050"/>
                                      </p:to>
                                    </p:animClr>
                                    <p:animClr clrSpc="rgb" dir="cw">
                                      <p:cBhvr>
                                        <p:cTn id="22" dur="500" fill="hold"/>
                                        <p:tgtEl>
                                          <p:spTgt spid="4">
                                            <p:txEl>
                                              <p:pRg st="3" end="3"/>
                                            </p:txEl>
                                          </p:spTgt>
                                        </p:tgtEl>
                                        <p:attrNameLst>
                                          <p:attrName>fillcolor</p:attrName>
                                        </p:attrNameLst>
                                      </p:cBhvr>
                                      <p:to>
                                        <a:srgbClr val="00B050"/>
                                      </p:to>
                                    </p:animClr>
                                    <p:set>
                                      <p:cBhvr>
                                        <p:cTn id="23" dur="500" fill="hold"/>
                                        <p:tgtEl>
                                          <p:spTgt spid="4">
                                            <p:txEl>
                                              <p:pRg st="3" end="3"/>
                                            </p:txEl>
                                          </p:spTgt>
                                        </p:tgtEl>
                                        <p:attrNameLst>
                                          <p:attrName>fill.type</p:attrName>
                                        </p:attrNameLst>
                                      </p:cBhvr>
                                      <p:to>
                                        <p:strVal val="solid"/>
                                      </p:to>
                                    </p:set>
                                    <p:set>
                                      <p:cBhvr>
                                        <p:cTn id="24" dur="500" fill="hold"/>
                                        <p:tgtEl>
                                          <p:spTgt spid="4">
                                            <p:txEl>
                                              <p:pRg st="3" end="3"/>
                                            </p:txEl>
                                          </p:spTgt>
                                        </p:tgtEl>
                                        <p:attrNameLst>
                                          <p:attrName>fill.on</p:attrName>
                                        </p:attrNameLst>
                                      </p:cBhvr>
                                      <p:to>
                                        <p:strVal val="true"/>
                                      </p:to>
                                    </p:set>
                                  </p:childTnLst>
                                </p:cTn>
                              </p:par>
                              <p:par>
                                <p:cTn id="25" presetID="19" presetClass="emph" presetSubtype="0" fill="hold" nodeType="withEffect">
                                  <p:stCondLst>
                                    <p:cond delay="0"/>
                                  </p:stCondLst>
                                  <p:childTnLst>
                                    <p:animClr clrSpc="rgb" dir="cw">
                                      <p:cBhvr override="childStyle">
                                        <p:cTn id="26" dur="500" fill="hold"/>
                                        <p:tgtEl>
                                          <p:spTgt spid="4">
                                            <p:txEl>
                                              <p:pRg st="4" end="4"/>
                                            </p:txEl>
                                          </p:spTgt>
                                        </p:tgtEl>
                                        <p:attrNameLst>
                                          <p:attrName>style.color</p:attrName>
                                        </p:attrNameLst>
                                      </p:cBhvr>
                                      <p:to>
                                        <a:srgbClr val="C00000"/>
                                      </p:to>
                                    </p:animClr>
                                    <p:animClr clrSpc="rgb" dir="cw">
                                      <p:cBhvr>
                                        <p:cTn id="27" dur="500" fill="hold"/>
                                        <p:tgtEl>
                                          <p:spTgt spid="4">
                                            <p:txEl>
                                              <p:pRg st="4" end="4"/>
                                            </p:txEl>
                                          </p:spTgt>
                                        </p:tgtEl>
                                        <p:attrNameLst>
                                          <p:attrName>fillcolor</p:attrName>
                                        </p:attrNameLst>
                                      </p:cBhvr>
                                      <p:to>
                                        <a:srgbClr val="C00000"/>
                                      </p:to>
                                    </p:animClr>
                                    <p:set>
                                      <p:cBhvr>
                                        <p:cTn id="28" dur="500" fill="hold"/>
                                        <p:tgtEl>
                                          <p:spTgt spid="4">
                                            <p:txEl>
                                              <p:pRg st="4" end="4"/>
                                            </p:txEl>
                                          </p:spTgt>
                                        </p:tgtEl>
                                        <p:attrNameLst>
                                          <p:attrName>fill.type</p:attrName>
                                        </p:attrNameLst>
                                      </p:cBhvr>
                                      <p:to>
                                        <p:strVal val="solid"/>
                                      </p:to>
                                    </p:set>
                                    <p:set>
                                      <p:cBhvr>
                                        <p:cTn id="29" dur="500" fill="hold"/>
                                        <p:tgtEl>
                                          <p:spTgt spid="4">
                                            <p:txEl>
                                              <p:pRg st="4" end="4"/>
                                            </p:txEl>
                                          </p:spTgt>
                                        </p:tgtEl>
                                        <p:attrNameLst>
                                          <p:attrName>fill.on</p:attrName>
                                        </p:attrNameLst>
                                      </p:cBhvr>
                                      <p:to>
                                        <p:strVal val="true"/>
                                      </p:to>
                                    </p:set>
                                  </p:childTnLst>
                                </p:cTn>
                              </p:par>
                            </p:childTnLst>
                          </p:cTn>
                        </p:par>
                      </p:childTnLst>
                    </p:cTn>
                  </p:par>
                  <p:par>
                    <p:cTn id="30" fill="hold">
                      <p:stCondLst>
                        <p:cond delay="indefinite"/>
                      </p:stCondLst>
                      <p:childTnLst>
                        <p:par>
                          <p:cTn id="31" fill="hold">
                            <p:stCondLst>
                              <p:cond delay="0"/>
                            </p:stCondLst>
                            <p:childTnLst>
                              <p:par>
                                <p:cTn id="32" presetID="7" presetClass="emph" presetSubtype="2" fill="hold" nodeType="clickEffect">
                                  <p:stCondLst>
                                    <p:cond delay="0"/>
                                  </p:stCondLst>
                                  <p:childTnLst>
                                    <p:animClr clrSpc="rgb" dir="cw">
                                      <p:cBhvr>
                                        <p:cTn id="33" dur="2000" fill="hold"/>
                                        <p:tgtEl>
                                          <p:spTgt spid="8"/>
                                        </p:tgtEl>
                                        <p:attrNameLst>
                                          <p:attrName>stroke.color</p:attrName>
                                        </p:attrNameLst>
                                      </p:cBhvr>
                                      <p:to>
                                        <a:schemeClr val="accent2"/>
                                      </p:to>
                                    </p:animClr>
                                    <p:set>
                                      <p:cBhvr>
                                        <p:cTn id="34" dur="2000" fill="hold"/>
                                        <p:tgtEl>
                                          <p:spTgt spid="8"/>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600200" y="304800"/>
            <a:ext cx="13944600" cy="990600"/>
          </a:xfrm>
        </p:spPr>
        <p:txBody>
          <a:bodyPr>
            <a:normAutofit/>
          </a:bodyPr>
          <a:lstStyle/>
          <a:p>
            <a:pPr algn="ctr"/>
            <a:r>
              <a:rPr lang="en-US" sz="4800" dirty="0"/>
              <a:t>Internet of Things (</a:t>
            </a:r>
            <a:r>
              <a:rPr lang="en-US" sz="4800" dirty="0" err="1"/>
              <a:t>IoT</a:t>
            </a:r>
            <a:r>
              <a:rPr lang="en-US" sz="4800"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228601" y="1676400"/>
            <a:ext cx="8305799" cy="6019800"/>
          </a:xfrm>
        </p:spPr>
        <p:txBody>
          <a:bodyPr>
            <a:noAutofit/>
          </a:bodyPr>
          <a:lstStyle/>
          <a:p>
            <a:pPr marL="411480" indent="-411480">
              <a:spcBef>
                <a:spcPts val="0"/>
              </a:spcBef>
              <a:spcAft>
                <a:spcPts val="400"/>
              </a:spcAft>
              <a:buFont typeface="Arial" pitchFamily="34" charset="0"/>
              <a:buChar char="•"/>
            </a:pPr>
            <a:r>
              <a:rPr lang="en-US" sz="2800" dirty="0">
                <a:latin typeface="Arial" panose="020B0604020202020204" pitchFamily="34" charset="0"/>
                <a:ea typeface="Cambria" panose="02040503050406030204" pitchFamily="18" charset="0"/>
                <a:cs typeface="Arial" panose="020B0604020202020204" pitchFamily="34" charset="0"/>
              </a:rPr>
              <a:t>A network of physical devices, vehicles, home appliances, and other items embedded with electronics, software, sensors, actuators, and connectivity, enabling these objects to connect and exchange data.</a:t>
            </a:r>
          </a:p>
          <a:p>
            <a:pPr marL="411480" indent="-411480">
              <a:spcBef>
                <a:spcPts val="0"/>
              </a:spcBef>
              <a:spcAft>
                <a:spcPts val="400"/>
              </a:spcAft>
              <a:buFont typeface="Arial" pitchFamily="34" charset="0"/>
              <a:buChar char="•"/>
            </a:pPr>
            <a:r>
              <a:rPr lang="en-US" sz="2800" dirty="0">
                <a:latin typeface="Arial" panose="020B0604020202020204" pitchFamily="34" charset="0"/>
                <a:ea typeface="Cambria" panose="02040503050406030204" pitchFamily="18" charset="0"/>
                <a:cs typeface="Arial" panose="020B0604020202020204" pitchFamily="34" charset="0"/>
              </a:rPr>
              <a:t>Inter-networking of embedded devices, sensors, and computers</a:t>
            </a:r>
          </a:p>
          <a:p>
            <a:pPr marL="411480" indent="-411480">
              <a:spcBef>
                <a:spcPts val="0"/>
              </a:spcBef>
              <a:spcAft>
                <a:spcPts val="400"/>
              </a:spcAft>
              <a:buFont typeface="Arial" pitchFamily="34" charset="0"/>
              <a:buChar char="•"/>
            </a:pPr>
            <a:r>
              <a:rPr lang="en-US" sz="2800" dirty="0">
                <a:latin typeface="Arial" panose="020B0604020202020204" pitchFamily="34" charset="0"/>
                <a:ea typeface="Cambria" panose="02040503050406030204" pitchFamily="18" charset="0"/>
                <a:cs typeface="Arial" panose="020B0604020202020204" pitchFamily="34" charset="0"/>
              </a:rPr>
              <a:t>Can collect and distribute a large amount of data</a:t>
            </a:r>
          </a:p>
          <a:p>
            <a:pPr marL="411480" indent="-411480">
              <a:spcBef>
                <a:spcPts val="0"/>
              </a:spcBef>
              <a:spcAft>
                <a:spcPts val="400"/>
              </a:spcAft>
              <a:buFont typeface="Arial" pitchFamily="34" charset="0"/>
              <a:buChar char="•"/>
            </a:pPr>
            <a:r>
              <a:rPr lang="en-US" sz="2800" dirty="0">
                <a:latin typeface="Arial" panose="020B0604020202020204" pitchFamily="34" charset="0"/>
                <a:ea typeface="Cambria" panose="02040503050406030204" pitchFamily="18" charset="0"/>
                <a:cs typeface="Arial" panose="020B0604020202020204" pitchFamily="34" charset="0"/>
              </a:rPr>
              <a:t>Connected devices:</a:t>
            </a:r>
          </a:p>
          <a:p>
            <a:pPr marL="914400" lvl="1" indent="-457200">
              <a:spcBef>
                <a:spcPts val="0"/>
              </a:spcBef>
              <a:spcAft>
                <a:spcPts val="0"/>
              </a:spcAft>
              <a:buFont typeface="Wingdings" pitchFamily="2" charset="2"/>
              <a:buChar char="v"/>
            </a:pPr>
            <a:r>
              <a:rPr lang="en-US" sz="2800" dirty="0">
                <a:latin typeface="Arial" panose="020B0604020202020204" pitchFamily="34" charset="0"/>
                <a:ea typeface="Cambria" panose="02040503050406030204" pitchFamily="18" charset="0"/>
                <a:cs typeface="Arial" panose="020B0604020202020204" pitchFamily="34" charset="0"/>
              </a:rPr>
              <a:t>Only need to be connected to a network</a:t>
            </a:r>
          </a:p>
          <a:p>
            <a:pPr marL="914400" lvl="1" indent="-457200">
              <a:spcBef>
                <a:spcPts val="0"/>
              </a:spcBef>
              <a:spcAft>
                <a:spcPts val="0"/>
              </a:spcAft>
              <a:buFont typeface="Wingdings" pitchFamily="2" charset="2"/>
              <a:buChar char="v"/>
            </a:pPr>
            <a:r>
              <a:rPr lang="en-US" sz="2800" dirty="0">
                <a:latin typeface="Arial" panose="020B0604020202020204" pitchFamily="34" charset="0"/>
                <a:ea typeface="Cambria" panose="02040503050406030204" pitchFamily="18" charset="0"/>
                <a:cs typeface="Arial" panose="020B0604020202020204" pitchFamily="34" charset="0"/>
              </a:rPr>
              <a:t>Need to be individually addressable</a:t>
            </a:r>
          </a:p>
          <a:p>
            <a:pPr marL="914400" lvl="1" indent="-457200">
              <a:spcBef>
                <a:spcPts val="0"/>
              </a:spcBef>
              <a:spcAft>
                <a:spcPts val="0"/>
              </a:spcAft>
              <a:buFont typeface="Wingdings" pitchFamily="2" charset="2"/>
              <a:buChar char="v"/>
            </a:pPr>
            <a:r>
              <a:rPr lang="en-US" sz="2800" dirty="0">
                <a:latin typeface="Arial" panose="020B0604020202020204" pitchFamily="34" charset="0"/>
                <a:ea typeface="Cambria" panose="02040503050406030204" pitchFamily="18" charset="0"/>
                <a:cs typeface="Arial" panose="020B0604020202020204" pitchFamily="34" charset="0"/>
              </a:rPr>
              <a:t>Do not necessarily need to be connected to the public internet</a:t>
            </a:r>
          </a:p>
        </p:txBody>
      </p:sp>
      <p:pic>
        <p:nvPicPr>
          <p:cNvPr id="3" name="Picture 2">
            <a:extLst>
              <a:ext uri="{FF2B5EF4-FFF2-40B4-BE49-F238E27FC236}">
                <a16:creationId xmlns:a16="http://schemas.microsoft.com/office/drawing/2014/main" id="{0C0A86C1-916E-A89C-E7EB-5E8F315451F6}"/>
              </a:ext>
            </a:extLst>
          </p:cNvPr>
          <p:cNvPicPr>
            <a:picLocks noChangeAspect="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20000" contrast="-40000"/>
                    </a14:imgEffect>
                  </a14:imgLayer>
                </a14:imgProps>
              </a:ext>
            </a:extLst>
          </a:blip>
          <a:srcRect l="1905" t="6514" r="1905" b="3583"/>
          <a:stretch/>
        </p:blipFill>
        <p:spPr>
          <a:xfrm>
            <a:off x="8458200" y="1752600"/>
            <a:ext cx="7810500" cy="5791200"/>
          </a:xfrm>
          <a:prstGeom prst="rect">
            <a:avLst/>
          </a:prstGeom>
        </p:spPr>
      </p:pic>
    </p:spTree>
    <p:extLst>
      <p:ext uri="{BB962C8B-B14F-4D97-AF65-F5344CB8AC3E}">
        <p14:creationId xmlns:p14="http://schemas.microsoft.com/office/powerpoint/2010/main" val="6504029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4">
                                            <p:txEl>
                                              <p:pRg st="0" end="0"/>
                                            </p:txEl>
                                          </p:spTgt>
                                        </p:tgtEl>
                                        <p:attrNameLst>
                                          <p:attrName>style.color</p:attrName>
                                        </p:attrNameLst>
                                      </p:cBhvr>
                                      <p:to>
                                        <a:schemeClr val="accent2"/>
                                      </p:to>
                                    </p:animClr>
                                    <p:animClr clrSpc="rgb" dir="cw">
                                      <p:cBhvr>
                                        <p:cTn id="7" dur="500" fill="hold"/>
                                        <p:tgtEl>
                                          <p:spTgt spid="4">
                                            <p:txEl>
                                              <p:pRg st="0" end="0"/>
                                            </p:txEl>
                                          </p:spTgt>
                                        </p:tgtEl>
                                        <p:attrNameLst>
                                          <p:attrName>fillcolor</p:attrName>
                                        </p:attrNameLst>
                                      </p:cBhvr>
                                      <p:to>
                                        <a:schemeClr val="accent2"/>
                                      </p:to>
                                    </p:animClr>
                                    <p:set>
                                      <p:cBhvr>
                                        <p:cTn id="8" dur="500" fill="hold"/>
                                        <p:tgtEl>
                                          <p:spTgt spid="4">
                                            <p:txEl>
                                              <p:pRg st="0" end="0"/>
                                            </p:txEl>
                                          </p:spTgt>
                                        </p:tgtEl>
                                        <p:attrNameLst>
                                          <p:attrName>fill.type</p:attrName>
                                        </p:attrNameLst>
                                      </p:cBhvr>
                                      <p:to>
                                        <p:strVal val="solid"/>
                                      </p:to>
                                    </p:set>
                                    <p:set>
                                      <p:cBhvr>
                                        <p:cTn id="9" dur="500" fill="hold"/>
                                        <p:tgtEl>
                                          <p:spTgt spid="4">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grpId="0" nodeType="clickEffect">
                                  <p:stCondLst>
                                    <p:cond delay="0"/>
                                  </p:stCondLst>
                                  <p:childTnLst>
                                    <p:animClr clrSpc="rgb" dir="cw">
                                      <p:cBhvr override="childStyle">
                                        <p:cTn id="13" dur="500" fill="hold"/>
                                        <p:tgtEl>
                                          <p:spTgt spid="4">
                                            <p:txEl>
                                              <p:pRg st="1" end="1"/>
                                            </p:txEl>
                                          </p:spTgt>
                                        </p:tgtEl>
                                        <p:attrNameLst>
                                          <p:attrName>style.color</p:attrName>
                                        </p:attrNameLst>
                                      </p:cBhvr>
                                      <p:to>
                                        <a:srgbClr val="FF0000"/>
                                      </p:to>
                                    </p:animClr>
                                    <p:animClr clrSpc="rgb" dir="cw">
                                      <p:cBhvr>
                                        <p:cTn id="14" dur="500" fill="hold"/>
                                        <p:tgtEl>
                                          <p:spTgt spid="4">
                                            <p:txEl>
                                              <p:pRg st="1" end="1"/>
                                            </p:txEl>
                                          </p:spTgt>
                                        </p:tgtEl>
                                        <p:attrNameLst>
                                          <p:attrName>fillcolor</p:attrName>
                                        </p:attrNameLst>
                                      </p:cBhvr>
                                      <p:to>
                                        <a:srgbClr val="FF0000"/>
                                      </p:to>
                                    </p:animClr>
                                    <p:set>
                                      <p:cBhvr>
                                        <p:cTn id="15" dur="500" fill="hold"/>
                                        <p:tgtEl>
                                          <p:spTgt spid="4">
                                            <p:txEl>
                                              <p:pRg st="1" end="1"/>
                                            </p:txEl>
                                          </p:spTgt>
                                        </p:tgtEl>
                                        <p:attrNameLst>
                                          <p:attrName>fill.type</p:attrName>
                                        </p:attrNameLst>
                                      </p:cBhvr>
                                      <p:to>
                                        <p:strVal val="solid"/>
                                      </p:to>
                                    </p:set>
                                    <p:set>
                                      <p:cBhvr>
                                        <p:cTn id="16" dur="500" fill="hold"/>
                                        <p:tgtEl>
                                          <p:spTgt spid="4">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grpId="0" nodeType="clickEffect">
                                  <p:stCondLst>
                                    <p:cond delay="0"/>
                                  </p:stCondLst>
                                  <p:childTnLst>
                                    <p:animClr clrSpc="rgb" dir="cw">
                                      <p:cBhvr override="childStyle">
                                        <p:cTn id="20" dur="500" fill="hold"/>
                                        <p:tgtEl>
                                          <p:spTgt spid="4">
                                            <p:txEl>
                                              <p:pRg st="2" end="2"/>
                                            </p:txEl>
                                          </p:spTgt>
                                        </p:tgtEl>
                                        <p:attrNameLst>
                                          <p:attrName>style.color</p:attrName>
                                        </p:attrNameLst>
                                      </p:cBhvr>
                                      <p:to>
                                        <a:srgbClr val="00B050"/>
                                      </p:to>
                                    </p:animClr>
                                    <p:animClr clrSpc="rgb" dir="cw">
                                      <p:cBhvr>
                                        <p:cTn id="21" dur="500" fill="hold"/>
                                        <p:tgtEl>
                                          <p:spTgt spid="4">
                                            <p:txEl>
                                              <p:pRg st="2" end="2"/>
                                            </p:txEl>
                                          </p:spTgt>
                                        </p:tgtEl>
                                        <p:attrNameLst>
                                          <p:attrName>fillcolor</p:attrName>
                                        </p:attrNameLst>
                                      </p:cBhvr>
                                      <p:to>
                                        <a:srgbClr val="00B050"/>
                                      </p:to>
                                    </p:animClr>
                                    <p:set>
                                      <p:cBhvr>
                                        <p:cTn id="22" dur="500" fill="hold"/>
                                        <p:tgtEl>
                                          <p:spTgt spid="4">
                                            <p:txEl>
                                              <p:pRg st="2" end="2"/>
                                            </p:txEl>
                                          </p:spTgt>
                                        </p:tgtEl>
                                        <p:attrNameLst>
                                          <p:attrName>fill.type</p:attrName>
                                        </p:attrNameLst>
                                      </p:cBhvr>
                                      <p:to>
                                        <p:strVal val="solid"/>
                                      </p:to>
                                    </p:set>
                                    <p:set>
                                      <p:cBhvr>
                                        <p:cTn id="23" dur="500" fill="hold"/>
                                        <p:tgtEl>
                                          <p:spTgt spid="4">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grpId="0" nodeType="clickEffect">
                                  <p:stCondLst>
                                    <p:cond delay="0"/>
                                  </p:stCondLst>
                                  <p:childTnLst>
                                    <p:animClr clrSpc="rgb" dir="cw">
                                      <p:cBhvr override="childStyle">
                                        <p:cTn id="27" dur="500" fill="hold"/>
                                        <p:tgtEl>
                                          <p:spTgt spid="4">
                                            <p:txEl>
                                              <p:pRg st="3" end="3"/>
                                            </p:txEl>
                                          </p:spTgt>
                                        </p:tgtEl>
                                        <p:attrNameLst>
                                          <p:attrName>style.color</p:attrName>
                                        </p:attrNameLst>
                                      </p:cBhvr>
                                      <p:to>
                                        <a:srgbClr val="00B0F0"/>
                                      </p:to>
                                    </p:animClr>
                                    <p:animClr clrSpc="rgb" dir="cw">
                                      <p:cBhvr>
                                        <p:cTn id="28" dur="500" fill="hold"/>
                                        <p:tgtEl>
                                          <p:spTgt spid="4">
                                            <p:txEl>
                                              <p:pRg st="3" end="3"/>
                                            </p:txEl>
                                          </p:spTgt>
                                        </p:tgtEl>
                                        <p:attrNameLst>
                                          <p:attrName>fillcolor</p:attrName>
                                        </p:attrNameLst>
                                      </p:cBhvr>
                                      <p:to>
                                        <a:srgbClr val="00B0F0"/>
                                      </p:to>
                                    </p:animClr>
                                    <p:set>
                                      <p:cBhvr>
                                        <p:cTn id="29" dur="500" fill="hold"/>
                                        <p:tgtEl>
                                          <p:spTgt spid="4">
                                            <p:txEl>
                                              <p:pRg st="3" end="3"/>
                                            </p:txEl>
                                          </p:spTgt>
                                        </p:tgtEl>
                                        <p:attrNameLst>
                                          <p:attrName>fill.type</p:attrName>
                                        </p:attrNameLst>
                                      </p:cBhvr>
                                      <p:to>
                                        <p:strVal val="solid"/>
                                      </p:to>
                                    </p:set>
                                    <p:set>
                                      <p:cBhvr>
                                        <p:cTn id="30" dur="500" fill="hold"/>
                                        <p:tgtEl>
                                          <p:spTgt spid="4">
                                            <p:txEl>
                                              <p:pRg st="3" end="3"/>
                                            </p:txEl>
                                          </p:spTgt>
                                        </p:tgtEl>
                                        <p:attrNameLst>
                                          <p:attrName>fill.on</p:attrName>
                                        </p:attrNameLst>
                                      </p:cBhvr>
                                      <p:to>
                                        <p:strVal val="true"/>
                                      </p:to>
                                    </p:set>
                                  </p:childTnLst>
                                </p:cTn>
                              </p:par>
                              <p:par>
                                <p:cTn id="31" presetID="19" presetClass="emph" presetSubtype="0" fill="hold" grpId="0" nodeType="withEffect">
                                  <p:stCondLst>
                                    <p:cond delay="0"/>
                                  </p:stCondLst>
                                  <p:childTnLst>
                                    <p:animClr clrSpc="rgb" dir="cw">
                                      <p:cBhvr override="childStyle">
                                        <p:cTn id="32" dur="500" fill="hold"/>
                                        <p:tgtEl>
                                          <p:spTgt spid="4">
                                            <p:txEl>
                                              <p:pRg st="4" end="4"/>
                                            </p:txEl>
                                          </p:spTgt>
                                        </p:tgtEl>
                                        <p:attrNameLst>
                                          <p:attrName>style.color</p:attrName>
                                        </p:attrNameLst>
                                      </p:cBhvr>
                                      <p:to>
                                        <a:srgbClr val="00B0F0"/>
                                      </p:to>
                                    </p:animClr>
                                    <p:animClr clrSpc="rgb" dir="cw">
                                      <p:cBhvr>
                                        <p:cTn id="33" dur="500" fill="hold"/>
                                        <p:tgtEl>
                                          <p:spTgt spid="4">
                                            <p:txEl>
                                              <p:pRg st="4" end="4"/>
                                            </p:txEl>
                                          </p:spTgt>
                                        </p:tgtEl>
                                        <p:attrNameLst>
                                          <p:attrName>fillcolor</p:attrName>
                                        </p:attrNameLst>
                                      </p:cBhvr>
                                      <p:to>
                                        <a:srgbClr val="00B0F0"/>
                                      </p:to>
                                    </p:animClr>
                                    <p:set>
                                      <p:cBhvr>
                                        <p:cTn id="34" dur="500" fill="hold"/>
                                        <p:tgtEl>
                                          <p:spTgt spid="4">
                                            <p:txEl>
                                              <p:pRg st="4" end="4"/>
                                            </p:txEl>
                                          </p:spTgt>
                                        </p:tgtEl>
                                        <p:attrNameLst>
                                          <p:attrName>fill.type</p:attrName>
                                        </p:attrNameLst>
                                      </p:cBhvr>
                                      <p:to>
                                        <p:strVal val="solid"/>
                                      </p:to>
                                    </p:set>
                                    <p:set>
                                      <p:cBhvr>
                                        <p:cTn id="35" dur="500" fill="hold"/>
                                        <p:tgtEl>
                                          <p:spTgt spid="4">
                                            <p:txEl>
                                              <p:pRg st="4" end="4"/>
                                            </p:txEl>
                                          </p:spTgt>
                                        </p:tgtEl>
                                        <p:attrNameLst>
                                          <p:attrName>fill.on</p:attrName>
                                        </p:attrNameLst>
                                      </p:cBhvr>
                                      <p:to>
                                        <p:strVal val="true"/>
                                      </p:to>
                                    </p:set>
                                  </p:childTnLst>
                                </p:cTn>
                              </p:par>
                              <p:par>
                                <p:cTn id="36" presetID="19" presetClass="emph" presetSubtype="0" fill="hold" grpId="0" nodeType="withEffect">
                                  <p:stCondLst>
                                    <p:cond delay="0"/>
                                  </p:stCondLst>
                                  <p:childTnLst>
                                    <p:animClr clrSpc="rgb" dir="cw">
                                      <p:cBhvr override="childStyle">
                                        <p:cTn id="37" dur="500" fill="hold"/>
                                        <p:tgtEl>
                                          <p:spTgt spid="4">
                                            <p:txEl>
                                              <p:pRg st="5" end="5"/>
                                            </p:txEl>
                                          </p:spTgt>
                                        </p:tgtEl>
                                        <p:attrNameLst>
                                          <p:attrName>style.color</p:attrName>
                                        </p:attrNameLst>
                                      </p:cBhvr>
                                      <p:to>
                                        <a:srgbClr val="00B0F0"/>
                                      </p:to>
                                    </p:animClr>
                                    <p:animClr clrSpc="rgb" dir="cw">
                                      <p:cBhvr>
                                        <p:cTn id="38" dur="500" fill="hold"/>
                                        <p:tgtEl>
                                          <p:spTgt spid="4">
                                            <p:txEl>
                                              <p:pRg st="5" end="5"/>
                                            </p:txEl>
                                          </p:spTgt>
                                        </p:tgtEl>
                                        <p:attrNameLst>
                                          <p:attrName>fillcolor</p:attrName>
                                        </p:attrNameLst>
                                      </p:cBhvr>
                                      <p:to>
                                        <a:srgbClr val="00B0F0"/>
                                      </p:to>
                                    </p:animClr>
                                    <p:set>
                                      <p:cBhvr>
                                        <p:cTn id="39" dur="500" fill="hold"/>
                                        <p:tgtEl>
                                          <p:spTgt spid="4">
                                            <p:txEl>
                                              <p:pRg st="5" end="5"/>
                                            </p:txEl>
                                          </p:spTgt>
                                        </p:tgtEl>
                                        <p:attrNameLst>
                                          <p:attrName>fill.type</p:attrName>
                                        </p:attrNameLst>
                                      </p:cBhvr>
                                      <p:to>
                                        <p:strVal val="solid"/>
                                      </p:to>
                                    </p:set>
                                    <p:set>
                                      <p:cBhvr>
                                        <p:cTn id="40" dur="500" fill="hold"/>
                                        <p:tgtEl>
                                          <p:spTgt spid="4">
                                            <p:txEl>
                                              <p:pRg st="5" end="5"/>
                                            </p:txEl>
                                          </p:spTgt>
                                        </p:tgtEl>
                                        <p:attrNameLst>
                                          <p:attrName>fill.on</p:attrName>
                                        </p:attrNameLst>
                                      </p:cBhvr>
                                      <p:to>
                                        <p:strVal val="true"/>
                                      </p:to>
                                    </p:set>
                                  </p:childTnLst>
                                </p:cTn>
                              </p:par>
                              <p:par>
                                <p:cTn id="41" presetID="19" presetClass="emph" presetSubtype="0" fill="hold" grpId="0" nodeType="withEffect">
                                  <p:stCondLst>
                                    <p:cond delay="0"/>
                                  </p:stCondLst>
                                  <p:childTnLst>
                                    <p:animClr clrSpc="rgb" dir="cw">
                                      <p:cBhvr override="childStyle">
                                        <p:cTn id="42" dur="500" fill="hold"/>
                                        <p:tgtEl>
                                          <p:spTgt spid="4">
                                            <p:txEl>
                                              <p:pRg st="6" end="6"/>
                                            </p:txEl>
                                          </p:spTgt>
                                        </p:tgtEl>
                                        <p:attrNameLst>
                                          <p:attrName>style.color</p:attrName>
                                        </p:attrNameLst>
                                      </p:cBhvr>
                                      <p:to>
                                        <a:srgbClr val="00B0F0"/>
                                      </p:to>
                                    </p:animClr>
                                    <p:animClr clrSpc="rgb" dir="cw">
                                      <p:cBhvr>
                                        <p:cTn id="43" dur="500" fill="hold"/>
                                        <p:tgtEl>
                                          <p:spTgt spid="4">
                                            <p:txEl>
                                              <p:pRg st="6" end="6"/>
                                            </p:txEl>
                                          </p:spTgt>
                                        </p:tgtEl>
                                        <p:attrNameLst>
                                          <p:attrName>fillcolor</p:attrName>
                                        </p:attrNameLst>
                                      </p:cBhvr>
                                      <p:to>
                                        <a:srgbClr val="00B0F0"/>
                                      </p:to>
                                    </p:animClr>
                                    <p:set>
                                      <p:cBhvr>
                                        <p:cTn id="44" dur="500" fill="hold"/>
                                        <p:tgtEl>
                                          <p:spTgt spid="4">
                                            <p:txEl>
                                              <p:pRg st="6" end="6"/>
                                            </p:txEl>
                                          </p:spTgt>
                                        </p:tgtEl>
                                        <p:attrNameLst>
                                          <p:attrName>fill.type</p:attrName>
                                        </p:attrNameLst>
                                      </p:cBhvr>
                                      <p:to>
                                        <p:strVal val="solid"/>
                                      </p:to>
                                    </p:set>
                                    <p:set>
                                      <p:cBhvr>
                                        <p:cTn id="45" dur="500" fill="hold"/>
                                        <p:tgtEl>
                                          <p:spTgt spid="4">
                                            <p:txEl>
                                              <p:pRg st="6" end="6"/>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1164656" y="381000"/>
            <a:ext cx="14913543" cy="914400"/>
          </a:xfrm>
        </p:spPr>
        <p:txBody>
          <a:bodyPr>
            <a:normAutofit/>
          </a:bodyPr>
          <a:lstStyle/>
          <a:p>
            <a:r>
              <a:rPr lang="en-US" sz="4000" b="1" dirty="0"/>
              <a:t>New </a:t>
            </a:r>
            <a:r>
              <a:rPr lang="en-US" sz="4400" b="1" dirty="0"/>
              <a:t>Hardware</a:t>
            </a:r>
            <a:r>
              <a:rPr lang="en-US" sz="4000" b="1" dirty="0"/>
              <a:t> Emerged for Embedded Systems</a:t>
            </a:r>
          </a:p>
        </p:txBody>
      </p:sp>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152400" y="1600200"/>
            <a:ext cx="8153400" cy="6019800"/>
          </a:xfrm>
        </p:spPr>
        <p:txBody>
          <a:bodyPr>
            <a:noAutofit/>
          </a:bodyPr>
          <a:lstStyle/>
          <a:p>
            <a:pPr marL="411480" indent="-411480">
              <a:spcBef>
                <a:spcPts val="0"/>
              </a:spcBef>
              <a:spcAft>
                <a:spcPts val="300"/>
              </a:spcAft>
              <a:buFont typeface="+mj-lt"/>
              <a:buAutoNum type="arabicParenR"/>
            </a:pPr>
            <a:r>
              <a:rPr lang="en-CA" sz="3200" dirty="0">
                <a:latin typeface="Arial" panose="020B0604020202020204" pitchFamily="34" charset="0"/>
                <a:cs typeface="Arial" panose="020B0604020202020204" pitchFamily="34" charset="0"/>
              </a:rPr>
              <a:t>STMicroelectronics offered joint usage of microcontroller (Arm Cortex A) and microprocessor (Cortex M CPUs. </a:t>
            </a:r>
          </a:p>
          <a:p>
            <a:pPr marL="411480" indent="-411480">
              <a:spcBef>
                <a:spcPts val="0"/>
              </a:spcBef>
              <a:spcAft>
                <a:spcPts val="300"/>
              </a:spcAft>
              <a:buFont typeface="+mj-lt"/>
              <a:buAutoNum type="arabicParenR"/>
            </a:pPr>
            <a:r>
              <a:rPr lang="en-CA" sz="3200" dirty="0">
                <a:latin typeface="Arial" panose="020B0604020202020204" pitchFamily="34" charset="0"/>
                <a:cs typeface="Arial" panose="020B0604020202020204" pitchFamily="34" charset="0"/>
              </a:rPr>
              <a:t>Development boards consisting of graphical processing units (GPU) allow parallel processing via high-level programming languages.</a:t>
            </a:r>
          </a:p>
          <a:p>
            <a:pPr marL="411480" indent="-411480">
              <a:spcBef>
                <a:spcPts val="0"/>
              </a:spcBef>
              <a:spcAft>
                <a:spcPts val="300"/>
              </a:spcAft>
              <a:buFont typeface="+mj-lt"/>
              <a:buAutoNum type="arabicParenR"/>
            </a:pPr>
            <a:r>
              <a:rPr lang="en-CA" sz="3200" dirty="0">
                <a:latin typeface="Arial" panose="020B0604020202020204" pitchFamily="34" charset="0"/>
                <a:cs typeface="Arial" panose="020B0604020202020204" pitchFamily="34" charset="0"/>
              </a:rPr>
              <a:t>Recent advances in deep learning and neural networks also led to devices consisting of neural processing units (NPU or TPU) dedicated to neural network implementations.</a:t>
            </a:r>
          </a:p>
        </p:txBody>
      </p:sp>
      <p:pic>
        <p:nvPicPr>
          <p:cNvPr id="4" name="Picture 3"/>
          <p:cNvPicPr>
            <a:picLocks noChangeAspect="1"/>
          </p:cNvPicPr>
          <p:nvPr/>
        </p:nvPicPr>
        <p:blipFill>
          <a:blip r:embed="rId2"/>
          <a:stretch>
            <a:fillRect/>
          </a:stretch>
        </p:blipFill>
        <p:spPr>
          <a:xfrm>
            <a:off x="8170926" y="1752600"/>
            <a:ext cx="8115300" cy="5715000"/>
          </a:xfrm>
          <a:prstGeom prst="rect">
            <a:avLst/>
          </a:prstGeom>
        </p:spPr>
      </p:pic>
    </p:spTree>
    <p:extLst>
      <p:ext uri="{BB962C8B-B14F-4D97-AF65-F5344CB8AC3E}">
        <p14:creationId xmlns:p14="http://schemas.microsoft.com/office/powerpoint/2010/main" val="6428691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304800" y="1828800"/>
            <a:ext cx="15925800" cy="5265661"/>
          </a:xfrm>
        </p:spPr>
        <p:txBody>
          <a:bodyPr>
            <a:noAutofit/>
          </a:bodyPr>
          <a:lstStyle/>
          <a:p>
            <a:pPr marL="457200" indent="-457200" algn="just">
              <a:spcBef>
                <a:spcPts val="0"/>
              </a:spcBef>
              <a:spcAft>
                <a:spcPts val="600"/>
              </a:spcAft>
            </a:pPr>
            <a:r>
              <a:rPr lang="en-US" sz="3600" dirty="0">
                <a:latin typeface="Arial" panose="020B0604020202020204" pitchFamily="34" charset="0"/>
                <a:ea typeface="+mn-lt"/>
                <a:cs typeface="Arial" panose="020B0604020202020204" pitchFamily="34" charset="0"/>
              </a:rPr>
              <a:t>At present, some of the popular microcontroller families in the market are:</a:t>
            </a:r>
          </a:p>
          <a:p>
            <a:pPr marL="1303020" lvl="1" indent="-571500" algn="just">
              <a:spcBef>
                <a:spcPts val="0"/>
              </a:spcBef>
              <a:spcAft>
                <a:spcPts val="600"/>
              </a:spcAft>
              <a:buFont typeface="Wingdings" panose="05000000000000000000" pitchFamily="2" charset="2"/>
              <a:buChar char="Ø"/>
            </a:pPr>
            <a:r>
              <a:rPr lang="en-US" sz="3600" dirty="0" err="1">
                <a:latin typeface="Arial" panose="020B0604020202020204" pitchFamily="34" charset="0"/>
                <a:ea typeface="+mn-lt"/>
                <a:cs typeface="Arial" panose="020B0604020202020204" pitchFamily="34" charset="0"/>
              </a:rPr>
              <a:t>ATMega</a:t>
            </a:r>
            <a:r>
              <a:rPr lang="en-US" sz="3600" dirty="0">
                <a:latin typeface="Arial" panose="020B0604020202020204" pitchFamily="34" charset="0"/>
                <a:ea typeface="+mn-lt"/>
                <a:cs typeface="Arial" panose="020B0604020202020204" pitchFamily="34" charset="0"/>
              </a:rPr>
              <a:t> family: ATMega328P, ATMega32</a:t>
            </a:r>
          </a:p>
          <a:p>
            <a:pPr marL="1303020" lvl="1" indent="-571500" algn="just">
              <a:spcBef>
                <a:spcPts val="0"/>
              </a:spcBef>
              <a:spcAft>
                <a:spcPts val="600"/>
              </a:spcAft>
              <a:buFont typeface="Wingdings" panose="05000000000000000000" pitchFamily="2" charset="2"/>
              <a:buChar char="Ø"/>
            </a:pPr>
            <a:r>
              <a:rPr lang="en-US" sz="3600" dirty="0">
                <a:latin typeface="Arial" panose="020B0604020202020204" pitchFamily="34" charset="0"/>
                <a:cs typeface="Arial" panose="020B0604020202020204" pitchFamily="34" charset="0"/>
              </a:rPr>
              <a:t>PIC-chips: PIC24, PIC33, etc.</a:t>
            </a:r>
          </a:p>
          <a:p>
            <a:pPr marL="1303020" lvl="1" indent="-571500" algn="just">
              <a:spcBef>
                <a:spcPts val="0"/>
              </a:spcBef>
              <a:spcAft>
                <a:spcPts val="600"/>
              </a:spcAft>
              <a:buFont typeface="Wingdings" panose="05000000000000000000" pitchFamily="2" charset="2"/>
              <a:buChar char="Ø"/>
            </a:pPr>
            <a:r>
              <a:rPr lang="en-US" sz="3600" dirty="0">
                <a:latin typeface="Arial" panose="020B0604020202020204" pitchFamily="34" charset="0"/>
                <a:cs typeface="Arial" panose="020B0604020202020204" pitchFamily="34" charset="0"/>
              </a:rPr>
              <a:t>ARM processors: Raspberry-Pi, TM4C chips, STM32 F401</a:t>
            </a:r>
          </a:p>
          <a:p>
            <a:pPr marL="457200" indent="-457200">
              <a:spcBef>
                <a:spcPts val="0"/>
              </a:spcBef>
              <a:spcAft>
                <a:spcPts val="600"/>
              </a:spcAft>
            </a:pPr>
            <a:r>
              <a:rPr lang="en-US" sz="3600" dirty="0">
                <a:latin typeface="Arial" panose="020B0604020202020204" pitchFamily="34" charset="0"/>
                <a:cs typeface="Arial" panose="020B0604020202020204" pitchFamily="34" charset="0"/>
              </a:rPr>
              <a:t>In Bangladesh, </a:t>
            </a:r>
            <a:r>
              <a:rPr lang="en-US" sz="3600" dirty="0" err="1">
                <a:latin typeface="Arial" panose="020B0604020202020204" pitchFamily="34" charset="0"/>
                <a:cs typeface="Arial" panose="020B0604020202020204" pitchFamily="34" charset="0"/>
              </a:rPr>
              <a:t>ATMega</a:t>
            </a:r>
            <a:r>
              <a:rPr lang="en-US" sz="3600" dirty="0">
                <a:latin typeface="Arial" panose="020B0604020202020204" pitchFamily="34" charset="0"/>
                <a:cs typeface="Arial" panose="020B0604020202020204" pitchFamily="34" charset="0"/>
              </a:rPr>
              <a:t> based Arduino boards have gained wide popularity due to easy availability and low price</a:t>
            </a:r>
          </a:p>
          <a:p>
            <a:pPr marL="457200" indent="-457200">
              <a:spcBef>
                <a:spcPts val="0"/>
              </a:spcBef>
              <a:spcAft>
                <a:spcPts val="600"/>
              </a:spcAft>
            </a:pPr>
            <a:r>
              <a:rPr lang="en-US" sz="3600" dirty="0">
                <a:latin typeface="Arial" panose="020B0604020202020204" pitchFamily="34" charset="0"/>
                <a:cs typeface="Arial" panose="020B0604020202020204" pitchFamily="34" charset="0"/>
              </a:rPr>
              <a:t>We are going to mostly focus on the ATMega328P chip during the midterm and then on the ARM processors in the final term.</a:t>
            </a:r>
          </a:p>
        </p:txBody>
      </p:sp>
      <p:sp>
        <p:nvSpPr>
          <p:cNvPr id="4" name="Title 3"/>
          <p:cNvSpPr>
            <a:spLocks noGrp="1"/>
          </p:cNvSpPr>
          <p:nvPr>
            <p:ph type="title"/>
          </p:nvPr>
        </p:nvSpPr>
        <p:spPr>
          <a:xfrm>
            <a:off x="762000" y="457200"/>
            <a:ext cx="15392400" cy="823912"/>
          </a:xfrm>
        </p:spPr>
        <p:txBody>
          <a:bodyPr/>
          <a:lstStyle/>
          <a:p>
            <a:r>
              <a:rPr lang="en-US" sz="4000" b="1" dirty="0"/>
              <a:t>New Hardware Emerged for Embedded Systems</a:t>
            </a:r>
            <a:endParaRPr lang="en-US" sz="4000" dirty="0"/>
          </a:p>
        </p:txBody>
      </p:sp>
    </p:spTree>
    <p:extLst>
      <p:ext uri="{BB962C8B-B14F-4D97-AF65-F5344CB8AC3E}">
        <p14:creationId xmlns:p14="http://schemas.microsoft.com/office/powerpoint/2010/main" val="33039717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1184710" y="408480"/>
            <a:ext cx="14817290" cy="906106"/>
          </a:xfrm>
        </p:spPr>
        <p:txBody>
          <a:bodyPr/>
          <a:lstStyle/>
          <a:p>
            <a:r>
              <a:rPr lang="en-US" sz="4800" b="1" dirty="0"/>
              <a:t>Real-life Examples of embedded Systems</a:t>
            </a:r>
          </a:p>
        </p:txBody>
      </p:sp>
      <p:sp>
        <p:nvSpPr>
          <p:cNvPr id="5" name="Rectangle 4"/>
          <p:cNvSpPr/>
          <p:nvPr/>
        </p:nvSpPr>
        <p:spPr>
          <a:xfrm>
            <a:off x="762000" y="4178567"/>
            <a:ext cx="14249400" cy="523220"/>
          </a:xfrm>
          <a:prstGeom prst="rect">
            <a:avLst/>
          </a:prstGeom>
        </p:spPr>
        <p:txBody>
          <a:bodyPr wrap="square">
            <a:spAutoFit/>
          </a:bodyPr>
          <a:lstStyle/>
          <a:p>
            <a:r>
              <a:rPr lang="en-CA" sz="2800" dirty="0"/>
              <a:t>Automatic fare collection (AFC)             ATM systems                                    Factory robots</a:t>
            </a:r>
          </a:p>
        </p:txBody>
      </p:sp>
      <p:pic>
        <p:nvPicPr>
          <p:cNvPr id="2052" name="Picture 4" descr="Automated transit fare collec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704657"/>
            <a:ext cx="4398062" cy="24739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rotWithShape="1">
          <a:blip r:embed="rId3"/>
          <a:srcRect l="2860" t="4671" b="7279"/>
          <a:stretch/>
        </p:blipFill>
        <p:spPr>
          <a:xfrm>
            <a:off x="10196491" y="4731737"/>
            <a:ext cx="5348309" cy="2431050"/>
          </a:xfrm>
          <a:prstGeom prst="rect">
            <a:avLst/>
          </a:prstGeom>
        </p:spPr>
      </p:pic>
      <p:sp>
        <p:nvSpPr>
          <p:cNvPr id="13" name="Rectangle 12"/>
          <p:cNvSpPr/>
          <p:nvPr/>
        </p:nvSpPr>
        <p:spPr>
          <a:xfrm>
            <a:off x="1295400" y="7086600"/>
            <a:ext cx="14554200" cy="523220"/>
          </a:xfrm>
          <a:prstGeom prst="rect">
            <a:avLst/>
          </a:prstGeom>
        </p:spPr>
        <p:txBody>
          <a:bodyPr wrap="square">
            <a:spAutoFit/>
          </a:bodyPr>
          <a:lstStyle/>
          <a:p>
            <a:r>
              <a:rPr lang="en-CA" sz="2800" dirty="0"/>
              <a:t>Medical  devices                              Self-service kiosks                Electric vehicle charging stations</a:t>
            </a:r>
          </a:p>
        </p:txBody>
      </p:sp>
      <p:pic>
        <p:nvPicPr>
          <p:cNvPr id="10" name="Picture 9"/>
          <p:cNvPicPr>
            <a:picLocks noChangeAspect="1"/>
          </p:cNvPicPr>
          <p:nvPr/>
        </p:nvPicPr>
        <p:blipFill rotWithShape="1">
          <a:blip r:embed="rId4"/>
          <a:srcRect l="25510"/>
          <a:stretch/>
        </p:blipFill>
        <p:spPr>
          <a:xfrm>
            <a:off x="5997270" y="4731737"/>
            <a:ext cx="3299130" cy="2386584"/>
          </a:xfrm>
          <a:prstGeom prst="rect">
            <a:avLst/>
          </a:prstGeom>
        </p:spPr>
      </p:pic>
      <p:pic>
        <p:nvPicPr>
          <p:cNvPr id="11" name="Picture 10"/>
          <p:cNvPicPr>
            <a:picLocks noChangeAspect="1"/>
          </p:cNvPicPr>
          <p:nvPr/>
        </p:nvPicPr>
        <p:blipFill rotWithShape="1">
          <a:blip r:embed="rId5"/>
          <a:srcRect r="14444"/>
          <a:stretch/>
        </p:blipFill>
        <p:spPr>
          <a:xfrm>
            <a:off x="894347" y="4800600"/>
            <a:ext cx="3525254" cy="2317721"/>
          </a:xfrm>
          <a:prstGeom prst="rect">
            <a:avLst/>
          </a:prstGeom>
        </p:spPr>
      </p:pic>
      <p:pic>
        <p:nvPicPr>
          <p:cNvPr id="12" name="Picture 11"/>
          <p:cNvPicPr>
            <a:picLocks noChangeAspect="1"/>
          </p:cNvPicPr>
          <p:nvPr/>
        </p:nvPicPr>
        <p:blipFill>
          <a:blip r:embed="rId6"/>
          <a:stretch>
            <a:fillRect/>
          </a:stretch>
        </p:blipFill>
        <p:spPr>
          <a:xfrm>
            <a:off x="6017323" y="1713511"/>
            <a:ext cx="3431477" cy="2455426"/>
          </a:xfrm>
          <a:prstGeom prst="rect">
            <a:avLst/>
          </a:prstGeom>
        </p:spPr>
      </p:pic>
      <p:pic>
        <p:nvPicPr>
          <p:cNvPr id="14" name="Picture 13"/>
          <p:cNvPicPr>
            <a:picLocks noChangeAspect="1"/>
          </p:cNvPicPr>
          <p:nvPr/>
        </p:nvPicPr>
        <p:blipFill>
          <a:blip r:embed="rId7"/>
          <a:stretch>
            <a:fillRect/>
          </a:stretch>
        </p:blipFill>
        <p:spPr>
          <a:xfrm>
            <a:off x="10863073" y="1703710"/>
            <a:ext cx="3696036" cy="2465227"/>
          </a:xfrm>
          <a:prstGeom prst="rect">
            <a:avLst/>
          </a:prstGeom>
        </p:spPr>
      </p:pic>
    </p:spTree>
    <p:extLst>
      <p:ext uri="{BB962C8B-B14F-4D97-AF65-F5344CB8AC3E}">
        <p14:creationId xmlns:p14="http://schemas.microsoft.com/office/powerpoint/2010/main" val="157692849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2540000"/>
            <a:ext cx="13822680" cy="2646046"/>
          </a:xfrm>
        </p:spPr>
        <p:txBody>
          <a:bodyPr>
            <a:noAutofit/>
          </a:bodyPr>
          <a:lstStyle/>
          <a:p>
            <a:r>
              <a:rPr lang="en-US" sz="6000" b="1" dirty="0"/>
              <a:t>Architecture of a Modern  Microcontroller</a:t>
            </a:r>
            <a:br>
              <a:rPr lang="en-US" sz="6000" b="1" dirty="0"/>
            </a:br>
            <a:endParaRPr lang="en-US" sz="6000" dirty="0"/>
          </a:p>
        </p:txBody>
      </p:sp>
    </p:spTree>
    <p:extLst>
      <p:ext uri="{BB962C8B-B14F-4D97-AF65-F5344CB8AC3E}">
        <p14:creationId xmlns:p14="http://schemas.microsoft.com/office/powerpoint/2010/main" val="2599548559"/>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3400" y="1751911"/>
            <a:ext cx="10820400" cy="4877489"/>
          </a:xfrm>
          <a:prstGeom prst="rect">
            <a:avLst/>
          </a:prstGeom>
        </p:spPr>
        <p:txBody>
          <a:bodyPr vert="horz" wrap="square" lIns="0" tIns="14478" rIns="0" bIns="0" rtlCol="0">
            <a:spAutoFit/>
          </a:bodyPr>
          <a:lstStyle/>
          <a:p>
            <a:pPr marL="91440" indent="-457200">
              <a:spcBef>
                <a:spcPts val="0"/>
              </a:spcBef>
              <a:buFont typeface="Wingdings" panose="05000000000000000000" pitchFamily="2" charset="2"/>
              <a:buChar char="q"/>
              <a:tabLst>
                <a:tab pos="358902" algn="l"/>
                <a:tab pos="359664" algn="l"/>
              </a:tabLst>
            </a:pPr>
            <a:r>
              <a:rPr sz="3600" spc="-6" dirty="0">
                <a:latin typeface="Arial"/>
                <a:cs typeface="Arial"/>
              </a:rPr>
              <a:t>Consists</a:t>
            </a:r>
            <a:r>
              <a:rPr sz="3600" spc="30" dirty="0">
                <a:latin typeface="Arial"/>
                <a:cs typeface="Arial"/>
              </a:rPr>
              <a:t> </a:t>
            </a:r>
            <a:r>
              <a:rPr sz="3600" spc="-6" dirty="0">
                <a:latin typeface="Arial"/>
                <a:cs typeface="Arial"/>
              </a:rPr>
              <a:t>of</a:t>
            </a:r>
            <a:r>
              <a:rPr lang="en-US" sz="3600" spc="36" dirty="0">
                <a:latin typeface="Arial"/>
                <a:cs typeface="Arial"/>
              </a:rPr>
              <a:t>: </a:t>
            </a:r>
          </a:p>
          <a:p>
            <a:pPr marL="1501140" lvl="3" indent="-457200">
              <a:spcBef>
                <a:spcPts val="0"/>
              </a:spcBef>
              <a:buFont typeface="Wingdings" panose="05000000000000000000" pitchFamily="2" charset="2"/>
              <a:buChar char="§"/>
              <a:tabLst>
                <a:tab pos="358902" algn="l"/>
                <a:tab pos="359664" algn="l"/>
              </a:tabLst>
            </a:pPr>
            <a:r>
              <a:rPr lang="en-US" sz="3200" spc="-6" dirty="0">
                <a:latin typeface="Arial"/>
                <a:cs typeface="Arial"/>
              </a:rPr>
              <a:t>A</a:t>
            </a:r>
            <a:r>
              <a:rPr sz="3200" spc="6" dirty="0">
                <a:latin typeface="Arial"/>
                <a:cs typeface="Arial"/>
              </a:rPr>
              <a:t> </a:t>
            </a:r>
            <a:r>
              <a:rPr sz="3200" spc="-6" dirty="0">
                <a:latin typeface="Arial"/>
                <a:cs typeface="Arial"/>
              </a:rPr>
              <a:t>programmable</a:t>
            </a:r>
            <a:r>
              <a:rPr sz="3200" spc="72" dirty="0">
                <a:latin typeface="Arial"/>
                <a:cs typeface="Arial"/>
              </a:rPr>
              <a:t> </a:t>
            </a:r>
            <a:r>
              <a:rPr sz="3200" spc="-6" dirty="0">
                <a:latin typeface="Arial"/>
                <a:cs typeface="Arial"/>
              </a:rPr>
              <a:t>microcontroller</a:t>
            </a:r>
            <a:r>
              <a:rPr sz="3200" spc="78" dirty="0">
                <a:latin typeface="Arial"/>
                <a:cs typeface="Arial"/>
              </a:rPr>
              <a:t> </a:t>
            </a:r>
            <a:r>
              <a:rPr sz="3200" spc="-24" dirty="0">
                <a:latin typeface="Arial"/>
                <a:cs typeface="Arial"/>
              </a:rPr>
              <a:t>(ATMega328)</a:t>
            </a:r>
            <a:r>
              <a:rPr sz="3200" spc="72" dirty="0">
                <a:latin typeface="Arial"/>
                <a:cs typeface="Arial"/>
              </a:rPr>
              <a:t> </a:t>
            </a:r>
            <a:r>
              <a:rPr sz="3200" spc="-6" dirty="0">
                <a:latin typeface="Arial"/>
                <a:cs typeface="Arial"/>
              </a:rPr>
              <a:t>and</a:t>
            </a:r>
            <a:r>
              <a:rPr sz="3200" spc="24" dirty="0">
                <a:latin typeface="Arial"/>
                <a:cs typeface="Arial"/>
              </a:rPr>
              <a:t> </a:t>
            </a:r>
            <a:endParaRPr lang="en-US" sz="3200" spc="24" dirty="0">
              <a:latin typeface="Arial"/>
              <a:cs typeface="Arial"/>
            </a:endParaRPr>
          </a:p>
          <a:p>
            <a:pPr marL="1501140" lvl="3" indent="-457200">
              <a:spcBef>
                <a:spcPts val="0"/>
              </a:spcBef>
              <a:buFont typeface="Wingdings" panose="05000000000000000000" pitchFamily="2" charset="2"/>
              <a:buChar char="§"/>
              <a:tabLst>
                <a:tab pos="358902" algn="l"/>
                <a:tab pos="359664" algn="l"/>
              </a:tabLst>
            </a:pPr>
            <a:r>
              <a:rPr lang="en-US" sz="3200" spc="-6" dirty="0">
                <a:latin typeface="Arial"/>
                <a:cs typeface="Arial"/>
              </a:rPr>
              <a:t>Integrated Development Environment or IDE</a:t>
            </a:r>
          </a:p>
          <a:p>
            <a:pPr marL="91440" marR="6096" indent="-457200">
              <a:spcBef>
                <a:spcPts val="0"/>
              </a:spcBef>
              <a:buFont typeface="Wingdings" panose="05000000000000000000" pitchFamily="2" charset="2"/>
              <a:buChar char="q"/>
              <a:tabLst>
                <a:tab pos="358902" algn="l"/>
                <a:tab pos="359664" algn="l"/>
              </a:tabLst>
            </a:pPr>
            <a:r>
              <a:rPr lang="en-US" sz="3600" spc="-6" dirty="0">
                <a:latin typeface="Arial"/>
                <a:cs typeface="Arial"/>
              </a:rPr>
              <a:t>U</a:t>
            </a:r>
            <a:r>
              <a:rPr sz="3600" spc="-6" dirty="0">
                <a:latin typeface="Arial"/>
                <a:cs typeface="Arial"/>
              </a:rPr>
              <a:t>ses</a:t>
            </a:r>
            <a:r>
              <a:rPr sz="3600" dirty="0">
                <a:latin typeface="Arial"/>
                <a:cs typeface="Arial"/>
              </a:rPr>
              <a:t> </a:t>
            </a:r>
            <a:r>
              <a:rPr sz="3600" spc="-6" dirty="0">
                <a:latin typeface="Arial"/>
                <a:cs typeface="Arial"/>
              </a:rPr>
              <a:t>a</a:t>
            </a:r>
            <a:r>
              <a:rPr sz="3600" spc="12" dirty="0">
                <a:latin typeface="Arial"/>
                <a:cs typeface="Arial"/>
              </a:rPr>
              <a:t> </a:t>
            </a:r>
            <a:r>
              <a:rPr sz="3600" spc="-6" dirty="0">
                <a:latin typeface="Arial"/>
                <a:cs typeface="Arial"/>
              </a:rPr>
              <a:t>computer</a:t>
            </a:r>
            <a:r>
              <a:rPr sz="3600" spc="36" dirty="0">
                <a:latin typeface="Arial"/>
                <a:cs typeface="Arial"/>
              </a:rPr>
              <a:t> </a:t>
            </a:r>
            <a:r>
              <a:rPr sz="3600" spc="-6" dirty="0">
                <a:latin typeface="Arial"/>
                <a:cs typeface="Arial"/>
              </a:rPr>
              <a:t>to</a:t>
            </a:r>
            <a:r>
              <a:rPr sz="3600" spc="6" dirty="0">
                <a:latin typeface="Arial"/>
                <a:cs typeface="Arial"/>
              </a:rPr>
              <a:t> write</a:t>
            </a:r>
            <a:r>
              <a:rPr sz="3600" spc="-12" dirty="0">
                <a:latin typeface="Arial"/>
                <a:cs typeface="Arial"/>
              </a:rPr>
              <a:t> </a:t>
            </a:r>
            <a:r>
              <a:rPr sz="3600" spc="-6" dirty="0">
                <a:latin typeface="Arial"/>
                <a:cs typeface="Arial"/>
              </a:rPr>
              <a:t>and</a:t>
            </a:r>
            <a:r>
              <a:rPr sz="3600" dirty="0">
                <a:latin typeface="Arial"/>
                <a:cs typeface="Arial"/>
              </a:rPr>
              <a:t> </a:t>
            </a:r>
            <a:r>
              <a:rPr sz="3600" spc="-6" dirty="0">
                <a:latin typeface="Arial"/>
                <a:cs typeface="Arial"/>
              </a:rPr>
              <a:t>upload</a:t>
            </a:r>
            <a:r>
              <a:rPr sz="3600" spc="24" dirty="0">
                <a:latin typeface="Arial"/>
                <a:cs typeface="Arial"/>
              </a:rPr>
              <a:t> </a:t>
            </a:r>
            <a:r>
              <a:rPr sz="3600" spc="-6" dirty="0">
                <a:latin typeface="Arial"/>
                <a:cs typeface="Arial"/>
              </a:rPr>
              <a:t>code</a:t>
            </a:r>
            <a:r>
              <a:rPr sz="3600" spc="18" dirty="0">
                <a:latin typeface="Arial"/>
                <a:cs typeface="Arial"/>
              </a:rPr>
              <a:t> </a:t>
            </a:r>
            <a:r>
              <a:rPr sz="3600" dirty="0">
                <a:latin typeface="Arial"/>
                <a:cs typeface="Arial"/>
              </a:rPr>
              <a:t>(written</a:t>
            </a:r>
            <a:r>
              <a:rPr sz="3600" spc="6" dirty="0">
                <a:latin typeface="Arial"/>
                <a:cs typeface="Arial"/>
              </a:rPr>
              <a:t> </a:t>
            </a:r>
            <a:r>
              <a:rPr sz="3600" spc="-6" dirty="0">
                <a:latin typeface="Arial"/>
                <a:cs typeface="Arial"/>
              </a:rPr>
              <a:t>in</a:t>
            </a:r>
            <a:r>
              <a:rPr sz="3600" spc="6" dirty="0">
                <a:latin typeface="Arial"/>
                <a:cs typeface="Arial"/>
              </a:rPr>
              <a:t> </a:t>
            </a:r>
            <a:r>
              <a:rPr sz="3600" spc="-12" dirty="0">
                <a:latin typeface="Arial"/>
                <a:cs typeface="Arial"/>
              </a:rPr>
              <a:t>the</a:t>
            </a:r>
            <a:r>
              <a:rPr sz="3600" spc="30" dirty="0">
                <a:latin typeface="Arial"/>
                <a:cs typeface="Arial"/>
              </a:rPr>
              <a:t> </a:t>
            </a:r>
            <a:r>
              <a:rPr sz="3600" spc="-6" dirty="0">
                <a:latin typeface="Arial"/>
                <a:cs typeface="Arial"/>
              </a:rPr>
              <a:t>easier</a:t>
            </a:r>
            <a:r>
              <a:rPr sz="3600" spc="24" dirty="0">
                <a:latin typeface="Arial"/>
                <a:cs typeface="Arial"/>
              </a:rPr>
              <a:t> </a:t>
            </a:r>
            <a:r>
              <a:rPr sz="3600" spc="-12" dirty="0">
                <a:latin typeface="Arial"/>
                <a:cs typeface="Arial"/>
              </a:rPr>
              <a:t>version</a:t>
            </a:r>
            <a:r>
              <a:rPr sz="3600" spc="48" dirty="0">
                <a:latin typeface="Arial"/>
                <a:cs typeface="Arial"/>
              </a:rPr>
              <a:t> </a:t>
            </a:r>
            <a:r>
              <a:rPr sz="3600" spc="-6" dirty="0">
                <a:latin typeface="Arial"/>
                <a:cs typeface="Arial"/>
              </a:rPr>
              <a:t>of</a:t>
            </a:r>
            <a:r>
              <a:rPr sz="3600" spc="24" dirty="0">
                <a:latin typeface="Arial"/>
                <a:cs typeface="Arial"/>
              </a:rPr>
              <a:t> </a:t>
            </a:r>
            <a:r>
              <a:rPr sz="3600" spc="-6" dirty="0">
                <a:latin typeface="Arial"/>
                <a:cs typeface="Arial"/>
              </a:rPr>
              <a:t>C++) </a:t>
            </a:r>
            <a:r>
              <a:rPr sz="3600" spc="-516" dirty="0">
                <a:latin typeface="Arial"/>
                <a:cs typeface="Arial"/>
              </a:rPr>
              <a:t> </a:t>
            </a:r>
            <a:r>
              <a:rPr sz="3600" spc="-6" dirty="0">
                <a:latin typeface="Arial"/>
                <a:cs typeface="Arial"/>
              </a:rPr>
              <a:t>to</a:t>
            </a:r>
            <a:r>
              <a:rPr sz="3600" spc="18" dirty="0">
                <a:latin typeface="Arial"/>
                <a:cs typeface="Arial"/>
              </a:rPr>
              <a:t> </a:t>
            </a:r>
            <a:r>
              <a:rPr sz="3600" spc="-12" dirty="0">
                <a:latin typeface="Arial"/>
                <a:cs typeface="Arial"/>
              </a:rPr>
              <a:t>the</a:t>
            </a:r>
            <a:r>
              <a:rPr sz="3600" spc="6" dirty="0">
                <a:latin typeface="Arial"/>
                <a:cs typeface="Arial"/>
              </a:rPr>
              <a:t> </a:t>
            </a:r>
            <a:r>
              <a:rPr sz="3600" spc="-6" dirty="0">
                <a:latin typeface="Arial"/>
                <a:cs typeface="Arial"/>
              </a:rPr>
              <a:t>microcontroller</a:t>
            </a:r>
            <a:endParaRPr lang="en-US" sz="3600" spc="-6" dirty="0">
              <a:latin typeface="Arial"/>
              <a:cs typeface="Arial"/>
            </a:endParaRPr>
          </a:p>
          <a:p>
            <a:pPr marL="91440" marR="6096" indent="-457200">
              <a:spcBef>
                <a:spcPts val="0"/>
              </a:spcBef>
              <a:buFont typeface="Wingdings" panose="05000000000000000000" pitchFamily="2" charset="2"/>
              <a:buChar char="q"/>
              <a:tabLst>
                <a:tab pos="358902" algn="l"/>
                <a:tab pos="359664" algn="l"/>
              </a:tabLst>
            </a:pPr>
            <a:r>
              <a:rPr lang="en-US" sz="3600" spc="-12" dirty="0">
                <a:latin typeface="Arial"/>
                <a:cs typeface="Arial"/>
              </a:rPr>
              <a:t>D</a:t>
            </a:r>
            <a:r>
              <a:rPr sz="3600" spc="-12" dirty="0">
                <a:latin typeface="Arial"/>
                <a:cs typeface="Arial"/>
              </a:rPr>
              <a:t>oesn’t</a:t>
            </a:r>
            <a:r>
              <a:rPr sz="3600" spc="18" dirty="0">
                <a:latin typeface="Arial"/>
                <a:cs typeface="Arial"/>
              </a:rPr>
              <a:t> </a:t>
            </a:r>
            <a:r>
              <a:rPr sz="3600" spc="-6" dirty="0">
                <a:latin typeface="Arial"/>
                <a:cs typeface="Arial"/>
              </a:rPr>
              <a:t>need</a:t>
            </a:r>
            <a:r>
              <a:rPr sz="3600" spc="6" dirty="0">
                <a:latin typeface="Arial"/>
                <a:cs typeface="Arial"/>
              </a:rPr>
              <a:t> </a:t>
            </a:r>
            <a:r>
              <a:rPr lang="en-US" sz="3600" spc="6" dirty="0">
                <a:latin typeface="Arial"/>
                <a:cs typeface="Arial"/>
              </a:rPr>
              <a:t>any additional </a:t>
            </a:r>
            <a:r>
              <a:rPr sz="3600" spc="-12" dirty="0">
                <a:latin typeface="Arial"/>
                <a:cs typeface="Arial"/>
              </a:rPr>
              <a:t>programmer/burner</a:t>
            </a:r>
            <a:endParaRPr lang="en-US" sz="3600" spc="-12" dirty="0">
              <a:latin typeface="Arial"/>
              <a:cs typeface="Arial"/>
            </a:endParaRPr>
          </a:p>
          <a:p>
            <a:pPr marL="91440" indent="-457200">
              <a:spcBef>
                <a:spcPts val="0"/>
              </a:spcBef>
              <a:buFont typeface="Wingdings" panose="05000000000000000000" pitchFamily="2" charset="2"/>
              <a:buChar char="q"/>
              <a:tabLst>
                <a:tab pos="358902" algn="l"/>
                <a:tab pos="359664" algn="l"/>
              </a:tabLst>
            </a:pPr>
            <a:r>
              <a:rPr sz="3600" spc="-6" dirty="0">
                <a:latin typeface="Arial"/>
                <a:cs typeface="Arial"/>
              </a:rPr>
              <a:t>Operating</a:t>
            </a:r>
            <a:r>
              <a:rPr sz="3600" spc="48" dirty="0">
                <a:latin typeface="Arial"/>
                <a:cs typeface="Arial"/>
              </a:rPr>
              <a:t> </a:t>
            </a:r>
            <a:r>
              <a:rPr sz="3600" spc="-12" dirty="0">
                <a:latin typeface="Arial"/>
                <a:cs typeface="Arial"/>
              </a:rPr>
              <a:t>voltage</a:t>
            </a:r>
            <a:r>
              <a:rPr lang="en-US" sz="3600" spc="-12" dirty="0">
                <a:latin typeface="Arial"/>
                <a:cs typeface="Arial"/>
              </a:rPr>
              <a:t> ranges from</a:t>
            </a:r>
            <a:r>
              <a:rPr sz="3600" spc="78" dirty="0">
                <a:latin typeface="Arial"/>
                <a:cs typeface="Arial"/>
              </a:rPr>
              <a:t> </a:t>
            </a:r>
            <a:r>
              <a:rPr lang="en-US" sz="3600" spc="78" dirty="0">
                <a:latin typeface="Arial"/>
                <a:cs typeface="Arial"/>
              </a:rPr>
              <a:t>1.8 V to </a:t>
            </a:r>
            <a:r>
              <a:rPr sz="3600" spc="-36" dirty="0">
                <a:latin typeface="Arial"/>
                <a:cs typeface="Arial"/>
              </a:rPr>
              <a:t>5</a:t>
            </a:r>
            <a:r>
              <a:rPr lang="en-US" sz="3600" spc="-36" dirty="0">
                <a:latin typeface="Arial"/>
                <a:cs typeface="Arial"/>
              </a:rPr>
              <a:t>.5 </a:t>
            </a:r>
            <a:r>
              <a:rPr sz="3600" spc="-36" dirty="0">
                <a:latin typeface="Arial"/>
                <a:cs typeface="Arial"/>
              </a:rPr>
              <a:t>V</a:t>
            </a:r>
            <a:endParaRPr lang="en-US" sz="3600" spc="-6" dirty="0">
              <a:latin typeface="Arial"/>
              <a:cs typeface="Arial"/>
            </a:endParaRPr>
          </a:p>
          <a:p>
            <a:pPr marL="91440" indent="-457200">
              <a:spcBef>
                <a:spcPts val="0"/>
              </a:spcBef>
              <a:buFont typeface="Wingdings" panose="05000000000000000000" pitchFamily="2" charset="2"/>
              <a:buChar char="q"/>
              <a:tabLst>
                <a:tab pos="358902" algn="l"/>
                <a:tab pos="359664" algn="l"/>
              </a:tabLst>
            </a:pPr>
            <a:r>
              <a:rPr sz="3600" spc="-6" dirty="0">
                <a:latin typeface="Arial"/>
                <a:cs typeface="Arial"/>
              </a:rPr>
              <a:t>Digital</a:t>
            </a:r>
            <a:r>
              <a:rPr sz="3600" spc="36" dirty="0">
                <a:latin typeface="Arial"/>
                <a:cs typeface="Arial"/>
              </a:rPr>
              <a:t> </a:t>
            </a:r>
            <a:r>
              <a:rPr sz="3600" spc="-6" dirty="0">
                <a:latin typeface="Arial"/>
                <a:cs typeface="Arial"/>
              </a:rPr>
              <a:t>pin</a:t>
            </a:r>
            <a:r>
              <a:rPr lang="en-US" sz="3600" spc="-6" dirty="0">
                <a:latin typeface="Arial"/>
                <a:cs typeface="Arial"/>
              </a:rPr>
              <a:t>s:</a:t>
            </a:r>
            <a:r>
              <a:rPr sz="3600" spc="24" dirty="0">
                <a:latin typeface="Arial"/>
                <a:cs typeface="Arial"/>
              </a:rPr>
              <a:t> </a:t>
            </a:r>
            <a:r>
              <a:rPr sz="3600" spc="-6" dirty="0">
                <a:latin typeface="Arial"/>
                <a:cs typeface="Arial"/>
              </a:rPr>
              <a:t>14</a:t>
            </a:r>
            <a:r>
              <a:rPr sz="3600" spc="12" dirty="0">
                <a:latin typeface="Arial"/>
                <a:cs typeface="Arial"/>
              </a:rPr>
              <a:t> </a:t>
            </a:r>
            <a:r>
              <a:rPr sz="3600" spc="-6" dirty="0">
                <a:latin typeface="Arial"/>
                <a:cs typeface="Arial"/>
              </a:rPr>
              <a:t>(of</a:t>
            </a:r>
            <a:r>
              <a:rPr sz="3600" spc="18" dirty="0">
                <a:latin typeface="Arial"/>
                <a:cs typeface="Arial"/>
              </a:rPr>
              <a:t> </a:t>
            </a:r>
            <a:r>
              <a:rPr sz="3600" spc="6" dirty="0">
                <a:latin typeface="Arial"/>
                <a:cs typeface="Arial"/>
              </a:rPr>
              <a:t>which</a:t>
            </a:r>
            <a:r>
              <a:rPr sz="3600" spc="-24" dirty="0">
                <a:latin typeface="Arial"/>
                <a:cs typeface="Arial"/>
              </a:rPr>
              <a:t> </a:t>
            </a:r>
            <a:r>
              <a:rPr sz="3600" spc="-6" dirty="0">
                <a:latin typeface="Arial"/>
                <a:cs typeface="Arial"/>
              </a:rPr>
              <a:t>6 </a:t>
            </a:r>
            <a:r>
              <a:rPr lang="en-US" sz="3600" spc="-12" dirty="0">
                <a:latin typeface="Arial"/>
                <a:cs typeface="Arial"/>
              </a:rPr>
              <a:t>provide</a:t>
            </a:r>
            <a:r>
              <a:rPr sz="3600" spc="66" dirty="0">
                <a:latin typeface="Arial"/>
                <a:cs typeface="Arial"/>
              </a:rPr>
              <a:t> </a:t>
            </a:r>
            <a:r>
              <a:rPr sz="3600" spc="-6" dirty="0">
                <a:latin typeface="Arial"/>
                <a:cs typeface="Arial"/>
              </a:rPr>
              <a:t>PWM </a:t>
            </a:r>
            <a:r>
              <a:rPr sz="3600" spc="-12" dirty="0">
                <a:latin typeface="Arial"/>
                <a:cs typeface="Arial"/>
              </a:rPr>
              <a:t>output)</a:t>
            </a:r>
            <a:endParaRPr lang="en-US" sz="3600" spc="-12" dirty="0">
              <a:latin typeface="Arial"/>
              <a:cs typeface="Arial"/>
            </a:endParaRPr>
          </a:p>
          <a:p>
            <a:pPr marL="91440" indent="-457200">
              <a:spcBef>
                <a:spcPts val="0"/>
              </a:spcBef>
              <a:buFont typeface="Wingdings" panose="05000000000000000000" pitchFamily="2" charset="2"/>
              <a:buChar char="q"/>
              <a:tabLst>
                <a:tab pos="358902" algn="l"/>
                <a:tab pos="359664" algn="l"/>
              </a:tabLst>
            </a:pPr>
            <a:r>
              <a:rPr sz="3600" spc="-12" dirty="0">
                <a:latin typeface="Arial"/>
                <a:cs typeface="Arial"/>
              </a:rPr>
              <a:t>DC</a:t>
            </a:r>
            <a:r>
              <a:rPr sz="3600" spc="-18" dirty="0">
                <a:latin typeface="Arial"/>
                <a:cs typeface="Arial"/>
              </a:rPr>
              <a:t> </a:t>
            </a:r>
            <a:r>
              <a:rPr sz="3600" spc="-6" dirty="0">
                <a:latin typeface="Arial"/>
                <a:cs typeface="Arial"/>
              </a:rPr>
              <a:t>Current</a:t>
            </a:r>
            <a:r>
              <a:rPr sz="3600" spc="18" dirty="0">
                <a:latin typeface="Arial"/>
                <a:cs typeface="Arial"/>
              </a:rPr>
              <a:t> </a:t>
            </a:r>
            <a:r>
              <a:rPr sz="3600" spc="-6" dirty="0">
                <a:latin typeface="Arial"/>
                <a:cs typeface="Arial"/>
              </a:rPr>
              <a:t>per</a:t>
            </a:r>
            <a:r>
              <a:rPr sz="3600" dirty="0">
                <a:latin typeface="Arial"/>
                <a:cs typeface="Arial"/>
              </a:rPr>
              <a:t> </a:t>
            </a:r>
            <a:r>
              <a:rPr sz="3600" spc="-6" dirty="0">
                <a:latin typeface="Arial"/>
                <a:cs typeface="Arial"/>
              </a:rPr>
              <a:t>I/O</a:t>
            </a:r>
            <a:r>
              <a:rPr sz="3600" spc="12" dirty="0">
                <a:latin typeface="Arial"/>
                <a:cs typeface="Arial"/>
              </a:rPr>
              <a:t> </a:t>
            </a:r>
            <a:r>
              <a:rPr sz="3600" spc="-6" dirty="0">
                <a:latin typeface="Arial"/>
                <a:cs typeface="Arial"/>
              </a:rPr>
              <a:t>pin</a:t>
            </a:r>
            <a:r>
              <a:rPr lang="en-US" sz="3600" spc="-6" dirty="0">
                <a:latin typeface="Arial"/>
                <a:cs typeface="Arial"/>
              </a:rPr>
              <a:t>:</a:t>
            </a:r>
            <a:r>
              <a:rPr sz="3600" spc="24" dirty="0">
                <a:latin typeface="Arial"/>
                <a:cs typeface="Arial"/>
              </a:rPr>
              <a:t> </a:t>
            </a:r>
            <a:r>
              <a:rPr sz="3600" spc="-6" dirty="0">
                <a:latin typeface="Arial"/>
                <a:cs typeface="Arial"/>
              </a:rPr>
              <a:t>20</a:t>
            </a:r>
            <a:r>
              <a:rPr lang="en-US" sz="3600" spc="-6" dirty="0">
                <a:latin typeface="Arial"/>
                <a:cs typeface="Arial"/>
              </a:rPr>
              <a:t> </a:t>
            </a:r>
            <a:r>
              <a:rPr sz="3600" spc="-6" dirty="0">
                <a:latin typeface="Arial"/>
                <a:cs typeface="Arial"/>
              </a:rPr>
              <a:t>mA</a:t>
            </a:r>
            <a:endParaRPr lang="en-US" sz="3600" spc="-6" dirty="0">
              <a:latin typeface="Arial"/>
              <a:cs typeface="Arial"/>
            </a:endParaRPr>
          </a:p>
        </p:txBody>
      </p:sp>
      <p:sp>
        <p:nvSpPr>
          <p:cNvPr id="3" name="object 3"/>
          <p:cNvSpPr txBox="1">
            <a:spLocks noGrp="1"/>
          </p:cNvSpPr>
          <p:nvPr>
            <p:ph type="title"/>
          </p:nvPr>
        </p:nvSpPr>
        <p:spPr>
          <a:xfrm>
            <a:off x="1828800" y="441068"/>
            <a:ext cx="12725400" cy="754053"/>
          </a:xfrm>
          <a:prstGeom prst="rect">
            <a:avLst/>
          </a:prstGeom>
        </p:spPr>
        <p:txBody>
          <a:bodyPr vert="horz" wrap="square" lIns="0" tIns="15240" rIns="0" bIns="0" numCol="1" rtlCol="0" anchor="ctr" anchorCtr="0" compatLnSpc="1">
            <a:prstTxWarp prst="textNoShape">
              <a:avLst/>
            </a:prstTxWarp>
            <a:spAutoFit/>
          </a:bodyPr>
          <a:lstStyle/>
          <a:p>
            <a:pPr marL="15240">
              <a:spcBef>
                <a:spcPts val="120"/>
              </a:spcBef>
            </a:pPr>
            <a:r>
              <a:rPr sz="4800" b="1" spc="-6" dirty="0">
                <a:latin typeface="+mn-lt"/>
              </a:rPr>
              <a:t>Basics</a:t>
            </a:r>
            <a:r>
              <a:rPr sz="4800" b="1" spc="-30" dirty="0">
                <a:latin typeface="+mn-lt"/>
              </a:rPr>
              <a:t> </a:t>
            </a:r>
            <a:r>
              <a:rPr lang="en-US" sz="4800" b="1" spc="-6" dirty="0">
                <a:latin typeface="+mn-lt"/>
              </a:rPr>
              <a:t>F</a:t>
            </a:r>
            <a:r>
              <a:rPr sz="4800" b="1" spc="-6" dirty="0">
                <a:latin typeface="+mn-lt"/>
              </a:rPr>
              <a:t>eatures </a:t>
            </a:r>
            <a:r>
              <a:rPr sz="4800" b="1" dirty="0">
                <a:latin typeface="+mn-lt"/>
              </a:rPr>
              <a:t>of</a:t>
            </a:r>
            <a:r>
              <a:rPr sz="4800" b="1" spc="-24" dirty="0">
                <a:latin typeface="+mn-lt"/>
              </a:rPr>
              <a:t> </a:t>
            </a:r>
            <a:r>
              <a:rPr sz="4800" b="1" spc="-6" dirty="0">
                <a:latin typeface="+mn-lt"/>
              </a:rPr>
              <a:t>Arduino</a:t>
            </a:r>
            <a:r>
              <a:rPr sz="4800" b="1" spc="6" dirty="0">
                <a:latin typeface="+mn-lt"/>
              </a:rPr>
              <a:t> </a:t>
            </a:r>
            <a:r>
              <a:rPr sz="4800" b="1" dirty="0">
                <a:latin typeface="+mn-lt"/>
              </a:rPr>
              <a:t>U</a:t>
            </a:r>
            <a:r>
              <a:rPr lang="en-US" sz="4800" b="1" dirty="0">
                <a:latin typeface="+mn-lt"/>
              </a:rPr>
              <a:t>NO</a:t>
            </a:r>
            <a:endParaRPr sz="4800" b="1" dirty="0">
              <a:latin typeface="+mn-lt"/>
            </a:endParaRPr>
          </a:p>
        </p:txBody>
      </p:sp>
      <p:pic>
        <p:nvPicPr>
          <p:cNvPr id="5" name="object 4"/>
          <p:cNvPicPr/>
          <p:nvPr/>
        </p:nvPicPr>
        <p:blipFill rotWithShape="1">
          <a:blip r:embed="rId2" cstate="print"/>
          <a:srcRect t="8613" r="2114" b="8512"/>
          <a:stretch/>
        </p:blipFill>
        <p:spPr>
          <a:xfrm rot="5400000">
            <a:off x="10877550" y="2381253"/>
            <a:ext cx="5867399" cy="4457700"/>
          </a:xfrm>
          <a:prstGeom prst="rect">
            <a:avLst/>
          </a:prstGeom>
        </p:spPr>
      </p:pic>
    </p:spTree>
    <p:extLst>
      <p:ext uri="{BB962C8B-B14F-4D97-AF65-F5344CB8AC3E}">
        <p14:creationId xmlns:p14="http://schemas.microsoft.com/office/powerpoint/2010/main" val="430786510"/>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1712153"/>
            <a:ext cx="10820400" cy="5679247"/>
          </a:xfrm>
          <a:prstGeom prst="rect">
            <a:avLst/>
          </a:prstGeom>
        </p:spPr>
        <p:txBody>
          <a:bodyPr vert="horz" wrap="square" lIns="0" tIns="16002" rIns="0" bIns="0" rtlCol="0">
            <a:spAutoFit/>
          </a:bodyPr>
          <a:lstStyle/>
          <a:p>
            <a:pPr>
              <a:spcBef>
                <a:spcPts val="0"/>
              </a:spcBef>
            </a:pPr>
            <a:r>
              <a:rPr sz="2800" b="1" dirty="0">
                <a:latin typeface="Arial MT"/>
                <a:cs typeface="Arial"/>
              </a:rPr>
              <a:t>1.</a:t>
            </a:r>
            <a:r>
              <a:rPr sz="2800" b="1" spc="-30" dirty="0">
                <a:latin typeface="Arial MT"/>
                <a:cs typeface="Arial"/>
              </a:rPr>
              <a:t> </a:t>
            </a:r>
            <a:r>
              <a:rPr sz="2800" b="1" spc="6" dirty="0">
                <a:latin typeface="Arial MT"/>
                <a:cs typeface="Arial"/>
              </a:rPr>
              <a:t>Power</a:t>
            </a:r>
            <a:r>
              <a:rPr sz="2800" b="1" spc="-60" dirty="0">
                <a:latin typeface="Arial MT"/>
                <a:cs typeface="Arial"/>
              </a:rPr>
              <a:t> </a:t>
            </a:r>
            <a:r>
              <a:rPr sz="2800" b="1" spc="-6" dirty="0">
                <a:latin typeface="Arial MT"/>
                <a:cs typeface="Arial"/>
              </a:rPr>
              <a:t>(USB/Barrel</a:t>
            </a:r>
            <a:r>
              <a:rPr sz="2800" b="1" spc="-24" dirty="0">
                <a:latin typeface="Arial MT"/>
                <a:cs typeface="Arial"/>
              </a:rPr>
              <a:t> </a:t>
            </a:r>
            <a:r>
              <a:rPr sz="2800" b="1" spc="-6" dirty="0">
                <a:latin typeface="Arial MT"/>
                <a:cs typeface="Arial"/>
              </a:rPr>
              <a:t>Jack)</a:t>
            </a:r>
            <a:endParaRPr sz="2800" dirty="0">
              <a:latin typeface="Arial MT"/>
              <a:cs typeface="Arial"/>
            </a:endParaRPr>
          </a:p>
          <a:p>
            <a:pPr marR="805434">
              <a:spcBef>
                <a:spcPts val="0"/>
              </a:spcBef>
            </a:pPr>
            <a:r>
              <a:rPr sz="2800" spc="-6" dirty="0">
                <a:latin typeface="Arial MT"/>
                <a:cs typeface="Arial MT"/>
              </a:rPr>
              <a:t>Every Arduino </a:t>
            </a:r>
            <a:r>
              <a:rPr sz="2800" dirty="0">
                <a:latin typeface="Arial MT"/>
                <a:cs typeface="Arial MT"/>
              </a:rPr>
              <a:t>board needs a </a:t>
            </a:r>
            <a:r>
              <a:rPr sz="2800" spc="-6" dirty="0">
                <a:latin typeface="Arial MT"/>
                <a:cs typeface="Arial MT"/>
              </a:rPr>
              <a:t>power </a:t>
            </a:r>
            <a:r>
              <a:rPr sz="2800" dirty="0">
                <a:latin typeface="Arial MT"/>
                <a:cs typeface="Arial MT"/>
              </a:rPr>
              <a:t>source through a </a:t>
            </a:r>
            <a:r>
              <a:rPr sz="2800" spc="-6" dirty="0">
                <a:latin typeface="Arial MT"/>
                <a:cs typeface="Arial MT"/>
              </a:rPr>
              <a:t>USB cable </a:t>
            </a:r>
            <a:r>
              <a:rPr sz="2800" dirty="0">
                <a:latin typeface="Arial MT"/>
                <a:cs typeface="Arial MT"/>
              </a:rPr>
              <a:t>coming </a:t>
            </a:r>
            <a:r>
              <a:rPr sz="2800" spc="6" dirty="0">
                <a:latin typeface="Arial MT"/>
                <a:cs typeface="Arial MT"/>
              </a:rPr>
              <a:t>from </a:t>
            </a:r>
            <a:r>
              <a:rPr sz="2800" spc="-6" dirty="0">
                <a:latin typeface="Arial MT"/>
                <a:cs typeface="Arial MT"/>
              </a:rPr>
              <a:t>your </a:t>
            </a:r>
            <a:r>
              <a:rPr sz="2800" dirty="0">
                <a:latin typeface="Arial MT"/>
                <a:cs typeface="Arial MT"/>
              </a:rPr>
              <a:t>computer </a:t>
            </a:r>
            <a:r>
              <a:rPr sz="2800" b="1" dirty="0">
                <a:latin typeface="Arial MT"/>
                <a:cs typeface="Arial"/>
              </a:rPr>
              <a:t>(1) </a:t>
            </a:r>
            <a:r>
              <a:rPr sz="2800" dirty="0">
                <a:latin typeface="Arial MT"/>
                <a:cs typeface="Arial MT"/>
              </a:rPr>
              <a:t>or a </a:t>
            </a:r>
            <a:r>
              <a:rPr sz="2800" spc="-12" dirty="0">
                <a:latin typeface="Arial MT"/>
                <a:cs typeface="Arial MT"/>
              </a:rPr>
              <a:t>wall </a:t>
            </a:r>
            <a:r>
              <a:rPr sz="2800" spc="-6" dirty="0">
                <a:latin typeface="Arial MT"/>
                <a:cs typeface="Arial MT"/>
              </a:rPr>
              <a:t>power supply </a:t>
            </a:r>
            <a:r>
              <a:rPr sz="2800" dirty="0">
                <a:latin typeface="Arial MT"/>
                <a:cs typeface="Arial MT"/>
              </a:rPr>
              <a:t>that </a:t>
            </a:r>
            <a:r>
              <a:rPr sz="2800" spc="-6" dirty="0">
                <a:latin typeface="Arial MT"/>
                <a:cs typeface="Arial MT"/>
              </a:rPr>
              <a:t>is </a:t>
            </a:r>
            <a:r>
              <a:rPr sz="2800" dirty="0">
                <a:latin typeface="Arial MT"/>
                <a:cs typeface="Arial MT"/>
              </a:rPr>
              <a:t>terminated</a:t>
            </a:r>
            <a:r>
              <a:rPr sz="2800" spc="-66" dirty="0">
                <a:latin typeface="Arial MT"/>
                <a:cs typeface="Arial MT"/>
              </a:rPr>
              <a:t> </a:t>
            </a:r>
            <a:r>
              <a:rPr sz="2800" spc="-6" dirty="0">
                <a:latin typeface="Arial MT"/>
                <a:cs typeface="Arial MT"/>
              </a:rPr>
              <a:t>in</a:t>
            </a:r>
            <a:r>
              <a:rPr sz="2800" dirty="0">
                <a:latin typeface="Arial MT"/>
                <a:cs typeface="Arial MT"/>
              </a:rPr>
              <a:t> a</a:t>
            </a:r>
            <a:r>
              <a:rPr sz="2800" spc="-6" dirty="0">
                <a:latin typeface="Arial MT"/>
                <a:cs typeface="Arial MT"/>
              </a:rPr>
              <a:t> </a:t>
            </a:r>
            <a:r>
              <a:rPr sz="2800" dirty="0">
                <a:latin typeface="Arial MT"/>
                <a:cs typeface="Arial MT"/>
              </a:rPr>
              <a:t>barrel</a:t>
            </a:r>
            <a:r>
              <a:rPr sz="2800" spc="-18" dirty="0">
                <a:latin typeface="Arial MT"/>
                <a:cs typeface="Arial MT"/>
              </a:rPr>
              <a:t> </a:t>
            </a:r>
            <a:r>
              <a:rPr sz="2800" dirty="0">
                <a:latin typeface="Arial MT"/>
                <a:cs typeface="Arial MT"/>
              </a:rPr>
              <a:t>jack</a:t>
            </a:r>
            <a:r>
              <a:rPr sz="2800" spc="-18" dirty="0">
                <a:latin typeface="Arial MT"/>
                <a:cs typeface="Arial MT"/>
              </a:rPr>
              <a:t> </a:t>
            </a:r>
            <a:r>
              <a:rPr sz="2800" b="1" dirty="0">
                <a:latin typeface="Arial MT"/>
                <a:cs typeface="Arial"/>
              </a:rPr>
              <a:t>(2)</a:t>
            </a:r>
            <a:r>
              <a:rPr sz="2800" dirty="0">
                <a:latin typeface="Arial MT"/>
                <a:cs typeface="Arial MT"/>
              </a:rPr>
              <a:t>.</a:t>
            </a:r>
          </a:p>
          <a:p>
            <a:pPr>
              <a:spcBef>
                <a:spcPts val="0"/>
              </a:spcBef>
            </a:pPr>
            <a:endParaRPr sz="2000" dirty="0">
              <a:latin typeface="Arial MT"/>
              <a:cs typeface="Arial MT"/>
            </a:endParaRPr>
          </a:p>
          <a:p>
            <a:pPr>
              <a:spcBef>
                <a:spcPts val="0"/>
              </a:spcBef>
            </a:pPr>
            <a:r>
              <a:rPr sz="2800" b="1" dirty="0">
                <a:latin typeface="Arial MT"/>
                <a:cs typeface="Arial"/>
              </a:rPr>
              <a:t>Pins</a:t>
            </a:r>
            <a:r>
              <a:rPr sz="2800" b="1" spc="-18" dirty="0">
                <a:latin typeface="Arial MT"/>
                <a:cs typeface="Arial"/>
              </a:rPr>
              <a:t> </a:t>
            </a:r>
            <a:r>
              <a:rPr sz="2800" b="1" spc="-6" dirty="0">
                <a:latin typeface="Arial MT"/>
                <a:cs typeface="Arial"/>
              </a:rPr>
              <a:t>(5V,</a:t>
            </a:r>
            <a:r>
              <a:rPr sz="2800" b="1" spc="-36" dirty="0">
                <a:latin typeface="Arial MT"/>
                <a:cs typeface="Arial"/>
              </a:rPr>
              <a:t> </a:t>
            </a:r>
            <a:r>
              <a:rPr sz="2800" b="1" dirty="0">
                <a:latin typeface="Arial MT"/>
                <a:cs typeface="Arial"/>
              </a:rPr>
              <a:t>3.3V,</a:t>
            </a:r>
            <a:r>
              <a:rPr sz="2800" b="1" spc="-24" dirty="0">
                <a:latin typeface="Arial MT"/>
                <a:cs typeface="Arial"/>
              </a:rPr>
              <a:t> </a:t>
            </a:r>
            <a:r>
              <a:rPr sz="2800" b="1" spc="-6" dirty="0">
                <a:latin typeface="Arial MT"/>
                <a:cs typeface="Arial"/>
              </a:rPr>
              <a:t>GND,</a:t>
            </a:r>
            <a:r>
              <a:rPr sz="2800" b="1" spc="-18" dirty="0">
                <a:latin typeface="Arial MT"/>
                <a:cs typeface="Arial"/>
              </a:rPr>
              <a:t> </a:t>
            </a:r>
            <a:r>
              <a:rPr sz="2800" b="1" spc="-12" dirty="0">
                <a:latin typeface="Arial MT"/>
                <a:cs typeface="Arial"/>
              </a:rPr>
              <a:t>Analog,</a:t>
            </a:r>
            <a:r>
              <a:rPr sz="2800" b="1" spc="36" dirty="0">
                <a:latin typeface="Arial MT"/>
                <a:cs typeface="Arial"/>
              </a:rPr>
              <a:t> </a:t>
            </a:r>
            <a:r>
              <a:rPr sz="2800" b="1" dirty="0">
                <a:latin typeface="Arial MT"/>
                <a:cs typeface="Arial"/>
              </a:rPr>
              <a:t>Digital,</a:t>
            </a:r>
            <a:r>
              <a:rPr sz="2800" b="1" spc="-60" dirty="0">
                <a:latin typeface="Arial MT"/>
                <a:cs typeface="Arial"/>
              </a:rPr>
              <a:t> </a:t>
            </a:r>
            <a:r>
              <a:rPr sz="2800" b="1" dirty="0">
                <a:latin typeface="Arial MT"/>
                <a:cs typeface="Arial"/>
              </a:rPr>
              <a:t>PWM,</a:t>
            </a:r>
            <a:r>
              <a:rPr sz="2800" b="1" spc="-36" dirty="0">
                <a:latin typeface="Arial MT"/>
                <a:cs typeface="Arial"/>
              </a:rPr>
              <a:t> </a:t>
            </a:r>
            <a:r>
              <a:rPr sz="2800" b="1" spc="-12" dirty="0">
                <a:latin typeface="Arial MT"/>
                <a:cs typeface="Arial"/>
              </a:rPr>
              <a:t>AREF):</a:t>
            </a:r>
            <a:endParaRPr sz="2800" dirty="0">
              <a:latin typeface="Arial MT"/>
              <a:cs typeface="Arial"/>
            </a:endParaRPr>
          </a:p>
          <a:p>
            <a:pPr>
              <a:spcBef>
                <a:spcPts val="0"/>
              </a:spcBef>
            </a:pPr>
            <a:endParaRPr sz="2000" dirty="0">
              <a:latin typeface="Arial MT"/>
              <a:cs typeface="Arial"/>
            </a:endParaRPr>
          </a:p>
          <a:p>
            <a:pPr>
              <a:spcBef>
                <a:spcPts val="0"/>
              </a:spcBef>
            </a:pPr>
            <a:r>
              <a:rPr sz="2800" b="1" dirty="0">
                <a:latin typeface="Arial MT"/>
                <a:cs typeface="Arial"/>
              </a:rPr>
              <a:t>GND</a:t>
            </a:r>
            <a:r>
              <a:rPr sz="2800" b="1" spc="-12" dirty="0">
                <a:latin typeface="Arial MT"/>
                <a:cs typeface="Arial"/>
              </a:rPr>
              <a:t> </a:t>
            </a:r>
            <a:r>
              <a:rPr sz="2800" b="1" dirty="0">
                <a:latin typeface="Arial MT"/>
                <a:cs typeface="Arial"/>
              </a:rPr>
              <a:t>(3)</a:t>
            </a:r>
            <a:r>
              <a:rPr sz="2800" dirty="0">
                <a:latin typeface="Arial MT"/>
                <a:cs typeface="Arial MT"/>
              </a:rPr>
              <a:t>:</a:t>
            </a:r>
            <a:r>
              <a:rPr sz="2800" spc="-24" dirty="0">
                <a:latin typeface="Arial MT"/>
                <a:cs typeface="Arial MT"/>
              </a:rPr>
              <a:t> </a:t>
            </a:r>
            <a:r>
              <a:rPr sz="2800" spc="-6" dirty="0">
                <a:latin typeface="Arial MT"/>
                <a:cs typeface="Arial MT"/>
              </a:rPr>
              <a:t>Short</a:t>
            </a:r>
            <a:r>
              <a:rPr sz="2800" spc="-30" dirty="0">
                <a:latin typeface="Arial MT"/>
                <a:cs typeface="Arial MT"/>
              </a:rPr>
              <a:t> </a:t>
            </a:r>
            <a:r>
              <a:rPr sz="2800" spc="6" dirty="0">
                <a:latin typeface="Arial MT"/>
                <a:cs typeface="Arial MT"/>
              </a:rPr>
              <a:t>for</a:t>
            </a:r>
            <a:r>
              <a:rPr sz="2800" spc="-30" dirty="0">
                <a:latin typeface="Arial MT"/>
                <a:cs typeface="Arial MT"/>
              </a:rPr>
              <a:t> </a:t>
            </a:r>
            <a:r>
              <a:rPr sz="2800" spc="-6" dirty="0">
                <a:latin typeface="Arial MT"/>
                <a:cs typeface="Arial MT"/>
              </a:rPr>
              <a:t>‘Ground’ and</a:t>
            </a:r>
            <a:r>
              <a:rPr sz="2800" spc="12" dirty="0">
                <a:latin typeface="Arial MT"/>
                <a:cs typeface="Arial MT"/>
              </a:rPr>
              <a:t> </a:t>
            </a:r>
            <a:r>
              <a:rPr sz="2800" b="1" dirty="0">
                <a:latin typeface="Arial MT"/>
                <a:cs typeface="Arial"/>
              </a:rPr>
              <a:t>5V</a:t>
            </a:r>
            <a:r>
              <a:rPr sz="2800" b="1" spc="-12" dirty="0">
                <a:latin typeface="Arial MT"/>
                <a:cs typeface="Arial"/>
              </a:rPr>
              <a:t> </a:t>
            </a:r>
            <a:r>
              <a:rPr sz="2800" b="1" dirty="0">
                <a:latin typeface="Arial MT"/>
                <a:cs typeface="Arial"/>
              </a:rPr>
              <a:t>(4)</a:t>
            </a:r>
            <a:r>
              <a:rPr sz="2800" b="1" spc="-12" dirty="0">
                <a:latin typeface="Arial MT"/>
                <a:cs typeface="Arial"/>
              </a:rPr>
              <a:t> </a:t>
            </a:r>
            <a:r>
              <a:rPr sz="2800" b="1" dirty="0">
                <a:latin typeface="Arial MT"/>
                <a:cs typeface="Arial"/>
              </a:rPr>
              <a:t>&amp;</a:t>
            </a:r>
            <a:r>
              <a:rPr sz="2800" b="1" spc="-12" dirty="0">
                <a:latin typeface="Arial MT"/>
                <a:cs typeface="Arial"/>
              </a:rPr>
              <a:t> </a:t>
            </a:r>
            <a:r>
              <a:rPr sz="2800" b="1" dirty="0">
                <a:latin typeface="Arial MT"/>
                <a:cs typeface="Arial"/>
              </a:rPr>
              <a:t>3.3V</a:t>
            </a:r>
            <a:r>
              <a:rPr sz="2800" b="1" spc="-6" dirty="0">
                <a:latin typeface="Arial MT"/>
                <a:cs typeface="Arial"/>
              </a:rPr>
              <a:t> </a:t>
            </a:r>
            <a:r>
              <a:rPr sz="2800" b="1" dirty="0">
                <a:latin typeface="Arial MT"/>
                <a:cs typeface="Arial"/>
              </a:rPr>
              <a:t>(5)</a:t>
            </a:r>
            <a:r>
              <a:rPr sz="2800" dirty="0">
                <a:latin typeface="Arial MT"/>
                <a:cs typeface="Arial MT"/>
              </a:rPr>
              <a:t>:</a:t>
            </a:r>
            <a:r>
              <a:rPr sz="2800" spc="-42" dirty="0">
                <a:latin typeface="Arial MT"/>
                <a:cs typeface="Arial MT"/>
              </a:rPr>
              <a:t> </a:t>
            </a:r>
            <a:r>
              <a:rPr sz="2800" dirty="0">
                <a:latin typeface="Arial MT"/>
                <a:cs typeface="Arial MT"/>
              </a:rPr>
              <a:t>used</a:t>
            </a:r>
            <a:r>
              <a:rPr sz="2800" spc="-6" dirty="0">
                <a:latin typeface="Arial MT"/>
                <a:cs typeface="Arial MT"/>
              </a:rPr>
              <a:t> </a:t>
            </a:r>
            <a:r>
              <a:rPr sz="2800" dirty="0">
                <a:latin typeface="Arial MT"/>
                <a:cs typeface="Arial MT"/>
              </a:rPr>
              <a:t>as</a:t>
            </a:r>
            <a:r>
              <a:rPr sz="2800" spc="378" dirty="0">
                <a:latin typeface="Arial MT"/>
                <a:cs typeface="Arial MT"/>
              </a:rPr>
              <a:t> </a:t>
            </a:r>
            <a:r>
              <a:rPr sz="2800" spc="-6" dirty="0">
                <a:latin typeface="Arial MT"/>
                <a:cs typeface="Arial MT"/>
              </a:rPr>
              <a:t>supplies</a:t>
            </a:r>
            <a:r>
              <a:rPr sz="2800" spc="12" dirty="0">
                <a:latin typeface="Arial MT"/>
                <a:cs typeface="Arial MT"/>
              </a:rPr>
              <a:t> </a:t>
            </a:r>
            <a:r>
              <a:rPr sz="2800" dirty="0">
                <a:latin typeface="Arial MT"/>
                <a:cs typeface="Arial MT"/>
              </a:rPr>
              <a:t>5</a:t>
            </a:r>
            <a:r>
              <a:rPr sz="2800" spc="-6" dirty="0">
                <a:latin typeface="Arial MT"/>
                <a:cs typeface="Arial MT"/>
              </a:rPr>
              <a:t> volts</a:t>
            </a:r>
            <a:r>
              <a:rPr sz="2800" dirty="0">
                <a:latin typeface="Arial MT"/>
                <a:cs typeface="Arial MT"/>
              </a:rPr>
              <a:t> of</a:t>
            </a:r>
            <a:r>
              <a:rPr sz="2800" spc="-18" dirty="0">
                <a:latin typeface="Arial MT"/>
                <a:cs typeface="Arial MT"/>
              </a:rPr>
              <a:t> </a:t>
            </a:r>
            <a:r>
              <a:rPr sz="2800" spc="-6" dirty="0">
                <a:latin typeface="Arial MT"/>
                <a:cs typeface="Arial MT"/>
              </a:rPr>
              <a:t>power,</a:t>
            </a:r>
            <a:r>
              <a:rPr sz="2800" spc="6" dirty="0">
                <a:latin typeface="Arial MT"/>
                <a:cs typeface="Arial MT"/>
              </a:rPr>
              <a:t> </a:t>
            </a:r>
            <a:r>
              <a:rPr sz="2800" dirty="0">
                <a:latin typeface="Arial MT"/>
                <a:cs typeface="Arial MT"/>
              </a:rPr>
              <a:t>and the</a:t>
            </a:r>
            <a:r>
              <a:rPr sz="2800" spc="-24" dirty="0">
                <a:latin typeface="Arial MT"/>
                <a:cs typeface="Arial MT"/>
              </a:rPr>
              <a:t> </a:t>
            </a:r>
            <a:r>
              <a:rPr sz="2800" dirty="0">
                <a:latin typeface="Arial MT"/>
                <a:cs typeface="Arial MT"/>
              </a:rPr>
              <a:t>3.3V</a:t>
            </a:r>
            <a:r>
              <a:rPr sz="2800" spc="-6" dirty="0">
                <a:latin typeface="Arial MT"/>
                <a:cs typeface="Arial MT"/>
              </a:rPr>
              <a:t> pin</a:t>
            </a:r>
            <a:r>
              <a:rPr sz="2800" spc="6" dirty="0">
                <a:latin typeface="Arial MT"/>
                <a:cs typeface="Arial MT"/>
              </a:rPr>
              <a:t> </a:t>
            </a:r>
            <a:r>
              <a:rPr sz="2800" spc="-6" dirty="0">
                <a:latin typeface="Arial MT"/>
                <a:cs typeface="Arial MT"/>
              </a:rPr>
              <a:t>supplies</a:t>
            </a:r>
            <a:r>
              <a:rPr sz="2800" spc="12" dirty="0">
                <a:latin typeface="Arial MT"/>
                <a:cs typeface="Arial MT"/>
              </a:rPr>
              <a:t> </a:t>
            </a:r>
            <a:r>
              <a:rPr sz="2800" dirty="0">
                <a:latin typeface="Arial MT"/>
                <a:cs typeface="Arial MT"/>
              </a:rPr>
              <a:t>3.3</a:t>
            </a:r>
            <a:r>
              <a:rPr sz="2800" spc="-18" dirty="0">
                <a:latin typeface="Arial MT"/>
                <a:cs typeface="Arial MT"/>
              </a:rPr>
              <a:t> </a:t>
            </a:r>
            <a:r>
              <a:rPr sz="2800" spc="-6" dirty="0">
                <a:latin typeface="Arial MT"/>
                <a:cs typeface="Arial MT"/>
              </a:rPr>
              <a:t>volts</a:t>
            </a:r>
            <a:r>
              <a:rPr sz="2800" spc="12" dirty="0">
                <a:latin typeface="Arial MT"/>
                <a:cs typeface="Arial MT"/>
              </a:rPr>
              <a:t> </a:t>
            </a:r>
            <a:r>
              <a:rPr sz="2800" dirty="0">
                <a:latin typeface="Arial MT"/>
                <a:cs typeface="Arial MT"/>
              </a:rPr>
              <a:t>of</a:t>
            </a:r>
            <a:r>
              <a:rPr sz="2800" spc="-6" dirty="0">
                <a:latin typeface="Arial MT"/>
                <a:cs typeface="Arial MT"/>
              </a:rPr>
              <a:t> power.</a:t>
            </a:r>
            <a:endParaRPr sz="2800" dirty="0">
              <a:latin typeface="Arial MT"/>
              <a:cs typeface="Arial MT"/>
            </a:endParaRPr>
          </a:p>
          <a:p>
            <a:pPr>
              <a:spcBef>
                <a:spcPts val="0"/>
              </a:spcBef>
            </a:pPr>
            <a:endParaRPr sz="2000" dirty="0">
              <a:latin typeface="Arial MT"/>
              <a:cs typeface="Arial MT"/>
            </a:endParaRPr>
          </a:p>
          <a:p>
            <a:pPr marR="367284">
              <a:spcBef>
                <a:spcPts val="0"/>
              </a:spcBef>
            </a:pPr>
            <a:r>
              <a:rPr sz="2800" b="1" spc="-12" dirty="0">
                <a:latin typeface="Arial MT"/>
                <a:cs typeface="Arial"/>
              </a:rPr>
              <a:t>Analog </a:t>
            </a:r>
            <a:r>
              <a:rPr lang="en-US" sz="2800" b="1" spc="-12" dirty="0">
                <a:latin typeface="Arial MT"/>
                <a:cs typeface="Arial"/>
              </a:rPr>
              <a:t>Pins </a:t>
            </a:r>
            <a:r>
              <a:rPr sz="2800" b="1" dirty="0">
                <a:latin typeface="Arial MT"/>
                <a:cs typeface="Arial"/>
              </a:rPr>
              <a:t>(6)</a:t>
            </a:r>
            <a:r>
              <a:rPr sz="2800" dirty="0">
                <a:latin typeface="Arial MT"/>
                <a:cs typeface="Arial MT"/>
              </a:rPr>
              <a:t>: The </a:t>
            </a:r>
            <a:r>
              <a:rPr sz="2800" spc="-6" dirty="0">
                <a:latin typeface="Arial MT"/>
                <a:cs typeface="Arial MT"/>
              </a:rPr>
              <a:t>area of pins under </a:t>
            </a:r>
            <a:r>
              <a:rPr sz="2800" dirty="0">
                <a:latin typeface="Arial MT"/>
                <a:cs typeface="Arial MT"/>
              </a:rPr>
              <a:t>the </a:t>
            </a:r>
            <a:r>
              <a:rPr sz="2800" spc="-6" dirty="0">
                <a:latin typeface="Arial MT"/>
                <a:cs typeface="Arial MT"/>
              </a:rPr>
              <a:t>‘Analog In’ label </a:t>
            </a:r>
            <a:r>
              <a:rPr sz="2800" dirty="0">
                <a:latin typeface="Arial MT"/>
                <a:cs typeface="Arial MT"/>
              </a:rPr>
              <a:t>(A0 </a:t>
            </a:r>
            <a:r>
              <a:rPr sz="2800" spc="-6" dirty="0">
                <a:latin typeface="Arial MT"/>
                <a:cs typeface="Arial MT"/>
              </a:rPr>
              <a:t>through A5 on </a:t>
            </a:r>
            <a:r>
              <a:rPr sz="2800" dirty="0">
                <a:latin typeface="Arial MT"/>
                <a:cs typeface="Arial MT"/>
              </a:rPr>
              <a:t>the </a:t>
            </a:r>
            <a:r>
              <a:rPr sz="2800" spc="-6" dirty="0">
                <a:latin typeface="Arial MT"/>
                <a:cs typeface="Arial MT"/>
              </a:rPr>
              <a:t>UNO) are Analog Input pins. </a:t>
            </a:r>
            <a:r>
              <a:rPr sz="2800" dirty="0">
                <a:latin typeface="Arial MT"/>
                <a:cs typeface="Arial MT"/>
              </a:rPr>
              <a:t>These </a:t>
            </a:r>
            <a:r>
              <a:rPr sz="2800" spc="-6" dirty="0">
                <a:latin typeface="Arial MT"/>
                <a:cs typeface="Arial MT"/>
              </a:rPr>
              <a:t>pins </a:t>
            </a:r>
            <a:r>
              <a:rPr sz="2800" dirty="0">
                <a:latin typeface="Arial MT"/>
                <a:cs typeface="Arial MT"/>
              </a:rPr>
              <a:t>can </a:t>
            </a:r>
            <a:r>
              <a:rPr sz="2800" spc="-6" dirty="0">
                <a:latin typeface="Arial MT"/>
                <a:cs typeface="Arial MT"/>
              </a:rPr>
              <a:t>read the signal</a:t>
            </a:r>
            <a:r>
              <a:rPr sz="2800" dirty="0">
                <a:latin typeface="Arial MT"/>
                <a:cs typeface="Arial MT"/>
              </a:rPr>
              <a:t> </a:t>
            </a:r>
            <a:r>
              <a:rPr sz="2800" spc="6" dirty="0">
                <a:latin typeface="Arial MT"/>
                <a:cs typeface="Arial MT"/>
              </a:rPr>
              <a:t>from</a:t>
            </a:r>
            <a:r>
              <a:rPr sz="2800" spc="-66" dirty="0">
                <a:latin typeface="Arial MT"/>
                <a:cs typeface="Arial MT"/>
              </a:rPr>
              <a:t> </a:t>
            </a:r>
            <a:r>
              <a:rPr sz="2800" dirty="0">
                <a:latin typeface="Arial MT"/>
                <a:cs typeface="Arial MT"/>
              </a:rPr>
              <a:t>an</a:t>
            </a:r>
            <a:r>
              <a:rPr sz="2800" spc="-6" dirty="0">
                <a:latin typeface="Arial MT"/>
                <a:cs typeface="Arial MT"/>
              </a:rPr>
              <a:t> analog</a:t>
            </a:r>
            <a:r>
              <a:rPr sz="2800" dirty="0">
                <a:latin typeface="Arial MT"/>
                <a:cs typeface="Arial MT"/>
              </a:rPr>
              <a:t> sensor</a:t>
            </a:r>
            <a:r>
              <a:rPr sz="2800" spc="-24" dirty="0">
                <a:latin typeface="Arial MT"/>
                <a:cs typeface="Arial MT"/>
              </a:rPr>
              <a:t> </a:t>
            </a:r>
            <a:r>
              <a:rPr sz="2800" spc="-6" dirty="0">
                <a:latin typeface="Arial MT"/>
                <a:cs typeface="Arial MT"/>
              </a:rPr>
              <a:t>(like </a:t>
            </a:r>
            <a:r>
              <a:rPr sz="2800" dirty="0">
                <a:latin typeface="Arial MT"/>
                <a:cs typeface="Arial MT"/>
              </a:rPr>
              <a:t>a</a:t>
            </a:r>
            <a:r>
              <a:rPr sz="2800" spc="-12" dirty="0">
                <a:latin typeface="Arial MT"/>
                <a:cs typeface="Arial MT"/>
              </a:rPr>
              <a:t> </a:t>
            </a:r>
            <a:r>
              <a:rPr sz="2800" dirty="0">
                <a:latin typeface="Arial MT"/>
                <a:cs typeface="Arial MT"/>
              </a:rPr>
              <a:t>temperature</a:t>
            </a:r>
            <a:r>
              <a:rPr sz="2800" spc="-48" dirty="0">
                <a:latin typeface="Arial MT"/>
                <a:cs typeface="Arial MT"/>
              </a:rPr>
              <a:t> </a:t>
            </a:r>
            <a:r>
              <a:rPr sz="2800" dirty="0">
                <a:latin typeface="Arial MT"/>
                <a:cs typeface="Arial MT"/>
              </a:rPr>
              <a:t>sensor)</a:t>
            </a:r>
            <a:r>
              <a:rPr sz="2800" spc="-30" dirty="0">
                <a:latin typeface="Arial MT"/>
                <a:cs typeface="Arial MT"/>
              </a:rPr>
              <a:t> </a:t>
            </a:r>
            <a:r>
              <a:rPr sz="2800" dirty="0">
                <a:latin typeface="Arial MT"/>
                <a:cs typeface="Arial MT"/>
              </a:rPr>
              <a:t>and</a:t>
            </a:r>
            <a:r>
              <a:rPr sz="2800" spc="-12" dirty="0">
                <a:latin typeface="Arial MT"/>
                <a:cs typeface="Arial MT"/>
              </a:rPr>
              <a:t> </a:t>
            </a:r>
            <a:r>
              <a:rPr sz="2800" spc="-6" dirty="0">
                <a:latin typeface="Arial MT"/>
                <a:cs typeface="Arial MT"/>
              </a:rPr>
              <a:t>convert</a:t>
            </a:r>
            <a:r>
              <a:rPr sz="2800" spc="-12" dirty="0">
                <a:latin typeface="Arial MT"/>
                <a:cs typeface="Arial MT"/>
              </a:rPr>
              <a:t> </a:t>
            </a:r>
            <a:r>
              <a:rPr sz="2800" spc="-6" dirty="0">
                <a:latin typeface="Arial MT"/>
                <a:cs typeface="Arial MT"/>
              </a:rPr>
              <a:t>it into </a:t>
            </a:r>
            <a:r>
              <a:rPr sz="2800" dirty="0">
                <a:latin typeface="Arial MT"/>
                <a:cs typeface="Arial MT"/>
              </a:rPr>
              <a:t>a</a:t>
            </a:r>
            <a:r>
              <a:rPr sz="2800" spc="-6" dirty="0">
                <a:latin typeface="Arial MT"/>
                <a:cs typeface="Arial MT"/>
              </a:rPr>
              <a:t> digital</a:t>
            </a:r>
            <a:r>
              <a:rPr sz="2800" spc="-18" dirty="0">
                <a:latin typeface="Arial MT"/>
                <a:cs typeface="Arial MT"/>
              </a:rPr>
              <a:t> </a:t>
            </a:r>
            <a:r>
              <a:rPr sz="2800" spc="-6" dirty="0">
                <a:latin typeface="Arial MT"/>
                <a:cs typeface="Arial MT"/>
              </a:rPr>
              <a:t>value</a:t>
            </a:r>
            <a:r>
              <a:rPr sz="2800" spc="18" dirty="0">
                <a:latin typeface="Arial MT"/>
                <a:cs typeface="Arial MT"/>
              </a:rPr>
              <a:t> </a:t>
            </a:r>
            <a:r>
              <a:rPr sz="2800" dirty="0">
                <a:latin typeface="Arial MT"/>
                <a:cs typeface="Arial MT"/>
              </a:rPr>
              <a:t>that</a:t>
            </a:r>
            <a:r>
              <a:rPr sz="2800" spc="-36" dirty="0">
                <a:latin typeface="Arial MT"/>
                <a:cs typeface="Arial MT"/>
              </a:rPr>
              <a:t> </a:t>
            </a:r>
            <a:r>
              <a:rPr sz="2800" spc="-12" dirty="0">
                <a:latin typeface="Arial MT"/>
                <a:cs typeface="Arial MT"/>
              </a:rPr>
              <a:t>we</a:t>
            </a:r>
            <a:r>
              <a:rPr sz="2800" spc="18" dirty="0">
                <a:latin typeface="Arial MT"/>
                <a:cs typeface="Arial MT"/>
              </a:rPr>
              <a:t> </a:t>
            </a:r>
            <a:r>
              <a:rPr sz="2800" dirty="0">
                <a:latin typeface="Arial MT"/>
                <a:cs typeface="Arial MT"/>
              </a:rPr>
              <a:t>can</a:t>
            </a:r>
            <a:r>
              <a:rPr sz="2800" spc="-6" dirty="0">
                <a:latin typeface="Arial MT"/>
                <a:cs typeface="Arial MT"/>
              </a:rPr>
              <a:t> </a:t>
            </a:r>
            <a:r>
              <a:rPr sz="2800" dirty="0">
                <a:latin typeface="Arial MT"/>
                <a:cs typeface="Arial MT"/>
              </a:rPr>
              <a:t>read.</a:t>
            </a:r>
          </a:p>
        </p:txBody>
      </p:sp>
      <p:sp>
        <p:nvSpPr>
          <p:cNvPr id="3" name="object 3"/>
          <p:cNvSpPr txBox="1">
            <a:spLocks noGrp="1"/>
          </p:cNvSpPr>
          <p:nvPr>
            <p:ph type="title"/>
          </p:nvPr>
        </p:nvSpPr>
        <p:spPr>
          <a:xfrm>
            <a:off x="2133600" y="578743"/>
            <a:ext cx="12186920" cy="753283"/>
          </a:xfrm>
          <a:prstGeom prst="rect">
            <a:avLst/>
          </a:prstGeom>
        </p:spPr>
        <p:txBody>
          <a:bodyPr vert="horz" wrap="square" lIns="0" tIns="14478" rIns="0" bIns="0" numCol="1" rtlCol="0" anchor="ctr" anchorCtr="0" compatLnSpc="1">
            <a:prstTxWarp prst="textNoShape">
              <a:avLst/>
            </a:prstTxWarp>
            <a:spAutoFit/>
          </a:bodyPr>
          <a:lstStyle/>
          <a:p>
            <a:pPr marL="15240">
              <a:spcBef>
                <a:spcPts val="114"/>
              </a:spcBef>
            </a:pPr>
            <a:r>
              <a:rPr sz="4800" b="1" spc="-12" dirty="0">
                <a:latin typeface="+mn-lt"/>
              </a:rPr>
              <a:t>Arduino</a:t>
            </a:r>
            <a:r>
              <a:rPr sz="4800" b="1" spc="12" dirty="0">
                <a:latin typeface="+mn-lt"/>
              </a:rPr>
              <a:t> </a:t>
            </a:r>
            <a:r>
              <a:rPr sz="4800" b="1" spc="-6" dirty="0">
                <a:latin typeface="+mn-lt"/>
              </a:rPr>
              <a:t>U</a:t>
            </a:r>
            <a:r>
              <a:rPr lang="en-US" sz="4800" b="1" spc="-6" dirty="0">
                <a:latin typeface="+mn-lt"/>
              </a:rPr>
              <a:t>NO</a:t>
            </a:r>
            <a:r>
              <a:rPr sz="4800" b="1" dirty="0">
                <a:latin typeface="+mn-lt"/>
              </a:rPr>
              <a:t> </a:t>
            </a:r>
            <a:r>
              <a:rPr lang="en-US" sz="4800" b="1" spc="-12" dirty="0">
                <a:latin typeface="+mn-lt"/>
              </a:rPr>
              <a:t>P</a:t>
            </a:r>
            <a:r>
              <a:rPr sz="4800" b="1" spc="-12" dirty="0">
                <a:latin typeface="+mn-lt"/>
              </a:rPr>
              <a:t>in</a:t>
            </a:r>
            <a:r>
              <a:rPr sz="4800" b="1" spc="12" dirty="0">
                <a:latin typeface="+mn-lt"/>
              </a:rPr>
              <a:t> </a:t>
            </a:r>
            <a:r>
              <a:rPr lang="en-US" sz="4800" b="1" spc="-12" dirty="0">
                <a:latin typeface="+mn-lt"/>
              </a:rPr>
              <a:t>C</a:t>
            </a:r>
            <a:r>
              <a:rPr sz="4800" b="1" spc="-12" dirty="0">
                <a:latin typeface="+mn-lt"/>
              </a:rPr>
              <a:t>onfiguration</a:t>
            </a:r>
          </a:p>
        </p:txBody>
      </p:sp>
      <p:pic>
        <p:nvPicPr>
          <p:cNvPr id="4" name="object 4"/>
          <p:cNvPicPr/>
          <p:nvPr/>
        </p:nvPicPr>
        <p:blipFill rotWithShape="1">
          <a:blip r:embed="rId2" cstate="print"/>
          <a:srcRect l="1304" t="10609" r="1687" b="8512"/>
          <a:stretch/>
        </p:blipFill>
        <p:spPr>
          <a:xfrm>
            <a:off x="11117179" y="1752600"/>
            <a:ext cx="5069306" cy="3088447"/>
          </a:xfrm>
          <a:prstGeom prst="rect">
            <a:avLst/>
          </a:prstGeom>
        </p:spPr>
      </p:pic>
      <p:sp>
        <p:nvSpPr>
          <p:cNvPr id="5" name="Rectangle 4"/>
          <p:cNvSpPr/>
          <p:nvPr/>
        </p:nvSpPr>
        <p:spPr>
          <a:xfrm>
            <a:off x="11049001" y="2438400"/>
            <a:ext cx="1371599" cy="609600"/>
          </a:xfrm>
          <a:prstGeom prst="rect">
            <a:avLst/>
          </a:prstGeom>
          <a:noFill/>
          <a:ln w="3810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049001" y="3886200"/>
            <a:ext cx="1371599" cy="457200"/>
          </a:xfrm>
          <a:prstGeom prst="rect">
            <a:avLst/>
          </a:prstGeom>
          <a:noFill/>
          <a:ln w="3810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3563601" y="4255510"/>
            <a:ext cx="990600" cy="609600"/>
          </a:xfrm>
          <a:prstGeom prst="rect">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622379" y="4090737"/>
            <a:ext cx="1303421" cy="750310"/>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688149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
                                            <p:txEl>
                                              <p:pRg st="0" end="0"/>
                                            </p:txEl>
                                          </p:spTgt>
                                        </p:tgtEl>
                                        <p:attrNameLst>
                                          <p:attrName>style.color</p:attrName>
                                        </p:attrNameLst>
                                      </p:cBhvr>
                                      <p:to>
                                        <a:schemeClr val="accent2"/>
                                      </p:to>
                                    </p:animClr>
                                    <p:animClr clrSpc="rgb" dir="cw">
                                      <p:cBhvr>
                                        <p:cTn id="7" dur="500" fill="hold"/>
                                        <p:tgtEl>
                                          <p:spTgt spid="2">
                                            <p:txEl>
                                              <p:pRg st="0" end="0"/>
                                            </p:txEl>
                                          </p:spTgt>
                                        </p:tgtEl>
                                        <p:attrNameLst>
                                          <p:attrName>fillcolor</p:attrName>
                                        </p:attrNameLst>
                                      </p:cBhvr>
                                      <p:to>
                                        <a:schemeClr val="accent2"/>
                                      </p:to>
                                    </p:animClr>
                                    <p:set>
                                      <p:cBhvr>
                                        <p:cTn id="8" dur="500" fill="hold"/>
                                        <p:tgtEl>
                                          <p:spTgt spid="2">
                                            <p:txEl>
                                              <p:pRg st="0" end="0"/>
                                            </p:txEl>
                                          </p:spTgt>
                                        </p:tgtEl>
                                        <p:attrNameLst>
                                          <p:attrName>fill.type</p:attrName>
                                        </p:attrNameLst>
                                      </p:cBhvr>
                                      <p:to>
                                        <p:strVal val="solid"/>
                                      </p:to>
                                    </p:set>
                                    <p:set>
                                      <p:cBhvr>
                                        <p:cTn id="9" dur="500" fill="hold"/>
                                        <p:tgtEl>
                                          <p:spTgt spid="2">
                                            <p:txEl>
                                              <p:pRg st="0" end="0"/>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2">
                                            <p:txEl>
                                              <p:pRg st="1" end="1"/>
                                            </p:txEl>
                                          </p:spTgt>
                                        </p:tgtEl>
                                        <p:attrNameLst>
                                          <p:attrName>style.color</p:attrName>
                                        </p:attrNameLst>
                                      </p:cBhvr>
                                      <p:to>
                                        <a:schemeClr val="accent2"/>
                                      </p:to>
                                    </p:animClr>
                                    <p:animClr clrSpc="rgb" dir="cw">
                                      <p:cBhvr>
                                        <p:cTn id="12" dur="500" fill="hold"/>
                                        <p:tgtEl>
                                          <p:spTgt spid="2">
                                            <p:txEl>
                                              <p:pRg st="1" end="1"/>
                                            </p:txEl>
                                          </p:spTgt>
                                        </p:tgtEl>
                                        <p:attrNameLst>
                                          <p:attrName>fillcolor</p:attrName>
                                        </p:attrNameLst>
                                      </p:cBhvr>
                                      <p:to>
                                        <a:schemeClr val="accent2"/>
                                      </p:to>
                                    </p:animClr>
                                    <p:set>
                                      <p:cBhvr>
                                        <p:cTn id="13" dur="500" fill="hold"/>
                                        <p:tgtEl>
                                          <p:spTgt spid="2">
                                            <p:txEl>
                                              <p:pRg st="1" end="1"/>
                                            </p:txEl>
                                          </p:spTgt>
                                        </p:tgtEl>
                                        <p:attrNameLst>
                                          <p:attrName>fill.type</p:attrName>
                                        </p:attrNameLst>
                                      </p:cBhvr>
                                      <p:to>
                                        <p:strVal val="solid"/>
                                      </p:to>
                                    </p:set>
                                    <p:set>
                                      <p:cBhvr>
                                        <p:cTn id="14" dur="500" fill="hold"/>
                                        <p:tgtEl>
                                          <p:spTgt spid="2">
                                            <p:txEl>
                                              <p:pRg st="1" end="1"/>
                                            </p:txEl>
                                          </p:spTgt>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heel(1)">
                                      <p:cBhvr>
                                        <p:cTn id="24" dur="2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9" presetClass="emph" presetSubtype="0" fill="hold" nodeType="clickEffect">
                                  <p:stCondLst>
                                    <p:cond delay="0"/>
                                  </p:stCondLst>
                                  <p:childTnLst>
                                    <p:animClr clrSpc="rgb" dir="cw">
                                      <p:cBhvr override="childStyle">
                                        <p:cTn id="28" dur="500" fill="hold"/>
                                        <p:tgtEl>
                                          <p:spTgt spid="2">
                                            <p:txEl>
                                              <p:pRg st="3" end="3"/>
                                            </p:txEl>
                                          </p:spTgt>
                                        </p:tgtEl>
                                        <p:attrNameLst>
                                          <p:attrName>style.color</p:attrName>
                                        </p:attrNameLst>
                                      </p:cBhvr>
                                      <p:to>
                                        <a:srgbClr val="00B050"/>
                                      </p:to>
                                    </p:animClr>
                                    <p:animClr clrSpc="rgb" dir="cw">
                                      <p:cBhvr>
                                        <p:cTn id="29" dur="500" fill="hold"/>
                                        <p:tgtEl>
                                          <p:spTgt spid="2">
                                            <p:txEl>
                                              <p:pRg st="3" end="3"/>
                                            </p:txEl>
                                          </p:spTgt>
                                        </p:tgtEl>
                                        <p:attrNameLst>
                                          <p:attrName>fillcolor</p:attrName>
                                        </p:attrNameLst>
                                      </p:cBhvr>
                                      <p:to>
                                        <a:srgbClr val="00B050"/>
                                      </p:to>
                                    </p:animClr>
                                    <p:set>
                                      <p:cBhvr>
                                        <p:cTn id="30" dur="500" fill="hold"/>
                                        <p:tgtEl>
                                          <p:spTgt spid="2">
                                            <p:txEl>
                                              <p:pRg st="3" end="3"/>
                                            </p:txEl>
                                          </p:spTgt>
                                        </p:tgtEl>
                                        <p:attrNameLst>
                                          <p:attrName>fill.type</p:attrName>
                                        </p:attrNameLst>
                                      </p:cBhvr>
                                      <p:to>
                                        <p:strVal val="solid"/>
                                      </p:to>
                                    </p:set>
                                    <p:set>
                                      <p:cBhvr>
                                        <p:cTn id="31" dur="500" fill="hold"/>
                                        <p:tgtEl>
                                          <p:spTgt spid="2">
                                            <p:txEl>
                                              <p:pRg st="3" end="3"/>
                                            </p:txEl>
                                          </p:spTgt>
                                        </p:tgtEl>
                                        <p:attrNameLst>
                                          <p:attrName>fill.on</p:attrName>
                                        </p:attrNameLst>
                                      </p:cBhvr>
                                      <p:to>
                                        <p:strVal val="true"/>
                                      </p:to>
                                    </p:set>
                                  </p:childTnLst>
                                </p:cTn>
                              </p:par>
                              <p:par>
                                <p:cTn id="32" presetID="19" presetClass="emph" presetSubtype="0" fill="hold" nodeType="withEffect">
                                  <p:stCondLst>
                                    <p:cond delay="0"/>
                                  </p:stCondLst>
                                  <p:childTnLst>
                                    <p:animClr clrSpc="rgb" dir="cw">
                                      <p:cBhvr override="childStyle">
                                        <p:cTn id="33" dur="500" fill="hold"/>
                                        <p:tgtEl>
                                          <p:spTgt spid="2">
                                            <p:txEl>
                                              <p:pRg st="5" end="5"/>
                                            </p:txEl>
                                          </p:spTgt>
                                        </p:tgtEl>
                                        <p:attrNameLst>
                                          <p:attrName>style.color</p:attrName>
                                        </p:attrNameLst>
                                      </p:cBhvr>
                                      <p:to>
                                        <a:srgbClr val="00B050"/>
                                      </p:to>
                                    </p:animClr>
                                    <p:animClr clrSpc="rgb" dir="cw">
                                      <p:cBhvr>
                                        <p:cTn id="34" dur="500" fill="hold"/>
                                        <p:tgtEl>
                                          <p:spTgt spid="2">
                                            <p:txEl>
                                              <p:pRg st="5" end="5"/>
                                            </p:txEl>
                                          </p:spTgt>
                                        </p:tgtEl>
                                        <p:attrNameLst>
                                          <p:attrName>fillcolor</p:attrName>
                                        </p:attrNameLst>
                                      </p:cBhvr>
                                      <p:to>
                                        <a:srgbClr val="00B050"/>
                                      </p:to>
                                    </p:animClr>
                                    <p:set>
                                      <p:cBhvr>
                                        <p:cTn id="35" dur="500" fill="hold"/>
                                        <p:tgtEl>
                                          <p:spTgt spid="2">
                                            <p:txEl>
                                              <p:pRg st="5" end="5"/>
                                            </p:txEl>
                                          </p:spTgt>
                                        </p:tgtEl>
                                        <p:attrNameLst>
                                          <p:attrName>fill.type</p:attrName>
                                        </p:attrNameLst>
                                      </p:cBhvr>
                                      <p:to>
                                        <p:strVal val="solid"/>
                                      </p:to>
                                    </p:set>
                                    <p:set>
                                      <p:cBhvr>
                                        <p:cTn id="36" dur="500" fill="hold"/>
                                        <p:tgtEl>
                                          <p:spTgt spid="2">
                                            <p:txEl>
                                              <p:pRg st="5" end="5"/>
                                            </p:txEl>
                                          </p:spTgt>
                                        </p:tgtEl>
                                        <p:attrNameLst>
                                          <p:attrName>fill.on</p:attrName>
                                        </p:attrNameLst>
                                      </p:cBhvr>
                                      <p:to>
                                        <p:strVal val="true"/>
                                      </p:to>
                                    </p:se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heel(1)">
                                      <p:cBhvr>
                                        <p:cTn id="41" dur="20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9" presetClass="emph" presetSubtype="0" fill="hold" nodeType="clickEffect">
                                  <p:stCondLst>
                                    <p:cond delay="0"/>
                                  </p:stCondLst>
                                  <p:childTnLst>
                                    <p:animClr clrSpc="rgb" dir="cw">
                                      <p:cBhvr override="childStyle">
                                        <p:cTn id="45" dur="500" fill="hold"/>
                                        <p:tgtEl>
                                          <p:spTgt spid="2">
                                            <p:txEl>
                                              <p:pRg st="7" end="7"/>
                                            </p:txEl>
                                          </p:spTgt>
                                        </p:tgtEl>
                                        <p:attrNameLst>
                                          <p:attrName>style.color</p:attrName>
                                        </p:attrNameLst>
                                      </p:cBhvr>
                                      <p:to>
                                        <a:srgbClr val="FF0000"/>
                                      </p:to>
                                    </p:animClr>
                                    <p:animClr clrSpc="rgb" dir="cw">
                                      <p:cBhvr>
                                        <p:cTn id="46" dur="500" fill="hold"/>
                                        <p:tgtEl>
                                          <p:spTgt spid="2">
                                            <p:txEl>
                                              <p:pRg st="7" end="7"/>
                                            </p:txEl>
                                          </p:spTgt>
                                        </p:tgtEl>
                                        <p:attrNameLst>
                                          <p:attrName>fillcolor</p:attrName>
                                        </p:attrNameLst>
                                      </p:cBhvr>
                                      <p:to>
                                        <a:srgbClr val="FF0000"/>
                                      </p:to>
                                    </p:animClr>
                                    <p:set>
                                      <p:cBhvr>
                                        <p:cTn id="47" dur="500" fill="hold"/>
                                        <p:tgtEl>
                                          <p:spTgt spid="2">
                                            <p:txEl>
                                              <p:pRg st="7" end="7"/>
                                            </p:txEl>
                                          </p:spTgt>
                                        </p:tgtEl>
                                        <p:attrNameLst>
                                          <p:attrName>fill.type</p:attrName>
                                        </p:attrNameLst>
                                      </p:cBhvr>
                                      <p:to>
                                        <p:strVal val="solid"/>
                                      </p:to>
                                    </p:set>
                                    <p:set>
                                      <p:cBhvr>
                                        <p:cTn id="48" dur="500" fill="hold"/>
                                        <p:tgtEl>
                                          <p:spTgt spid="2">
                                            <p:txEl>
                                              <p:pRg st="7" end="7"/>
                                            </p:txEl>
                                          </p:spTgt>
                                        </p:tgtEl>
                                        <p:attrNameLst>
                                          <p:attrName>fill.on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heel(1)">
                                      <p:cBhvr>
                                        <p:cTn id="5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1676400"/>
            <a:ext cx="10668000" cy="5663858"/>
          </a:xfrm>
          <a:prstGeom prst="rect">
            <a:avLst/>
          </a:prstGeom>
        </p:spPr>
        <p:txBody>
          <a:bodyPr vert="horz" wrap="square" lIns="0" tIns="16002" rIns="0" bIns="0" rtlCol="0">
            <a:spAutoFit/>
          </a:bodyPr>
          <a:lstStyle/>
          <a:p>
            <a:pPr>
              <a:spcBef>
                <a:spcPts val="0"/>
              </a:spcBef>
              <a:spcAft>
                <a:spcPts val="600"/>
              </a:spcAft>
            </a:pPr>
            <a:r>
              <a:rPr sz="3200" b="1" dirty="0">
                <a:latin typeface="Arial MT"/>
                <a:cs typeface="Arial"/>
              </a:rPr>
              <a:t>Digital</a:t>
            </a:r>
            <a:r>
              <a:rPr sz="3200" b="1" spc="-48" dirty="0">
                <a:latin typeface="Arial MT"/>
                <a:cs typeface="Arial"/>
              </a:rPr>
              <a:t> </a:t>
            </a:r>
            <a:r>
              <a:rPr sz="3200" b="1" dirty="0">
                <a:latin typeface="Arial MT"/>
                <a:cs typeface="Arial"/>
              </a:rPr>
              <a:t>(7)</a:t>
            </a:r>
            <a:r>
              <a:rPr sz="3200" dirty="0">
                <a:latin typeface="Arial MT"/>
                <a:cs typeface="Arial MT"/>
              </a:rPr>
              <a:t>:</a:t>
            </a:r>
            <a:r>
              <a:rPr sz="3200" spc="-30" dirty="0">
                <a:latin typeface="Arial MT"/>
                <a:cs typeface="Arial MT"/>
              </a:rPr>
              <a:t> </a:t>
            </a:r>
            <a:r>
              <a:rPr sz="3200" dirty="0">
                <a:latin typeface="Arial MT"/>
                <a:cs typeface="Arial MT"/>
              </a:rPr>
              <a:t>Across</a:t>
            </a:r>
            <a:r>
              <a:rPr sz="3200" spc="-18" dirty="0">
                <a:latin typeface="Arial MT"/>
                <a:cs typeface="Arial MT"/>
              </a:rPr>
              <a:t> </a:t>
            </a:r>
            <a:r>
              <a:rPr sz="3200" spc="6" dirty="0">
                <a:latin typeface="Arial MT"/>
                <a:cs typeface="Arial MT"/>
              </a:rPr>
              <a:t>from</a:t>
            </a:r>
            <a:r>
              <a:rPr sz="3200" spc="-60" dirty="0">
                <a:latin typeface="Arial MT"/>
                <a:cs typeface="Arial MT"/>
              </a:rPr>
              <a:t> </a:t>
            </a:r>
            <a:r>
              <a:rPr sz="3200" dirty="0">
                <a:latin typeface="Arial MT"/>
                <a:cs typeface="Arial MT"/>
              </a:rPr>
              <a:t>the</a:t>
            </a:r>
            <a:r>
              <a:rPr sz="3200" spc="-24" dirty="0">
                <a:latin typeface="Arial MT"/>
                <a:cs typeface="Arial MT"/>
              </a:rPr>
              <a:t> </a:t>
            </a:r>
            <a:r>
              <a:rPr sz="3200" spc="-6" dirty="0">
                <a:latin typeface="Arial MT"/>
                <a:cs typeface="Arial MT"/>
              </a:rPr>
              <a:t>analog</a:t>
            </a:r>
            <a:r>
              <a:rPr sz="3200" spc="6" dirty="0">
                <a:latin typeface="Arial MT"/>
                <a:cs typeface="Arial MT"/>
              </a:rPr>
              <a:t> </a:t>
            </a:r>
            <a:r>
              <a:rPr sz="3200" spc="-6" dirty="0">
                <a:latin typeface="Arial MT"/>
                <a:cs typeface="Arial MT"/>
              </a:rPr>
              <a:t>pins</a:t>
            </a:r>
            <a:r>
              <a:rPr sz="3200" spc="6" dirty="0">
                <a:latin typeface="Arial MT"/>
                <a:cs typeface="Arial MT"/>
              </a:rPr>
              <a:t> </a:t>
            </a:r>
            <a:r>
              <a:rPr sz="3200" dirty="0">
                <a:latin typeface="Arial MT"/>
                <a:cs typeface="Arial MT"/>
              </a:rPr>
              <a:t>are</a:t>
            </a:r>
            <a:r>
              <a:rPr sz="3200" spc="-18" dirty="0">
                <a:latin typeface="Arial MT"/>
                <a:cs typeface="Arial MT"/>
              </a:rPr>
              <a:t> </a:t>
            </a:r>
            <a:r>
              <a:rPr sz="3200" dirty="0">
                <a:latin typeface="Arial MT"/>
                <a:cs typeface="Arial MT"/>
              </a:rPr>
              <a:t>the</a:t>
            </a:r>
            <a:r>
              <a:rPr sz="3200" spc="-24" dirty="0">
                <a:latin typeface="Arial MT"/>
                <a:cs typeface="Arial MT"/>
              </a:rPr>
              <a:t> </a:t>
            </a:r>
            <a:r>
              <a:rPr sz="3200" spc="-6" dirty="0">
                <a:latin typeface="Arial MT"/>
                <a:cs typeface="Arial MT"/>
              </a:rPr>
              <a:t>digital</a:t>
            </a:r>
            <a:r>
              <a:rPr sz="3200" dirty="0">
                <a:latin typeface="Arial MT"/>
                <a:cs typeface="Arial MT"/>
              </a:rPr>
              <a:t> </a:t>
            </a:r>
            <a:r>
              <a:rPr sz="3200" spc="-6" dirty="0">
                <a:latin typeface="Arial MT"/>
                <a:cs typeface="Arial MT"/>
              </a:rPr>
              <a:t>pins</a:t>
            </a:r>
            <a:r>
              <a:rPr sz="3200" spc="6" dirty="0">
                <a:latin typeface="Arial MT"/>
                <a:cs typeface="Arial MT"/>
              </a:rPr>
              <a:t> </a:t>
            </a:r>
            <a:r>
              <a:rPr sz="3200" dirty="0">
                <a:latin typeface="Arial MT"/>
                <a:cs typeface="Arial MT"/>
              </a:rPr>
              <a:t>(0</a:t>
            </a:r>
            <a:r>
              <a:rPr sz="3200" spc="-18" dirty="0">
                <a:latin typeface="Arial MT"/>
                <a:cs typeface="Arial MT"/>
              </a:rPr>
              <a:t> </a:t>
            </a:r>
            <a:r>
              <a:rPr sz="3200" dirty="0">
                <a:latin typeface="Arial MT"/>
                <a:cs typeface="Arial MT"/>
              </a:rPr>
              <a:t>through</a:t>
            </a:r>
            <a:r>
              <a:rPr sz="3200" spc="-48" dirty="0">
                <a:latin typeface="Arial MT"/>
                <a:cs typeface="Arial MT"/>
              </a:rPr>
              <a:t> </a:t>
            </a:r>
            <a:r>
              <a:rPr sz="3200" dirty="0">
                <a:latin typeface="Arial MT"/>
                <a:cs typeface="Arial MT"/>
              </a:rPr>
              <a:t>13</a:t>
            </a:r>
            <a:r>
              <a:rPr sz="3200" spc="6" dirty="0">
                <a:latin typeface="Arial MT"/>
                <a:cs typeface="Arial MT"/>
              </a:rPr>
              <a:t> </a:t>
            </a:r>
            <a:r>
              <a:rPr sz="3200" dirty="0">
                <a:latin typeface="Arial MT"/>
                <a:cs typeface="Arial MT"/>
              </a:rPr>
              <a:t>on</a:t>
            </a:r>
            <a:r>
              <a:rPr sz="3200" spc="-6" dirty="0">
                <a:latin typeface="Arial MT"/>
                <a:cs typeface="Arial MT"/>
              </a:rPr>
              <a:t> </a:t>
            </a:r>
            <a:r>
              <a:rPr sz="3200" dirty="0">
                <a:latin typeface="Arial MT"/>
                <a:cs typeface="Arial MT"/>
              </a:rPr>
              <a:t>the</a:t>
            </a:r>
            <a:r>
              <a:rPr sz="3200" spc="-24" dirty="0">
                <a:latin typeface="Arial MT"/>
                <a:cs typeface="Arial MT"/>
              </a:rPr>
              <a:t> </a:t>
            </a:r>
            <a:r>
              <a:rPr sz="3200" spc="-6" dirty="0">
                <a:latin typeface="Arial MT"/>
                <a:cs typeface="Arial MT"/>
              </a:rPr>
              <a:t>UNO).</a:t>
            </a:r>
            <a:endParaRPr sz="3200" dirty="0">
              <a:latin typeface="Arial MT"/>
              <a:cs typeface="Arial MT"/>
            </a:endParaRPr>
          </a:p>
          <a:p>
            <a:pPr>
              <a:spcBef>
                <a:spcPts val="0"/>
              </a:spcBef>
              <a:spcAft>
                <a:spcPts val="600"/>
              </a:spcAft>
            </a:pPr>
            <a:r>
              <a:rPr sz="3200" b="1" dirty="0">
                <a:latin typeface="Arial MT"/>
                <a:cs typeface="Arial"/>
              </a:rPr>
              <a:t>PWM</a:t>
            </a:r>
            <a:r>
              <a:rPr sz="3200" b="1" spc="-18" dirty="0">
                <a:latin typeface="Arial MT"/>
                <a:cs typeface="Arial"/>
              </a:rPr>
              <a:t> </a:t>
            </a:r>
            <a:r>
              <a:rPr sz="3200" b="1" dirty="0">
                <a:latin typeface="Arial MT"/>
                <a:cs typeface="Arial"/>
              </a:rPr>
              <a:t>(8)</a:t>
            </a:r>
            <a:r>
              <a:rPr sz="3200" dirty="0">
                <a:latin typeface="Arial MT"/>
                <a:cs typeface="Arial MT"/>
              </a:rPr>
              <a:t>:</a:t>
            </a:r>
            <a:r>
              <a:rPr sz="3200" spc="-42" dirty="0">
                <a:latin typeface="Arial MT"/>
                <a:cs typeface="Arial MT"/>
              </a:rPr>
              <a:t> </a:t>
            </a:r>
            <a:r>
              <a:rPr sz="3200" dirty="0">
                <a:latin typeface="Arial MT"/>
                <a:cs typeface="Arial MT"/>
              </a:rPr>
              <a:t>You</a:t>
            </a:r>
            <a:r>
              <a:rPr sz="3200" spc="6" dirty="0">
                <a:latin typeface="Arial MT"/>
                <a:cs typeface="Arial MT"/>
              </a:rPr>
              <a:t> </a:t>
            </a:r>
            <a:r>
              <a:rPr sz="3200" dirty="0">
                <a:latin typeface="Arial MT"/>
                <a:cs typeface="Arial MT"/>
              </a:rPr>
              <a:t>may</a:t>
            </a:r>
            <a:r>
              <a:rPr sz="3200" spc="-18" dirty="0">
                <a:latin typeface="Arial MT"/>
                <a:cs typeface="Arial MT"/>
              </a:rPr>
              <a:t> </a:t>
            </a:r>
            <a:r>
              <a:rPr sz="3200" spc="-6" dirty="0">
                <a:latin typeface="Arial MT"/>
                <a:cs typeface="Arial MT"/>
              </a:rPr>
              <a:t>have</a:t>
            </a:r>
            <a:r>
              <a:rPr sz="3200" spc="6" dirty="0">
                <a:latin typeface="Arial MT"/>
                <a:cs typeface="Arial MT"/>
              </a:rPr>
              <a:t> </a:t>
            </a:r>
            <a:r>
              <a:rPr sz="3200" dirty="0">
                <a:latin typeface="Arial MT"/>
                <a:cs typeface="Arial MT"/>
              </a:rPr>
              <a:t>noticed</a:t>
            </a:r>
            <a:r>
              <a:rPr sz="3200" spc="-6" dirty="0">
                <a:latin typeface="Arial MT"/>
                <a:cs typeface="Arial MT"/>
              </a:rPr>
              <a:t> </a:t>
            </a:r>
            <a:r>
              <a:rPr sz="3200" dirty="0">
                <a:latin typeface="Arial MT"/>
                <a:cs typeface="Arial MT"/>
              </a:rPr>
              <a:t>the</a:t>
            </a:r>
            <a:r>
              <a:rPr sz="3200" spc="-24" dirty="0">
                <a:latin typeface="Arial MT"/>
                <a:cs typeface="Arial MT"/>
              </a:rPr>
              <a:t> </a:t>
            </a:r>
            <a:r>
              <a:rPr sz="3200" spc="-6" dirty="0">
                <a:latin typeface="Arial MT"/>
                <a:cs typeface="Arial MT"/>
              </a:rPr>
              <a:t>tilde</a:t>
            </a:r>
            <a:r>
              <a:rPr sz="3200" spc="6" dirty="0">
                <a:latin typeface="Arial MT"/>
                <a:cs typeface="Arial MT"/>
              </a:rPr>
              <a:t> </a:t>
            </a:r>
            <a:r>
              <a:rPr sz="3200" dirty="0">
                <a:latin typeface="Arial MT"/>
                <a:cs typeface="Arial MT"/>
              </a:rPr>
              <a:t>(~)</a:t>
            </a:r>
            <a:r>
              <a:rPr sz="3200" spc="-48" dirty="0">
                <a:latin typeface="Arial MT"/>
                <a:cs typeface="Arial MT"/>
              </a:rPr>
              <a:t> </a:t>
            </a:r>
            <a:r>
              <a:rPr lang="en-US" sz="3200" spc="-48" dirty="0">
                <a:latin typeface="Arial MT"/>
                <a:cs typeface="Arial MT"/>
              </a:rPr>
              <a:t>sign </a:t>
            </a:r>
            <a:r>
              <a:rPr sz="3200" spc="-6" dirty="0">
                <a:latin typeface="Arial MT"/>
                <a:cs typeface="Arial MT"/>
              </a:rPr>
              <a:t>next</a:t>
            </a:r>
            <a:r>
              <a:rPr sz="3200" dirty="0">
                <a:latin typeface="Arial MT"/>
                <a:cs typeface="Arial MT"/>
              </a:rPr>
              <a:t> to</a:t>
            </a:r>
            <a:r>
              <a:rPr sz="3200" spc="-18" dirty="0">
                <a:latin typeface="Arial MT"/>
                <a:cs typeface="Arial MT"/>
              </a:rPr>
              <a:t> </a:t>
            </a:r>
            <a:r>
              <a:rPr sz="3200" dirty="0">
                <a:latin typeface="Arial MT"/>
                <a:cs typeface="Arial MT"/>
              </a:rPr>
              <a:t>some</a:t>
            </a:r>
            <a:r>
              <a:rPr sz="3200" spc="-18" dirty="0">
                <a:latin typeface="Arial MT"/>
                <a:cs typeface="Arial MT"/>
              </a:rPr>
              <a:t> </a:t>
            </a:r>
            <a:r>
              <a:rPr sz="3200" dirty="0">
                <a:latin typeface="Arial MT"/>
                <a:cs typeface="Arial MT"/>
              </a:rPr>
              <a:t>of</a:t>
            </a:r>
            <a:r>
              <a:rPr sz="3200" spc="-18" dirty="0">
                <a:latin typeface="Arial MT"/>
                <a:cs typeface="Arial MT"/>
              </a:rPr>
              <a:t> </a:t>
            </a:r>
            <a:r>
              <a:rPr sz="3200" dirty="0">
                <a:latin typeface="Arial MT"/>
                <a:cs typeface="Arial MT"/>
              </a:rPr>
              <a:t>the</a:t>
            </a:r>
            <a:r>
              <a:rPr sz="3200" spc="-24" dirty="0">
                <a:latin typeface="Arial MT"/>
                <a:cs typeface="Arial MT"/>
              </a:rPr>
              <a:t> </a:t>
            </a:r>
            <a:r>
              <a:rPr sz="3200" spc="-6" dirty="0">
                <a:latin typeface="Arial MT"/>
                <a:cs typeface="Arial MT"/>
              </a:rPr>
              <a:t>digital</a:t>
            </a:r>
            <a:r>
              <a:rPr sz="3200" dirty="0">
                <a:latin typeface="Arial MT"/>
                <a:cs typeface="Arial MT"/>
              </a:rPr>
              <a:t> </a:t>
            </a:r>
            <a:r>
              <a:rPr sz="3200" spc="-6" dirty="0">
                <a:latin typeface="Arial MT"/>
                <a:cs typeface="Arial MT"/>
              </a:rPr>
              <a:t>pins </a:t>
            </a:r>
            <a:r>
              <a:rPr sz="3200" dirty="0">
                <a:latin typeface="Arial MT"/>
                <a:cs typeface="Arial MT"/>
              </a:rPr>
              <a:t>(3,</a:t>
            </a:r>
            <a:r>
              <a:rPr sz="3200" spc="-18" dirty="0">
                <a:latin typeface="Arial MT"/>
                <a:cs typeface="Arial MT"/>
              </a:rPr>
              <a:t> </a:t>
            </a:r>
            <a:r>
              <a:rPr sz="3200" dirty="0">
                <a:latin typeface="Arial MT"/>
                <a:cs typeface="Arial MT"/>
              </a:rPr>
              <a:t>5,</a:t>
            </a:r>
            <a:r>
              <a:rPr sz="3200" spc="-12" dirty="0">
                <a:latin typeface="Arial MT"/>
                <a:cs typeface="Arial MT"/>
              </a:rPr>
              <a:t> </a:t>
            </a:r>
            <a:r>
              <a:rPr sz="3200" dirty="0">
                <a:latin typeface="Arial MT"/>
                <a:cs typeface="Arial MT"/>
              </a:rPr>
              <a:t>6,</a:t>
            </a:r>
            <a:r>
              <a:rPr sz="3200" spc="-12" dirty="0">
                <a:latin typeface="Arial MT"/>
                <a:cs typeface="Arial MT"/>
              </a:rPr>
              <a:t> </a:t>
            </a:r>
            <a:r>
              <a:rPr sz="3200" dirty="0">
                <a:latin typeface="Arial MT"/>
                <a:cs typeface="Arial MT"/>
              </a:rPr>
              <a:t>9,</a:t>
            </a:r>
            <a:r>
              <a:rPr sz="3200" spc="-12" dirty="0">
                <a:latin typeface="Arial MT"/>
                <a:cs typeface="Arial MT"/>
              </a:rPr>
              <a:t> </a:t>
            </a:r>
            <a:r>
              <a:rPr sz="3200" dirty="0">
                <a:latin typeface="Arial MT"/>
                <a:cs typeface="Arial MT"/>
              </a:rPr>
              <a:t>10,</a:t>
            </a:r>
            <a:r>
              <a:rPr sz="3200" spc="-12" dirty="0">
                <a:latin typeface="Arial MT"/>
                <a:cs typeface="Arial MT"/>
              </a:rPr>
              <a:t> </a:t>
            </a:r>
            <a:r>
              <a:rPr sz="3200" dirty="0">
                <a:latin typeface="Arial MT"/>
                <a:cs typeface="Arial MT"/>
              </a:rPr>
              <a:t>and</a:t>
            </a:r>
            <a:r>
              <a:rPr sz="3200" spc="-6" dirty="0">
                <a:latin typeface="Arial MT"/>
                <a:cs typeface="Arial MT"/>
              </a:rPr>
              <a:t> </a:t>
            </a:r>
            <a:r>
              <a:rPr sz="3200" dirty="0">
                <a:latin typeface="Arial MT"/>
                <a:cs typeface="Arial MT"/>
              </a:rPr>
              <a:t>11</a:t>
            </a:r>
            <a:r>
              <a:rPr sz="3200" spc="-6" dirty="0">
                <a:latin typeface="Arial MT"/>
                <a:cs typeface="Arial MT"/>
              </a:rPr>
              <a:t> </a:t>
            </a:r>
            <a:r>
              <a:rPr sz="3200" dirty="0">
                <a:latin typeface="Arial MT"/>
                <a:cs typeface="Arial MT"/>
              </a:rPr>
              <a:t>on</a:t>
            </a:r>
            <a:r>
              <a:rPr sz="3200" spc="-6" dirty="0">
                <a:latin typeface="Arial MT"/>
                <a:cs typeface="Arial MT"/>
              </a:rPr>
              <a:t> </a:t>
            </a:r>
            <a:r>
              <a:rPr sz="3200" dirty="0">
                <a:latin typeface="Arial MT"/>
                <a:cs typeface="Arial MT"/>
              </a:rPr>
              <a:t>the</a:t>
            </a:r>
            <a:r>
              <a:rPr sz="3200" spc="-24" dirty="0">
                <a:latin typeface="Arial MT"/>
                <a:cs typeface="Arial MT"/>
              </a:rPr>
              <a:t> </a:t>
            </a:r>
            <a:r>
              <a:rPr sz="3200" spc="-6" dirty="0">
                <a:latin typeface="Arial MT"/>
                <a:cs typeface="Arial MT"/>
              </a:rPr>
              <a:t>UNO).</a:t>
            </a:r>
            <a:r>
              <a:rPr sz="3200" spc="-18" dirty="0">
                <a:latin typeface="Arial MT"/>
                <a:cs typeface="Arial MT"/>
              </a:rPr>
              <a:t> </a:t>
            </a:r>
            <a:endParaRPr lang="en-US" sz="3200" spc="-18" dirty="0">
              <a:latin typeface="Arial MT"/>
              <a:cs typeface="Arial MT"/>
            </a:endParaRPr>
          </a:p>
          <a:p>
            <a:pPr>
              <a:spcBef>
                <a:spcPts val="0"/>
              </a:spcBef>
              <a:spcAft>
                <a:spcPts val="600"/>
              </a:spcAft>
            </a:pPr>
            <a:r>
              <a:rPr sz="3200" dirty="0">
                <a:latin typeface="Arial MT"/>
                <a:cs typeface="Arial MT"/>
              </a:rPr>
              <a:t>These</a:t>
            </a:r>
            <a:r>
              <a:rPr sz="3200" spc="-18" dirty="0">
                <a:latin typeface="Arial MT"/>
                <a:cs typeface="Arial MT"/>
              </a:rPr>
              <a:t> </a:t>
            </a:r>
            <a:r>
              <a:rPr sz="3200" spc="-6" dirty="0">
                <a:latin typeface="Arial MT"/>
                <a:cs typeface="Arial MT"/>
              </a:rPr>
              <a:t>pins</a:t>
            </a:r>
            <a:r>
              <a:rPr sz="3200" spc="6" dirty="0">
                <a:latin typeface="Arial MT"/>
                <a:cs typeface="Arial MT"/>
              </a:rPr>
              <a:t> </a:t>
            </a:r>
            <a:r>
              <a:rPr sz="3200" dirty="0">
                <a:latin typeface="Arial MT"/>
                <a:cs typeface="Arial MT"/>
              </a:rPr>
              <a:t>act</a:t>
            </a:r>
            <a:r>
              <a:rPr sz="3200" spc="-12" dirty="0">
                <a:latin typeface="Arial MT"/>
                <a:cs typeface="Arial MT"/>
              </a:rPr>
              <a:t> </a:t>
            </a:r>
            <a:r>
              <a:rPr sz="3200" dirty="0">
                <a:latin typeface="Arial MT"/>
                <a:cs typeface="Arial MT"/>
              </a:rPr>
              <a:t>as</a:t>
            </a:r>
            <a:r>
              <a:rPr sz="3200" spc="12" dirty="0">
                <a:latin typeface="Arial MT"/>
                <a:cs typeface="Arial MT"/>
              </a:rPr>
              <a:t> </a:t>
            </a:r>
            <a:r>
              <a:rPr sz="3200" spc="-6" dirty="0">
                <a:latin typeface="Arial MT"/>
                <a:cs typeface="Arial MT"/>
              </a:rPr>
              <a:t>Pulse</a:t>
            </a:r>
            <a:r>
              <a:rPr lang="en-US" sz="3200" spc="-6" dirty="0">
                <a:latin typeface="Arial MT"/>
                <a:cs typeface="Arial MT"/>
              </a:rPr>
              <a:t> </a:t>
            </a:r>
            <a:r>
              <a:rPr sz="3200" spc="6" dirty="0">
                <a:latin typeface="Arial MT"/>
                <a:cs typeface="Arial MT"/>
              </a:rPr>
              <a:t>Width</a:t>
            </a:r>
            <a:r>
              <a:rPr sz="3200" spc="-54" dirty="0">
                <a:latin typeface="Arial MT"/>
                <a:cs typeface="Arial MT"/>
              </a:rPr>
              <a:t> </a:t>
            </a:r>
            <a:r>
              <a:rPr sz="3200" spc="-6" dirty="0">
                <a:latin typeface="Arial MT"/>
                <a:cs typeface="Arial MT"/>
              </a:rPr>
              <a:t>Modulation</a:t>
            </a:r>
            <a:r>
              <a:rPr sz="3200" spc="18" dirty="0">
                <a:latin typeface="Arial MT"/>
                <a:cs typeface="Arial MT"/>
              </a:rPr>
              <a:t> </a:t>
            </a:r>
            <a:r>
              <a:rPr sz="3200" dirty="0">
                <a:latin typeface="Arial MT"/>
                <a:cs typeface="Arial MT"/>
              </a:rPr>
              <a:t>(PWM,</a:t>
            </a:r>
            <a:r>
              <a:rPr sz="3200" spc="-30" dirty="0">
                <a:latin typeface="Arial MT"/>
                <a:cs typeface="Arial MT"/>
              </a:rPr>
              <a:t> </a:t>
            </a:r>
            <a:r>
              <a:rPr sz="3200" dirty="0">
                <a:latin typeface="Arial MT"/>
                <a:cs typeface="Arial MT"/>
              </a:rPr>
              <a:t>think</a:t>
            </a:r>
            <a:r>
              <a:rPr sz="3200" spc="-24" dirty="0">
                <a:latin typeface="Arial MT"/>
                <a:cs typeface="Arial MT"/>
              </a:rPr>
              <a:t> </a:t>
            </a:r>
            <a:r>
              <a:rPr sz="3200" dirty="0">
                <a:latin typeface="Arial MT"/>
                <a:cs typeface="Arial MT"/>
              </a:rPr>
              <a:t>of</a:t>
            </a:r>
            <a:r>
              <a:rPr sz="3200" spc="-24" dirty="0">
                <a:latin typeface="Arial MT"/>
                <a:cs typeface="Arial MT"/>
              </a:rPr>
              <a:t> </a:t>
            </a:r>
            <a:r>
              <a:rPr sz="3200" dirty="0">
                <a:latin typeface="Arial MT"/>
                <a:cs typeface="Arial MT"/>
              </a:rPr>
              <a:t>these</a:t>
            </a:r>
            <a:r>
              <a:rPr sz="3200" spc="-24" dirty="0">
                <a:latin typeface="Arial MT"/>
                <a:cs typeface="Arial MT"/>
              </a:rPr>
              <a:t> </a:t>
            </a:r>
            <a:r>
              <a:rPr sz="3200" dirty="0">
                <a:latin typeface="Arial MT"/>
                <a:cs typeface="Arial MT"/>
              </a:rPr>
              <a:t>pins</a:t>
            </a:r>
            <a:r>
              <a:rPr sz="3200" spc="6" dirty="0">
                <a:latin typeface="Arial MT"/>
                <a:cs typeface="Arial MT"/>
              </a:rPr>
              <a:t> </a:t>
            </a:r>
            <a:r>
              <a:rPr sz="3200" dirty="0">
                <a:latin typeface="Arial MT"/>
                <a:cs typeface="Arial MT"/>
              </a:rPr>
              <a:t>as</a:t>
            </a:r>
            <a:r>
              <a:rPr sz="3200" spc="-12" dirty="0">
                <a:latin typeface="Arial MT"/>
                <a:cs typeface="Arial MT"/>
              </a:rPr>
              <a:t> </a:t>
            </a:r>
            <a:r>
              <a:rPr sz="3200" spc="-6" dirty="0">
                <a:latin typeface="Arial MT"/>
                <a:cs typeface="Arial MT"/>
              </a:rPr>
              <a:t>being able</a:t>
            </a:r>
            <a:r>
              <a:rPr sz="3200" spc="6" dirty="0">
                <a:latin typeface="Arial MT"/>
                <a:cs typeface="Arial MT"/>
              </a:rPr>
              <a:t> </a:t>
            </a:r>
            <a:r>
              <a:rPr sz="3200" dirty="0">
                <a:latin typeface="Arial MT"/>
                <a:cs typeface="Arial MT"/>
              </a:rPr>
              <a:t>to</a:t>
            </a:r>
            <a:r>
              <a:rPr sz="3200" spc="-24" dirty="0">
                <a:latin typeface="Arial MT"/>
                <a:cs typeface="Arial MT"/>
              </a:rPr>
              <a:t> </a:t>
            </a:r>
            <a:r>
              <a:rPr sz="3200" dirty="0">
                <a:latin typeface="Arial MT"/>
                <a:cs typeface="Arial MT"/>
              </a:rPr>
              <a:t>simulate</a:t>
            </a:r>
            <a:r>
              <a:rPr sz="3200" spc="-6" dirty="0">
                <a:latin typeface="Arial MT"/>
                <a:cs typeface="Arial MT"/>
              </a:rPr>
              <a:t> analog</a:t>
            </a:r>
            <a:r>
              <a:rPr sz="3200" dirty="0">
                <a:latin typeface="Arial MT"/>
                <a:cs typeface="Arial MT"/>
              </a:rPr>
              <a:t> </a:t>
            </a:r>
            <a:r>
              <a:rPr sz="3200" spc="-6" dirty="0">
                <a:latin typeface="Arial MT"/>
                <a:cs typeface="Arial MT"/>
              </a:rPr>
              <a:t>output</a:t>
            </a:r>
            <a:r>
              <a:rPr sz="3200" spc="-36" dirty="0">
                <a:latin typeface="Arial MT"/>
                <a:cs typeface="Arial MT"/>
              </a:rPr>
              <a:t> </a:t>
            </a:r>
            <a:r>
              <a:rPr sz="3200" dirty="0">
                <a:latin typeface="Arial MT"/>
                <a:cs typeface="Arial MT"/>
              </a:rPr>
              <a:t>(like</a:t>
            </a:r>
            <a:r>
              <a:rPr sz="3200" spc="-6" dirty="0">
                <a:latin typeface="Arial MT"/>
                <a:cs typeface="Arial MT"/>
              </a:rPr>
              <a:t> </a:t>
            </a:r>
            <a:r>
              <a:rPr sz="3200" dirty="0">
                <a:latin typeface="Arial MT"/>
                <a:cs typeface="Arial MT"/>
              </a:rPr>
              <a:t>fading</a:t>
            </a:r>
            <a:r>
              <a:rPr sz="3200" spc="-30" dirty="0">
                <a:latin typeface="Arial MT"/>
                <a:cs typeface="Arial MT"/>
              </a:rPr>
              <a:t> </a:t>
            </a:r>
            <a:r>
              <a:rPr sz="3200" dirty="0">
                <a:latin typeface="Arial MT"/>
                <a:cs typeface="Arial MT"/>
              </a:rPr>
              <a:t>an</a:t>
            </a:r>
            <a:r>
              <a:rPr sz="3200" spc="-12" dirty="0">
                <a:latin typeface="Arial MT"/>
                <a:cs typeface="Arial MT"/>
              </a:rPr>
              <a:t> </a:t>
            </a:r>
            <a:r>
              <a:rPr sz="3200" dirty="0">
                <a:latin typeface="Arial MT"/>
                <a:cs typeface="Arial MT"/>
              </a:rPr>
              <a:t>LED</a:t>
            </a:r>
            <a:r>
              <a:rPr sz="3200" spc="-6" dirty="0">
                <a:latin typeface="Arial MT"/>
                <a:cs typeface="Arial MT"/>
              </a:rPr>
              <a:t> in</a:t>
            </a:r>
            <a:r>
              <a:rPr sz="3200" spc="6" dirty="0">
                <a:latin typeface="Arial MT"/>
                <a:cs typeface="Arial MT"/>
              </a:rPr>
              <a:t> </a:t>
            </a:r>
            <a:r>
              <a:rPr sz="3200" dirty="0">
                <a:latin typeface="Arial MT"/>
                <a:cs typeface="Arial MT"/>
              </a:rPr>
              <a:t>and</a:t>
            </a:r>
            <a:r>
              <a:rPr sz="3200" spc="-6" dirty="0">
                <a:latin typeface="Arial MT"/>
                <a:cs typeface="Arial MT"/>
              </a:rPr>
              <a:t> </a:t>
            </a:r>
            <a:r>
              <a:rPr sz="3200" dirty="0">
                <a:latin typeface="Arial MT"/>
                <a:cs typeface="Arial MT"/>
              </a:rPr>
              <a:t>out).</a:t>
            </a:r>
          </a:p>
          <a:p>
            <a:pPr>
              <a:spcBef>
                <a:spcPts val="0"/>
              </a:spcBef>
              <a:spcAft>
                <a:spcPts val="600"/>
              </a:spcAft>
            </a:pPr>
            <a:r>
              <a:rPr sz="3200" b="1" spc="-18" dirty="0">
                <a:latin typeface="Arial MT"/>
                <a:cs typeface="Arial"/>
              </a:rPr>
              <a:t>AREF</a:t>
            </a:r>
            <a:r>
              <a:rPr sz="3200" b="1" spc="54" dirty="0">
                <a:latin typeface="Arial MT"/>
                <a:cs typeface="Arial"/>
              </a:rPr>
              <a:t> </a:t>
            </a:r>
            <a:r>
              <a:rPr sz="3200" b="1" dirty="0">
                <a:latin typeface="Arial MT"/>
                <a:cs typeface="Arial"/>
              </a:rPr>
              <a:t>(9)</a:t>
            </a:r>
            <a:r>
              <a:rPr sz="3200" dirty="0">
                <a:latin typeface="Arial MT"/>
                <a:cs typeface="Arial MT"/>
              </a:rPr>
              <a:t>:</a:t>
            </a:r>
            <a:r>
              <a:rPr sz="3200" spc="-48" dirty="0">
                <a:latin typeface="Arial MT"/>
                <a:cs typeface="Arial MT"/>
              </a:rPr>
              <a:t> </a:t>
            </a:r>
            <a:r>
              <a:rPr lang="en-US" sz="3200" spc="-48" dirty="0">
                <a:latin typeface="Arial MT"/>
                <a:cs typeface="Arial MT"/>
              </a:rPr>
              <a:t>Analog reference input voltage pin to convert it into digital. It specifies the top value for the input range, and consequently each discrete step in the converted output. </a:t>
            </a:r>
            <a:r>
              <a:rPr sz="3200" spc="-6" dirty="0">
                <a:latin typeface="Arial MT"/>
                <a:cs typeface="Arial MT"/>
              </a:rPr>
              <a:t>Most </a:t>
            </a:r>
            <a:r>
              <a:rPr sz="3200" dirty="0">
                <a:latin typeface="Arial MT"/>
                <a:cs typeface="Arial MT"/>
              </a:rPr>
              <a:t>of</a:t>
            </a:r>
            <a:r>
              <a:rPr sz="3200" spc="-24" dirty="0">
                <a:latin typeface="Arial MT"/>
                <a:cs typeface="Arial MT"/>
              </a:rPr>
              <a:t> </a:t>
            </a:r>
            <a:r>
              <a:rPr sz="3200" dirty="0">
                <a:latin typeface="Arial MT"/>
                <a:cs typeface="Arial MT"/>
              </a:rPr>
              <a:t>the</a:t>
            </a:r>
            <a:r>
              <a:rPr sz="3200" spc="-12" dirty="0">
                <a:latin typeface="Arial MT"/>
                <a:cs typeface="Arial MT"/>
              </a:rPr>
              <a:t> </a:t>
            </a:r>
            <a:r>
              <a:rPr sz="3200" spc="-6" dirty="0">
                <a:latin typeface="Arial MT"/>
                <a:cs typeface="Arial MT"/>
              </a:rPr>
              <a:t>time</a:t>
            </a:r>
            <a:r>
              <a:rPr sz="3200" spc="-42" dirty="0">
                <a:latin typeface="Arial MT"/>
                <a:cs typeface="Arial MT"/>
              </a:rPr>
              <a:t> </a:t>
            </a:r>
            <a:r>
              <a:rPr sz="3200" spc="-6" dirty="0">
                <a:latin typeface="Arial MT"/>
                <a:cs typeface="Arial MT"/>
              </a:rPr>
              <a:t>you</a:t>
            </a:r>
            <a:r>
              <a:rPr sz="3200" dirty="0">
                <a:latin typeface="Arial MT"/>
                <a:cs typeface="Arial MT"/>
              </a:rPr>
              <a:t> can</a:t>
            </a:r>
            <a:r>
              <a:rPr sz="3200" spc="-12" dirty="0">
                <a:latin typeface="Arial MT"/>
                <a:cs typeface="Arial MT"/>
              </a:rPr>
              <a:t> </a:t>
            </a:r>
            <a:r>
              <a:rPr sz="3200" spc="-6" dirty="0">
                <a:latin typeface="Arial MT"/>
                <a:cs typeface="Arial MT"/>
              </a:rPr>
              <a:t>leave</a:t>
            </a:r>
            <a:r>
              <a:rPr sz="3200" spc="18" dirty="0">
                <a:latin typeface="Arial MT"/>
                <a:cs typeface="Arial MT"/>
              </a:rPr>
              <a:t> </a:t>
            </a:r>
            <a:r>
              <a:rPr sz="3200" spc="-6" dirty="0">
                <a:latin typeface="Arial MT"/>
                <a:cs typeface="Arial MT"/>
              </a:rPr>
              <a:t>this</a:t>
            </a:r>
            <a:r>
              <a:rPr sz="3200" spc="-18" dirty="0">
                <a:latin typeface="Arial MT"/>
                <a:cs typeface="Arial MT"/>
              </a:rPr>
              <a:t> </a:t>
            </a:r>
            <a:r>
              <a:rPr sz="3200" spc="-6" dirty="0">
                <a:latin typeface="Arial MT"/>
                <a:cs typeface="Arial MT"/>
              </a:rPr>
              <a:t>pin</a:t>
            </a:r>
            <a:r>
              <a:rPr sz="3200" dirty="0">
                <a:latin typeface="Arial MT"/>
                <a:cs typeface="Arial MT"/>
              </a:rPr>
              <a:t> alone.</a:t>
            </a:r>
          </a:p>
        </p:txBody>
      </p:sp>
      <p:sp>
        <p:nvSpPr>
          <p:cNvPr id="3" name="object 3"/>
          <p:cNvSpPr txBox="1">
            <a:spLocks noGrp="1"/>
          </p:cNvSpPr>
          <p:nvPr>
            <p:ph type="title"/>
          </p:nvPr>
        </p:nvSpPr>
        <p:spPr>
          <a:xfrm>
            <a:off x="2133600" y="578743"/>
            <a:ext cx="12186920" cy="753283"/>
          </a:xfrm>
          <a:prstGeom prst="rect">
            <a:avLst/>
          </a:prstGeom>
        </p:spPr>
        <p:txBody>
          <a:bodyPr vert="horz" wrap="square" lIns="0" tIns="14478" rIns="0" bIns="0" numCol="1" rtlCol="0" anchor="ctr" anchorCtr="0" compatLnSpc="1">
            <a:prstTxWarp prst="textNoShape">
              <a:avLst/>
            </a:prstTxWarp>
            <a:spAutoFit/>
          </a:bodyPr>
          <a:lstStyle/>
          <a:p>
            <a:pPr marL="15240">
              <a:spcBef>
                <a:spcPts val="114"/>
              </a:spcBef>
            </a:pPr>
            <a:r>
              <a:rPr sz="4800" b="1" spc="-12" dirty="0">
                <a:latin typeface="+mn-lt"/>
              </a:rPr>
              <a:t>Arduino</a:t>
            </a:r>
            <a:r>
              <a:rPr sz="4800" b="1" spc="12" dirty="0">
                <a:latin typeface="+mn-lt"/>
              </a:rPr>
              <a:t> </a:t>
            </a:r>
            <a:r>
              <a:rPr sz="4800" b="1" spc="-6" dirty="0">
                <a:latin typeface="+mn-lt"/>
              </a:rPr>
              <a:t>U</a:t>
            </a:r>
            <a:r>
              <a:rPr lang="en-US" sz="4800" b="1" spc="-6" dirty="0">
                <a:latin typeface="+mn-lt"/>
              </a:rPr>
              <a:t>NO</a:t>
            </a:r>
            <a:r>
              <a:rPr sz="4800" b="1" dirty="0">
                <a:latin typeface="+mn-lt"/>
              </a:rPr>
              <a:t> </a:t>
            </a:r>
            <a:r>
              <a:rPr lang="en-US" sz="4800" b="1" spc="-12" dirty="0">
                <a:latin typeface="+mn-lt"/>
              </a:rPr>
              <a:t>P</a:t>
            </a:r>
            <a:r>
              <a:rPr sz="4800" b="1" spc="-12" dirty="0">
                <a:latin typeface="+mn-lt"/>
              </a:rPr>
              <a:t>in</a:t>
            </a:r>
            <a:r>
              <a:rPr sz="4800" b="1" spc="12" dirty="0">
                <a:latin typeface="+mn-lt"/>
              </a:rPr>
              <a:t> </a:t>
            </a:r>
            <a:r>
              <a:rPr lang="en-US" sz="4800" b="1" spc="-12" dirty="0">
                <a:latin typeface="+mn-lt"/>
              </a:rPr>
              <a:t>C</a:t>
            </a:r>
            <a:r>
              <a:rPr sz="4800" b="1" spc="-12" dirty="0">
                <a:latin typeface="+mn-lt"/>
              </a:rPr>
              <a:t>onfiguration</a:t>
            </a:r>
          </a:p>
        </p:txBody>
      </p:sp>
      <p:pic>
        <p:nvPicPr>
          <p:cNvPr id="6" name="object 4"/>
          <p:cNvPicPr/>
          <p:nvPr/>
        </p:nvPicPr>
        <p:blipFill rotWithShape="1">
          <a:blip r:embed="rId2" cstate="print"/>
          <a:srcRect t="8613" r="2114" b="8512"/>
          <a:stretch/>
        </p:blipFill>
        <p:spPr>
          <a:xfrm rot="5400000">
            <a:off x="10877550" y="2381253"/>
            <a:ext cx="5867399" cy="4457700"/>
          </a:xfrm>
          <a:prstGeom prst="rect">
            <a:avLst/>
          </a:prstGeom>
        </p:spPr>
      </p:pic>
      <p:sp>
        <p:nvSpPr>
          <p:cNvPr id="7" name="Rectangle 6"/>
          <p:cNvSpPr/>
          <p:nvPr/>
        </p:nvSpPr>
        <p:spPr>
          <a:xfrm>
            <a:off x="14782801" y="4419600"/>
            <a:ext cx="1257300" cy="2666999"/>
          </a:xfrm>
          <a:prstGeom prst="rect">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782800" y="4724399"/>
            <a:ext cx="1257300" cy="1752601"/>
          </a:xfrm>
          <a:prstGeom prst="rect">
            <a:avLst/>
          </a:prstGeom>
          <a:noFill/>
          <a:ln w="3810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4782800" y="3886200"/>
            <a:ext cx="990600" cy="381004"/>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a:off x="8077200" y="3124200"/>
            <a:ext cx="6858000" cy="1828800"/>
          </a:xfrm>
          <a:prstGeom prst="straightConnector1">
            <a:avLst/>
          </a:prstGeom>
          <a:ln w="38100">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13769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
                                            <p:txEl>
                                              <p:pRg st="0" end="0"/>
                                            </p:txEl>
                                          </p:spTgt>
                                        </p:tgtEl>
                                        <p:attrNameLst>
                                          <p:attrName>style.color</p:attrName>
                                        </p:attrNameLst>
                                      </p:cBhvr>
                                      <p:to>
                                        <a:srgbClr val="00B050"/>
                                      </p:to>
                                    </p:animClr>
                                    <p:animClr clrSpc="rgb" dir="cw">
                                      <p:cBhvr>
                                        <p:cTn id="7" dur="500" fill="hold"/>
                                        <p:tgtEl>
                                          <p:spTgt spid="2">
                                            <p:txEl>
                                              <p:pRg st="0" end="0"/>
                                            </p:txEl>
                                          </p:spTgt>
                                        </p:tgtEl>
                                        <p:attrNameLst>
                                          <p:attrName>fillcolor</p:attrName>
                                        </p:attrNameLst>
                                      </p:cBhvr>
                                      <p:to>
                                        <a:srgbClr val="00B050"/>
                                      </p:to>
                                    </p:animClr>
                                    <p:set>
                                      <p:cBhvr>
                                        <p:cTn id="8" dur="500" fill="hold"/>
                                        <p:tgtEl>
                                          <p:spTgt spid="2">
                                            <p:txEl>
                                              <p:pRg st="0" end="0"/>
                                            </p:txEl>
                                          </p:spTgt>
                                        </p:tgtEl>
                                        <p:attrNameLst>
                                          <p:attrName>fill.type</p:attrName>
                                        </p:attrNameLst>
                                      </p:cBhvr>
                                      <p:to>
                                        <p:strVal val="solid"/>
                                      </p:to>
                                    </p:set>
                                    <p:set>
                                      <p:cBhvr>
                                        <p:cTn id="9" dur="500" fill="hold"/>
                                        <p:tgtEl>
                                          <p:spTgt spid="2">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heel(1)">
                                      <p:cBhvr>
                                        <p:cTn id="14" dur="20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9" presetClass="emph" presetSubtype="0" fill="hold" nodeType="clickEffect">
                                  <p:stCondLst>
                                    <p:cond delay="0"/>
                                  </p:stCondLst>
                                  <p:childTnLst>
                                    <p:animClr clrSpc="rgb" dir="cw">
                                      <p:cBhvr override="childStyle">
                                        <p:cTn id="18" dur="500" fill="hold"/>
                                        <p:tgtEl>
                                          <p:spTgt spid="2">
                                            <p:txEl>
                                              <p:pRg st="1" end="1"/>
                                            </p:txEl>
                                          </p:spTgt>
                                        </p:tgtEl>
                                        <p:attrNameLst>
                                          <p:attrName>style.color</p:attrName>
                                        </p:attrNameLst>
                                      </p:cBhvr>
                                      <p:to>
                                        <a:schemeClr val="accent2"/>
                                      </p:to>
                                    </p:animClr>
                                    <p:animClr clrSpc="rgb" dir="cw">
                                      <p:cBhvr>
                                        <p:cTn id="19" dur="500" fill="hold"/>
                                        <p:tgtEl>
                                          <p:spTgt spid="2">
                                            <p:txEl>
                                              <p:pRg st="1" end="1"/>
                                            </p:txEl>
                                          </p:spTgt>
                                        </p:tgtEl>
                                        <p:attrNameLst>
                                          <p:attrName>fillcolor</p:attrName>
                                        </p:attrNameLst>
                                      </p:cBhvr>
                                      <p:to>
                                        <a:schemeClr val="accent2"/>
                                      </p:to>
                                    </p:animClr>
                                    <p:set>
                                      <p:cBhvr>
                                        <p:cTn id="20" dur="500" fill="hold"/>
                                        <p:tgtEl>
                                          <p:spTgt spid="2">
                                            <p:txEl>
                                              <p:pRg st="1" end="1"/>
                                            </p:txEl>
                                          </p:spTgt>
                                        </p:tgtEl>
                                        <p:attrNameLst>
                                          <p:attrName>fill.type</p:attrName>
                                        </p:attrNameLst>
                                      </p:cBhvr>
                                      <p:to>
                                        <p:strVal val="solid"/>
                                      </p:to>
                                    </p:set>
                                    <p:set>
                                      <p:cBhvr>
                                        <p:cTn id="21" dur="500" fill="hold"/>
                                        <p:tgtEl>
                                          <p:spTgt spid="2">
                                            <p:txEl>
                                              <p:pRg st="1" end="1"/>
                                            </p:txEl>
                                          </p:spTgt>
                                        </p:tgtEl>
                                        <p:attrNameLst>
                                          <p:attrName>fill.on</p:attrName>
                                        </p:attrNameLst>
                                      </p:cBhvr>
                                      <p:to>
                                        <p:strVal val="true"/>
                                      </p:to>
                                    </p:set>
                                  </p:childTnLst>
                                </p:cTn>
                              </p:par>
                              <p:par>
                                <p:cTn id="22" presetID="19" presetClass="emph" presetSubtype="0" fill="hold" nodeType="withEffect">
                                  <p:stCondLst>
                                    <p:cond delay="0"/>
                                  </p:stCondLst>
                                  <p:childTnLst>
                                    <p:animClr clrSpc="rgb" dir="cw">
                                      <p:cBhvr override="childStyle">
                                        <p:cTn id="23" dur="500" fill="hold"/>
                                        <p:tgtEl>
                                          <p:spTgt spid="2">
                                            <p:txEl>
                                              <p:pRg st="2" end="2"/>
                                            </p:txEl>
                                          </p:spTgt>
                                        </p:tgtEl>
                                        <p:attrNameLst>
                                          <p:attrName>style.color</p:attrName>
                                        </p:attrNameLst>
                                      </p:cBhvr>
                                      <p:to>
                                        <a:schemeClr val="accent2"/>
                                      </p:to>
                                    </p:animClr>
                                    <p:animClr clrSpc="rgb" dir="cw">
                                      <p:cBhvr>
                                        <p:cTn id="24" dur="500" fill="hold"/>
                                        <p:tgtEl>
                                          <p:spTgt spid="2">
                                            <p:txEl>
                                              <p:pRg st="2" end="2"/>
                                            </p:txEl>
                                          </p:spTgt>
                                        </p:tgtEl>
                                        <p:attrNameLst>
                                          <p:attrName>fillcolor</p:attrName>
                                        </p:attrNameLst>
                                      </p:cBhvr>
                                      <p:to>
                                        <a:schemeClr val="accent2"/>
                                      </p:to>
                                    </p:animClr>
                                    <p:set>
                                      <p:cBhvr>
                                        <p:cTn id="25" dur="500" fill="hold"/>
                                        <p:tgtEl>
                                          <p:spTgt spid="2">
                                            <p:txEl>
                                              <p:pRg st="2" end="2"/>
                                            </p:txEl>
                                          </p:spTgt>
                                        </p:tgtEl>
                                        <p:attrNameLst>
                                          <p:attrName>fill.type</p:attrName>
                                        </p:attrNameLst>
                                      </p:cBhvr>
                                      <p:to>
                                        <p:strVal val="solid"/>
                                      </p:to>
                                    </p:set>
                                    <p:set>
                                      <p:cBhvr>
                                        <p:cTn id="26" dur="500" fill="hold"/>
                                        <p:tgtEl>
                                          <p:spTgt spid="2">
                                            <p:txEl>
                                              <p:pRg st="2" end="2"/>
                                            </p:txEl>
                                          </p:spTgt>
                                        </p:tgtEl>
                                        <p:attrNameLst>
                                          <p:attrName>fill.on</p:attrName>
                                        </p:attrNameLst>
                                      </p:cBhvr>
                                      <p:to>
                                        <p:strVal val="true"/>
                                      </p:to>
                                    </p:se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heel(1)">
                                      <p:cBhvr>
                                        <p:cTn id="31" dur="2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circle(in)">
                                      <p:cBhvr>
                                        <p:cTn id="36" dur="20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9" presetClass="emph" presetSubtype="0" fill="hold" nodeType="clickEffect">
                                  <p:stCondLst>
                                    <p:cond delay="0"/>
                                  </p:stCondLst>
                                  <p:childTnLst>
                                    <p:animClr clrSpc="rgb" dir="cw">
                                      <p:cBhvr override="childStyle">
                                        <p:cTn id="40" dur="500" fill="hold"/>
                                        <p:tgtEl>
                                          <p:spTgt spid="2">
                                            <p:txEl>
                                              <p:pRg st="3" end="3"/>
                                            </p:txEl>
                                          </p:spTgt>
                                        </p:tgtEl>
                                        <p:attrNameLst>
                                          <p:attrName>style.color</p:attrName>
                                        </p:attrNameLst>
                                      </p:cBhvr>
                                      <p:to>
                                        <a:srgbClr val="FF0000"/>
                                      </p:to>
                                    </p:animClr>
                                    <p:animClr clrSpc="rgb" dir="cw">
                                      <p:cBhvr>
                                        <p:cTn id="41" dur="500" fill="hold"/>
                                        <p:tgtEl>
                                          <p:spTgt spid="2">
                                            <p:txEl>
                                              <p:pRg st="3" end="3"/>
                                            </p:txEl>
                                          </p:spTgt>
                                        </p:tgtEl>
                                        <p:attrNameLst>
                                          <p:attrName>fillcolor</p:attrName>
                                        </p:attrNameLst>
                                      </p:cBhvr>
                                      <p:to>
                                        <a:srgbClr val="FF0000"/>
                                      </p:to>
                                    </p:animClr>
                                    <p:set>
                                      <p:cBhvr>
                                        <p:cTn id="42" dur="500" fill="hold"/>
                                        <p:tgtEl>
                                          <p:spTgt spid="2">
                                            <p:txEl>
                                              <p:pRg st="3" end="3"/>
                                            </p:txEl>
                                          </p:spTgt>
                                        </p:tgtEl>
                                        <p:attrNameLst>
                                          <p:attrName>fill.type</p:attrName>
                                        </p:attrNameLst>
                                      </p:cBhvr>
                                      <p:to>
                                        <p:strVal val="solid"/>
                                      </p:to>
                                    </p:set>
                                    <p:set>
                                      <p:cBhvr>
                                        <p:cTn id="43" dur="500" fill="hold"/>
                                        <p:tgtEl>
                                          <p:spTgt spid="2">
                                            <p:txEl>
                                              <p:pRg st="3" end="3"/>
                                            </p:txEl>
                                          </p:spTgt>
                                        </p:tgtEl>
                                        <p:attrNameLst>
                                          <p:attrName>fill.on</p:attrName>
                                        </p:attrNameLst>
                                      </p:cBhvr>
                                      <p:to>
                                        <p:strVal val="true"/>
                                      </p:to>
                                    </p:set>
                                  </p:childTnLst>
                                </p:cTn>
                              </p:par>
                            </p:childTnLst>
                          </p:cTn>
                        </p:par>
                      </p:childTnLst>
                    </p:cTn>
                  </p:par>
                  <p:par>
                    <p:cTn id="44" fill="hold">
                      <p:stCondLst>
                        <p:cond delay="indefinite"/>
                      </p:stCondLst>
                      <p:childTnLst>
                        <p:par>
                          <p:cTn id="45" fill="hold">
                            <p:stCondLst>
                              <p:cond delay="0"/>
                            </p:stCondLst>
                            <p:childTnLst>
                              <p:par>
                                <p:cTn id="46" presetID="21" presetClass="entr" presetSubtype="1"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heel(1)">
                                      <p:cBhvr>
                                        <p:cTn id="48"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1718106"/>
            <a:ext cx="16002000" cy="5663858"/>
          </a:xfrm>
          <a:prstGeom prst="rect">
            <a:avLst/>
          </a:prstGeom>
        </p:spPr>
        <p:txBody>
          <a:bodyPr vert="horz" wrap="square" lIns="0" tIns="16002" rIns="0" bIns="0" rtlCol="0">
            <a:spAutoFit/>
          </a:bodyPr>
          <a:lstStyle/>
          <a:p>
            <a:pPr>
              <a:spcBef>
                <a:spcPts val="0"/>
              </a:spcBef>
              <a:spcAft>
                <a:spcPts val="0"/>
              </a:spcAft>
            </a:pPr>
            <a:r>
              <a:rPr sz="3200" b="1" spc="-6" dirty="0">
                <a:latin typeface="Arial MT"/>
                <a:cs typeface="Arial"/>
              </a:rPr>
              <a:t>Reset</a:t>
            </a:r>
            <a:r>
              <a:rPr sz="3200" b="1" spc="-36" dirty="0">
                <a:latin typeface="Arial MT"/>
                <a:cs typeface="Arial"/>
              </a:rPr>
              <a:t> </a:t>
            </a:r>
            <a:r>
              <a:rPr sz="3200" b="1" spc="-6" dirty="0">
                <a:latin typeface="Arial MT"/>
                <a:cs typeface="Arial"/>
              </a:rPr>
              <a:t>Button:</a:t>
            </a:r>
            <a:r>
              <a:rPr lang="en-US" sz="3200" dirty="0">
                <a:latin typeface="Arial MT"/>
                <a:cs typeface="Arial"/>
              </a:rPr>
              <a:t> </a:t>
            </a:r>
            <a:r>
              <a:rPr sz="3200" spc="-6" dirty="0">
                <a:latin typeface="Arial MT"/>
                <a:cs typeface="Arial MT"/>
              </a:rPr>
              <a:t>Pushing</a:t>
            </a:r>
            <a:r>
              <a:rPr sz="3200" dirty="0">
                <a:latin typeface="Arial MT"/>
                <a:cs typeface="Arial MT"/>
              </a:rPr>
              <a:t> </a:t>
            </a:r>
            <a:r>
              <a:rPr sz="3200" spc="-6" dirty="0">
                <a:latin typeface="Arial MT"/>
                <a:cs typeface="Arial MT"/>
              </a:rPr>
              <a:t>it</a:t>
            </a:r>
            <a:r>
              <a:rPr sz="3200" dirty="0">
                <a:latin typeface="Arial MT"/>
                <a:cs typeface="Arial MT"/>
              </a:rPr>
              <a:t> </a:t>
            </a:r>
            <a:r>
              <a:rPr sz="3200" spc="-12" dirty="0">
                <a:latin typeface="Arial MT"/>
                <a:cs typeface="Arial MT"/>
              </a:rPr>
              <a:t>will</a:t>
            </a:r>
            <a:r>
              <a:rPr sz="3200" spc="48" dirty="0">
                <a:latin typeface="Arial MT"/>
                <a:cs typeface="Arial MT"/>
              </a:rPr>
              <a:t> </a:t>
            </a:r>
            <a:r>
              <a:rPr sz="3200" dirty="0">
                <a:latin typeface="Arial MT"/>
                <a:cs typeface="Arial MT"/>
              </a:rPr>
              <a:t>temporarily</a:t>
            </a:r>
            <a:r>
              <a:rPr sz="3200" spc="-36" dirty="0">
                <a:latin typeface="Arial MT"/>
                <a:cs typeface="Arial MT"/>
              </a:rPr>
              <a:t> </a:t>
            </a:r>
            <a:r>
              <a:rPr sz="3200" dirty="0">
                <a:latin typeface="Arial MT"/>
                <a:cs typeface="Arial MT"/>
              </a:rPr>
              <a:t>connect</a:t>
            </a:r>
            <a:r>
              <a:rPr sz="3200" spc="-12" dirty="0">
                <a:latin typeface="Arial MT"/>
                <a:cs typeface="Arial MT"/>
              </a:rPr>
              <a:t> </a:t>
            </a:r>
            <a:r>
              <a:rPr sz="3200" dirty="0">
                <a:latin typeface="Arial MT"/>
                <a:cs typeface="Arial MT"/>
              </a:rPr>
              <a:t>the</a:t>
            </a:r>
            <a:r>
              <a:rPr sz="3200" spc="-24" dirty="0">
                <a:latin typeface="Arial MT"/>
                <a:cs typeface="Arial MT"/>
              </a:rPr>
              <a:t> </a:t>
            </a:r>
            <a:r>
              <a:rPr sz="3200" dirty="0">
                <a:latin typeface="Arial MT"/>
                <a:cs typeface="Arial MT"/>
              </a:rPr>
              <a:t>reset</a:t>
            </a:r>
            <a:r>
              <a:rPr sz="3200" spc="-30" dirty="0">
                <a:latin typeface="Arial MT"/>
                <a:cs typeface="Arial MT"/>
              </a:rPr>
              <a:t> </a:t>
            </a:r>
            <a:r>
              <a:rPr sz="3200" spc="-6" dirty="0">
                <a:latin typeface="Arial MT"/>
                <a:cs typeface="Arial MT"/>
              </a:rPr>
              <a:t>pin</a:t>
            </a:r>
            <a:r>
              <a:rPr sz="3200" spc="6" dirty="0">
                <a:latin typeface="Arial MT"/>
                <a:cs typeface="Arial MT"/>
              </a:rPr>
              <a:t> </a:t>
            </a:r>
            <a:r>
              <a:rPr sz="3200" dirty="0">
                <a:latin typeface="Arial MT"/>
                <a:cs typeface="Arial MT"/>
              </a:rPr>
              <a:t>to</a:t>
            </a:r>
            <a:r>
              <a:rPr sz="3200" spc="-24" dirty="0">
                <a:latin typeface="Arial MT"/>
                <a:cs typeface="Arial MT"/>
              </a:rPr>
              <a:t> </a:t>
            </a:r>
            <a:r>
              <a:rPr lang="en-US" sz="3200" spc="-24" dirty="0">
                <a:latin typeface="Arial MT"/>
                <a:cs typeface="Arial MT"/>
              </a:rPr>
              <a:t>the </a:t>
            </a:r>
            <a:r>
              <a:rPr sz="3200" dirty="0">
                <a:latin typeface="Arial MT"/>
                <a:cs typeface="Arial MT"/>
              </a:rPr>
              <a:t>ground</a:t>
            </a:r>
            <a:r>
              <a:rPr sz="3200" spc="-30" dirty="0">
                <a:latin typeface="Arial MT"/>
                <a:cs typeface="Arial MT"/>
              </a:rPr>
              <a:t> </a:t>
            </a:r>
            <a:r>
              <a:rPr sz="3200" dirty="0">
                <a:latin typeface="Arial MT"/>
                <a:cs typeface="Arial MT"/>
              </a:rPr>
              <a:t>and restart</a:t>
            </a:r>
            <a:r>
              <a:rPr sz="3200" spc="-60" dirty="0">
                <a:latin typeface="Arial MT"/>
                <a:cs typeface="Arial MT"/>
              </a:rPr>
              <a:t> </a:t>
            </a:r>
            <a:r>
              <a:rPr sz="3200" dirty="0">
                <a:latin typeface="Arial MT"/>
                <a:cs typeface="Arial MT"/>
              </a:rPr>
              <a:t>any</a:t>
            </a:r>
            <a:r>
              <a:rPr sz="3200" spc="-6" dirty="0">
                <a:latin typeface="Arial MT"/>
                <a:cs typeface="Arial MT"/>
              </a:rPr>
              <a:t> </a:t>
            </a:r>
            <a:r>
              <a:rPr sz="3200" dirty="0">
                <a:latin typeface="Arial MT"/>
                <a:cs typeface="Arial MT"/>
              </a:rPr>
              <a:t>code</a:t>
            </a:r>
            <a:r>
              <a:rPr sz="3200" spc="-12" dirty="0">
                <a:latin typeface="Arial MT"/>
                <a:cs typeface="Arial MT"/>
              </a:rPr>
              <a:t> </a:t>
            </a:r>
            <a:r>
              <a:rPr sz="3200" dirty="0">
                <a:latin typeface="Arial MT"/>
                <a:cs typeface="Arial MT"/>
              </a:rPr>
              <a:t>that</a:t>
            </a:r>
            <a:r>
              <a:rPr sz="3200" spc="-30" dirty="0">
                <a:latin typeface="Arial MT"/>
                <a:cs typeface="Arial MT"/>
              </a:rPr>
              <a:t> </a:t>
            </a:r>
            <a:r>
              <a:rPr sz="3200" spc="-6" dirty="0">
                <a:latin typeface="Arial MT"/>
                <a:cs typeface="Arial MT"/>
              </a:rPr>
              <a:t>is</a:t>
            </a:r>
            <a:r>
              <a:rPr sz="3200" spc="6" dirty="0">
                <a:latin typeface="Arial MT"/>
                <a:cs typeface="Arial MT"/>
              </a:rPr>
              <a:t> </a:t>
            </a:r>
            <a:r>
              <a:rPr sz="3200" spc="-6" dirty="0">
                <a:latin typeface="Arial MT"/>
                <a:cs typeface="Arial MT"/>
              </a:rPr>
              <a:t>loaded</a:t>
            </a:r>
            <a:r>
              <a:rPr sz="3200" dirty="0">
                <a:latin typeface="Arial MT"/>
                <a:cs typeface="Arial MT"/>
              </a:rPr>
              <a:t> on</a:t>
            </a:r>
            <a:r>
              <a:rPr sz="3200" spc="-12" dirty="0">
                <a:latin typeface="Arial MT"/>
                <a:cs typeface="Arial MT"/>
              </a:rPr>
              <a:t> </a:t>
            </a:r>
            <a:r>
              <a:rPr sz="3200" dirty="0">
                <a:latin typeface="Arial MT"/>
                <a:cs typeface="Arial MT"/>
              </a:rPr>
              <a:t>the</a:t>
            </a:r>
            <a:r>
              <a:rPr sz="3200" spc="-24" dirty="0">
                <a:latin typeface="Arial MT"/>
                <a:cs typeface="Arial MT"/>
              </a:rPr>
              <a:t> </a:t>
            </a:r>
            <a:r>
              <a:rPr sz="3200" spc="-6" dirty="0">
                <a:latin typeface="Arial MT"/>
                <a:cs typeface="Arial MT"/>
              </a:rPr>
              <a:t>Arduino.</a:t>
            </a:r>
            <a:endParaRPr sz="3200" dirty="0">
              <a:latin typeface="Arial MT"/>
              <a:cs typeface="Arial MT"/>
            </a:endParaRPr>
          </a:p>
          <a:p>
            <a:pPr>
              <a:spcBef>
                <a:spcPts val="0"/>
              </a:spcBef>
              <a:spcAft>
                <a:spcPts val="600"/>
              </a:spcAft>
            </a:pPr>
            <a:r>
              <a:rPr sz="3200" b="1" spc="6" dirty="0">
                <a:latin typeface="Arial MT"/>
                <a:cs typeface="Arial"/>
              </a:rPr>
              <a:t>Power</a:t>
            </a:r>
            <a:r>
              <a:rPr sz="3200" b="1" spc="-48" dirty="0">
                <a:latin typeface="Arial MT"/>
                <a:cs typeface="Arial"/>
              </a:rPr>
              <a:t> </a:t>
            </a:r>
            <a:r>
              <a:rPr sz="3200" b="1" spc="-6" dirty="0">
                <a:latin typeface="Arial MT"/>
                <a:cs typeface="Arial"/>
              </a:rPr>
              <a:t>LED</a:t>
            </a:r>
            <a:r>
              <a:rPr sz="3200" b="1" spc="12" dirty="0">
                <a:latin typeface="Arial MT"/>
                <a:cs typeface="Arial"/>
              </a:rPr>
              <a:t> </a:t>
            </a:r>
            <a:r>
              <a:rPr sz="3200" b="1" dirty="0">
                <a:latin typeface="Arial MT"/>
                <a:cs typeface="Arial"/>
              </a:rPr>
              <a:t>indicator</a:t>
            </a:r>
            <a:r>
              <a:rPr sz="3200" b="1" spc="-30" dirty="0">
                <a:latin typeface="Arial MT"/>
                <a:cs typeface="Arial"/>
              </a:rPr>
              <a:t> </a:t>
            </a:r>
            <a:r>
              <a:rPr sz="3200" b="1" dirty="0">
                <a:latin typeface="Arial MT"/>
                <a:cs typeface="Arial"/>
              </a:rPr>
              <a:t>(11):</a:t>
            </a:r>
            <a:r>
              <a:rPr sz="3200" b="1" spc="12" dirty="0">
                <a:latin typeface="Arial MT"/>
                <a:cs typeface="Arial"/>
              </a:rPr>
              <a:t> </a:t>
            </a:r>
            <a:r>
              <a:rPr sz="3200" dirty="0">
                <a:latin typeface="Arial MT"/>
                <a:cs typeface="Arial MT"/>
              </a:rPr>
              <a:t>If</a:t>
            </a:r>
            <a:r>
              <a:rPr sz="3200" spc="-24" dirty="0">
                <a:latin typeface="Arial MT"/>
                <a:cs typeface="Arial MT"/>
              </a:rPr>
              <a:t> </a:t>
            </a:r>
            <a:r>
              <a:rPr sz="3200" spc="-6" dirty="0">
                <a:latin typeface="Arial MT"/>
                <a:cs typeface="Arial MT"/>
              </a:rPr>
              <a:t>this</a:t>
            </a:r>
            <a:r>
              <a:rPr sz="3200" spc="-18" dirty="0">
                <a:latin typeface="Arial MT"/>
                <a:cs typeface="Arial MT"/>
              </a:rPr>
              <a:t> </a:t>
            </a:r>
            <a:r>
              <a:rPr sz="3200" spc="-6" dirty="0">
                <a:latin typeface="Arial MT"/>
                <a:cs typeface="Arial MT"/>
              </a:rPr>
              <a:t>light</a:t>
            </a:r>
            <a:r>
              <a:rPr sz="3200" spc="6" dirty="0">
                <a:latin typeface="Arial MT"/>
                <a:cs typeface="Arial MT"/>
              </a:rPr>
              <a:t> </a:t>
            </a:r>
            <a:r>
              <a:rPr sz="3200" spc="-6" dirty="0">
                <a:latin typeface="Arial MT"/>
                <a:cs typeface="Arial MT"/>
              </a:rPr>
              <a:t>doesn’t</a:t>
            </a:r>
            <a:r>
              <a:rPr sz="3200" spc="6" dirty="0">
                <a:latin typeface="Arial MT"/>
                <a:cs typeface="Arial MT"/>
              </a:rPr>
              <a:t> </a:t>
            </a:r>
            <a:r>
              <a:rPr sz="3200" spc="-6" dirty="0">
                <a:latin typeface="Arial MT"/>
                <a:cs typeface="Arial MT"/>
              </a:rPr>
              <a:t>turn</a:t>
            </a:r>
            <a:r>
              <a:rPr sz="3200" spc="-30" dirty="0">
                <a:latin typeface="Arial MT"/>
                <a:cs typeface="Arial MT"/>
              </a:rPr>
              <a:t> </a:t>
            </a:r>
            <a:r>
              <a:rPr sz="3200" spc="-6" dirty="0">
                <a:latin typeface="Arial MT"/>
                <a:cs typeface="Arial MT"/>
              </a:rPr>
              <a:t>on, there’s</a:t>
            </a:r>
            <a:r>
              <a:rPr sz="3200" spc="-18" dirty="0">
                <a:latin typeface="Arial MT"/>
                <a:cs typeface="Arial MT"/>
              </a:rPr>
              <a:t> </a:t>
            </a:r>
            <a:r>
              <a:rPr sz="3200" dirty="0">
                <a:latin typeface="Arial MT"/>
                <a:cs typeface="Arial MT"/>
              </a:rPr>
              <a:t>a good</a:t>
            </a:r>
            <a:r>
              <a:rPr sz="3200" spc="-18" dirty="0">
                <a:latin typeface="Arial MT"/>
                <a:cs typeface="Arial MT"/>
              </a:rPr>
              <a:t> </a:t>
            </a:r>
            <a:r>
              <a:rPr sz="3200" spc="-6" dirty="0">
                <a:latin typeface="Arial MT"/>
                <a:cs typeface="Arial MT"/>
              </a:rPr>
              <a:t>chance</a:t>
            </a:r>
            <a:r>
              <a:rPr sz="3200" dirty="0">
                <a:latin typeface="Arial MT"/>
                <a:cs typeface="Arial MT"/>
              </a:rPr>
              <a:t> </a:t>
            </a:r>
            <a:r>
              <a:rPr sz="3200" spc="-6" dirty="0">
                <a:latin typeface="Arial MT"/>
                <a:cs typeface="Arial MT"/>
              </a:rPr>
              <a:t>something</a:t>
            </a:r>
            <a:r>
              <a:rPr sz="3200" spc="-24" dirty="0">
                <a:latin typeface="Arial MT"/>
                <a:cs typeface="Arial MT"/>
              </a:rPr>
              <a:t> </a:t>
            </a:r>
            <a:r>
              <a:rPr sz="3200" spc="-6" dirty="0">
                <a:latin typeface="Arial MT"/>
                <a:cs typeface="Arial MT"/>
              </a:rPr>
              <a:t>is</a:t>
            </a:r>
            <a:r>
              <a:rPr sz="3200" spc="18" dirty="0">
                <a:latin typeface="Arial MT"/>
                <a:cs typeface="Arial MT"/>
              </a:rPr>
              <a:t> </a:t>
            </a:r>
            <a:r>
              <a:rPr sz="3200" spc="-6" dirty="0">
                <a:latin typeface="Arial MT"/>
                <a:cs typeface="Arial MT"/>
              </a:rPr>
              <a:t>wrong. </a:t>
            </a:r>
            <a:r>
              <a:rPr sz="3200" dirty="0">
                <a:latin typeface="Arial MT"/>
                <a:cs typeface="Arial MT"/>
              </a:rPr>
              <a:t>Time</a:t>
            </a:r>
            <a:r>
              <a:rPr sz="3200" spc="-18" dirty="0">
                <a:latin typeface="Arial MT"/>
                <a:cs typeface="Arial MT"/>
              </a:rPr>
              <a:t> </a:t>
            </a:r>
            <a:r>
              <a:rPr sz="3200" dirty="0">
                <a:latin typeface="Arial MT"/>
                <a:cs typeface="Arial MT"/>
              </a:rPr>
              <a:t>to</a:t>
            </a:r>
            <a:r>
              <a:rPr sz="3200" spc="-12" dirty="0">
                <a:latin typeface="Arial MT"/>
                <a:cs typeface="Arial MT"/>
              </a:rPr>
              <a:t> </a:t>
            </a:r>
            <a:r>
              <a:rPr sz="3200" dirty="0">
                <a:latin typeface="Arial MT"/>
                <a:cs typeface="Arial MT"/>
              </a:rPr>
              <a:t>re-check</a:t>
            </a:r>
            <a:r>
              <a:rPr sz="3200" spc="-36" dirty="0">
                <a:latin typeface="Arial MT"/>
                <a:cs typeface="Arial MT"/>
              </a:rPr>
              <a:t> </a:t>
            </a:r>
            <a:r>
              <a:rPr sz="3200" spc="-6" dirty="0">
                <a:latin typeface="Arial MT"/>
                <a:cs typeface="Arial MT"/>
              </a:rPr>
              <a:t>your</a:t>
            </a:r>
            <a:r>
              <a:rPr sz="3200" spc="6" dirty="0">
                <a:latin typeface="Arial MT"/>
                <a:cs typeface="Arial MT"/>
              </a:rPr>
              <a:t> </a:t>
            </a:r>
            <a:r>
              <a:rPr sz="3200" spc="-6" dirty="0">
                <a:latin typeface="Arial MT"/>
                <a:cs typeface="Arial MT"/>
              </a:rPr>
              <a:t>circuit.</a:t>
            </a:r>
            <a:endParaRPr sz="3200" dirty="0">
              <a:latin typeface="Arial MT"/>
              <a:cs typeface="Arial MT"/>
            </a:endParaRPr>
          </a:p>
          <a:p>
            <a:pPr marR="154686">
              <a:spcBef>
                <a:spcPts val="0"/>
              </a:spcBef>
              <a:spcAft>
                <a:spcPts val="600"/>
              </a:spcAft>
            </a:pPr>
            <a:r>
              <a:rPr sz="3200" b="1" spc="-6" dirty="0">
                <a:latin typeface="Arial MT"/>
                <a:cs typeface="Arial"/>
              </a:rPr>
              <a:t>TX</a:t>
            </a:r>
            <a:r>
              <a:rPr sz="3200" b="1" spc="18" dirty="0">
                <a:latin typeface="Arial MT"/>
                <a:cs typeface="Arial"/>
              </a:rPr>
              <a:t> </a:t>
            </a:r>
            <a:r>
              <a:rPr sz="3200" b="1" spc="-6" dirty="0">
                <a:latin typeface="Arial MT"/>
                <a:cs typeface="Arial"/>
              </a:rPr>
              <a:t>RX</a:t>
            </a:r>
            <a:r>
              <a:rPr sz="3200" b="1" spc="12" dirty="0">
                <a:latin typeface="Arial MT"/>
                <a:cs typeface="Arial"/>
              </a:rPr>
              <a:t> </a:t>
            </a:r>
            <a:r>
              <a:rPr sz="3200" b="1" spc="-6" dirty="0">
                <a:latin typeface="Arial MT"/>
                <a:cs typeface="Arial"/>
              </a:rPr>
              <a:t>LEDs</a:t>
            </a:r>
            <a:r>
              <a:rPr lang="en-US" sz="3200" b="1" spc="-6" dirty="0">
                <a:latin typeface="Arial MT"/>
                <a:cs typeface="Arial"/>
              </a:rPr>
              <a:t> </a:t>
            </a:r>
            <a:r>
              <a:rPr sz="3200" b="1" spc="-6" dirty="0">
                <a:latin typeface="Arial MT"/>
                <a:cs typeface="Arial"/>
              </a:rPr>
              <a:t>(12)</a:t>
            </a:r>
            <a:r>
              <a:rPr sz="3200" b="1" dirty="0">
                <a:latin typeface="Arial MT"/>
                <a:cs typeface="Arial"/>
              </a:rPr>
              <a:t>:</a:t>
            </a:r>
            <a:r>
              <a:rPr sz="3200" b="1" spc="-6" dirty="0">
                <a:latin typeface="Arial MT"/>
                <a:cs typeface="Arial"/>
              </a:rPr>
              <a:t> </a:t>
            </a:r>
            <a:r>
              <a:rPr sz="3200" dirty="0">
                <a:latin typeface="Arial MT"/>
                <a:cs typeface="Arial MT"/>
              </a:rPr>
              <a:t>These</a:t>
            </a:r>
            <a:r>
              <a:rPr sz="3200" spc="-12" dirty="0">
                <a:latin typeface="Arial MT"/>
                <a:cs typeface="Arial MT"/>
              </a:rPr>
              <a:t> </a:t>
            </a:r>
            <a:r>
              <a:rPr sz="3200" spc="-6" dirty="0">
                <a:latin typeface="Arial MT"/>
                <a:cs typeface="Arial MT"/>
              </a:rPr>
              <a:t>LEDs</a:t>
            </a:r>
            <a:r>
              <a:rPr sz="3200" spc="18" dirty="0">
                <a:latin typeface="Arial MT"/>
                <a:cs typeface="Arial MT"/>
              </a:rPr>
              <a:t> </a:t>
            </a:r>
            <a:r>
              <a:rPr sz="3200" spc="-12" dirty="0">
                <a:latin typeface="Arial MT"/>
                <a:cs typeface="Arial MT"/>
              </a:rPr>
              <a:t>will</a:t>
            </a:r>
            <a:r>
              <a:rPr sz="3200" spc="54" dirty="0">
                <a:latin typeface="Arial MT"/>
                <a:cs typeface="Arial MT"/>
              </a:rPr>
              <a:t> </a:t>
            </a:r>
            <a:r>
              <a:rPr sz="3200" spc="-6" dirty="0">
                <a:latin typeface="Arial MT"/>
                <a:cs typeface="Arial MT"/>
              </a:rPr>
              <a:t>give</a:t>
            </a:r>
            <a:r>
              <a:rPr sz="3200" spc="12" dirty="0">
                <a:latin typeface="Arial MT"/>
                <a:cs typeface="Arial MT"/>
              </a:rPr>
              <a:t> </a:t>
            </a:r>
            <a:r>
              <a:rPr sz="3200" dirty="0">
                <a:latin typeface="Arial MT"/>
                <a:cs typeface="Arial MT"/>
              </a:rPr>
              <a:t>us</a:t>
            </a:r>
            <a:r>
              <a:rPr sz="3200" spc="6" dirty="0">
                <a:latin typeface="Arial MT"/>
                <a:cs typeface="Arial MT"/>
              </a:rPr>
              <a:t> </a:t>
            </a:r>
            <a:r>
              <a:rPr sz="3200" dirty="0">
                <a:latin typeface="Arial MT"/>
                <a:cs typeface="Arial MT"/>
              </a:rPr>
              <a:t>some</a:t>
            </a:r>
            <a:r>
              <a:rPr sz="3200" spc="-18" dirty="0">
                <a:latin typeface="Arial MT"/>
                <a:cs typeface="Arial MT"/>
              </a:rPr>
              <a:t> </a:t>
            </a:r>
            <a:r>
              <a:rPr sz="3200" spc="-6" dirty="0">
                <a:latin typeface="Arial MT"/>
                <a:cs typeface="Arial MT"/>
              </a:rPr>
              <a:t>nice</a:t>
            </a:r>
            <a:r>
              <a:rPr sz="3200" spc="12" dirty="0">
                <a:latin typeface="Arial MT"/>
                <a:cs typeface="Arial MT"/>
              </a:rPr>
              <a:t> </a:t>
            </a:r>
            <a:r>
              <a:rPr sz="3200" spc="-6" dirty="0">
                <a:latin typeface="Arial MT"/>
                <a:cs typeface="Arial MT"/>
              </a:rPr>
              <a:t>visual</a:t>
            </a:r>
            <a:r>
              <a:rPr sz="3200" spc="24" dirty="0">
                <a:latin typeface="Arial MT"/>
                <a:cs typeface="Arial MT"/>
              </a:rPr>
              <a:t> </a:t>
            </a:r>
            <a:r>
              <a:rPr sz="3200" spc="-6" dirty="0">
                <a:latin typeface="Arial MT"/>
                <a:cs typeface="Arial MT"/>
              </a:rPr>
              <a:t>indications</a:t>
            </a:r>
            <a:r>
              <a:rPr sz="3200" spc="12" dirty="0">
                <a:latin typeface="Arial MT"/>
                <a:cs typeface="Arial MT"/>
              </a:rPr>
              <a:t> </a:t>
            </a:r>
            <a:r>
              <a:rPr sz="3200" spc="-6" dirty="0">
                <a:latin typeface="Arial MT"/>
                <a:cs typeface="Arial MT"/>
              </a:rPr>
              <a:t>whenever</a:t>
            </a:r>
            <a:r>
              <a:rPr sz="3200" spc="36" dirty="0">
                <a:latin typeface="Arial MT"/>
                <a:cs typeface="Arial MT"/>
              </a:rPr>
              <a:t> </a:t>
            </a:r>
            <a:r>
              <a:rPr sz="3200" dirty="0">
                <a:latin typeface="Arial MT"/>
                <a:cs typeface="Arial MT"/>
              </a:rPr>
              <a:t>our</a:t>
            </a:r>
            <a:r>
              <a:rPr sz="3200" spc="6" dirty="0">
                <a:latin typeface="Arial MT"/>
                <a:cs typeface="Arial MT"/>
              </a:rPr>
              <a:t> </a:t>
            </a:r>
            <a:r>
              <a:rPr sz="3200" spc="-6" dirty="0">
                <a:latin typeface="Arial MT"/>
                <a:cs typeface="Arial MT"/>
              </a:rPr>
              <a:t>Arduino</a:t>
            </a:r>
            <a:r>
              <a:rPr sz="3200" dirty="0">
                <a:latin typeface="Arial MT"/>
                <a:cs typeface="Arial MT"/>
              </a:rPr>
              <a:t> </a:t>
            </a:r>
            <a:r>
              <a:rPr sz="3200" spc="-6" dirty="0">
                <a:latin typeface="Arial MT"/>
                <a:cs typeface="Arial MT"/>
              </a:rPr>
              <a:t>is</a:t>
            </a:r>
            <a:r>
              <a:rPr sz="3200" spc="18" dirty="0">
                <a:latin typeface="Arial MT"/>
                <a:cs typeface="Arial MT"/>
              </a:rPr>
              <a:t> </a:t>
            </a:r>
            <a:r>
              <a:rPr sz="3200" spc="-6" dirty="0">
                <a:latin typeface="Arial MT"/>
                <a:cs typeface="Arial MT"/>
              </a:rPr>
              <a:t>receiving</a:t>
            </a:r>
            <a:r>
              <a:rPr sz="3200" spc="24" dirty="0">
                <a:latin typeface="Arial MT"/>
                <a:cs typeface="Arial MT"/>
              </a:rPr>
              <a:t> </a:t>
            </a:r>
            <a:r>
              <a:rPr sz="3200" dirty="0">
                <a:latin typeface="Arial MT"/>
                <a:cs typeface="Arial MT"/>
              </a:rPr>
              <a:t>or</a:t>
            </a:r>
            <a:r>
              <a:rPr sz="3200" spc="-18" dirty="0">
                <a:latin typeface="Arial MT"/>
                <a:cs typeface="Arial MT"/>
              </a:rPr>
              <a:t> </a:t>
            </a:r>
            <a:r>
              <a:rPr sz="3200" spc="-6" dirty="0">
                <a:latin typeface="Arial MT"/>
                <a:cs typeface="Arial MT"/>
              </a:rPr>
              <a:t>transmitting</a:t>
            </a:r>
            <a:r>
              <a:rPr sz="3200" spc="-30" dirty="0">
                <a:latin typeface="Arial MT"/>
                <a:cs typeface="Arial MT"/>
              </a:rPr>
              <a:t> </a:t>
            </a:r>
            <a:r>
              <a:rPr sz="3200" dirty="0">
                <a:latin typeface="Arial MT"/>
                <a:cs typeface="Arial MT"/>
              </a:rPr>
              <a:t>data</a:t>
            </a:r>
            <a:r>
              <a:rPr sz="3200" spc="-12" dirty="0">
                <a:latin typeface="Arial MT"/>
                <a:cs typeface="Arial MT"/>
              </a:rPr>
              <a:t> </a:t>
            </a:r>
            <a:r>
              <a:rPr sz="3200" spc="-6" dirty="0">
                <a:latin typeface="Arial MT"/>
                <a:cs typeface="Arial MT"/>
              </a:rPr>
              <a:t>(</a:t>
            </a:r>
            <a:r>
              <a:rPr lang="en-US" sz="3200" spc="-6" dirty="0">
                <a:latin typeface="Arial MT"/>
                <a:cs typeface="Arial MT"/>
              </a:rPr>
              <a:t>for example,</a:t>
            </a:r>
            <a:r>
              <a:rPr sz="3200" spc="-6" dirty="0">
                <a:latin typeface="Arial MT"/>
                <a:cs typeface="Arial MT"/>
              </a:rPr>
              <a:t> </a:t>
            </a:r>
            <a:r>
              <a:rPr sz="3200" spc="-348" dirty="0">
                <a:latin typeface="Arial MT"/>
                <a:cs typeface="Arial MT"/>
              </a:rPr>
              <a:t> </a:t>
            </a:r>
            <a:r>
              <a:rPr sz="3200" spc="-12" dirty="0">
                <a:latin typeface="Arial MT"/>
                <a:cs typeface="Arial MT"/>
              </a:rPr>
              <a:t>when</a:t>
            </a:r>
            <a:r>
              <a:rPr sz="3200" spc="18" dirty="0">
                <a:latin typeface="Arial MT"/>
                <a:cs typeface="Arial MT"/>
              </a:rPr>
              <a:t> </a:t>
            </a:r>
            <a:r>
              <a:rPr sz="3200" spc="-12" dirty="0">
                <a:latin typeface="Arial MT"/>
                <a:cs typeface="Arial MT"/>
              </a:rPr>
              <a:t>we</a:t>
            </a:r>
            <a:r>
              <a:rPr lang="en-US" sz="3200" spc="-12" dirty="0">
                <a:latin typeface="Arial MT"/>
                <a:cs typeface="Arial MT"/>
              </a:rPr>
              <a:t> a</a:t>
            </a:r>
            <a:r>
              <a:rPr sz="3200" spc="-12" dirty="0">
                <a:latin typeface="Arial MT"/>
                <a:cs typeface="Arial MT"/>
              </a:rPr>
              <a:t>re</a:t>
            </a:r>
            <a:r>
              <a:rPr sz="3200" spc="18" dirty="0">
                <a:latin typeface="Arial MT"/>
                <a:cs typeface="Arial MT"/>
              </a:rPr>
              <a:t> </a:t>
            </a:r>
            <a:r>
              <a:rPr sz="3200" spc="-6" dirty="0">
                <a:latin typeface="Arial MT"/>
                <a:cs typeface="Arial MT"/>
              </a:rPr>
              <a:t>loading</a:t>
            </a:r>
            <a:r>
              <a:rPr sz="3200" dirty="0">
                <a:latin typeface="Arial MT"/>
                <a:cs typeface="Arial MT"/>
              </a:rPr>
              <a:t> a</a:t>
            </a:r>
            <a:r>
              <a:rPr sz="3200" spc="-12" dirty="0">
                <a:latin typeface="Arial MT"/>
                <a:cs typeface="Arial MT"/>
              </a:rPr>
              <a:t> </a:t>
            </a:r>
            <a:r>
              <a:rPr sz="3200" spc="-6" dirty="0">
                <a:latin typeface="Arial MT"/>
                <a:cs typeface="Arial MT"/>
              </a:rPr>
              <a:t>new</a:t>
            </a:r>
            <a:r>
              <a:rPr sz="3200" dirty="0">
                <a:latin typeface="Arial MT"/>
                <a:cs typeface="Arial MT"/>
              </a:rPr>
              <a:t> program</a:t>
            </a:r>
            <a:r>
              <a:rPr sz="3200" spc="-48" dirty="0">
                <a:latin typeface="Arial MT"/>
                <a:cs typeface="Arial MT"/>
              </a:rPr>
              <a:t> </a:t>
            </a:r>
            <a:r>
              <a:rPr sz="3200" spc="-6" dirty="0">
                <a:latin typeface="Arial MT"/>
                <a:cs typeface="Arial MT"/>
              </a:rPr>
              <a:t>onto</a:t>
            </a:r>
            <a:r>
              <a:rPr sz="3200" spc="-24" dirty="0">
                <a:latin typeface="Arial MT"/>
                <a:cs typeface="Arial MT"/>
              </a:rPr>
              <a:t> </a:t>
            </a:r>
            <a:r>
              <a:rPr sz="3200" dirty="0">
                <a:latin typeface="Arial MT"/>
                <a:cs typeface="Arial MT"/>
              </a:rPr>
              <a:t>the</a:t>
            </a:r>
            <a:r>
              <a:rPr sz="3200" spc="-30" dirty="0">
                <a:latin typeface="Arial MT"/>
                <a:cs typeface="Arial MT"/>
              </a:rPr>
              <a:t> </a:t>
            </a:r>
            <a:r>
              <a:rPr sz="3200" spc="-6" dirty="0">
                <a:latin typeface="Arial MT"/>
                <a:cs typeface="Arial MT"/>
              </a:rPr>
              <a:t>board).</a:t>
            </a:r>
            <a:endParaRPr sz="3200" dirty="0">
              <a:latin typeface="Arial MT"/>
              <a:cs typeface="Arial MT"/>
            </a:endParaRPr>
          </a:p>
          <a:p>
            <a:pPr>
              <a:spcBef>
                <a:spcPts val="0"/>
              </a:spcBef>
              <a:spcAft>
                <a:spcPts val="600"/>
              </a:spcAft>
            </a:pPr>
            <a:r>
              <a:rPr sz="3200" b="1" dirty="0">
                <a:latin typeface="Arial MT"/>
                <a:cs typeface="Arial"/>
              </a:rPr>
              <a:t>Main</a:t>
            </a:r>
            <a:r>
              <a:rPr sz="3200" b="1" spc="-36" dirty="0">
                <a:latin typeface="Arial MT"/>
                <a:cs typeface="Arial"/>
              </a:rPr>
              <a:t> </a:t>
            </a:r>
            <a:r>
              <a:rPr sz="3200" b="1" dirty="0">
                <a:latin typeface="Arial MT"/>
                <a:cs typeface="Arial"/>
              </a:rPr>
              <a:t>IC</a:t>
            </a:r>
            <a:r>
              <a:rPr sz="3200" b="1" spc="-12" dirty="0">
                <a:latin typeface="Arial MT"/>
                <a:cs typeface="Arial"/>
              </a:rPr>
              <a:t> </a:t>
            </a:r>
            <a:r>
              <a:rPr sz="3200" b="1" dirty="0">
                <a:latin typeface="Arial MT"/>
                <a:cs typeface="Arial"/>
              </a:rPr>
              <a:t>(</a:t>
            </a:r>
            <a:r>
              <a:rPr sz="3200" b="1" dirty="0">
                <a:latin typeface="Arial MT"/>
                <a:cs typeface="Arial MT"/>
              </a:rPr>
              <a:t>Integrated</a:t>
            </a:r>
            <a:r>
              <a:rPr sz="3200" b="1" spc="-54" dirty="0">
                <a:latin typeface="Arial MT"/>
                <a:cs typeface="Arial MT"/>
              </a:rPr>
              <a:t> </a:t>
            </a:r>
            <a:r>
              <a:rPr sz="3200" b="1" spc="-6" dirty="0">
                <a:latin typeface="Arial MT"/>
                <a:cs typeface="Arial MT"/>
              </a:rPr>
              <a:t>Circuit) </a:t>
            </a:r>
            <a:r>
              <a:rPr sz="3200" b="1" dirty="0">
                <a:latin typeface="Arial MT"/>
                <a:cs typeface="Arial"/>
              </a:rPr>
              <a:t>(13):</a:t>
            </a:r>
            <a:r>
              <a:rPr sz="3200" b="1" spc="-6" dirty="0">
                <a:latin typeface="Arial MT"/>
                <a:cs typeface="Arial"/>
              </a:rPr>
              <a:t> </a:t>
            </a:r>
            <a:r>
              <a:rPr sz="3200" spc="6" dirty="0">
                <a:latin typeface="Arial MT"/>
                <a:cs typeface="Arial MT"/>
              </a:rPr>
              <a:t>The</a:t>
            </a:r>
            <a:r>
              <a:rPr sz="3200" spc="-24" dirty="0">
                <a:latin typeface="Arial MT"/>
                <a:cs typeface="Arial MT"/>
              </a:rPr>
              <a:t> </a:t>
            </a:r>
            <a:r>
              <a:rPr sz="3200" dirty="0">
                <a:latin typeface="Arial MT"/>
                <a:cs typeface="Arial MT"/>
              </a:rPr>
              <a:t>main</a:t>
            </a:r>
            <a:r>
              <a:rPr sz="3200" spc="-6" dirty="0">
                <a:latin typeface="Arial MT"/>
                <a:cs typeface="Arial MT"/>
              </a:rPr>
              <a:t> </a:t>
            </a:r>
            <a:r>
              <a:rPr sz="3200" dirty="0">
                <a:latin typeface="Arial MT"/>
                <a:cs typeface="Arial MT"/>
              </a:rPr>
              <a:t>IC</a:t>
            </a:r>
            <a:r>
              <a:rPr sz="3200" spc="-12" dirty="0">
                <a:latin typeface="Arial MT"/>
                <a:cs typeface="Arial MT"/>
              </a:rPr>
              <a:t> </a:t>
            </a:r>
            <a:r>
              <a:rPr sz="3200" dirty="0">
                <a:latin typeface="Arial MT"/>
                <a:cs typeface="Arial MT"/>
              </a:rPr>
              <a:t>on</a:t>
            </a:r>
            <a:r>
              <a:rPr sz="3200" spc="-12" dirty="0">
                <a:latin typeface="Arial MT"/>
                <a:cs typeface="Arial MT"/>
              </a:rPr>
              <a:t> </a:t>
            </a:r>
            <a:r>
              <a:rPr sz="3200" dirty="0">
                <a:latin typeface="Arial MT"/>
                <a:cs typeface="Arial MT"/>
              </a:rPr>
              <a:t>the</a:t>
            </a:r>
            <a:r>
              <a:rPr sz="3200" spc="-18" dirty="0">
                <a:latin typeface="Arial MT"/>
                <a:cs typeface="Arial MT"/>
              </a:rPr>
              <a:t> </a:t>
            </a:r>
            <a:r>
              <a:rPr sz="3200" spc="-6" dirty="0">
                <a:latin typeface="Arial MT"/>
                <a:cs typeface="Arial MT"/>
              </a:rPr>
              <a:t>Arduino</a:t>
            </a:r>
            <a:r>
              <a:rPr sz="3200" dirty="0">
                <a:latin typeface="Arial MT"/>
                <a:cs typeface="Arial MT"/>
              </a:rPr>
              <a:t> </a:t>
            </a:r>
            <a:r>
              <a:rPr sz="3200" spc="-6" dirty="0">
                <a:latin typeface="Arial MT"/>
                <a:cs typeface="Arial MT"/>
              </a:rPr>
              <a:t>is </a:t>
            </a:r>
            <a:r>
              <a:rPr sz="3200" dirty="0">
                <a:latin typeface="Arial MT"/>
                <a:cs typeface="Arial MT"/>
              </a:rPr>
              <a:t>the</a:t>
            </a:r>
            <a:r>
              <a:rPr sz="3200" spc="-12" dirty="0">
                <a:latin typeface="Arial MT"/>
                <a:cs typeface="Arial MT"/>
              </a:rPr>
              <a:t> </a:t>
            </a:r>
            <a:r>
              <a:rPr sz="3200" dirty="0">
                <a:latin typeface="Arial MT"/>
                <a:cs typeface="Arial MT"/>
              </a:rPr>
              <a:t>ATmega328</a:t>
            </a:r>
            <a:r>
              <a:rPr sz="3200" spc="-42" dirty="0">
                <a:latin typeface="Arial MT"/>
                <a:cs typeface="Arial MT"/>
              </a:rPr>
              <a:t> </a:t>
            </a:r>
            <a:r>
              <a:rPr sz="3200" dirty="0">
                <a:latin typeface="Arial MT"/>
                <a:cs typeface="Arial MT"/>
              </a:rPr>
              <a:t>microcontroller</a:t>
            </a:r>
            <a:r>
              <a:rPr sz="3200" spc="-24" dirty="0">
                <a:latin typeface="Arial MT"/>
                <a:cs typeface="Arial MT"/>
              </a:rPr>
              <a:t> </a:t>
            </a:r>
            <a:r>
              <a:rPr sz="3200" dirty="0">
                <a:latin typeface="Arial MT"/>
                <a:cs typeface="Arial MT"/>
              </a:rPr>
              <a:t>of</a:t>
            </a:r>
            <a:r>
              <a:rPr sz="3200" spc="-18" dirty="0">
                <a:latin typeface="Arial MT"/>
                <a:cs typeface="Arial MT"/>
              </a:rPr>
              <a:t> </a:t>
            </a:r>
            <a:r>
              <a:rPr sz="3200" dirty="0">
                <a:latin typeface="Arial MT"/>
                <a:cs typeface="Arial MT"/>
              </a:rPr>
              <a:t>the</a:t>
            </a:r>
            <a:r>
              <a:rPr sz="3200" spc="-24" dirty="0">
                <a:latin typeface="Arial MT"/>
                <a:cs typeface="Arial MT"/>
              </a:rPr>
              <a:t> </a:t>
            </a:r>
            <a:r>
              <a:rPr sz="3200" spc="-6" dirty="0">
                <a:latin typeface="Arial MT"/>
                <a:cs typeface="Arial MT"/>
              </a:rPr>
              <a:t>ATMEL</a:t>
            </a:r>
            <a:r>
              <a:rPr sz="3200" spc="6" dirty="0">
                <a:latin typeface="Arial MT"/>
                <a:cs typeface="Arial MT"/>
              </a:rPr>
              <a:t> </a:t>
            </a:r>
            <a:r>
              <a:rPr sz="3200" spc="-6" dirty="0">
                <a:latin typeface="Arial MT"/>
                <a:cs typeface="Arial MT"/>
              </a:rPr>
              <a:t>company.,</a:t>
            </a:r>
            <a:r>
              <a:rPr sz="3200" spc="-30" dirty="0">
                <a:latin typeface="Arial MT"/>
                <a:cs typeface="Arial MT"/>
              </a:rPr>
              <a:t> </a:t>
            </a:r>
            <a:r>
              <a:rPr sz="3200" spc="-6" dirty="0">
                <a:latin typeface="Arial MT"/>
                <a:cs typeface="Arial MT"/>
              </a:rPr>
              <a:t>where</a:t>
            </a:r>
            <a:r>
              <a:rPr sz="3200" spc="12" dirty="0">
                <a:latin typeface="Arial MT"/>
                <a:cs typeface="Arial MT"/>
              </a:rPr>
              <a:t> </a:t>
            </a:r>
            <a:r>
              <a:rPr sz="3200" spc="-12" dirty="0">
                <a:latin typeface="Arial MT"/>
                <a:cs typeface="Arial MT"/>
              </a:rPr>
              <a:t>we</a:t>
            </a:r>
            <a:r>
              <a:rPr lang="en-US" sz="3200" spc="-12" dirty="0">
                <a:latin typeface="Arial MT"/>
                <a:cs typeface="Arial MT"/>
              </a:rPr>
              <a:t> </a:t>
            </a:r>
            <a:r>
              <a:rPr sz="3200" spc="-6" dirty="0">
                <a:latin typeface="Arial MT"/>
                <a:cs typeface="Arial MT"/>
              </a:rPr>
              <a:t>have</a:t>
            </a:r>
            <a:r>
              <a:rPr sz="3200" spc="-12" dirty="0">
                <a:latin typeface="Arial MT"/>
                <a:cs typeface="Arial MT"/>
              </a:rPr>
              <a:t> </a:t>
            </a:r>
            <a:r>
              <a:rPr sz="3200" dirty="0">
                <a:latin typeface="Arial MT"/>
                <a:cs typeface="Arial MT"/>
              </a:rPr>
              <a:t>to</a:t>
            </a:r>
            <a:r>
              <a:rPr sz="3200" spc="-36" dirty="0">
                <a:latin typeface="Arial MT"/>
                <a:cs typeface="Arial MT"/>
              </a:rPr>
              <a:t> </a:t>
            </a:r>
            <a:r>
              <a:rPr sz="3200" spc="-6" dirty="0">
                <a:latin typeface="Arial MT"/>
                <a:cs typeface="Arial MT"/>
              </a:rPr>
              <a:t>upload</a:t>
            </a:r>
            <a:r>
              <a:rPr sz="3200" spc="-12" dirty="0">
                <a:latin typeface="Arial MT"/>
                <a:cs typeface="Arial MT"/>
              </a:rPr>
              <a:t> </a:t>
            </a:r>
            <a:r>
              <a:rPr sz="3200" dirty="0">
                <a:latin typeface="Arial MT"/>
                <a:cs typeface="Arial MT"/>
              </a:rPr>
              <a:t>the</a:t>
            </a:r>
            <a:r>
              <a:rPr sz="3200" spc="-42" dirty="0">
                <a:latin typeface="Arial MT"/>
                <a:cs typeface="Arial MT"/>
              </a:rPr>
              <a:t> </a:t>
            </a:r>
            <a:r>
              <a:rPr sz="3200" dirty="0">
                <a:latin typeface="Arial MT"/>
                <a:cs typeface="Arial MT"/>
              </a:rPr>
              <a:t>code.</a:t>
            </a:r>
          </a:p>
          <a:p>
            <a:pPr>
              <a:spcBef>
                <a:spcPts val="0"/>
              </a:spcBef>
              <a:spcAft>
                <a:spcPts val="600"/>
              </a:spcAft>
            </a:pPr>
            <a:r>
              <a:rPr sz="3200" b="1" dirty="0">
                <a:latin typeface="Arial MT"/>
                <a:cs typeface="Arial"/>
              </a:rPr>
              <a:t>Voltage</a:t>
            </a:r>
            <a:r>
              <a:rPr sz="3200" b="1" spc="-72" dirty="0">
                <a:latin typeface="Arial MT"/>
                <a:cs typeface="Arial"/>
              </a:rPr>
              <a:t> </a:t>
            </a:r>
            <a:r>
              <a:rPr sz="3200" b="1" dirty="0">
                <a:latin typeface="Arial MT"/>
                <a:cs typeface="Arial"/>
              </a:rPr>
              <a:t>Regulator:</a:t>
            </a:r>
            <a:r>
              <a:rPr lang="en-US" sz="3200" dirty="0">
                <a:latin typeface="Arial MT"/>
                <a:cs typeface="Arial"/>
              </a:rPr>
              <a:t> </a:t>
            </a:r>
            <a:r>
              <a:rPr sz="3200" dirty="0">
                <a:latin typeface="Arial MT"/>
                <a:cs typeface="Arial MT"/>
              </a:rPr>
              <a:t>The </a:t>
            </a:r>
            <a:r>
              <a:rPr sz="3200" spc="-6" dirty="0">
                <a:latin typeface="Arial MT"/>
                <a:cs typeface="Arial MT"/>
              </a:rPr>
              <a:t>voltage </a:t>
            </a:r>
            <a:r>
              <a:rPr sz="3200" dirty="0">
                <a:latin typeface="Arial MT"/>
                <a:cs typeface="Arial MT"/>
              </a:rPr>
              <a:t>regulator </a:t>
            </a:r>
            <a:r>
              <a:rPr sz="3200" b="1" dirty="0">
                <a:latin typeface="Arial MT"/>
                <a:cs typeface="Arial"/>
              </a:rPr>
              <a:t>(14) </a:t>
            </a:r>
            <a:r>
              <a:rPr sz="3200" spc="-6" dirty="0">
                <a:latin typeface="Arial MT"/>
                <a:cs typeface="Arial MT"/>
              </a:rPr>
              <a:t>is used </a:t>
            </a:r>
            <a:r>
              <a:rPr sz="3200" dirty="0">
                <a:latin typeface="Arial MT"/>
                <a:cs typeface="Arial MT"/>
              </a:rPr>
              <a:t>to control the </a:t>
            </a:r>
            <a:r>
              <a:rPr sz="3200" spc="-6" dirty="0">
                <a:latin typeface="Arial MT"/>
                <a:cs typeface="Arial MT"/>
              </a:rPr>
              <a:t>amount of voltage that is let into </a:t>
            </a:r>
            <a:r>
              <a:rPr sz="3200" dirty="0">
                <a:latin typeface="Arial MT"/>
                <a:cs typeface="Arial MT"/>
              </a:rPr>
              <a:t>the </a:t>
            </a:r>
            <a:r>
              <a:rPr sz="3200" spc="-6" dirty="0">
                <a:latin typeface="Arial MT"/>
                <a:cs typeface="Arial MT"/>
              </a:rPr>
              <a:t>Arduino board. But Arduino </a:t>
            </a:r>
            <a:r>
              <a:rPr lang="en-US" sz="3200" dirty="0">
                <a:latin typeface="Arial MT"/>
                <a:cs typeface="Arial MT"/>
              </a:rPr>
              <a:t>should not be powered by more </a:t>
            </a:r>
            <a:r>
              <a:rPr sz="3200" dirty="0">
                <a:latin typeface="Arial MT"/>
                <a:cs typeface="Arial MT"/>
              </a:rPr>
              <a:t>than</a:t>
            </a:r>
            <a:r>
              <a:rPr sz="3200" spc="-12" dirty="0">
                <a:latin typeface="Arial MT"/>
                <a:cs typeface="Arial MT"/>
              </a:rPr>
              <a:t> </a:t>
            </a:r>
            <a:r>
              <a:rPr sz="3200" dirty="0">
                <a:latin typeface="Arial MT"/>
                <a:cs typeface="Arial MT"/>
              </a:rPr>
              <a:t>20</a:t>
            </a:r>
            <a:r>
              <a:rPr sz="3200" spc="-12" dirty="0">
                <a:latin typeface="Arial MT"/>
                <a:cs typeface="Arial MT"/>
              </a:rPr>
              <a:t> </a:t>
            </a:r>
            <a:r>
              <a:rPr lang="en-US" sz="3200" spc="-6" dirty="0">
                <a:latin typeface="Arial MT"/>
                <a:cs typeface="Arial MT"/>
              </a:rPr>
              <a:t>V</a:t>
            </a:r>
            <a:r>
              <a:rPr sz="3200" spc="-6" dirty="0">
                <a:latin typeface="Arial MT"/>
                <a:cs typeface="Arial MT"/>
              </a:rPr>
              <a:t>.</a:t>
            </a:r>
            <a:endParaRPr sz="3200" dirty="0">
              <a:latin typeface="Arial MT"/>
              <a:cs typeface="Arial MT"/>
            </a:endParaRPr>
          </a:p>
        </p:txBody>
      </p:sp>
      <p:sp>
        <p:nvSpPr>
          <p:cNvPr id="6" name="object 3"/>
          <p:cNvSpPr txBox="1">
            <a:spLocks noGrp="1"/>
          </p:cNvSpPr>
          <p:nvPr>
            <p:ph type="title"/>
          </p:nvPr>
        </p:nvSpPr>
        <p:spPr>
          <a:xfrm>
            <a:off x="2133600" y="578743"/>
            <a:ext cx="12186920" cy="753283"/>
          </a:xfrm>
          <a:prstGeom prst="rect">
            <a:avLst/>
          </a:prstGeom>
        </p:spPr>
        <p:txBody>
          <a:bodyPr vert="horz" wrap="square" lIns="0" tIns="14478" rIns="0" bIns="0" numCol="1" rtlCol="0" anchor="ctr" anchorCtr="0" compatLnSpc="1">
            <a:prstTxWarp prst="textNoShape">
              <a:avLst/>
            </a:prstTxWarp>
            <a:spAutoFit/>
          </a:bodyPr>
          <a:lstStyle/>
          <a:p>
            <a:pPr marL="15240">
              <a:spcBef>
                <a:spcPts val="114"/>
              </a:spcBef>
            </a:pPr>
            <a:r>
              <a:rPr sz="4800" b="1" spc="-12" dirty="0">
                <a:latin typeface="+mn-lt"/>
              </a:rPr>
              <a:t>Arduino</a:t>
            </a:r>
            <a:r>
              <a:rPr sz="4800" b="1" spc="12" dirty="0">
                <a:latin typeface="+mn-lt"/>
              </a:rPr>
              <a:t> </a:t>
            </a:r>
            <a:r>
              <a:rPr sz="4800" b="1" spc="-6" dirty="0">
                <a:latin typeface="+mn-lt"/>
              </a:rPr>
              <a:t>U</a:t>
            </a:r>
            <a:r>
              <a:rPr lang="en-US" sz="4800" b="1" spc="-6" dirty="0">
                <a:latin typeface="+mn-lt"/>
              </a:rPr>
              <a:t>NO</a:t>
            </a:r>
            <a:r>
              <a:rPr sz="4800" b="1" dirty="0">
                <a:latin typeface="+mn-lt"/>
              </a:rPr>
              <a:t> </a:t>
            </a:r>
            <a:r>
              <a:rPr lang="en-US" sz="4800" b="1" spc="-12" dirty="0">
                <a:latin typeface="+mn-lt"/>
              </a:rPr>
              <a:t>P</a:t>
            </a:r>
            <a:r>
              <a:rPr sz="4800" b="1" spc="-12" dirty="0">
                <a:latin typeface="+mn-lt"/>
              </a:rPr>
              <a:t>in</a:t>
            </a:r>
            <a:r>
              <a:rPr sz="4800" b="1" spc="12" dirty="0">
                <a:latin typeface="+mn-lt"/>
              </a:rPr>
              <a:t> </a:t>
            </a:r>
            <a:r>
              <a:rPr lang="en-US" sz="4800" b="1" spc="-12" dirty="0">
                <a:latin typeface="+mn-lt"/>
              </a:rPr>
              <a:t>C</a:t>
            </a:r>
            <a:r>
              <a:rPr sz="4800" b="1" spc="-12" dirty="0">
                <a:latin typeface="+mn-lt"/>
              </a:rPr>
              <a:t>onfiguration</a:t>
            </a:r>
          </a:p>
        </p:txBody>
      </p:sp>
    </p:spTree>
    <p:extLst>
      <p:ext uri="{BB962C8B-B14F-4D97-AF65-F5344CB8AC3E}">
        <p14:creationId xmlns:p14="http://schemas.microsoft.com/office/powerpoint/2010/main" val="2471884604"/>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7F6215-7263-ACA5-5F47-04A326FBBBDD}"/>
              </a:ext>
            </a:extLst>
          </p:cNvPr>
          <p:cNvSpPr/>
          <p:nvPr/>
        </p:nvSpPr>
        <p:spPr>
          <a:xfrm>
            <a:off x="1804416" y="533400"/>
            <a:ext cx="13968984" cy="769441"/>
          </a:xfrm>
          <a:prstGeom prst="rect">
            <a:avLst/>
          </a:prstGeom>
        </p:spPr>
        <p:txBody>
          <a:bodyPr wrap="square">
            <a:spAutoFit/>
          </a:bodyPr>
          <a:lstStyle/>
          <a:p>
            <a:pPr algn="ctr"/>
            <a:r>
              <a:rPr lang="en-US" sz="4400" b="1" dirty="0">
                <a:latin typeface="Arial MT"/>
                <a:ea typeface="Times New Roman"/>
                <a:cs typeface="Times New Roman"/>
              </a:rPr>
              <a:t>Example of a Modern Microcontroller: ATmega328</a:t>
            </a:r>
            <a:endParaRPr lang="en-US" sz="4400" b="1" dirty="0">
              <a:latin typeface="Arial MT"/>
            </a:endParaRPr>
          </a:p>
        </p:txBody>
      </p:sp>
      <p:sp>
        <p:nvSpPr>
          <p:cNvPr id="4" name="Rectangle 3">
            <a:extLst>
              <a:ext uri="{FF2B5EF4-FFF2-40B4-BE49-F238E27FC236}">
                <a16:creationId xmlns:a16="http://schemas.microsoft.com/office/drawing/2014/main" id="{D445D388-2EC6-6812-8E87-EBCEA7049E09}"/>
              </a:ext>
            </a:extLst>
          </p:cNvPr>
          <p:cNvSpPr/>
          <p:nvPr/>
        </p:nvSpPr>
        <p:spPr>
          <a:xfrm>
            <a:off x="228600" y="1688842"/>
            <a:ext cx="16002000" cy="5893921"/>
          </a:xfrm>
          <a:prstGeom prst="rect">
            <a:avLst/>
          </a:prstGeom>
        </p:spPr>
        <p:txBody>
          <a:bodyPr wrap="square">
            <a:spAutoFit/>
          </a:bodyPr>
          <a:lstStyle/>
          <a:p>
            <a:pPr marL="365760" lvl="0" indent="-365760" algn="just">
              <a:spcBef>
                <a:spcPts val="0"/>
              </a:spcBef>
              <a:spcAft>
                <a:spcPts val="600"/>
              </a:spcAft>
            </a:pPr>
            <a:r>
              <a:rPr lang="en-US" sz="3200" dirty="0">
                <a:latin typeface="Arial MT"/>
                <a:ea typeface="Times New Roman"/>
              </a:rPr>
              <a:t>ATmega-328 is basically an Advanced Virtual RISC (AVR) microcontroller. </a:t>
            </a:r>
          </a:p>
          <a:p>
            <a:pPr marL="365760" lvl="0" indent="-365760" algn="just">
              <a:spcBef>
                <a:spcPts val="0"/>
              </a:spcBef>
              <a:spcAft>
                <a:spcPts val="600"/>
              </a:spcAft>
            </a:pPr>
            <a:r>
              <a:rPr lang="en-US" sz="3200" dirty="0">
                <a:latin typeface="Arial MT"/>
                <a:ea typeface="Times New Roman"/>
              </a:rPr>
              <a:t>ATmega-328 has </a:t>
            </a:r>
            <a:r>
              <a:rPr lang="en-US" sz="3200" b="1" dirty="0">
                <a:latin typeface="Arial MT"/>
                <a:ea typeface="Times New Roman"/>
              </a:rPr>
              <a:t>32 KB internal built-in memory</a:t>
            </a:r>
            <a:r>
              <a:rPr lang="en-US" sz="3200" dirty="0">
                <a:latin typeface="Arial MT"/>
                <a:ea typeface="Times New Roman"/>
              </a:rPr>
              <a:t>. </a:t>
            </a:r>
          </a:p>
          <a:p>
            <a:pPr marL="365760" indent="-365760" algn="just">
              <a:spcBef>
                <a:spcPts val="0"/>
              </a:spcBef>
              <a:spcAft>
                <a:spcPts val="600"/>
              </a:spcAft>
              <a:buFont typeface="Arial" pitchFamily="34" charset="0"/>
              <a:buChar char="•"/>
            </a:pPr>
            <a:r>
              <a:rPr lang="en-US" sz="3200" dirty="0">
                <a:latin typeface="Arial MT"/>
                <a:ea typeface="Calibri"/>
                <a:cs typeface="Times New Roman"/>
              </a:rPr>
              <a:t>ATmega328 </a:t>
            </a:r>
            <a:r>
              <a:rPr lang="en-US" sz="3200" dirty="0">
                <a:latin typeface="Arial MT"/>
                <a:ea typeface="Times New Roman"/>
              </a:rPr>
              <a:t>supports data up to </a:t>
            </a:r>
            <a:r>
              <a:rPr lang="en-US" sz="3200" b="1" dirty="0">
                <a:latin typeface="Arial MT"/>
                <a:ea typeface="Times New Roman"/>
              </a:rPr>
              <a:t>eight (8) bits </a:t>
            </a:r>
            <a:r>
              <a:rPr lang="en-US" sz="3200" b="1" dirty="0">
                <a:latin typeface="Arial MT"/>
                <a:ea typeface="Calibri"/>
                <a:cs typeface="Calibri"/>
              </a:rPr>
              <a:t>and has 28 Pins. </a:t>
            </a:r>
            <a:r>
              <a:rPr lang="en-US" sz="3200" dirty="0">
                <a:latin typeface="Arial MT"/>
                <a:ea typeface="Calibri"/>
                <a:cs typeface="Calibri"/>
              </a:rPr>
              <a:t>AVR Microcontroller, manufactured by Microchip, follows RISC Architecture and </a:t>
            </a:r>
            <a:r>
              <a:rPr lang="en-US" sz="3200" b="1" dirty="0">
                <a:latin typeface="Arial MT"/>
                <a:ea typeface="Calibri"/>
                <a:cs typeface="Calibri"/>
              </a:rPr>
              <a:t>has a flash-type program memory of 32 KB</a:t>
            </a:r>
            <a:r>
              <a:rPr lang="en-US" sz="3200" dirty="0">
                <a:latin typeface="Arial MT"/>
                <a:ea typeface="Calibri"/>
                <a:cs typeface="Calibri"/>
              </a:rPr>
              <a:t>.</a:t>
            </a:r>
            <a:r>
              <a:rPr lang="en-US" sz="3200" dirty="0">
                <a:latin typeface="Arial MT"/>
                <a:ea typeface="Times New Roman"/>
              </a:rPr>
              <a:t> </a:t>
            </a:r>
          </a:p>
          <a:p>
            <a:pPr marL="365760" indent="-365760" algn="just">
              <a:spcBef>
                <a:spcPts val="0"/>
              </a:spcBef>
              <a:spcAft>
                <a:spcPts val="600"/>
              </a:spcAft>
              <a:buFont typeface="Arial" pitchFamily="34" charset="0"/>
              <a:buChar char="•"/>
            </a:pPr>
            <a:r>
              <a:rPr lang="en-US" sz="3200" dirty="0">
                <a:latin typeface="Arial MT"/>
                <a:ea typeface="Times New Roman"/>
              </a:rPr>
              <a:t>ATmega328 has </a:t>
            </a:r>
            <a:r>
              <a:rPr lang="en-US" sz="3200" b="1" dirty="0">
                <a:latin typeface="Arial MT"/>
                <a:ea typeface="Times New Roman"/>
              </a:rPr>
              <a:t>1 KB Electrically Erasable Programmable Read Only Memory (EEPROM)</a:t>
            </a:r>
            <a:r>
              <a:rPr lang="en-US" sz="3200" dirty="0">
                <a:latin typeface="Arial MT"/>
                <a:ea typeface="Times New Roman"/>
              </a:rPr>
              <a:t>. For an EEPROM, if the electric supply is removed from the microcontroller, it can store the data. After providing an electric supply it can provide previous results. </a:t>
            </a:r>
          </a:p>
          <a:p>
            <a:pPr marL="365760" indent="-365760" algn="just">
              <a:spcBef>
                <a:spcPts val="0"/>
              </a:spcBef>
              <a:spcAft>
                <a:spcPts val="600"/>
              </a:spcAft>
              <a:buFont typeface="Arial" pitchFamily="34" charset="0"/>
              <a:buChar char="•"/>
            </a:pPr>
            <a:r>
              <a:rPr lang="en-US" sz="3200" dirty="0">
                <a:latin typeface="Arial MT"/>
                <a:ea typeface="Times New Roman"/>
              </a:rPr>
              <a:t>ATmega328 has </a:t>
            </a:r>
            <a:r>
              <a:rPr lang="en-US" sz="3200" b="1" dirty="0">
                <a:latin typeface="Arial MT"/>
                <a:ea typeface="Times New Roman"/>
              </a:rPr>
              <a:t>2 KB Static Random Access Memory </a:t>
            </a:r>
            <a:r>
              <a:rPr lang="en-US" sz="3200" dirty="0">
                <a:latin typeface="Arial MT"/>
                <a:ea typeface="Times New Roman"/>
              </a:rPr>
              <a:t>(SRAM). </a:t>
            </a:r>
          </a:p>
          <a:p>
            <a:pPr marL="365760" indent="-365760" algn="just">
              <a:spcBef>
                <a:spcPts val="0"/>
              </a:spcBef>
              <a:spcAft>
                <a:spcPts val="600"/>
              </a:spcAft>
              <a:buFont typeface="Arial" pitchFamily="34" charset="0"/>
              <a:buChar char="•"/>
            </a:pPr>
            <a:r>
              <a:rPr lang="en-US" sz="3200" dirty="0">
                <a:latin typeface="Arial MT"/>
                <a:ea typeface="Calibri"/>
                <a:cs typeface="Calibri"/>
              </a:rPr>
              <a:t>It has </a:t>
            </a:r>
            <a:r>
              <a:rPr lang="en-US" sz="3200" b="1" dirty="0">
                <a:latin typeface="Arial MT"/>
                <a:ea typeface="Calibri"/>
                <a:cs typeface="Calibri"/>
              </a:rPr>
              <a:t>8 pins for ADC operations</a:t>
            </a:r>
            <a:r>
              <a:rPr lang="en-US" sz="3200" dirty="0">
                <a:latin typeface="Arial MT"/>
                <a:ea typeface="Calibri"/>
                <a:cs typeface="Calibri"/>
              </a:rPr>
              <a:t>, which all combine to form Port A (PA0-PA7).</a:t>
            </a:r>
          </a:p>
        </p:txBody>
      </p:sp>
    </p:spTree>
    <p:extLst>
      <p:ext uri="{BB962C8B-B14F-4D97-AF65-F5344CB8AC3E}">
        <p14:creationId xmlns:p14="http://schemas.microsoft.com/office/powerpoint/2010/main" val="3631301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45D388-2EC6-6812-8E87-EBCEA7049E09}"/>
              </a:ext>
            </a:extLst>
          </p:cNvPr>
          <p:cNvSpPr/>
          <p:nvPr/>
        </p:nvSpPr>
        <p:spPr>
          <a:xfrm>
            <a:off x="228600" y="1688842"/>
            <a:ext cx="16002000" cy="5893921"/>
          </a:xfrm>
          <a:prstGeom prst="rect">
            <a:avLst/>
          </a:prstGeom>
        </p:spPr>
        <p:txBody>
          <a:bodyPr wrap="square">
            <a:spAutoFit/>
          </a:bodyPr>
          <a:lstStyle/>
          <a:p>
            <a:pPr marL="457200" lvl="0" indent="-457200" algn="just">
              <a:spcBef>
                <a:spcPts val="0"/>
              </a:spcBef>
              <a:spcAft>
                <a:spcPts val="600"/>
              </a:spcAft>
              <a:buFont typeface="Wingdings" panose="05000000000000000000" pitchFamily="2" charset="2"/>
              <a:buChar char="q"/>
            </a:pPr>
            <a:r>
              <a:rPr lang="en-US" sz="3200" dirty="0">
                <a:latin typeface="Arial MT"/>
                <a:ea typeface="Times New Roman"/>
              </a:rPr>
              <a:t>It also has 3 built-in Timers, two of them are 8 Bit timers while the third one is a 16-Bit Timer.</a:t>
            </a:r>
          </a:p>
          <a:p>
            <a:pPr marL="457200" lvl="0" indent="-457200" algn="just">
              <a:spcBef>
                <a:spcPts val="0"/>
              </a:spcBef>
              <a:spcAft>
                <a:spcPts val="600"/>
              </a:spcAft>
              <a:buFont typeface="Wingdings" panose="05000000000000000000" pitchFamily="2" charset="2"/>
              <a:buChar char="q"/>
            </a:pPr>
            <a:r>
              <a:rPr lang="en-US" sz="3200" dirty="0">
                <a:latin typeface="Arial MT"/>
                <a:ea typeface="Times New Roman"/>
              </a:rPr>
              <a:t>Arduino UNO is based on Atmega328 Microcontroller. It is UNO’s heart.  </a:t>
            </a:r>
          </a:p>
          <a:p>
            <a:pPr marL="457200" lvl="0" indent="-457200" algn="just">
              <a:spcBef>
                <a:spcPts val="0"/>
              </a:spcBef>
              <a:spcAft>
                <a:spcPts val="600"/>
              </a:spcAft>
              <a:buFont typeface="Wingdings" panose="05000000000000000000" pitchFamily="2" charset="2"/>
              <a:buChar char="q"/>
            </a:pPr>
            <a:r>
              <a:rPr lang="en-US" sz="3200" dirty="0">
                <a:latin typeface="Arial MT"/>
                <a:ea typeface="Times New Roman"/>
              </a:rPr>
              <a:t>It operates ranging from 3.3 V to 5.5 V but normally we use 5 V as a standard.</a:t>
            </a:r>
          </a:p>
          <a:p>
            <a:pPr marL="457200" lvl="0" indent="-457200" algn="just">
              <a:spcBef>
                <a:spcPts val="0"/>
              </a:spcBef>
              <a:spcAft>
                <a:spcPts val="600"/>
              </a:spcAft>
              <a:buFont typeface="Wingdings" panose="05000000000000000000" pitchFamily="2" charset="2"/>
              <a:buChar char="q"/>
            </a:pPr>
            <a:r>
              <a:rPr lang="en-US" sz="3200" dirty="0">
                <a:latin typeface="Arial MT"/>
                <a:ea typeface="Times New Roman"/>
              </a:rPr>
              <a:t>Its excellent features include cost efficiency, low power dissipation, programming lock for security purposes, real timer counter with a separate oscillator.</a:t>
            </a:r>
          </a:p>
          <a:p>
            <a:pPr marL="457200" lvl="0" indent="-457200" algn="just">
              <a:spcBef>
                <a:spcPts val="0"/>
              </a:spcBef>
              <a:spcAft>
                <a:spcPts val="600"/>
              </a:spcAft>
              <a:buFont typeface="Wingdings" panose="05000000000000000000" pitchFamily="2" charset="2"/>
              <a:buChar char="q"/>
            </a:pPr>
            <a:r>
              <a:rPr lang="en-US" sz="3200" dirty="0">
                <a:latin typeface="Arial MT"/>
                <a:ea typeface="Times New Roman"/>
              </a:rPr>
              <a:t>It is normally used in Embedded System applications. </a:t>
            </a:r>
          </a:p>
          <a:p>
            <a:pPr marL="457200" lvl="0" indent="-457200" algn="just">
              <a:spcBef>
                <a:spcPts val="0"/>
              </a:spcBef>
              <a:spcAft>
                <a:spcPts val="600"/>
              </a:spcAft>
              <a:buFont typeface="Wingdings" panose="05000000000000000000" pitchFamily="2" charset="2"/>
              <a:buChar char="q"/>
            </a:pPr>
            <a:r>
              <a:rPr lang="en-US" sz="3200" dirty="0">
                <a:latin typeface="Arial MT"/>
                <a:ea typeface="Times New Roman"/>
              </a:rPr>
              <a:t>Moreover, ATmega328 has several different features which make it the most popular device in today’s market. These features consist of advanced RISC architecture, good performance, 6 PWM pins, programmable Serial USART, programming lock for software security, throughput up to 20 MIPS, etc. </a:t>
            </a:r>
          </a:p>
        </p:txBody>
      </p:sp>
      <p:sp>
        <p:nvSpPr>
          <p:cNvPr id="5" name="Rectangle 4">
            <a:extLst>
              <a:ext uri="{FF2B5EF4-FFF2-40B4-BE49-F238E27FC236}">
                <a16:creationId xmlns:a16="http://schemas.microsoft.com/office/drawing/2014/main" id="{AF7F6215-7263-ACA5-5F47-04A326FBBBDD}"/>
              </a:ext>
            </a:extLst>
          </p:cNvPr>
          <p:cNvSpPr/>
          <p:nvPr/>
        </p:nvSpPr>
        <p:spPr>
          <a:xfrm>
            <a:off x="1804416" y="533400"/>
            <a:ext cx="13968984" cy="769441"/>
          </a:xfrm>
          <a:prstGeom prst="rect">
            <a:avLst/>
          </a:prstGeom>
        </p:spPr>
        <p:txBody>
          <a:bodyPr wrap="square">
            <a:spAutoFit/>
          </a:bodyPr>
          <a:lstStyle/>
          <a:p>
            <a:pPr algn="ctr"/>
            <a:r>
              <a:rPr lang="en-US" sz="4400" b="1" dirty="0">
                <a:ea typeface="Times New Roman"/>
                <a:cs typeface="Times New Roman"/>
              </a:rPr>
              <a:t>Example of a Modern Microcontroller: ATmega328</a:t>
            </a:r>
            <a:endParaRPr lang="en-US" sz="4400" b="1" dirty="0"/>
          </a:p>
        </p:txBody>
      </p:sp>
    </p:spTree>
    <p:extLst>
      <p:ext uri="{BB962C8B-B14F-4D97-AF65-F5344CB8AC3E}">
        <p14:creationId xmlns:p14="http://schemas.microsoft.com/office/powerpoint/2010/main" val="55611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4582" t="22900" r="6204" b="12059"/>
          <a:stretch/>
        </p:blipFill>
        <p:spPr>
          <a:xfrm>
            <a:off x="3048000" y="1711036"/>
            <a:ext cx="10693400" cy="5832764"/>
          </a:xfrm>
          <a:prstGeom prst="rect">
            <a:avLst/>
          </a:prstGeom>
        </p:spPr>
      </p:pic>
      <p:sp>
        <p:nvSpPr>
          <p:cNvPr id="3" name="Rectangle 2">
            <a:extLst>
              <a:ext uri="{FF2B5EF4-FFF2-40B4-BE49-F238E27FC236}">
                <a16:creationId xmlns:a16="http://schemas.microsoft.com/office/drawing/2014/main" id="{AF7F6215-7263-ACA5-5F47-04A326FBBBDD}"/>
              </a:ext>
            </a:extLst>
          </p:cNvPr>
          <p:cNvSpPr/>
          <p:nvPr/>
        </p:nvSpPr>
        <p:spPr>
          <a:xfrm>
            <a:off x="1804416" y="533400"/>
            <a:ext cx="13968984" cy="769441"/>
          </a:xfrm>
          <a:prstGeom prst="rect">
            <a:avLst/>
          </a:prstGeom>
        </p:spPr>
        <p:txBody>
          <a:bodyPr wrap="square">
            <a:spAutoFit/>
          </a:bodyPr>
          <a:lstStyle/>
          <a:p>
            <a:pPr algn="ctr"/>
            <a:r>
              <a:rPr lang="en-US" sz="4400" b="1" dirty="0">
                <a:ea typeface="Times New Roman"/>
                <a:cs typeface="Times New Roman"/>
              </a:rPr>
              <a:t>Arduino ATmega328 Pin Configuration</a:t>
            </a:r>
            <a:endParaRPr lang="en-US" sz="4400" b="1" dirty="0"/>
          </a:p>
        </p:txBody>
      </p:sp>
    </p:spTree>
    <p:extLst>
      <p:ext uri="{BB962C8B-B14F-4D97-AF65-F5344CB8AC3E}">
        <p14:creationId xmlns:p14="http://schemas.microsoft.com/office/powerpoint/2010/main" val="861111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7F6215-7263-ACA5-5F47-04A326FBBBDD}"/>
              </a:ext>
            </a:extLst>
          </p:cNvPr>
          <p:cNvSpPr/>
          <p:nvPr/>
        </p:nvSpPr>
        <p:spPr>
          <a:xfrm>
            <a:off x="1804416" y="533400"/>
            <a:ext cx="13968984" cy="769441"/>
          </a:xfrm>
          <a:prstGeom prst="rect">
            <a:avLst/>
          </a:prstGeom>
        </p:spPr>
        <p:txBody>
          <a:bodyPr wrap="square">
            <a:spAutoFit/>
          </a:bodyPr>
          <a:lstStyle/>
          <a:p>
            <a:pPr algn="ctr"/>
            <a:r>
              <a:rPr lang="en-US" sz="4400" b="1" dirty="0">
                <a:ea typeface="Times New Roman"/>
                <a:cs typeface="Times New Roman"/>
              </a:rPr>
              <a:t>Arduino ATmega328 Port Configuration</a:t>
            </a:r>
            <a:endParaRPr lang="en-US" sz="4400" b="1" dirty="0"/>
          </a:p>
        </p:txBody>
      </p:sp>
      <p:grpSp>
        <p:nvGrpSpPr>
          <p:cNvPr id="7" name="Group 6"/>
          <p:cNvGrpSpPr/>
          <p:nvPr/>
        </p:nvGrpSpPr>
        <p:grpSpPr>
          <a:xfrm>
            <a:off x="3733800" y="1701011"/>
            <a:ext cx="9281653" cy="5766589"/>
            <a:chOff x="3733800" y="1701011"/>
            <a:chExt cx="9281653" cy="5766589"/>
          </a:xfrm>
        </p:grpSpPr>
        <p:pic>
          <p:nvPicPr>
            <p:cNvPr id="2" name="Picture 1"/>
            <p:cNvPicPr>
              <a:picLocks noChangeAspect="1"/>
            </p:cNvPicPr>
            <p:nvPr/>
          </p:nvPicPr>
          <p:blipFill rotWithShape="1">
            <a:blip r:embed="rId2"/>
            <a:srcRect l="9629" t="22784" r="12204" b="11964"/>
            <a:stretch/>
          </p:blipFill>
          <p:spPr>
            <a:xfrm>
              <a:off x="3733800" y="1701011"/>
              <a:ext cx="9281653" cy="5766589"/>
            </a:xfrm>
            <a:prstGeom prst="rect">
              <a:avLst/>
            </a:prstGeom>
          </p:spPr>
        </p:pic>
        <p:grpSp>
          <p:nvGrpSpPr>
            <p:cNvPr id="6" name="Group 5"/>
            <p:cNvGrpSpPr/>
            <p:nvPr/>
          </p:nvGrpSpPr>
          <p:grpSpPr>
            <a:xfrm>
              <a:off x="3871676" y="1701011"/>
              <a:ext cx="1478688" cy="457200"/>
              <a:chOff x="3871676" y="1701011"/>
              <a:chExt cx="1478688" cy="457200"/>
            </a:xfrm>
          </p:grpSpPr>
          <p:pic>
            <p:nvPicPr>
              <p:cNvPr id="4" name="Picture 3"/>
              <p:cNvPicPr>
                <a:picLocks noChangeAspect="1"/>
              </p:cNvPicPr>
              <p:nvPr/>
            </p:nvPicPr>
            <p:blipFill rotWithShape="1">
              <a:blip r:embed="rId2"/>
              <a:srcRect l="20538" t="82862" r="76114" b="11965"/>
              <a:stretch/>
            </p:blipFill>
            <p:spPr>
              <a:xfrm>
                <a:off x="4953000" y="1701011"/>
                <a:ext cx="397364" cy="457200"/>
              </a:xfrm>
              <a:prstGeom prst="rect">
                <a:avLst/>
              </a:prstGeom>
            </p:spPr>
          </p:pic>
          <p:pic>
            <p:nvPicPr>
              <p:cNvPr id="5" name="Picture 4"/>
              <p:cNvPicPr>
                <a:picLocks noChangeAspect="1"/>
              </p:cNvPicPr>
              <p:nvPr/>
            </p:nvPicPr>
            <p:blipFill rotWithShape="1">
              <a:blip r:embed="rId2"/>
              <a:srcRect l="77653" t="35439" r="12204" b="61112"/>
              <a:stretch/>
            </p:blipFill>
            <p:spPr>
              <a:xfrm>
                <a:off x="3871676" y="1777211"/>
                <a:ext cx="1204453" cy="304800"/>
              </a:xfrm>
              <a:prstGeom prst="rect">
                <a:avLst/>
              </a:prstGeom>
            </p:spPr>
          </p:pic>
        </p:grpSp>
      </p:grpSp>
    </p:spTree>
    <p:extLst>
      <p:ext uri="{BB962C8B-B14F-4D97-AF65-F5344CB8AC3E}">
        <p14:creationId xmlns:p14="http://schemas.microsoft.com/office/powerpoint/2010/main" val="3573529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0"/>
            <a:ext cx="15925800" cy="6124754"/>
          </a:xfrm>
          <a:prstGeom prst="rect">
            <a:avLst/>
          </a:prstGeom>
        </p:spPr>
        <p:txBody>
          <a:bodyPr wrap="square">
            <a:spAutoFit/>
          </a:bodyPr>
          <a:lstStyle/>
          <a:p>
            <a:pPr algn="just"/>
            <a:r>
              <a:rPr lang="en-US" sz="2800" dirty="0">
                <a:solidFill>
                  <a:prstClr val="black"/>
                </a:solidFill>
                <a:ea typeface="Calibri"/>
                <a:cs typeface="Calibri"/>
              </a:rPr>
              <a:t>Functions associated with the pins must be known in order to use the device appropriately:</a:t>
            </a:r>
            <a:endParaRPr lang="en-US" sz="2800" dirty="0">
              <a:solidFill>
                <a:prstClr val="black"/>
              </a:solidFill>
              <a:ea typeface="Calibri"/>
              <a:cs typeface="Times New Roman"/>
            </a:endParaRPr>
          </a:p>
          <a:p>
            <a:pPr marL="914400" lvl="1" indent="-457200" algn="just">
              <a:buFont typeface="Wingdings" panose="05000000000000000000" pitchFamily="2" charset="2"/>
              <a:buChar char="§"/>
            </a:pPr>
            <a:r>
              <a:rPr lang="en-US" sz="2800" dirty="0">
                <a:solidFill>
                  <a:prstClr val="black"/>
                </a:solidFill>
                <a:ea typeface="Calibri"/>
                <a:cs typeface="Calibri"/>
              </a:rPr>
              <a:t>VCC is a digital voltage supply.</a:t>
            </a:r>
            <a:endParaRPr lang="en-US" sz="2800" dirty="0">
              <a:solidFill>
                <a:prstClr val="black"/>
              </a:solidFill>
              <a:ea typeface="Calibri"/>
              <a:cs typeface="Times New Roman"/>
            </a:endParaRPr>
          </a:p>
          <a:p>
            <a:pPr marL="914400" lvl="1" indent="-457200" algn="just">
              <a:buFont typeface="Wingdings" panose="05000000000000000000" pitchFamily="2" charset="2"/>
              <a:buChar char="§"/>
            </a:pPr>
            <a:r>
              <a:rPr lang="en-US" sz="2800" dirty="0">
                <a:solidFill>
                  <a:prstClr val="black"/>
                </a:solidFill>
                <a:ea typeface="Calibri"/>
                <a:cs typeface="Calibri"/>
              </a:rPr>
              <a:t>AVCC is a supply voltage pin for analog to digital converter.</a:t>
            </a:r>
            <a:endParaRPr lang="en-US" sz="2800" dirty="0">
              <a:solidFill>
                <a:prstClr val="black"/>
              </a:solidFill>
              <a:ea typeface="Calibri"/>
              <a:cs typeface="Times New Roman"/>
            </a:endParaRPr>
          </a:p>
          <a:p>
            <a:pPr marL="914400" lvl="1" indent="-457200" algn="just">
              <a:buFont typeface="Wingdings" panose="05000000000000000000" pitchFamily="2" charset="2"/>
              <a:buChar char="§"/>
            </a:pPr>
            <a:r>
              <a:rPr lang="en-US" sz="2800" dirty="0">
                <a:solidFill>
                  <a:prstClr val="black"/>
                </a:solidFill>
                <a:ea typeface="Calibri"/>
                <a:cs typeface="Calibri"/>
              </a:rPr>
              <a:t>GND denotes Ground and it has a 0V. </a:t>
            </a:r>
          </a:p>
          <a:p>
            <a:pPr algn="just"/>
            <a:r>
              <a:rPr lang="en-US" sz="2800" dirty="0">
                <a:solidFill>
                  <a:prstClr val="black"/>
                </a:solidFill>
                <a:ea typeface="Calibri"/>
                <a:cs typeface="Calibri"/>
              </a:rPr>
              <a:t>ATmega-328 pins are divided into different ports which are given in detail below:</a:t>
            </a:r>
            <a:endParaRPr lang="en-US" sz="2800" dirty="0">
              <a:solidFill>
                <a:prstClr val="black"/>
              </a:solidFill>
              <a:ea typeface="Calibri"/>
              <a:cs typeface="Times New Roman"/>
            </a:endParaRPr>
          </a:p>
          <a:p>
            <a:pPr marL="457200" indent="-457200" algn="just">
              <a:buFont typeface="Wingdings" panose="05000000000000000000" pitchFamily="2" charset="2"/>
              <a:buChar char="ü"/>
            </a:pPr>
            <a:r>
              <a:rPr lang="en-US" sz="2800" dirty="0">
                <a:solidFill>
                  <a:prstClr val="black"/>
                </a:solidFill>
                <a:ea typeface="Calibri"/>
                <a:cs typeface="Calibri"/>
              </a:rPr>
              <a:t>Port A consists of the pins from PA0 to PA7. </a:t>
            </a:r>
            <a:r>
              <a:rPr lang="en-US" sz="2800" b="1" dirty="0">
                <a:solidFill>
                  <a:prstClr val="black"/>
                </a:solidFill>
                <a:ea typeface="Calibri"/>
                <a:cs typeface="Calibri"/>
              </a:rPr>
              <a:t>These pins serve as an analog inputs to convert from analog to digital. Port A</a:t>
            </a:r>
            <a:r>
              <a:rPr lang="en-US" sz="2800" dirty="0">
                <a:solidFill>
                  <a:prstClr val="black"/>
                </a:solidFill>
                <a:ea typeface="Calibri"/>
                <a:cs typeface="Calibri"/>
              </a:rPr>
              <a:t> acts as </a:t>
            </a:r>
            <a:r>
              <a:rPr lang="en-US" sz="2800" b="1" dirty="0">
                <a:solidFill>
                  <a:prstClr val="black"/>
                </a:solidFill>
                <a:ea typeface="Calibri"/>
                <a:cs typeface="Calibri"/>
              </a:rPr>
              <a:t>an eight (8) bit bidirectional input/output port </a:t>
            </a:r>
            <a:r>
              <a:rPr lang="en-US" sz="2800" dirty="0">
                <a:solidFill>
                  <a:prstClr val="black"/>
                </a:solidFill>
                <a:ea typeface="Calibri"/>
                <a:cs typeface="Calibri"/>
              </a:rPr>
              <a:t>if ADC is not required.</a:t>
            </a:r>
            <a:endParaRPr lang="en-US" sz="2800" dirty="0">
              <a:solidFill>
                <a:prstClr val="black"/>
              </a:solidFill>
              <a:ea typeface="Calibri"/>
              <a:cs typeface="Times New Roman"/>
            </a:endParaRPr>
          </a:p>
          <a:p>
            <a:pPr marL="457200" indent="-457200" algn="just">
              <a:buFont typeface="Wingdings" panose="05000000000000000000" pitchFamily="2" charset="2"/>
              <a:buChar char="ü"/>
            </a:pPr>
            <a:r>
              <a:rPr lang="en-US" sz="2800" dirty="0">
                <a:solidFill>
                  <a:prstClr val="black"/>
                </a:solidFill>
                <a:ea typeface="Calibri"/>
                <a:cs typeface="Calibri"/>
              </a:rPr>
              <a:t>Port B consists of the pins from PB0 to PB7. This port is an</a:t>
            </a:r>
            <a:r>
              <a:rPr lang="en-US" sz="2800" b="1" dirty="0">
                <a:solidFill>
                  <a:prstClr val="black"/>
                </a:solidFill>
                <a:ea typeface="Calibri"/>
                <a:cs typeface="Calibri"/>
              </a:rPr>
              <a:t> 8-bit bidirectional port having an internal pull-up resistor.</a:t>
            </a:r>
            <a:endParaRPr lang="en-US" sz="2800" b="1" dirty="0">
              <a:solidFill>
                <a:prstClr val="black"/>
              </a:solidFill>
              <a:ea typeface="Calibri"/>
              <a:cs typeface="Times New Roman"/>
            </a:endParaRPr>
          </a:p>
          <a:p>
            <a:pPr marL="457200" indent="-457200" algn="just">
              <a:buFont typeface="Wingdings" panose="05000000000000000000" pitchFamily="2" charset="2"/>
              <a:buChar char="ü"/>
            </a:pPr>
            <a:r>
              <a:rPr lang="en-US" sz="2800" dirty="0">
                <a:solidFill>
                  <a:prstClr val="black"/>
                </a:solidFill>
                <a:ea typeface="Calibri"/>
                <a:cs typeface="Calibri"/>
              </a:rPr>
              <a:t>Port C consists of the pins from PC0 to PC7. The </a:t>
            </a:r>
            <a:r>
              <a:rPr lang="en-US" sz="2800" b="1" dirty="0">
                <a:solidFill>
                  <a:prstClr val="black"/>
                </a:solidFill>
                <a:ea typeface="Calibri"/>
                <a:cs typeface="Calibri"/>
              </a:rPr>
              <a:t>output buffers of port C have symmetrical drive characteristics with source capability as a well-high sink.</a:t>
            </a:r>
            <a:endParaRPr lang="en-US" sz="2800" b="1" dirty="0">
              <a:solidFill>
                <a:prstClr val="black"/>
              </a:solidFill>
              <a:ea typeface="Calibri"/>
              <a:cs typeface="Times New Roman"/>
            </a:endParaRPr>
          </a:p>
          <a:p>
            <a:pPr marL="457200" indent="-457200" algn="just">
              <a:buFont typeface="Wingdings" panose="05000000000000000000" pitchFamily="2" charset="2"/>
              <a:buChar char="ü"/>
            </a:pPr>
            <a:r>
              <a:rPr lang="en-US" sz="2800" dirty="0">
                <a:solidFill>
                  <a:prstClr val="black"/>
                </a:solidFill>
                <a:ea typeface="Calibri"/>
                <a:cs typeface="Calibri"/>
              </a:rPr>
              <a:t>Port D consists of the pins from PD0 to PD7. It is also </a:t>
            </a:r>
            <a:r>
              <a:rPr lang="en-US" sz="2800" b="1" dirty="0">
                <a:solidFill>
                  <a:prstClr val="black"/>
                </a:solidFill>
                <a:ea typeface="Calibri"/>
                <a:cs typeface="Calibri"/>
              </a:rPr>
              <a:t>an 8-bit input/output port having an internal pull-up resistor.</a:t>
            </a:r>
          </a:p>
          <a:p>
            <a:pPr marL="457200" indent="-457200" algn="just">
              <a:buFont typeface="Wingdings" panose="05000000000000000000" pitchFamily="2" charset="2"/>
              <a:buChar char="ü"/>
            </a:pPr>
            <a:r>
              <a:rPr lang="en-US" sz="2800" dirty="0">
                <a:solidFill>
                  <a:prstClr val="black"/>
                </a:solidFill>
                <a:ea typeface="Times New Roman"/>
                <a:cs typeface="Calibri"/>
              </a:rPr>
              <a:t>AREF is an </a:t>
            </a:r>
            <a:r>
              <a:rPr lang="en-US" sz="2800" b="1" dirty="0">
                <a:solidFill>
                  <a:prstClr val="black"/>
                </a:solidFill>
                <a:ea typeface="Times New Roman"/>
                <a:cs typeface="Calibri"/>
              </a:rPr>
              <a:t>analog reference pin for analog to digital converter</a:t>
            </a:r>
            <a:r>
              <a:rPr lang="en-US" sz="2800" dirty="0">
                <a:solidFill>
                  <a:prstClr val="black"/>
                </a:solidFill>
                <a:ea typeface="Times New Roman"/>
                <a:cs typeface="Calibri"/>
              </a:rPr>
              <a:t>.</a:t>
            </a:r>
            <a:endParaRPr lang="en-US" sz="2800" dirty="0">
              <a:solidFill>
                <a:prstClr val="black"/>
              </a:solidFill>
              <a:ea typeface="Calibri"/>
              <a:cs typeface="Times New Roman"/>
            </a:endParaRPr>
          </a:p>
        </p:txBody>
      </p:sp>
      <p:sp>
        <p:nvSpPr>
          <p:cNvPr id="5" name="Rectangle 4">
            <a:extLst>
              <a:ext uri="{FF2B5EF4-FFF2-40B4-BE49-F238E27FC236}">
                <a16:creationId xmlns:a16="http://schemas.microsoft.com/office/drawing/2014/main" id="{AF7F6215-7263-ACA5-5F47-04A326FBBBDD}"/>
              </a:ext>
            </a:extLst>
          </p:cNvPr>
          <p:cNvSpPr/>
          <p:nvPr/>
        </p:nvSpPr>
        <p:spPr>
          <a:xfrm>
            <a:off x="1804416" y="533400"/>
            <a:ext cx="13968984" cy="769441"/>
          </a:xfrm>
          <a:prstGeom prst="rect">
            <a:avLst/>
          </a:prstGeom>
        </p:spPr>
        <p:txBody>
          <a:bodyPr wrap="square">
            <a:spAutoFit/>
          </a:bodyPr>
          <a:lstStyle/>
          <a:p>
            <a:pPr algn="ctr"/>
            <a:r>
              <a:rPr lang="en-US" sz="4400" b="1" dirty="0">
                <a:ea typeface="Times New Roman"/>
                <a:cs typeface="Times New Roman"/>
              </a:rPr>
              <a:t>Arduino ATmega328 Pin Description</a:t>
            </a:r>
            <a:endParaRPr lang="en-US" sz="4400" b="1" dirty="0"/>
          </a:p>
        </p:txBody>
      </p:sp>
    </p:spTree>
    <p:extLst>
      <p:ext uri="{BB962C8B-B14F-4D97-AF65-F5344CB8AC3E}">
        <p14:creationId xmlns:p14="http://schemas.microsoft.com/office/powerpoint/2010/main" val="2938183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1676400"/>
            <a:ext cx="8610600" cy="5569986"/>
          </a:xfrm>
          <a:prstGeom prst="rect">
            <a:avLst/>
          </a:prstGeom>
        </p:spPr>
        <p:txBody>
          <a:bodyPr vert="horz" wrap="square" lIns="0" tIns="14478" rIns="0" bIns="0" rtlCol="0">
            <a:spAutoFit/>
          </a:bodyPr>
          <a:lstStyle/>
          <a:p>
            <a:pPr marL="548640" marR="6096" indent="-548640">
              <a:spcBef>
                <a:spcPts val="0"/>
              </a:spcBef>
              <a:spcAft>
                <a:spcPts val="600"/>
              </a:spcAft>
              <a:buFont typeface="+mj-lt"/>
              <a:buAutoNum type="arabicPeriod"/>
              <a:tabLst>
                <a:tab pos="2917698" algn="l"/>
              </a:tabLst>
            </a:pPr>
            <a:r>
              <a:rPr sz="2800" spc="-12" dirty="0">
                <a:latin typeface="Arial MT"/>
                <a:cs typeface="Times New Roman" panose="02020603050405020304" pitchFamily="18" charset="0"/>
              </a:rPr>
              <a:t>The</a:t>
            </a:r>
            <a:r>
              <a:rPr sz="2800" spc="-6" dirty="0">
                <a:latin typeface="Arial MT"/>
                <a:cs typeface="Times New Roman" panose="02020603050405020304" pitchFamily="18" charset="0"/>
              </a:rPr>
              <a:t> </a:t>
            </a:r>
            <a:r>
              <a:rPr sz="2800" spc="-18" dirty="0">
                <a:latin typeface="Arial MT"/>
                <a:cs typeface="Times New Roman" panose="02020603050405020304" pitchFamily="18" charset="0"/>
              </a:rPr>
              <a:t>ATmega328/P</a:t>
            </a:r>
            <a:r>
              <a:rPr sz="2800" spc="-12" dirty="0">
                <a:latin typeface="Arial MT"/>
                <a:cs typeface="Times New Roman" panose="02020603050405020304" pitchFamily="18" charset="0"/>
              </a:rPr>
              <a:t> </a:t>
            </a:r>
            <a:r>
              <a:rPr sz="2800" spc="-6" dirty="0">
                <a:latin typeface="Arial MT"/>
                <a:cs typeface="Times New Roman" panose="02020603050405020304" pitchFamily="18" charset="0"/>
              </a:rPr>
              <a:t>is</a:t>
            </a:r>
            <a:r>
              <a:rPr sz="2800" dirty="0">
                <a:latin typeface="Arial MT"/>
                <a:cs typeface="Times New Roman" panose="02020603050405020304" pitchFamily="18" charset="0"/>
              </a:rPr>
              <a:t> a</a:t>
            </a:r>
            <a:r>
              <a:rPr sz="2800" spc="6" dirty="0">
                <a:latin typeface="Arial MT"/>
                <a:cs typeface="Times New Roman" panose="02020603050405020304" pitchFamily="18" charset="0"/>
              </a:rPr>
              <a:t> </a:t>
            </a:r>
            <a:r>
              <a:rPr sz="2800" spc="-12" dirty="0">
                <a:latin typeface="Arial MT"/>
                <a:cs typeface="Times New Roman" panose="02020603050405020304" pitchFamily="18" charset="0"/>
              </a:rPr>
              <a:t>low-power </a:t>
            </a:r>
            <a:r>
              <a:rPr sz="2800" spc="-6" dirty="0">
                <a:latin typeface="Arial MT"/>
                <a:cs typeface="Times New Roman" panose="02020603050405020304" pitchFamily="18" charset="0"/>
              </a:rPr>
              <a:t> </a:t>
            </a:r>
            <a:r>
              <a:rPr sz="2800" dirty="0">
                <a:latin typeface="Arial MT"/>
                <a:cs typeface="Times New Roman" panose="02020603050405020304" pitchFamily="18" charset="0"/>
              </a:rPr>
              <a:t>CMOS </a:t>
            </a:r>
            <a:r>
              <a:rPr sz="2800" spc="-12" dirty="0">
                <a:latin typeface="Arial MT"/>
                <a:cs typeface="Times New Roman" panose="02020603050405020304" pitchFamily="18" charset="0"/>
              </a:rPr>
              <a:t>8-bit </a:t>
            </a:r>
            <a:r>
              <a:rPr sz="2800" spc="-6" dirty="0">
                <a:latin typeface="Arial MT"/>
                <a:cs typeface="Times New Roman" panose="02020603050405020304" pitchFamily="18" charset="0"/>
              </a:rPr>
              <a:t>microcontroller based on the </a:t>
            </a:r>
            <a:r>
              <a:rPr sz="2800" dirty="0">
                <a:latin typeface="Arial MT"/>
                <a:cs typeface="Times New Roman" panose="02020603050405020304" pitchFamily="18" charset="0"/>
              </a:rPr>
              <a:t> </a:t>
            </a:r>
            <a:r>
              <a:rPr sz="2800" spc="-48" dirty="0">
                <a:latin typeface="Arial MT"/>
                <a:cs typeface="Times New Roman" panose="02020603050405020304" pitchFamily="18" charset="0"/>
              </a:rPr>
              <a:t>AVR </a:t>
            </a:r>
            <a:r>
              <a:rPr sz="2800" spc="-6" dirty="0">
                <a:latin typeface="Arial MT"/>
                <a:cs typeface="Times New Roman" panose="02020603050405020304" pitchFamily="18" charset="0"/>
              </a:rPr>
              <a:t>enhanced RISC (reduced instruction </a:t>
            </a:r>
            <a:r>
              <a:rPr sz="2800" dirty="0">
                <a:latin typeface="Arial MT"/>
                <a:cs typeface="Times New Roman" panose="02020603050405020304" pitchFamily="18" charset="0"/>
              </a:rPr>
              <a:t> </a:t>
            </a:r>
            <a:r>
              <a:rPr sz="2800" spc="-6" dirty="0">
                <a:latin typeface="Arial MT"/>
                <a:cs typeface="Times New Roman" panose="02020603050405020304" pitchFamily="18" charset="0"/>
              </a:rPr>
              <a:t>set</a:t>
            </a:r>
            <a:r>
              <a:rPr sz="2800" spc="-24" dirty="0">
                <a:latin typeface="Arial MT"/>
                <a:cs typeface="Times New Roman" panose="02020603050405020304" pitchFamily="18" charset="0"/>
              </a:rPr>
              <a:t> </a:t>
            </a:r>
            <a:r>
              <a:rPr sz="2800" spc="-6" dirty="0">
                <a:latin typeface="Arial MT"/>
                <a:cs typeface="Times New Roman" panose="02020603050405020304" pitchFamily="18" charset="0"/>
              </a:rPr>
              <a:t>computer)</a:t>
            </a:r>
            <a:r>
              <a:rPr sz="2800" spc="-36" dirty="0">
                <a:latin typeface="Arial MT"/>
                <a:cs typeface="Times New Roman" panose="02020603050405020304" pitchFamily="18" charset="0"/>
              </a:rPr>
              <a:t> </a:t>
            </a:r>
            <a:r>
              <a:rPr sz="2800" spc="-6" dirty="0">
                <a:latin typeface="Arial MT"/>
                <a:cs typeface="Times New Roman" panose="02020603050405020304" pitchFamily="18" charset="0"/>
              </a:rPr>
              <a:t>architecture.</a:t>
            </a:r>
            <a:endParaRPr sz="2800" dirty="0">
              <a:latin typeface="Arial MT"/>
              <a:cs typeface="Times New Roman" panose="02020603050405020304" pitchFamily="18" charset="0"/>
            </a:endParaRPr>
          </a:p>
          <a:p>
            <a:pPr marL="548640" indent="-548640">
              <a:spcBef>
                <a:spcPts val="0"/>
              </a:spcBef>
              <a:spcAft>
                <a:spcPts val="600"/>
              </a:spcAft>
              <a:buFont typeface="+mj-lt"/>
              <a:buAutoNum type="arabicPeriod"/>
              <a:tabLst>
                <a:tab pos="2848356" algn="l"/>
              </a:tabLst>
            </a:pPr>
            <a:r>
              <a:rPr sz="2800" spc="-12" dirty="0">
                <a:latin typeface="Arial MT"/>
                <a:cs typeface="Times New Roman" panose="02020603050405020304" pitchFamily="18" charset="0"/>
              </a:rPr>
              <a:t>The</a:t>
            </a:r>
            <a:r>
              <a:rPr sz="2800" spc="210" dirty="0">
                <a:latin typeface="Arial MT"/>
                <a:cs typeface="Times New Roman" panose="02020603050405020304" pitchFamily="18" charset="0"/>
              </a:rPr>
              <a:t> </a:t>
            </a:r>
            <a:r>
              <a:rPr sz="2800" spc="-6" dirty="0">
                <a:solidFill>
                  <a:srgbClr val="FF0000"/>
                </a:solidFill>
                <a:latin typeface="Arial MT"/>
                <a:cs typeface="Times New Roman" panose="02020603050405020304" pitchFamily="18" charset="0"/>
              </a:rPr>
              <a:t>clock</a:t>
            </a:r>
            <a:r>
              <a:rPr sz="2800" spc="198" dirty="0">
                <a:solidFill>
                  <a:srgbClr val="FF0000"/>
                </a:solidFill>
                <a:latin typeface="Arial MT"/>
                <a:cs typeface="Times New Roman" panose="02020603050405020304" pitchFamily="18" charset="0"/>
              </a:rPr>
              <a:t> </a:t>
            </a:r>
            <a:r>
              <a:rPr sz="2800" spc="6" dirty="0">
                <a:latin typeface="Arial MT"/>
                <a:cs typeface="Times New Roman" panose="02020603050405020304" pitchFamily="18" charset="0"/>
              </a:rPr>
              <a:t>is</a:t>
            </a:r>
            <a:r>
              <a:rPr sz="2800" spc="192" dirty="0">
                <a:latin typeface="Arial MT"/>
                <a:cs typeface="Times New Roman" panose="02020603050405020304" pitchFamily="18" charset="0"/>
              </a:rPr>
              <a:t> </a:t>
            </a:r>
            <a:r>
              <a:rPr sz="2800" spc="-6" dirty="0">
                <a:latin typeface="Arial MT"/>
                <a:cs typeface="Times New Roman" panose="02020603050405020304" pitchFamily="18" charset="0"/>
              </a:rPr>
              <a:t>controlled</a:t>
            </a:r>
            <a:r>
              <a:rPr sz="2800" spc="210" dirty="0">
                <a:latin typeface="Arial MT"/>
                <a:cs typeface="Times New Roman" panose="02020603050405020304" pitchFamily="18" charset="0"/>
              </a:rPr>
              <a:t> </a:t>
            </a:r>
            <a:r>
              <a:rPr sz="2800" dirty="0">
                <a:latin typeface="Arial MT"/>
                <a:cs typeface="Times New Roman" panose="02020603050405020304" pitchFamily="18" charset="0"/>
              </a:rPr>
              <a:t>by</a:t>
            </a:r>
            <a:r>
              <a:rPr sz="2800" spc="162" dirty="0">
                <a:latin typeface="Arial MT"/>
                <a:cs typeface="Times New Roman" panose="02020603050405020304" pitchFamily="18" charset="0"/>
              </a:rPr>
              <a:t> </a:t>
            </a:r>
            <a:r>
              <a:rPr sz="2800" dirty="0">
                <a:latin typeface="Arial MT"/>
                <a:cs typeface="Times New Roman" panose="02020603050405020304" pitchFamily="18" charset="0"/>
              </a:rPr>
              <a:t>an</a:t>
            </a:r>
            <a:r>
              <a:rPr sz="2800" spc="204" dirty="0">
                <a:latin typeface="Arial MT"/>
                <a:cs typeface="Times New Roman" panose="02020603050405020304" pitchFamily="18" charset="0"/>
              </a:rPr>
              <a:t> </a:t>
            </a:r>
            <a:r>
              <a:rPr sz="2800" spc="-6" dirty="0">
                <a:latin typeface="Arial MT"/>
                <a:cs typeface="Times New Roman" panose="02020603050405020304" pitchFamily="18" charset="0"/>
              </a:rPr>
              <a:t>external</a:t>
            </a:r>
            <a:r>
              <a:rPr lang="en-US" sz="2800" spc="-6" dirty="0">
                <a:latin typeface="Arial MT"/>
                <a:cs typeface="Times New Roman" panose="02020603050405020304" pitchFamily="18" charset="0"/>
              </a:rPr>
              <a:t> </a:t>
            </a:r>
            <a:r>
              <a:rPr sz="2800" dirty="0">
                <a:latin typeface="Arial MT"/>
                <a:cs typeface="Times New Roman" panose="02020603050405020304" pitchFamily="18" charset="0"/>
              </a:rPr>
              <a:t>16</a:t>
            </a:r>
            <a:r>
              <a:rPr lang="en-US" sz="2800" dirty="0">
                <a:latin typeface="Arial MT"/>
                <a:cs typeface="Times New Roman" panose="02020603050405020304" pitchFamily="18" charset="0"/>
              </a:rPr>
              <a:t> </a:t>
            </a:r>
            <a:r>
              <a:rPr sz="2800" dirty="0">
                <a:latin typeface="Arial MT"/>
                <a:cs typeface="Times New Roman" panose="02020603050405020304" pitchFamily="18" charset="0"/>
              </a:rPr>
              <a:t>MHz</a:t>
            </a:r>
            <a:r>
              <a:rPr sz="2800" spc="-60" dirty="0">
                <a:latin typeface="Arial MT"/>
                <a:cs typeface="Times New Roman" panose="02020603050405020304" pitchFamily="18" charset="0"/>
              </a:rPr>
              <a:t> </a:t>
            </a:r>
            <a:r>
              <a:rPr sz="2800" spc="-12" dirty="0">
                <a:latin typeface="Arial MT"/>
                <a:cs typeface="Times New Roman" panose="02020603050405020304" pitchFamily="18" charset="0"/>
              </a:rPr>
              <a:t>Crystal</a:t>
            </a:r>
            <a:r>
              <a:rPr sz="2800" spc="18" dirty="0">
                <a:latin typeface="Arial MT"/>
                <a:cs typeface="Times New Roman" panose="02020603050405020304" pitchFamily="18" charset="0"/>
              </a:rPr>
              <a:t> </a:t>
            </a:r>
            <a:r>
              <a:rPr sz="2800" spc="-12" dirty="0">
                <a:latin typeface="Arial MT"/>
                <a:cs typeface="Times New Roman" panose="02020603050405020304" pitchFamily="18" charset="0"/>
              </a:rPr>
              <a:t>Oscillator.</a:t>
            </a:r>
            <a:endParaRPr sz="2800" dirty="0">
              <a:latin typeface="Arial MT"/>
              <a:cs typeface="Times New Roman" panose="02020603050405020304" pitchFamily="18" charset="0"/>
            </a:endParaRPr>
          </a:p>
          <a:p>
            <a:pPr marL="548640" marR="6096" indent="-548640">
              <a:spcBef>
                <a:spcPts val="0"/>
              </a:spcBef>
              <a:spcAft>
                <a:spcPts val="600"/>
              </a:spcAft>
              <a:buFont typeface="+mj-lt"/>
              <a:buAutoNum type="arabicPeriod"/>
              <a:tabLst>
                <a:tab pos="2853690" algn="l"/>
              </a:tabLst>
            </a:pPr>
            <a:r>
              <a:rPr sz="2800" spc="-6" dirty="0">
                <a:latin typeface="Arial MT"/>
                <a:cs typeface="Times New Roman" panose="02020603050405020304" pitchFamily="18" charset="0"/>
              </a:rPr>
              <a:t>The </a:t>
            </a:r>
            <a:r>
              <a:rPr sz="2800" spc="-6" dirty="0">
                <a:solidFill>
                  <a:srgbClr val="C00000"/>
                </a:solidFill>
                <a:latin typeface="Arial MT"/>
                <a:cs typeface="Times New Roman" panose="02020603050405020304" pitchFamily="18" charset="0"/>
              </a:rPr>
              <a:t>data </a:t>
            </a:r>
            <a:r>
              <a:rPr sz="2800" dirty="0">
                <a:latin typeface="Arial MT"/>
                <a:cs typeface="Times New Roman" panose="02020603050405020304" pitchFamily="18" charset="0"/>
              </a:rPr>
              <a:t>is </a:t>
            </a:r>
            <a:r>
              <a:rPr sz="2800" spc="-12" dirty="0">
                <a:latin typeface="Arial MT"/>
                <a:cs typeface="Times New Roman" panose="02020603050405020304" pitchFamily="18" charset="0"/>
              </a:rPr>
              <a:t>uploaded </a:t>
            </a:r>
            <a:r>
              <a:rPr sz="2800" spc="-6" dirty="0">
                <a:latin typeface="Arial MT"/>
                <a:cs typeface="Times New Roman" panose="02020603050405020304" pitchFamily="18" charset="0"/>
              </a:rPr>
              <a:t>in serial </a:t>
            </a:r>
            <a:r>
              <a:rPr sz="2800" spc="-12" dirty="0">
                <a:latin typeface="Arial MT"/>
                <a:cs typeface="Times New Roman" panose="02020603050405020304" pitchFamily="18" charset="0"/>
              </a:rPr>
              <a:t>via </a:t>
            </a:r>
            <a:r>
              <a:rPr sz="2800" spc="-6" dirty="0">
                <a:latin typeface="Arial MT"/>
                <a:cs typeface="Times New Roman" panose="02020603050405020304" pitchFamily="18" charset="0"/>
              </a:rPr>
              <a:t>the port.</a:t>
            </a:r>
            <a:endParaRPr sz="2800" dirty="0">
              <a:latin typeface="Arial MT"/>
              <a:cs typeface="Times New Roman" panose="02020603050405020304" pitchFamily="18" charset="0"/>
            </a:endParaRPr>
          </a:p>
          <a:p>
            <a:pPr marL="548640" marR="6096" indent="-548640">
              <a:spcBef>
                <a:spcPts val="0"/>
              </a:spcBef>
              <a:spcAft>
                <a:spcPts val="600"/>
              </a:spcAft>
              <a:buClr>
                <a:srgbClr val="000000"/>
              </a:buClr>
              <a:buFont typeface="+mj-lt"/>
              <a:buAutoNum type="arabicPeriod"/>
              <a:tabLst>
                <a:tab pos="2760726" algn="l"/>
              </a:tabLst>
            </a:pPr>
            <a:r>
              <a:rPr sz="2800" spc="-6" dirty="0">
                <a:solidFill>
                  <a:srgbClr val="C00000"/>
                </a:solidFill>
                <a:latin typeface="Arial MT"/>
                <a:cs typeface="Times New Roman" panose="02020603050405020304" pitchFamily="18" charset="0"/>
              </a:rPr>
              <a:t>Instructions</a:t>
            </a:r>
            <a:r>
              <a:rPr sz="2800" dirty="0">
                <a:solidFill>
                  <a:srgbClr val="C00000"/>
                </a:solidFill>
                <a:latin typeface="Arial MT"/>
                <a:cs typeface="Times New Roman" panose="02020603050405020304" pitchFamily="18" charset="0"/>
              </a:rPr>
              <a:t> </a:t>
            </a:r>
            <a:r>
              <a:rPr sz="2800" spc="-12" dirty="0">
                <a:latin typeface="Arial MT"/>
                <a:cs typeface="Times New Roman" panose="02020603050405020304" pitchFamily="18" charset="0"/>
              </a:rPr>
              <a:t>are</a:t>
            </a:r>
            <a:r>
              <a:rPr sz="2800" spc="-6" dirty="0">
                <a:latin typeface="Arial MT"/>
                <a:cs typeface="Times New Roman" panose="02020603050405020304" pitchFamily="18" charset="0"/>
              </a:rPr>
              <a:t> sent</a:t>
            </a:r>
            <a:r>
              <a:rPr sz="2800" dirty="0">
                <a:latin typeface="Arial MT"/>
                <a:cs typeface="Times New Roman" panose="02020603050405020304" pitchFamily="18" charset="0"/>
              </a:rPr>
              <a:t> </a:t>
            </a:r>
            <a:r>
              <a:rPr sz="2800" spc="-6" dirty="0">
                <a:latin typeface="Arial MT"/>
                <a:cs typeface="Times New Roman" panose="02020603050405020304" pitchFamily="18" charset="0"/>
              </a:rPr>
              <a:t>to</a:t>
            </a:r>
            <a:r>
              <a:rPr sz="2800" dirty="0">
                <a:latin typeface="Arial MT"/>
                <a:cs typeface="Times New Roman" panose="02020603050405020304" pitchFamily="18" charset="0"/>
              </a:rPr>
              <a:t> </a:t>
            </a:r>
            <a:r>
              <a:rPr sz="2800" spc="-6" dirty="0">
                <a:latin typeface="Arial MT"/>
                <a:cs typeface="Times New Roman" panose="02020603050405020304" pitchFamily="18" charset="0"/>
              </a:rPr>
              <a:t>instruction </a:t>
            </a:r>
            <a:r>
              <a:rPr sz="2800" dirty="0">
                <a:latin typeface="Arial MT"/>
                <a:cs typeface="Times New Roman" panose="02020603050405020304" pitchFamily="18" charset="0"/>
              </a:rPr>
              <a:t> </a:t>
            </a:r>
            <a:r>
              <a:rPr sz="2800" spc="-6" dirty="0">
                <a:latin typeface="Arial MT"/>
                <a:cs typeface="Times New Roman" panose="02020603050405020304" pitchFamily="18" charset="0"/>
              </a:rPr>
              <a:t>register</a:t>
            </a:r>
            <a:r>
              <a:rPr sz="2800" dirty="0">
                <a:latin typeface="Arial MT"/>
                <a:cs typeface="Times New Roman" panose="02020603050405020304" pitchFamily="18" charset="0"/>
              </a:rPr>
              <a:t> </a:t>
            </a:r>
            <a:r>
              <a:rPr sz="2800" spc="-6" dirty="0">
                <a:latin typeface="Arial MT"/>
                <a:cs typeface="Times New Roman" panose="02020603050405020304" pitchFamily="18" charset="0"/>
              </a:rPr>
              <a:t>and </a:t>
            </a:r>
            <a:r>
              <a:rPr sz="2800" dirty="0">
                <a:latin typeface="Arial MT"/>
                <a:cs typeface="Times New Roman" panose="02020603050405020304" pitchFamily="18" charset="0"/>
              </a:rPr>
              <a:t>it </a:t>
            </a:r>
            <a:r>
              <a:rPr sz="2800" spc="-12" dirty="0">
                <a:latin typeface="Arial MT"/>
                <a:cs typeface="Times New Roman" panose="02020603050405020304" pitchFamily="18" charset="0"/>
              </a:rPr>
              <a:t>decodes</a:t>
            </a:r>
            <a:r>
              <a:rPr sz="2800" spc="438" dirty="0">
                <a:latin typeface="Arial MT"/>
                <a:cs typeface="Times New Roman" panose="02020603050405020304" pitchFamily="18" charset="0"/>
              </a:rPr>
              <a:t> </a:t>
            </a:r>
            <a:r>
              <a:rPr sz="2800" spc="-6" dirty="0">
                <a:latin typeface="Arial MT"/>
                <a:cs typeface="Times New Roman" panose="02020603050405020304" pitchFamily="18" charset="0"/>
              </a:rPr>
              <a:t>the </a:t>
            </a:r>
            <a:r>
              <a:rPr sz="2800" spc="-12" dirty="0">
                <a:latin typeface="Arial MT"/>
                <a:cs typeface="Times New Roman" panose="02020603050405020304" pitchFamily="18" charset="0"/>
              </a:rPr>
              <a:t>instructions </a:t>
            </a:r>
            <a:r>
              <a:rPr sz="2800" spc="-6" dirty="0">
                <a:latin typeface="Arial MT"/>
                <a:cs typeface="Times New Roman" panose="02020603050405020304" pitchFamily="18" charset="0"/>
              </a:rPr>
              <a:t> on</a:t>
            </a:r>
            <a:r>
              <a:rPr sz="2800" spc="-24" dirty="0">
                <a:latin typeface="Arial MT"/>
                <a:cs typeface="Times New Roman" panose="02020603050405020304" pitchFamily="18" charset="0"/>
              </a:rPr>
              <a:t> </a:t>
            </a:r>
            <a:r>
              <a:rPr sz="2800" spc="-6" dirty="0">
                <a:latin typeface="Arial MT"/>
                <a:cs typeface="Times New Roman" panose="02020603050405020304" pitchFamily="18" charset="0"/>
              </a:rPr>
              <a:t>the</a:t>
            </a:r>
            <a:r>
              <a:rPr sz="2800" spc="-24" dirty="0">
                <a:latin typeface="Arial MT"/>
                <a:cs typeface="Times New Roman" panose="02020603050405020304" pitchFamily="18" charset="0"/>
              </a:rPr>
              <a:t> </a:t>
            </a:r>
            <a:r>
              <a:rPr sz="2800" spc="-6" dirty="0">
                <a:latin typeface="Arial MT"/>
                <a:cs typeface="Times New Roman" panose="02020603050405020304" pitchFamily="18" charset="0"/>
              </a:rPr>
              <a:t>same</a:t>
            </a:r>
            <a:r>
              <a:rPr sz="2800" spc="-24" dirty="0">
                <a:latin typeface="Arial MT"/>
                <a:cs typeface="Times New Roman" panose="02020603050405020304" pitchFamily="18" charset="0"/>
              </a:rPr>
              <a:t> </a:t>
            </a:r>
            <a:r>
              <a:rPr sz="2800" dirty="0">
                <a:latin typeface="Arial MT"/>
                <a:cs typeface="Times New Roman" panose="02020603050405020304" pitchFamily="18" charset="0"/>
              </a:rPr>
              <a:t>clock</a:t>
            </a:r>
            <a:r>
              <a:rPr sz="2800" spc="-30" dirty="0">
                <a:latin typeface="Arial MT"/>
                <a:cs typeface="Times New Roman" panose="02020603050405020304" pitchFamily="18" charset="0"/>
              </a:rPr>
              <a:t> </a:t>
            </a:r>
            <a:r>
              <a:rPr sz="2800" spc="-6" dirty="0">
                <a:latin typeface="Arial MT"/>
                <a:cs typeface="Times New Roman" panose="02020603050405020304" pitchFamily="18" charset="0"/>
              </a:rPr>
              <a:t>pulse.</a:t>
            </a:r>
            <a:endParaRPr sz="2800" dirty="0">
              <a:latin typeface="Arial MT"/>
              <a:cs typeface="Times New Roman" panose="02020603050405020304" pitchFamily="18" charset="0"/>
            </a:endParaRPr>
          </a:p>
          <a:p>
            <a:pPr marL="548640" marR="6096" indent="-548640">
              <a:spcBef>
                <a:spcPts val="0"/>
              </a:spcBef>
              <a:spcAft>
                <a:spcPts val="600"/>
              </a:spcAft>
              <a:buFont typeface="+mj-lt"/>
              <a:buAutoNum type="arabicPeriod"/>
              <a:tabLst>
                <a:tab pos="2857500" algn="l"/>
              </a:tabLst>
            </a:pPr>
            <a:r>
              <a:rPr sz="2800" dirty="0">
                <a:latin typeface="Arial MT"/>
                <a:cs typeface="Times New Roman" panose="02020603050405020304" pitchFamily="18" charset="0"/>
              </a:rPr>
              <a:t>In </a:t>
            </a:r>
            <a:r>
              <a:rPr sz="2800" spc="-6" dirty="0">
                <a:solidFill>
                  <a:srgbClr val="C00000"/>
                </a:solidFill>
                <a:latin typeface="Arial MT"/>
                <a:cs typeface="Times New Roman" panose="02020603050405020304" pitchFamily="18" charset="0"/>
              </a:rPr>
              <a:t>general purpose registers </a:t>
            </a:r>
            <a:r>
              <a:rPr sz="2800" dirty="0">
                <a:latin typeface="Arial MT"/>
                <a:cs typeface="Times New Roman" panose="02020603050405020304" pitchFamily="18" charset="0"/>
              </a:rPr>
              <a:t>the </a:t>
            </a:r>
            <a:r>
              <a:rPr sz="2800" spc="-6" dirty="0">
                <a:latin typeface="Arial MT"/>
                <a:cs typeface="Times New Roman" panose="02020603050405020304" pitchFamily="18" charset="0"/>
              </a:rPr>
              <a:t>registers </a:t>
            </a:r>
            <a:r>
              <a:rPr sz="2800" dirty="0">
                <a:latin typeface="Arial MT"/>
                <a:cs typeface="Times New Roman" panose="02020603050405020304" pitchFamily="18" charset="0"/>
              </a:rPr>
              <a:t> </a:t>
            </a:r>
            <a:r>
              <a:rPr sz="2800" spc="-12" dirty="0">
                <a:latin typeface="Arial MT"/>
                <a:cs typeface="Times New Roman" panose="02020603050405020304" pitchFamily="18" charset="0"/>
              </a:rPr>
              <a:t>are</a:t>
            </a:r>
            <a:r>
              <a:rPr sz="2800" spc="-6" dirty="0">
                <a:latin typeface="Arial MT"/>
                <a:cs typeface="Times New Roman" panose="02020603050405020304" pitchFamily="18" charset="0"/>
              </a:rPr>
              <a:t> </a:t>
            </a:r>
            <a:r>
              <a:rPr sz="2800" dirty="0">
                <a:latin typeface="Arial MT"/>
                <a:cs typeface="Times New Roman" panose="02020603050405020304" pitchFamily="18" charset="0"/>
              </a:rPr>
              <a:t>of</a:t>
            </a:r>
            <a:r>
              <a:rPr sz="2800" spc="6" dirty="0">
                <a:latin typeface="Arial MT"/>
                <a:cs typeface="Times New Roman" panose="02020603050405020304" pitchFamily="18" charset="0"/>
              </a:rPr>
              <a:t> </a:t>
            </a:r>
            <a:r>
              <a:rPr sz="2800" spc="-6" dirty="0">
                <a:latin typeface="Arial MT"/>
                <a:cs typeface="Times New Roman" panose="02020603050405020304" pitchFamily="18" charset="0"/>
              </a:rPr>
              <a:t>8-bit</a:t>
            </a:r>
            <a:r>
              <a:rPr sz="2800" dirty="0">
                <a:latin typeface="Arial MT"/>
                <a:cs typeface="Times New Roman" panose="02020603050405020304" pitchFamily="18" charset="0"/>
              </a:rPr>
              <a:t> </a:t>
            </a:r>
            <a:r>
              <a:rPr sz="2800" spc="-6" dirty="0">
                <a:latin typeface="Arial MT"/>
                <a:cs typeface="Times New Roman" panose="02020603050405020304" pitchFamily="18" charset="0"/>
              </a:rPr>
              <a:t>(used</a:t>
            </a:r>
            <a:r>
              <a:rPr sz="2800" dirty="0">
                <a:latin typeface="Arial MT"/>
                <a:cs typeface="Times New Roman" panose="02020603050405020304" pitchFamily="18" charset="0"/>
              </a:rPr>
              <a:t> to</a:t>
            </a:r>
            <a:r>
              <a:rPr sz="2800" spc="6" dirty="0">
                <a:latin typeface="Arial MT"/>
                <a:cs typeface="Times New Roman" panose="02020603050405020304" pitchFamily="18" charset="0"/>
              </a:rPr>
              <a:t> </a:t>
            </a:r>
            <a:r>
              <a:rPr sz="2800" spc="-12" dirty="0">
                <a:latin typeface="Arial MT"/>
                <a:cs typeface="Times New Roman" panose="02020603050405020304" pitchFamily="18" charset="0"/>
              </a:rPr>
              <a:t>store</a:t>
            </a:r>
            <a:r>
              <a:rPr sz="2800" spc="-6" dirty="0">
                <a:latin typeface="Arial MT"/>
                <a:cs typeface="Times New Roman" panose="02020603050405020304" pitchFamily="18" charset="0"/>
              </a:rPr>
              <a:t> data</a:t>
            </a:r>
            <a:r>
              <a:rPr sz="2800" dirty="0">
                <a:latin typeface="Arial MT"/>
                <a:cs typeface="Times New Roman" panose="02020603050405020304" pitchFamily="18" charset="0"/>
              </a:rPr>
              <a:t> for</a:t>
            </a:r>
            <a:r>
              <a:rPr sz="2800" spc="6" dirty="0">
                <a:latin typeface="Arial MT"/>
                <a:cs typeface="Times New Roman" panose="02020603050405020304" pitchFamily="18" charset="0"/>
              </a:rPr>
              <a:t> </a:t>
            </a:r>
            <a:r>
              <a:rPr sz="2800" spc="-6" dirty="0">
                <a:latin typeface="Arial MT"/>
                <a:cs typeface="Times New Roman" panose="02020603050405020304" pitchFamily="18" charset="0"/>
              </a:rPr>
              <a:t>normal </a:t>
            </a:r>
            <a:r>
              <a:rPr sz="2800" spc="-402" dirty="0">
                <a:latin typeface="Arial MT"/>
                <a:cs typeface="Times New Roman" panose="02020603050405020304" pitchFamily="18" charset="0"/>
              </a:rPr>
              <a:t> </a:t>
            </a:r>
            <a:r>
              <a:rPr sz="2800" spc="-6" dirty="0">
                <a:latin typeface="Arial MT"/>
                <a:cs typeface="Times New Roman" panose="02020603050405020304" pitchFamily="18" charset="0"/>
              </a:rPr>
              <a:t>calculations and results) but there </a:t>
            </a:r>
            <a:r>
              <a:rPr sz="2800" spc="-12" dirty="0">
                <a:latin typeface="Arial MT"/>
                <a:cs typeface="Times New Roman" panose="02020603050405020304" pitchFamily="18" charset="0"/>
              </a:rPr>
              <a:t>are </a:t>
            </a:r>
            <a:r>
              <a:rPr sz="2800" dirty="0">
                <a:latin typeface="Arial MT"/>
                <a:cs typeface="Times New Roman" panose="02020603050405020304" pitchFamily="18" charset="0"/>
              </a:rPr>
              <a:t>3 </a:t>
            </a:r>
            <a:r>
              <a:rPr sz="2800" spc="-6" dirty="0">
                <a:latin typeface="Arial MT"/>
                <a:cs typeface="Times New Roman" panose="02020603050405020304" pitchFamily="18" charset="0"/>
              </a:rPr>
              <a:t>16-bit </a:t>
            </a:r>
            <a:r>
              <a:rPr sz="2800" dirty="0">
                <a:latin typeface="Arial MT"/>
                <a:cs typeface="Times New Roman" panose="02020603050405020304" pitchFamily="18" charset="0"/>
              </a:rPr>
              <a:t> </a:t>
            </a:r>
            <a:r>
              <a:rPr sz="2800" spc="-6" dirty="0">
                <a:latin typeface="Arial MT"/>
                <a:cs typeface="Times New Roman" panose="02020603050405020304" pitchFamily="18" charset="0"/>
              </a:rPr>
              <a:t>registers</a:t>
            </a:r>
            <a:r>
              <a:rPr sz="2800" dirty="0">
                <a:latin typeface="Arial MT"/>
                <a:cs typeface="Times New Roman" panose="02020603050405020304" pitchFamily="18" charset="0"/>
              </a:rPr>
              <a:t> </a:t>
            </a:r>
            <a:r>
              <a:rPr sz="2800" spc="-6" dirty="0">
                <a:latin typeface="Arial MT"/>
                <a:cs typeface="Times New Roman" panose="02020603050405020304" pitchFamily="18" charset="0"/>
              </a:rPr>
              <a:t>also</a:t>
            </a:r>
            <a:r>
              <a:rPr sz="2800" dirty="0">
                <a:latin typeface="Arial MT"/>
                <a:cs typeface="Times New Roman" panose="02020603050405020304" pitchFamily="18" charset="0"/>
              </a:rPr>
              <a:t> </a:t>
            </a:r>
            <a:r>
              <a:rPr sz="2800" spc="-6" dirty="0">
                <a:latin typeface="Arial MT"/>
                <a:cs typeface="Times New Roman" panose="02020603050405020304" pitchFamily="18" charset="0"/>
              </a:rPr>
              <a:t>(used</a:t>
            </a:r>
            <a:r>
              <a:rPr sz="2800" dirty="0">
                <a:latin typeface="Arial MT"/>
                <a:cs typeface="Times New Roman" panose="02020603050405020304" pitchFamily="18" charset="0"/>
              </a:rPr>
              <a:t> </a:t>
            </a:r>
            <a:r>
              <a:rPr sz="2800" spc="-12" dirty="0">
                <a:latin typeface="Arial MT"/>
                <a:cs typeface="Times New Roman" panose="02020603050405020304" pitchFamily="18" charset="0"/>
              </a:rPr>
              <a:t>to</a:t>
            </a:r>
            <a:r>
              <a:rPr sz="2800" spc="-6" dirty="0">
                <a:latin typeface="Arial MT"/>
                <a:cs typeface="Times New Roman" panose="02020603050405020304" pitchFamily="18" charset="0"/>
              </a:rPr>
              <a:t> store</a:t>
            </a:r>
            <a:r>
              <a:rPr sz="2800" dirty="0">
                <a:latin typeface="Arial MT"/>
                <a:cs typeface="Times New Roman" panose="02020603050405020304" pitchFamily="18" charset="0"/>
              </a:rPr>
              <a:t> </a:t>
            </a:r>
            <a:r>
              <a:rPr sz="2800" spc="-12" dirty="0">
                <a:latin typeface="Arial MT"/>
                <a:cs typeface="Times New Roman" panose="02020603050405020304" pitchFamily="18" charset="0"/>
              </a:rPr>
              <a:t>data</a:t>
            </a:r>
            <a:r>
              <a:rPr sz="2800" spc="-6" dirty="0">
                <a:latin typeface="Arial MT"/>
                <a:cs typeface="Times New Roman" panose="02020603050405020304" pitchFamily="18" charset="0"/>
              </a:rPr>
              <a:t> </a:t>
            </a:r>
            <a:r>
              <a:rPr sz="2800" dirty="0">
                <a:latin typeface="Arial MT"/>
                <a:cs typeface="Times New Roman" panose="02020603050405020304" pitchFamily="18" charset="0"/>
              </a:rPr>
              <a:t>of</a:t>
            </a:r>
            <a:r>
              <a:rPr sz="2800" spc="6" dirty="0">
                <a:latin typeface="Arial MT"/>
                <a:cs typeface="Times New Roman" panose="02020603050405020304" pitchFamily="18" charset="0"/>
              </a:rPr>
              <a:t> </a:t>
            </a:r>
            <a:r>
              <a:rPr sz="2800" spc="-6" dirty="0">
                <a:latin typeface="Arial MT"/>
                <a:cs typeface="Times New Roman" panose="02020603050405020304" pitchFamily="18" charset="0"/>
              </a:rPr>
              <a:t>timer </a:t>
            </a:r>
            <a:r>
              <a:rPr sz="2800" dirty="0">
                <a:latin typeface="Arial MT"/>
                <a:cs typeface="Times New Roman" panose="02020603050405020304" pitchFamily="18" charset="0"/>
              </a:rPr>
              <a:t> counter).</a:t>
            </a:r>
          </a:p>
        </p:txBody>
      </p:sp>
      <p:pic>
        <p:nvPicPr>
          <p:cNvPr id="3" name="object 3"/>
          <p:cNvPicPr/>
          <p:nvPr/>
        </p:nvPicPr>
        <p:blipFill>
          <a:blip r:embed="rId2" cstate="print">
            <a:duotone>
              <a:schemeClr val="accent2">
                <a:shade val="45000"/>
                <a:satMod val="135000"/>
              </a:schemeClr>
              <a:prstClr val="white"/>
            </a:duotone>
          </a:blip>
          <a:stretch>
            <a:fillRect/>
          </a:stretch>
        </p:blipFill>
        <p:spPr>
          <a:xfrm>
            <a:off x="8763000" y="1119739"/>
            <a:ext cx="7467600" cy="6957461"/>
          </a:xfrm>
          <a:prstGeom prst="rect">
            <a:avLst/>
          </a:prstGeom>
        </p:spPr>
      </p:pic>
      <p:sp>
        <p:nvSpPr>
          <p:cNvPr id="4" name="Rectangle 3"/>
          <p:cNvSpPr/>
          <p:nvPr/>
        </p:nvSpPr>
        <p:spPr>
          <a:xfrm>
            <a:off x="1219200" y="304800"/>
            <a:ext cx="13944600" cy="830997"/>
          </a:xfrm>
          <a:prstGeom prst="rect">
            <a:avLst/>
          </a:prstGeom>
        </p:spPr>
        <p:txBody>
          <a:bodyPr wrap="square">
            <a:spAutoFit/>
          </a:bodyPr>
          <a:lstStyle/>
          <a:p>
            <a:pPr algn="ctr"/>
            <a:r>
              <a:rPr lang="en-US" sz="4800" b="1" dirty="0">
                <a:latin typeface="+mj-lt"/>
              </a:rPr>
              <a:t>Internal Architecture of ATmega328</a:t>
            </a:r>
          </a:p>
        </p:txBody>
      </p:sp>
    </p:spTree>
    <p:extLst>
      <p:ext uri="{BB962C8B-B14F-4D97-AF65-F5344CB8AC3E}">
        <p14:creationId xmlns:p14="http://schemas.microsoft.com/office/powerpoint/2010/main" val="176139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1676400"/>
            <a:ext cx="8610600" cy="5416098"/>
          </a:xfrm>
          <a:prstGeom prst="rect">
            <a:avLst/>
          </a:prstGeom>
        </p:spPr>
        <p:txBody>
          <a:bodyPr vert="horz" wrap="square" lIns="0" tIns="14478" rIns="0" bIns="0" rtlCol="0">
            <a:spAutoFit/>
          </a:bodyPr>
          <a:lstStyle/>
          <a:p>
            <a:pPr marL="548640" marR="6096" indent="-548640">
              <a:spcBef>
                <a:spcPts val="0"/>
              </a:spcBef>
              <a:spcAft>
                <a:spcPts val="600"/>
              </a:spcAft>
              <a:buFont typeface="+mj-lt"/>
              <a:buAutoNum type="arabicPeriod" startAt="6"/>
              <a:tabLst>
                <a:tab pos="2917698" algn="l"/>
              </a:tabLst>
            </a:pPr>
            <a:r>
              <a:rPr lang="en-US" sz="2800" spc="-12" dirty="0">
                <a:latin typeface="Arial MT"/>
                <a:cs typeface="Times New Roman" panose="02020603050405020304" pitchFamily="18" charset="0"/>
              </a:rPr>
              <a:t>EEPROM stores data permanently  even if the power is cut out.</a:t>
            </a:r>
          </a:p>
          <a:p>
            <a:pPr marL="548640" marR="6096" indent="-548640">
              <a:spcBef>
                <a:spcPts val="0"/>
              </a:spcBef>
              <a:spcAft>
                <a:spcPts val="600"/>
              </a:spcAft>
              <a:buFont typeface="+mj-lt"/>
              <a:buAutoNum type="arabicPeriod" startAt="6"/>
              <a:tabLst>
                <a:tab pos="2917698" algn="l"/>
              </a:tabLst>
            </a:pPr>
            <a:r>
              <a:rPr lang="en-US" sz="2800" spc="-12" dirty="0">
                <a:latin typeface="Arial MT"/>
                <a:cs typeface="Times New Roman" panose="02020603050405020304" pitchFamily="18" charset="0"/>
              </a:rPr>
              <a:t>Interrupt Unit checks whether  there is an interrupt for the execution  of instruction to be executed in ISR  (Interrupt Service Routine).</a:t>
            </a:r>
          </a:p>
          <a:p>
            <a:pPr marL="548640" marR="6096" indent="-548640">
              <a:spcBef>
                <a:spcPts val="0"/>
              </a:spcBef>
              <a:spcAft>
                <a:spcPts val="600"/>
              </a:spcAft>
              <a:buFont typeface="+mj-lt"/>
              <a:buAutoNum type="arabicPeriod" startAt="6"/>
              <a:tabLst>
                <a:tab pos="2917698" algn="l"/>
              </a:tabLst>
            </a:pPr>
            <a:r>
              <a:rPr lang="en-US" sz="2800" spc="-12" dirty="0">
                <a:latin typeface="Arial MT"/>
                <a:cs typeface="Times New Roman" panose="02020603050405020304" pitchFamily="18" charset="0"/>
              </a:rPr>
              <a:t>Serial Peripheral Interface (SPI) is used to send data between microcontroller and small peripherals such as Camera, Display,  SD cards, etc. It uses separate clock  and data lines, along with a select line  to choose the device you wish to talk  to.</a:t>
            </a:r>
          </a:p>
          <a:p>
            <a:pPr marL="548640" marR="6096" indent="-548640">
              <a:spcBef>
                <a:spcPts val="0"/>
              </a:spcBef>
              <a:spcAft>
                <a:spcPts val="600"/>
              </a:spcAft>
              <a:buFont typeface="+mj-lt"/>
              <a:buAutoNum type="arabicPeriod" startAt="6"/>
              <a:tabLst>
                <a:tab pos="2917698" algn="l"/>
              </a:tabLst>
            </a:pPr>
            <a:r>
              <a:rPr lang="en-US" sz="2800" spc="-12" dirty="0">
                <a:latin typeface="Arial MT"/>
                <a:cs typeface="Times New Roman" panose="02020603050405020304" pitchFamily="18" charset="0"/>
              </a:rPr>
              <a:t>Watchdog timer is used to detect  and recover from MCU  malfunctioning.</a:t>
            </a:r>
          </a:p>
        </p:txBody>
      </p:sp>
      <p:pic>
        <p:nvPicPr>
          <p:cNvPr id="3" name="object 3"/>
          <p:cNvPicPr/>
          <p:nvPr/>
        </p:nvPicPr>
        <p:blipFill>
          <a:blip r:embed="rId2" cstate="print">
            <a:duotone>
              <a:schemeClr val="accent2">
                <a:shade val="45000"/>
                <a:satMod val="135000"/>
              </a:schemeClr>
              <a:prstClr val="white"/>
            </a:duotone>
          </a:blip>
          <a:stretch>
            <a:fillRect/>
          </a:stretch>
        </p:blipFill>
        <p:spPr>
          <a:xfrm>
            <a:off x="8763000" y="1119739"/>
            <a:ext cx="7467600" cy="6957461"/>
          </a:xfrm>
          <a:prstGeom prst="rect">
            <a:avLst/>
          </a:prstGeom>
        </p:spPr>
      </p:pic>
      <p:sp>
        <p:nvSpPr>
          <p:cNvPr id="4" name="Rectangle 3"/>
          <p:cNvSpPr/>
          <p:nvPr/>
        </p:nvSpPr>
        <p:spPr>
          <a:xfrm>
            <a:off x="1219200" y="304800"/>
            <a:ext cx="13944600" cy="830997"/>
          </a:xfrm>
          <a:prstGeom prst="rect">
            <a:avLst/>
          </a:prstGeom>
        </p:spPr>
        <p:txBody>
          <a:bodyPr wrap="square">
            <a:spAutoFit/>
          </a:bodyPr>
          <a:lstStyle/>
          <a:p>
            <a:pPr algn="ctr"/>
            <a:r>
              <a:rPr lang="en-US" sz="4800" b="1" dirty="0">
                <a:latin typeface="+mj-lt"/>
              </a:rPr>
              <a:t>Internal Architecture of ATmega328</a:t>
            </a:r>
          </a:p>
        </p:txBody>
      </p:sp>
    </p:spTree>
    <p:extLst>
      <p:ext uri="{BB962C8B-B14F-4D97-AF65-F5344CB8AC3E}">
        <p14:creationId xmlns:p14="http://schemas.microsoft.com/office/powerpoint/2010/main" val="1183193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duotone>
              <a:schemeClr val="accent2">
                <a:shade val="45000"/>
                <a:satMod val="135000"/>
              </a:schemeClr>
              <a:prstClr val="white"/>
            </a:duotone>
          </a:blip>
          <a:stretch>
            <a:fillRect/>
          </a:stretch>
        </p:blipFill>
        <p:spPr>
          <a:xfrm>
            <a:off x="8763000" y="1119739"/>
            <a:ext cx="7467600" cy="6957461"/>
          </a:xfrm>
          <a:prstGeom prst="rect">
            <a:avLst/>
          </a:prstGeom>
        </p:spPr>
      </p:pic>
      <p:sp>
        <p:nvSpPr>
          <p:cNvPr id="2" name="object 2"/>
          <p:cNvSpPr txBox="1"/>
          <p:nvPr/>
        </p:nvSpPr>
        <p:spPr>
          <a:xfrm>
            <a:off x="228600" y="1676400"/>
            <a:ext cx="8839200" cy="5770041"/>
          </a:xfrm>
          <a:prstGeom prst="rect">
            <a:avLst/>
          </a:prstGeom>
        </p:spPr>
        <p:txBody>
          <a:bodyPr vert="horz" wrap="square" lIns="0" tIns="14478" rIns="0" bIns="0" rtlCol="0">
            <a:spAutoFit/>
          </a:bodyPr>
          <a:lstStyle/>
          <a:p>
            <a:pPr marL="548640" marR="6096" indent="-548640">
              <a:spcBef>
                <a:spcPts val="0"/>
              </a:spcBef>
              <a:spcAft>
                <a:spcPts val="600"/>
              </a:spcAft>
              <a:buFont typeface="+mj-lt"/>
              <a:buAutoNum type="arabicPeriod" startAt="10"/>
              <a:tabLst>
                <a:tab pos="2917698" algn="l"/>
              </a:tabLst>
            </a:pPr>
            <a:r>
              <a:rPr lang="en-US" sz="2800" spc="-12" dirty="0">
                <a:latin typeface="Arial MT"/>
                <a:cs typeface="Times New Roman" panose="02020603050405020304" pitchFamily="18" charset="0"/>
              </a:rPr>
              <a:t> Analog comparator compares the  input values on the positive and negative  pin, when the value of positive pin is higher the output is set.</a:t>
            </a:r>
          </a:p>
          <a:p>
            <a:pPr marL="548640" marR="6096" indent="-548640">
              <a:spcBef>
                <a:spcPts val="0"/>
              </a:spcBef>
              <a:spcAft>
                <a:spcPts val="600"/>
              </a:spcAft>
              <a:buFont typeface="+mj-lt"/>
              <a:buAutoNum type="arabicPeriod" startAt="10"/>
              <a:tabLst>
                <a:tab pos="2917698" algn="l"/>
              </a:tabLst>
            </a:pPr>
            <a:r>
              <a:rPr lang="en-US" sz="2800" spc="-12" dirty="0">
                <a:latin typeface="Arial MT"/>
                <a:cs typeface="Times New Roman" panose="02020603050405020304" pitchFamily="18" charset="0"/>
              </a:rPr>
              <a:t>Status and control is used to control  the flow of execution of commands by  checking other blocks inside the CPU at  regular intervals.</a:t>
            </a:r>
          </a:p>
          <a:p>
            <a:pPr marL="548640" marR="6096" indent="-548640">
              <a:spcBef>
                <a:spcPts val="0"/>
              </a:spcBef>
              <a:spcAft>
                <a:spcPts val="600"/>
              </a:spcAft>
              <a:buFont typeface="+mj-lt"/>
              <a:buAutoNum type="arabicPeriod" startAt="10"/>
              <a:tabLst>
                <a:tab pos="2917698" algn="l"/>
              </a:tabLst>
            </a:pPr>
            <a:r>
              <a:rPr lang="en-US" sz="2800" spc="-12" dirty="0">
                <a:latin typeface="Arial MT"/>
                <a:cs typeface="Times New Roman" panose="02020603050405020304" pitchFamily="18" charset="0"/>
              </a:rPr>
              <a:t>ALU (Arithmetic and Logical Unit): The high performance AVR ALU  operates in direct connection with the all 32 general purpose registers. Within a single clock cycle, arithmetic operations b/w general  purpose registers are executed. The ALU operations are divided into 3 main  categories– arithmetic, logical and bit-function.</a:t>
            </a:r>
          </a:p>
        </p:txBody>
      </p:sp>
      <p:sp>
        <p:nvSpPr>
          <p:cNvPr id="4" name="Rectangle 3"/>
          <p:cNvSpPr/>
          <p:nvPr/>
        </p:nvSpPr>
        <p:spPr>
          <a:xfrm>
            <a:off x="1219200" y="304800"/>
            <a:ext cx="13944600" cy="830997"/>
          </a:xfrm>
          <a:prstGeom prst="rect">
            <a:avLst/>
          </a:prstGeom>
        </p:spPr>
        <p:txBody>
          <a:bodyPr wrap="square">
            <a:spAutoFit/>
          </a:bodyPr>
          <a:lstStyle/>
          <a:p>
            <a:pPr algn="ctr"/>
            <a:r>
              <a:rPr lang="en-US" sz="4800" b="1" dirty="0">
                <a:latin typeface="+mj-lt"/>
              </a:rPr>
              <a:t>Internal Architecture of ATmega328</a:t>
            </a:r>
          </a:p>
        </p:txBody>
      </p:sp>
    </p:spTree>
    <p:extLst>
      <p:ext uri="{BB962C8B-B14F-4D97-AF65-F5344CB8AC3E}">
        <p14:creationId xmlns:p14="http://schemas.microsoft.com/office/powerpoint/2010/main" val="2430298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1676400"/>
            <a:ext cx="8686800" cy="3030830"/>
          </a:xfrm>
          <a:prstGeom prst="rect">
            <a:avLst/>
          </a:prstGeom>
        </p:spPr>
        <p:txBody>
          <a:bodyPr vert="horz" wrap="square" lIns="0" tIns="14478" rIns="0" bIns="0" rtlCol="0">
            <a:spAutoFit/>
          </a:bodyPr>
          <a:lstStyle/>
          <a:p>
            <a:pPr marL="548640" marR="6096" indent="-548640">
              <a:spcBef>
                <a:spcPts val="0"/>
              </a:spcBef>
              <a:spcAft>
                <a:spcPts val="600"/>
              </a:spcAft>
              <a:buFont typeface="+mj-lt"/>
              <a:buAutoNum type="arabicPeriod" startAt="10"/>
              <a:tabLst>
                <a:tab pos="2917698" algn="l"/>
              </a:tabLst>
            </a:pPr>
            <a:r>
              <a:rPr lang="en-US" sz="2800" spc="-12" dirty="0">
                <a:latin typeface="Arial MT"/>
                <a:cs typeface="Times New Roman" panose="02020603050405020304" pitchFamily="18" charset="0"/>
              </a:rPr>
              <a:t>I/O pins The digital inputs and  outputs (digital I/O) on the Arduino are  what allow you to connect the Arduino  sensors, actuators, and other ICs.  Learning how to use them will allow you to use the Arduino to do some really  useful things, such as reading switch inputs, lighting indicators, and  controlling relay outputs.</a:t>
            </a:r>
          </a:p>
        </p:txBody>
      </p:sp>
      <p:pic>
        <p:nvPicPr>
          <p:cNvPr id="3" name="object 3"/>
          <p:cNvPicPr/>
          <p:nvPr/>
        </p:nvPicPr>
        <p:blipFill>
          <a:blip r:embed="rId2" cstate="print">
            <a:duotone>
              <a:schemeClr val="accent2">
                <a:shade val="45000"/>
                <a:satMod val="135000"/>
              </a:schemeClr>
              <a:prstClr val="white"/>
            </a:duotone>
          </a:blip>
          <a:stretch>
            <a:fillRect/>
          </a:stretch>
        </p:blipFill>
        <p:spPr>
          <a:xfrm>
            <a:off x="8763000" y="1119739"/>
            <a:ext cx="7467600" cy="6957461"/>
          </a:xfrm>
          <a:prstGeom prst="rect">
            <a:avLst/>
          </a:prstGeom>
        </p:spPr>
      </p:pic>
      <p:sp>
        <p:nvSpPr>
          <p:cNvPr id="4" name="Rectangle 3"/>
          <p:cNvSpPr/>
          <p:nvPr/>
        </p:nvSpPr>
        <p:spPr>
          <a:xfrm>
            <a:off x="1219200" y="304800"/>
            <a:ext cx="13944600" cy="830997"/>
          </a:xfrm>
          <a:prstGeom prst="rect">
            <a:avLst/>
          </a:prstGeom>
        </p:spPr>
        <p:txBody>
          <a:bodyPr wrap="square">
            <a:spAutoFit/>
          </a:bodyPr>
          <a:lstStyle/>
          <a:p>
            <a:pPr algn="ctr"/>
            <a:r>
              <a:rPr lang="en-US" sz="4800" b="1" dirty="0">
                <a:latin typeface="+mj-lt"/>
              </a:rPr>
              <a:t>Internal Architecture of ATmega328</a:t>
            </a:r>
          </a:p>
        </p:txBody>
      </p:sp>
    </p:spTree>
    <p:extLst>
      <p:ext uri="{BB962C8B-B14F-4D97-AF65-F5344CB8AC3E}">
        <p14:creationId xmlns:p14="http://schemas.microsoft.com/office/powerpoint/2010/main" val="430557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Lst>
          </a:blip>
          <a:srcRect l="44832" r="-867"/>
          <a:stretch/>
        </p:blipFill>
        <p:spPr>
          <a:xfrm>
            <a:off x="10134600" y="220579"/>
            <a:ext cx="6172200" cy="7848600"/>
          </a:xfrm>
          <a:prstGeom prst="rect">
            <a:avLst/>
          </a:prstGeom>
        </p:spPr>
      </p:pic>
      <p:sp>
        <p:nvSpPr>
          <p:cNvPr id="3" name="Rectangle 2"/>
          <p:cNvSpPr/>
          <p:nvPr/>
        </p:nvSpPr>
        <p:spPr>
          <a:xfrm>
            <a:off x="1219200" y="228600"/>
            <a:ext cx="9067800" cy="769441"/>
          </a:xfrm>
          <a:prstGeom prst="rect">
            <a:avLst/>
          </a:prstGeom>
        </p:spPr>
        <p:txBody>
          <a:bodyPr wrap="square">
            <a:spAutoFit/>
          </a:bodyPr>
          <a:lstStyle/>
          <a:p>
            <a:pPr algn="ctr"/>
            <a:r>
              <a:rPr lang="en-US" sz="4400" b="1" dirty="0">
                <a:latin typeface="+mj-lt"/>
              </a:rPr>
              <a:t>Internal Architecture of AVR</a:t>
            </a:r>
          </a:p>
        </p:txBody>
      </p:sp>
      <p:sp>
        <p:nvSpPr>
          <p:cNvPr id="4" name="Content Placeholder 3"/>
          <p:cNvSpPr txBox="1">
            <a:spLocks/>
          </p:cNvSpPr>
          <p:nvPr/>
        </p:nvSpPr>
        <p:spPr>
          <a:xfrm>
            <a:off x="152400" y="1676400"/>
            <a:ext cx="10134600" cy="5486400"/>
          </a:xfrm>
          <a:prstGeom prst="rect">
            <a:avLst/>
          </a:prstGeom>
        </p:spPr>
        <p:txBody>
          <a:bodyPr>
            <a:noAutofit/>
          </a:bodyPr>
          <a:lstStyle>
            <a:lvl1pPr marL="546100" indent="-5461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n-ea"/>
                <a:cs typeface="+mn-cs"/>
              </a:defRPr>
            </a:lvl1pPr>
            <a:lvl2pPr marL="1025525" indent="-342900" algn="l" rtl="0" eaLnBrk="0" fontAlgn="base" hangingPunct="0">
              <a:spcBef>
                <a:spcPct val="20000"/>
              </a:spcBef>
              <a:spcAft>
                <a:spcPct val="0"/>
              </a:spcAft>
              <a:buChar char="–"/>
              <a:defRPr sz="2800">
                <a:solidFill>
                  <a:schemeClr val="tx1"/>
                </a:solidFill>
                <a:latin typeface="+mn-lt"/>
              </a:defRPr>
            </a:lvl2pPr>
            <a:lvl3pPr marL="1438275" indent="-273050" algn="l" rtl="0" eaLnBrk="0" fontAlgn="base" hangingPunct="0">
              <a:spcBef>
                <a:spcPct val="20000"/>
              </a:spcBef>
              <a:spcAft>
                <a:spcPct val="0"/>
              </a:spcAft>
              <a:buChar char="•"/>
              <a:defRPr sz="2800">
                <a:solidFill>
                  <a:schemeClr val="tx1"/>
                </a:solidFill>
                <a:latin typeface="+mn-lt"/>
              </a:defRPr>
            </a:lvl3pPr>
            <a:lvl4pPr marL="1919288" indent="-273050" algn="l" rtl="0" eaLnBrk="0" fontAlgn="base" hangingPunct="0">
              <a:spcBef>
                <a:spcPct val="20000"/>
              </a:spcBef>
              <a:spcAft>
                <a:spcPct val="0"/>
              </a:spcAft>
              <a:buChar char="–"/>
              <a:defRPr sz="2400">
                <a:solidFill>
                  <a:schemeClr val="tx1"/>
                </a:solidFill>
                <a:latin typeface="+mn-lt"/>
              </a:defRPr>
            </a:lvl4pPr>
            <a:lvl5pPr marL="2468563" indent="-273050" algn="l" rtl="0" eaLnBrk="0" fontAlgn="base" hangingPunct="0">
              <a:spcBef>
                <a:spcPct val="20000"/>
              </a:spcBef>
              <a:spcAft>
                <a:spcPct val="0"/>
              </a:spcAft>
              <a:buChar char="»"/>
              <a:defRPr sz="2400">
                <a:solidFill>
                  <a:schemeClr val="tx1"/>
                </a:solidFill>
                <a:latin typeface="+mn-lt"/>
              </a:defRPr>
            </a:lvl5pPr>
            <a:lvl6pPr marL="3017520" indent="-274320" algn="l" rtl="0" fontAlgn="base">
              <a:spcBef>
                <a:spcPct val="20000"/>
              </a:spcBef>
              <a:spcAft>
                <a:spcPct val="0"/>
              </a:spcAft>
              <a:buChar char="»"/>
              <a:defRPr sz="2400">
                <a:solidFill>
                  <a:schemeClr val="tx1"/>
                </a:solidFill>
                <a:latin typeface="+mn-lt"/>
              </a:defRPr>
            </a:lvl6pPr>
            <a:lvl7pPr marL="3566160" indent="-274320" algn="l" rtl="0" fontAlgn="base">
              <a:spcBef>
                <a:spcPct val="20000"/>
              </a:spcBef>
              <a:spcAft>
                <a:spcPct val="0"/>
              </a:spcAft>
              <a:buChar char="»"/>
              <a:defRPr sz="2400">
                <a:solidFill>
                  <a:schemeClr val="tx1"/>
                </a:solidFill>
                <a:latin typeface="+mn-lt"/>
              </a:defRPr>
            </a:lvl7pPr>
            <a:lvl8pPr marL="4114800" indent="-274320" algn="l" rtl="0" fontAlgn="base">
              <a:spcBef>
                <a:spcPct val="20000"/>
              </a:spcBef>
              <a:spcAft>
                <a:spcPct val="0"/>
              </a:spcAft>
              <a:buChar char="»"/>
              <a:defRPr sz="2400">
                <a:solidFill>
                  <a:schemeClr val="tx1"/>
                </a:solidFill>
                <a:latin typeface="+mn-lt"/>
              </a:defRPr>
            </a:lvl8pPr>
            <a:lvl9pPr marL="4663440" indent="-274320" algn="l" rtl="0" fontAlgn="base">
              <a:spcBef>
                <a:spcPct val="20000"/>
              </a:spcBef>
              <a:spcAft>
                <a:spcPct val="0"/>
              </a:spcAft>
              <a:buChar char="»"/>
              <a:defRPr sz="2400">
                <a:solidFill>
                  <a:schemeClr val="tx1"/>
                </a:solidFill>
                <a:latin typeface="+mn-lt"/>
              </a:defRPr>
            </a:lvl9pPr>
          </a:lstStyle>
          <a:p>
            <a:pPr>
              <a:spcBef>
                <a:spcPts val="0"/>
              </a:spcBef>
              <a:spcAft>
                <a:spcPts val="600"/>
              </a:spcAft>
            </a:pPr>
            <a:r>
              <a:rPr lang="en-US" sz="3200" kern="0" dirty="0"/>
              <a:t>6 different oscillators to serve as clock sources</a:t>
            </a:r>
          </a:p>
          <a:p>
            <a:pPr>
              <a:spcBef>
                <a:spcPts val="0"/>
              </a:spcBef>
              <a:spcAft>
                <a:spcPts val="600"/>
              </a:spcAft>
            </a:pPr>
            <a:r>
              <a:rPr lang="en-US" sz="3200" kern="0" dirty="0"/>
              <a:t>5 different clock outputs from the AVR clock control Unit</a:t>
            </a:r>
          </a:p>
          <a:p>
            <a:pPr>
              <a:spcBef>
                <a:spcPts val="0"/>
              </a:spcBef>
              <a:spcAft>
                <a:spcPts val="600"/>
              </a:spcAft>
            </a:pPr>
            <a:r>
              <a:rPr lang="en-US" sz="3200" kern="0" dirty="0"/>
              <a:t>CPU clock routed to part of the system concerned with the operation of AVR core</a:t>
            </a:r>
          </a:p>
          <a:p>
            <a:pPr>
              <a:spcBef>
                <a:spcPts val="0"/>
              </a:spcBef>
              <a:spcAft>
                <a:spcPts val="600"/>
              </a:spcAft>
            </a:pPr>
            <a:r>
              <a:rPr lang="en-US" sz="3200" kern="0" dirty="0"/>
              <a:t>I/O clock used by most I/O modules</a:t>
            </a:r>
          </a:p>
          <a:p>
            <a:pPr>
              <a:spcBef>
                <a:spcPts val="0"/>
              </a:spcBef>
              <a:spcAft>
                <a:spcPts val="600"/>
              </a:spcAft>
            </a:pPr>
            <a:r>
              <a:rPr lang="en-US" sz="3200" kern="0" dirty="0"/>
              <a:t>Flash clock controls operation of the flash interface</a:t>
            </a:r>
          </a:p>
          <a:p>
            <a:pPr>
              <a:spcBef>
                <a:spcPts val="0"/>
              </a:spcBef>
              <a:spcAft>
                <a:spcPts val="600"/>
              </a:spcAft>
            </a:pPr>
            <a:r>
              <a:rPr lang="en-US" sz="3200" kern="0" dirty="0"/>
              <a:t>Asynchronous timer clock allows asynchronous timer/counter to be clocked directly by external clock</a:t>
            </a:r>
          </a:p>
          <a:p>
            <a:pPr>
              <a:spcBef>
                <a:spcPts val="0"/>
              </a:spcBef>
              <a:spcAft>
                <a:spcPts val="600"/>
              </a:spcAft>
            </a:pPr>
            <a:r>
              <a:rPr lang="en-US" sz="3200" kern="0" dirty="0"/>
              <a:t>ADC Clock is dedicated to the ADC module</a:t>
            </a:r>
          </a:p>
        </p:txBody>
      </p:sp>
      <p:sp>
        <p:nvSpPr>
          <p:cNvPr id="5" name="Rectangle 4"/>
          <p:cNvSpPr/>
          <p:nvPr/>
        </p:nvSpPr>
        <p:spPr>
          <a:xfrm>
            <a:off x="11036968" y="1905000"/>
            <a:ext cx="1315453" cy="990600"/>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
        <p:nvSpPr>
          <p:cNvPr id="6" name="Rectangle 5"/>
          <p:cNvSpPr/>
          <p:nvPr/>
        </p:nvSpPr>
        <p:spPr>
          <a:xfrm>
            <a:off x="11036968" y="926090"/>
            <a:ext cx="3974432" cy="978910"/>
          </a:xfrm>
          <a:prstGeom prst="rect">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750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4">
                                            <p:txEl>
                                              <p:pRg st="0" end="0"/>
                                            </p:txEl>
                                          </p:spTgt>
                                        </p:tgtEl>
                                        <p:attrNameLst>
                                          <p:attrName>style.color</p:attrName>
                                        </p:attrNameLst>
                                      </p:cBhvr>
                                      <p:to>
                                        <a:srgbClr val="FF0000"/>
                                      </p:to>
                                    </p:animClr>
                                    <p:animClr clrSpc="rgb" dir="cw">
                                      <p:cBhvr>
                                        <p:cTn id="7" dur="500" fill="hold"/>
                                        <p:tgtEl>
                                          <p:spTgt spid="4">
                                            <p:txEl>
                                              <p:pRg st="0" end="0"/>
                                            </p:txEl>
                                          </p:spTgt>
                                        </p:tgtEl>
                                        <p:attrNameLst>
                                          <p:attrName>fillcolor</p:attrName>
                                        </p:attrNameLst>
                                      </p:cBhvr>
                                      <p:to>
                                        <a:srgbClr val="FF0000"/>
                                      </p:to>
                                    </p:animClr>
                                    <p:set>
                                      <p:cBhvr>
                                        <p:cTn id="8" dur="500" fill="hold"/>
                                        <p:tgtEl>
                                          <p:spTgt spid="4">
                                            <p:txEl>
                                              <p:pRg st="0" end="0"/>
                                            </p:txEl>
                                          </p:spTgt>
                                        </p:tgtEl>
                                        <p:attrNameLst>
                                          <p:attrName>fill.type</p:attrName>
                                        </p:attrNameLst>
                                      </p:cBhvr>
                                      <p:to>
                                        <p:strVal val="solid"/>
                                      </p:to>
                                    </p:set>
                                    <p:set>
                                      <p:cBhvr>
                                        <p:cTn id="9" dur="500" fill="hold"/>
                                        <p:tgtEl>
                                          <p:spTgt spid="4">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heel(1)">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9" presetClass="emph" presetSubtype="0" fill="hold" nodeType="clickEffect">
                                  <p:stCondLst>
                                    <p:cond delay="0"/>
                                  </p:stCondLst>
                                  <p:childTnLst>
                                    <p:animClr clrSpc="rgb" dir="cw">
                                      <p:cBhvr override="childStyle">
                                        <p:cTn id="18" dur="500" fill="hold"/>
                                        <p:tgtEl>
                                          <p:spTgt spid="4">
                                            <p:txEl>
                                              <p:pRg st="1" end="1"/>
                                            </p:txEl>
                                          </p:spTgt>
                                        </p:tgtEl>
                                        <p:attrNameLst>
                                          <p:attrName>style.color</p:attrName>
                                        </p:attrNameLst>
                                      </p:cBhvr>
                                      <p:to>
                                        <a:srgbClr val="00B050"/>
                                      </p:to>
                                    </p:animClr>
                                    <p:animClr clrSpc="rgb" dir="cw">
                                      <p:cBhvr>
                                        <p:cTn id="19" dur="500" fill="hold"/>
                                        <p:tgtEl>
                                          <p:spTgt spid="4">
                                            <p:txEl>
                                              <p:pRg st="1" end="1"/>
                                            </p:txEl>
                                          </p:spTgt>
                                        </p:tgtEl>
                                        <p:attrNameLst>
                                          <p:attrName>fillcolor</p:attrName>
                                        </p:attrNameLst>
                                      </p:cBhvr>
                                      <p:to>
                                        <a:srgbClr val="00B050"/>
                                      </p:to>
                                    </p:animClr>
                                    <p:set>
                                      <p:cBhvr>
                                        <p:cTn id="20" dur="500" fill="hold"/>
                                        <p:tgtEl>
                                          <p:spTgt spid="4">
                                            <p:txEl>
                                              <p:pRg st="1" end="1"/>
                                            </p:txEl>
                                          </p:spTgt>
                                        </p:tgtEl>
                                        <p:attrNameLst>
                                          <p:attrName>fill.type</p:attrName>
                                        </p:attrNameLst>
                                      </p:cBhvr>
                                      <p:to>
                                        <p:strVal val="solid"/>
                                      </p:to>
                                    </p:set>
                                    <p:set>
                                      <p:cBhvr>
                                        <p:cTn id="21" dur="500" fill="hold"/>
                                        <p:tgtEl>
                                          <p:spTgt spid="4">
                                            <p:txEl>
                                              <p:pRg st="1" end="1"/>
                                            </p:txEl>
                                          </p:spTgt>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heel(1)">
                                      <p:cBhvr>
                                        <p:cTn id="2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Lst>
          </a:blip>
          <a:srcRect l="44832" r="-867"/>
          <a:stretch/>
        </p:blipFill>
        <p:spPr>
          <a:xfrm>
            <a:off x="10134600" y="220579"/>
            <a:ext cx="6172200" cy="7848600"/>
          </a:xfrm>
          <a:prstGeom prst="rect">
            <a:avLst/>
          </a:prstGeom>
        </p:spPr>
      </p:pic>
      <p:sp>
        <p:nvSpPr>
          <p:cNvPr id="3" name="Rectangle 2"/>
          <p:cNvSpPr/>
          <p:nvPr/>
        </p:nvSpPr>
        <p:spPr>
          <a:xfrm>
            <a:off x="1219200" y="228600"/>
            <a:ext cx="9067800" cy="769441"/>
          </a:xfrm>
          <a:prstGeom prst="rect">
            <a:avLst/>
          </a:prstGeom>
        </p:spPr>
        <p:txBody>
          <a:bodyPr wrap="square">
            <a:spAutoFit/>
          </a:bodyPr>
          <a:lstStyle/>
          <a:p>
            <a:pPr algn="ctr"/>
            <a:r>
              <a:rPr lang="en-US" sz="4400" b="1" dirty="0">
                <a:latin typeface="+mj-lt"/>
              </a:rPr>
              <a:t>Internal Architecture of AVR</a:t>
            </a:r>
          </a:p>
        </p:txBody>
      </p:sp>
      <p:sp>
        <p:nvSpPr>
          <p:cNvPr id="4" name="Content Placeholder 3"/>
          <p:cNvSpPr txBox="1">
            <a:spLocks/>
          </p:cNvSpPr>
          <p:nvPr/>
        </p:nvSpPr>
        <p:spPr>
          <a:xfrm>
            <a:off x="152400" y="1676400"/>
            <a:ext cx="10134600" cy="5791200"/>
          </a:xfrm>
          <a:prstGeom prst="rect">
            <a:avLst/>
          </a:prstGeom>
        </p:spPr>
        <p:txBody>
          <a:bodyPr>
            <a:noAutofit/>
          </a:bodyPr>
          <a:lstStyle>
            <a:lvl1pPr marL="546100" indent="-5461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n-ea"/>
                <a:cs typeface="+mn-cs"/>
              </a:defRPr>
            </a:lvl1pPr>
            <a:lvl2pPr marL="1025525" indent="-342900" algn="l" rtl="0" eaLnBrk="0" fontAlgn="base" hangingPunct="0">
              <a:spcBef>
                <a:spcPct val="20000"/>
              </a:spcBef>
              <a:spcAft>
                <a:spcPct val="0"/>
              </a:spcAft>
              <a:buChar char="–"/>
              <a:defRPr sz="2800">
                <a:solidFill>
                  <a:schemeClr val="tx1"/>
                </a:solidFill>
                <a:latin typeface="+mn-lt"/>
              </a:defRPr>
            </a:lvl2pPr>
            <a:lvl3pPr marL="1438275" indent="-273050" algn="l" rtl="0" eaLnBrk="0" fontAlgn="base" hangingPunct="0">
              <a:spcBef>
                <a:spcPct val="20000"/>
              </a:spcBef>
              <a:spcAft>
                <a:spcPct val="0"/>
              </a:spcAft>
              <a:buChar char="•"/>
              <a:defRPr sz="2800">
                <a:solidFill>
                  <a:schemeClr val="tx1"/>
                </a:solidFill>
                <a:latin typeface="+mn-lt"/>
              </a:defRPr>
            </a:lvl3pPr>
            <a:lvl4pPr marL="1919288" indent="-273050" algn="l" rtl="0" eaLnBrk="0" fontAlgn="base" hangingPunct="0">
              <a:spcBef>
                <a:spcPct val="20000"/>
              </a:spcBef>
              <a:spcAft>
                <a:spcPct val="0"/>
              </a:spcAft>
              <a:buChar char="–"/>
              <a:defRPr sz="2400">
                <a:solidFill>
                  <a:schemeClr val="tx1"/>
                </a:solidFill>
                <a:latin typeface="+mn-lt"/>
              </a:defRPr>
            </a:lvl4pPr>
            <a:lvl5pPr marL="2468563" indent="-273050" algn="l" rtl="0" eaLnBrk="0" fontAlgn="base" hangingPunct="0">
              <a:spcBef>
                <a:spcPct val="20000"/>
              </a:spcBef>
              <a:spcAft>
                <a:spcPct val="0"/>
              </a:spcAft>
              <a:buChar char="»"/>
              <a:defRPr sz="2400">
                <a:solidFill>
                  <a:schemeClr val="tx1"/>
                </a:solidFill>
                <a:latin typeface="+mn-lt"/>
              </a:defRPr>
            </a:lvl5pPr>
            <a:lvl6pPr marL="3017520" indent="-274320" algn="l" rtl="0" fontAlgn="base">
              <a:spcBef>
                <a:spcPct val="20000"/>
              </a:spcBef>
              <a:spcAft>
                <a:spcPct val="0"/>
              </a:spcAft>
              <a:buChar char="»"/>
              <a:defRPr sz="2400">
                <a:solidFill>
                  <a:schemeClr val="tx1"/>
                </a:solidFill>
                <a:latin typeface="+mn-lt"/>
              </a:defRPr>
            </a:lvl6pPr>
            <a:lvl7pPr marL="3566160" indent="-274320" algn="l" rtl="0" fontAlgn="base">
              <a:spcBef>
                <a:spcPct val="20000"/>
              </a:spcBef>
              <a:spcAft>
                <a:spcPct val="0"/>
              </a:spcAft>
              <a:buChar char="»"/>
              <a:defRPr sz="2400">
                <a:solidFill>
                  <a:schemeClr val="tx1"/>
                </a:solidFill>
                <a:latin typeface="+mn-lt"/>
              </a:defRPr>
            </a:lvl7pPr>
            <a:lvl8pPr marL="4114800" indent="-274320" algn="l" rtl="0" fontAlgn="base">
              <a:spcBef>
                <a:spcPct val="20000"/>
              </a:spcBef>
              <a:spcAft>
                <a:spcPct val="0"/>
              </a:spcAft>
              <a:buChar char="»"/>
              <a:defRPr sz="2400">
                <a:solidFill>
                  <a:schemeClr val="tx1"/>
                </a:solidFill>
                <a:latin typeface="+mn-lt"/>
              </a:defRPr>
            </a:lvl8pPr>
            <a:lvl9pPr marL="4663440" indent="-274320" algn="l" rtl="0" fontAlgn="base">
              <a:spcBef>
                <a:spcPct val="20000"/>
              </a:spcBef>
              <a:spcAft>
                <a:spcPct val="0"/>
              </a:spcAft>
              <a:buChar char="»"/>
              <a:defRPr sz="2400">
                <a:solidFill>
                  <a:schemeClr val="tx1"/>
                </a:solidFill>
                <a:latin typeface="+mn-lt"/>
              </a:defRPr>
            </a:lvl9pPr>
          </a:lstStyle>
          <a:p>
            <a:pPr>
              <a:spcBef>
                <a:spcPts val="0"/>
              </a:spcBef>
              <a:spcAft>
                <a:spcPts val="600"/>
              </a:spcAft>
            </a:pPr>
            <a:r>
              <a:rPr lang="en-US" sz="3600" kern="0" dirty="0"/>
              <a:t>CPU is the Central Processing Unit</a:t>
            </a:r>
          </a:p>
          <a:p>
            <a:pPr>
              <a:spcBef>
                <a:spcPts val="0"/>
              </a:spcBef>
              <a:spcAft>
                <a:spcPts val="600"/>
              </a:spcAft>
            </a:pPr>
            <a:r>
              <a:rPr lang="en-US" sz="3600" kern="0" dirty="0"/>
              <a:t>The main function of the CPU core is to ensure correct program execution.</a:t>
            </a:r>
          </a:p>
          <a:p>
            <a:pPr>
              <a:spcBef>
                <a:spcPts val="0"/>
              </a:spcBef>
              <a:spcAft>
                <a:spcPts val="600"/>
              </a:spcAft>
            </a:pPr>
            <a:r>
              <a:rPr lang="en-US" sz="3600" kern="0" dirty="0"/>
              <a:t>The CPU must therefore be able to access memories, perform calculations, control peripherals, and handle interrupts.</a:t>
            </a:r>
          </a:p>
          <a:p>
            <a:pPr>
              <a:spcBef>
                <a:spcPts val="0"/>
              </a:spcBef>
              <a:spcAft>
                <a:spcPts val="600"/>
              </a:spcAft>
            </a:pPr>
            <a:r>
              <a:rPr lang="en-US" sz="3600" kern="0" dirty="0"/>
              <a:t>In order to maximize performance and parallelism, the AVR uses a Harvard architecture – with separate memories and buses for program and data.</a:t>
            </a:r>
          </a:p>
        </p:txBody>
      </p:sp>
      <p:sp>
        <p:nvSpPr>
          <p:cNvPr id="5" name="Rectangle 4"/>
          <p:cNvSpPr/>
          <p:nvPr/>
        </p:nvSpPr>
        <p:spPr>
          <a:xfrm>
            <a:off x="12476747" y="2514600"/>
            <a:ext cx="2382253" cy="990600"/>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Tree>
    <p:extLst>
      <p:ext uri="{BB962C8B-B14F-4D97-AF65-F5344CB8AC3E}">
        <p14:creationId xmlns:p14="http://schemas.microsoft.com/office/powerpoint/2010/main" val="3843679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4">
                                            <p:txEl>
                                              <p:pRg st="0" end="0"/>
                                            </p:txEl>
                                          </p:spTgt>
                                        </p:tgtEl>
                                        <p:attrNameLst>
                                          <p:attrName>style.color</p:attrName>
                                        </p:attrNameLst>
                                      </p:cBhvr>
                                      <p:to>
                                        <a:srgbClr val="FF0000"/>
                                      </p:to>
                                    </p:animClr>
                                    <p:animClr clrSpc="rgb" dir="cw">
                                      <p:cBhvr>
                                        <p:cTn id="7" dur="500" fill="hold"/>
                                        <p:tgtEl>
                                          <p:spTgt spid="4">
                                            <p:txEl>
                                              <p:pRg st="0" end="0"/>
                                            </p:txEl>
                                          </p:spTgt>
                                        </p:tgtEl>
                                        <p:attrNameLst>
                                          <p:attrName>fillcolor</p:attrName>
                                        </p:attrNameLst>
                                      </p:cBhvr>
                                      <p:to>
                                        <a:srgbClr val="FF0000"/>
                                      </p:to>
                                    </p:animClr>
                                    <p:set>
                                      <p:cBhvr>
                                        <p:cTn id="8" dur="500" fill="hold"/>
                                        <p:tgtEl>
                                          <p:spTgt spid="4">
                                            <p:txEl>
                                              <p:pRg st="0" end="0"/>
                                            </p:txEl>
                                          </p:spTgt>
                                        </p:tgtEl>
                                        <p:attrNameLst>
                                          <p:attrName>fill.type</p:attrName>
                                        </p:attrNameLst>
                                      </p:cBhvr>
                                      <p:to>
                                        <p:strVal val="solid"/>
                                      </p:to>
                                    </p:set>
                                    <p:set>
                                      <p:cBhvr>
                                        <p:cTn id="9" dur="500" fill="hold"/>
                                        <p:tgtEl>
                                          <p:spTgt spid="4">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4">
                                            <p:txEl>
                                              <p:pRg st="1" end="1"/>
                                            </p:txEl>
                                          </p:spTgt>
                                        </p:tgtEl>
                                        <p:attrNameLst>
                                          <p:attrName>style.color</p:attrName>
                                        </p:attrNameLst>
                                      </p:cBhvr>
                                      <p:to>
                                        <a:srgbClr val="FF0000"/>
                                      </p:to>
                                    </p:animClr>
                                    <p:animClr clrSpc="rgb" dir="cw">
                                      <p:cBhvr>
                                        <p:cTn id="14" dur="500" fill="hold"/>
                                        <p:tgtEl>
                                          <p:spTgt spid="4">
                                            <p:txEl>
                                              <p:pRg st="1" end="1"/>
                                            </p:txEl>
                                          </p:spTgt>
                                        </p:tgtEl>
                                        <p:attrNameLst>
                                          <p:attrName>fillcolor</p:attrName>
                                        </p:attrNameLst>
                                      </p:cBhvr>
                                      <p:to>
                                        <a:srgbClr val="FF0000"/>
                                      </p:to>
                                    </p:animClr>
                                    <p:set>
                                      <p:cBhvr>
                                        <p:cTn id="15" dur="500" fill="hold"/>
                                        <p:tgtEl>
                                          <p:spTgt spid="4">
                                            <p:txEl>
                                              <p:pRg st="1" end="1"/>
                                            </p:txEl>
                                          </p:spTgt>
                                        </p:tgtEl>
                                        <p:attrNameLst>
                                          <p:attrName>fill.type</p:attrName>
                                        </p:attrNameLst>
                                      </p:cBhvr>
                                      <p:to>
                                        <p:strVal val="solid"/>
                                      </p:to>
                                    </p:set>
                                    <p:set>
                                      <p:cBhvr>
                                        <p:cTn id="16" dur="500" fill="hold"/>
                                        <p:tgtEl>
                                          <p:spTgt spid="4">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4">
                                            <p:txEl>
                                              <p:pRg st="2" end="2"/>
                                            </p:txEl>
                                          </p:spTgt>
                                        </p:tgtEl>
                                        <p:attrNameLst>
                                          <p:attrName>style.color</p:attrName>
                                        </p:attrNameLst>
                                      </p:cBhvr>
                                      <p:to>
                                        <a:srgbClr val="FF0000"/>
                                      </p:to>
                                    </p:animClr>
                                    <p:animClr clrSpc="rgb" dir="cw">
                                      <p:cBhvr>
                                        <p:cTn id="21" dur="500" fill="hold"/>
                                        <p:tgtEl>
                                          <p:spTgt spid="4">
                                            <p:txEl>
                                              <p:pRg st="2" end="2"/>
                                            </p:txEl>
                                          </p:spTgt>
                                        </p:tgtEl>
                                        <p:attrNameLst>
                                          <p:attrName>fillcolor</p:attrName>
                                        </p:attrNameLst>
                                      </p:cBhvr>
                                      <p:to>
                                        <a:srgbClr val="FF0000"/>
                                      </p:to>
                                    </p:animClr>
                                    <p:set>
                                      <p:cBhvr>
                                        <p:cTn id="22" dur="500" fill="hold"/>
                                        <p:tgtEl>
                                          <p:spTgt spid="4">
                                            <p:txEl>
                                              <p:pRg st="2" end="2"/>
                                            </p:txEl>
                                          </p:spTgt>
                                        </p:tgtEl>
                                        <p:attrNameLst>
                                          <p:attrName>fill.type</p:attrName>
                                        </p:attrNameLst>
                                      </p:cBhvr>
                                      <p:to>
                                        <p:strVal val="solid"/>
                                      </p:to>
                                    </p:set>
                                    <p:set>
                                      <p:cBhvr>
                                        <p:cTn id="23" dur="500" fill="hold"/>
                                        <p:tgtEl>
                                          <p:spTgt spid="4">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4">
                                            <p:txEl>
                                              <p:pRg st="3" end="3"/>
                                            </p:txEl>
                                          </p:spTgt>
                                        </p:tgtEl>
                                        <p:attrNameLst>
                                          <p:attrName>style.color</p:attrName>
                                        </p:attrNameLst>
                                      </p:cBhvr>
                                      <p:to>
                                        <a:srgbClr val="FF0000"/>
                                      </p:to>
                                    </p:animClr>
                                    <p:animClr clrSpc="rgb" dir="cw">
                                      <p:cBhvr>
                                        <p:cTn id="28" dur="500" fill="hold"/>
                                        <p:tgtEl>
                                          <p:spTgt spid="4">
                                            <p:txEl>
                                              <p:pRg st="3" end="3"/>
                                            </p:txEl>
                                          </p:spTgt>
                                        </p:tgtEl>
                                        <p:attrNameLst>
                                          <p:attrName>fillcolor</p:attrName>
                                        </p:attrNameLst>
                                      </p:cBhvr>
                                      <p:to>
                                        <a:srgbClr val="FF0000"/>
                                      </p:to>
                                    </p:animClr>
                                    <p:set>
                                      <p:cBhvr>
                                        <p:cTn id="29" dur="500" fill="hold"/>
                                        <p:tgtEl>
                                          <p:spTgt spid="4">
                                            <p:txEl>
                                              <p:pRg st="3" end="3"/>
                                            </p:txEl>
                                          </p:spTgt>
                                        </p:tgtEl>
                                        <p:attrNameLst>
                                          <p:attrName>fill.type</p:attrName>
                                        </p:attrNameLst>
                                      </p:cBhvr>
                                      <p:to>
                                        <p:strVal val="solid"/>
                                      </p:to>
                                    </p:set>
                                    <p:set>
                                      <p:cBhvr>
                                        <p:cTn id="30" dur="500" fill="hold"/>
                                        <p:tgtEl>
                                          <p:spTgt spid="4">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heel(1)">
                                      <p:cBhvr>
                                        <p:cTn id="35"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0210800" y="457200"/>
            <a:ext cx="6172200" cy="7467600"/>
          </a:xfrm>
          <a:prstGeom prst="rect">
            <a:avLst/>
          </a:prstGeom>
        </p:spPr>
      </p:pic>
      <p:sp>
        <p:nvSpPr>
          <p:cNvPr id="3" name="Rectangle 2"/>
          <p:cNvSpPr/>
          <p:nvPr/>
        </p:nvSpPr>
        <p:spPr>
          <a:xfrm>
            <a:off x="990600" y="228600"/>
            <a:ext cx="9448800" cy="769441"/>
          </a:xfrm>
          <a:prstGeom prst="rect">
            <a:avLst/>
          </a:prstGeom>
        </p:spPr>
        <p:txBody>
          <a:bodyPr wrap="square">
            <a:spAutoFit/>
          </a:bodyPr>
          <a:lstStyle/>
          <a:p>
            <a:pPr algn="ctr"/>
            <a:r>
              <a:rPr lang="en-US" sz="4400" b="1" dirty="0">
                <a:latin typeface="+mj-lt"/>
              </a:rPr>
              <a:t>Instruction Fetch and Decode</a:t>
            </a:r>
          </a:p>
        </p:txBody>
      </p:sp>
      <p:sp>
        <p:nvSpPr>
          <p:cNvPr id="4" name="Content Placeholder 3"/>
          <p:cNvSpPr txBox="1">
            <a:spLocks/>
          </p:cNvSpPr>
          <p:nvPr/>
        </p:nvSpPr>
        <p:spPr>
          <a:xfrm>
            <a:off x="152400" y="1676400"/>
            <a:ext cx="10287000" cy="4800600"/>
          </a:xfrm>
          <a:prstGeom prst="rect">
            <a:avLst/>
          </a:prstGeom>
        </p:spPr>
        <p:txBody>
          <a:bodyPr>
            <a:noAutofit/>
          </a:bodyPr>
          <a:lstStyle>
            <a:lvl1pPr marL="546100" indent="-5461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n-ea"/>
                <a:cs typeface="+mn-cs"/>
              </a:defRPr>
            </a:lvl1pPr>
            <a:lvl2pPr marL="1025525" indent="-342900" algn="l" rtl="0" eaLnBrk="0" fontAlgn="base" hangingPunct="0">
              <a:spcBef>
                <a:spcPct val="20000"/>
              </a:spcBef>
              <a:spcAft>
                <a:spcPct val="0"/>
              </a:spcAft>
              <a:buChar char="–"/>
              <a:defRPr sz="2800">
                <a:solidFill>
                  <a:schemeClr val="tx1"/>
                </a:solidFill>
                <a:latin typeface="+mn-lt"/>
              </a:defRPr>
            </a:lvl2pPr>
            <a:lvl3pPr marL="1438275" indent="-273050" algn="l" rtl="0" eaLnBrk="0" fontAlgn="base" hangingPunct="0">
              <a:spcBef>
                <a:spcPct val="20000"/>
              </a:spcBef>
              <a:spcAft>
                <a:spcPct val="0"/>
              </a:spcAft>
              <a:buChar char="•"/>
              <a:defRPr sz="2800">
                <a:solidFill>
                  <a:schemeClr val="tx1"/>
                </a:solidFill>
                <a:latin typeface="+mn-lt"/>
              </a:defRPr>
            </a:lvl3pPr>
            <a:lvl4pPr marL="1919288" indent="-273050" algn="l" rtl="0" eaLnBrk="0" fontAlgn="base" hangingPunct="0">
              <a:spcBef>
                <a:spcPct val="20000"/>
              </a:spcBef>
              <a:spcAft>
                <a:spcPct val="0"/>
              </a:spcAft>
              <a:buChar char="–"/>
              <a:defRPr sz="2400">
                <a:solidFill>
                  <a:schemeClr val="tx1"/>
                </a:solidFill>
                <a:latin typeface="+mn-lt"/>
              </a:defRPr>
            </a:lvl4pPr>
            <a:lvl5pPr marL="2468563" indent="-273050" algn="l" rtl="0" eaLnBrk="0" fontAlgn="base" hangingPunct="0">
              <a:spcBef>
                <a:spcPct val="20000"/>
              </a:spcBef>
              <a:spcAft>
                <a:spcPct val="0"/>
              </a:spcAft>
              <a:buChar char="»"/>
              <a:defRPr sz="2400">
                <a:solidFill>
                  <a:schemeClr val="tx1"/>
                </a:solidFill>
                <a:latin typeface="+mn-lt"/>
              </a:defRPr>
            </a:lvl5pPr>
            <a:lvl6pPr marL="3017520" indent="-274320" algn="l" rtl="0" fontAlgn="base">
              <a:spcBef>
                <a:spcPct val="20000"/>
              </a:spcBef>
              <a:spcAft>
                <a:spcPct val="0"/>
              </a:spcAft>
              <a:buChar char="»"/>
              <a:defRPr sz="2400">
                <a:solidFill>
                  <a:schemeClr val="tx1"/>
                </a:solidFill>
                <a:latin typeface="+mn-lt"/>
              </a:defRPr>
            </a:lvl6pPr>
            <a:lvl7pPr marL="3566160" indent="-274320" algn="l" rtl="0" fontAlgn="base">
              <a:spcBef>
                <a:spcPct val="20000"/>
              </a:spcBef>
              <a:spcAft>
                <a:spcPct val="0"/>
              </a:spcAft>
              <a:buChar char="»"/>
              <a:defRPr sz="2400">
                <a:solidFill>
                  <a:schemeClr val="tx1"/>
                </a:solidFill>
                <a:latin typeface="+mn-lt"/>
              </a:defRPr>
            </a:lvl7pPr>
            <a:lvl8pPr marL="4114800" indent="-274320" algn="l" rtl="0" fontAlgn="base">
              <a:spcBef>
                <a:spcPct val="20000"/>
              </a:spcBef>
              <a:spcAft>
                <a:spcPct val="0"/>
              </a:spcAft>
              <a:buChar char="»"/>
              <a:defRPr sz="2400">
                <a:solidFill>
                  <a:schemeClr val="tx1"/>
                </a:solidFill>
                <a:latin typeface="+mn-lt"/>
              </a:defRPr>
            </a:lvl8pPr>
            <a:lvl9pPr marL="4663440" indent="-274320" algn="l" rtl="0" fontAlgn="base">
              <a:spcBef>
                <a:spcPct val="20000"/>
              </a:spcBef>
              <a:spcAft>
                <a:spcPct val="0"/>
              </a:spcAft>
              <a:buChar char="»"/>
              <a:defRPr sz="2400">
                <a:solidFill>
                  <a:schemeClr val="tx1"/>
                </a:solidFill>
                <a:latin typeface="+mn-lt"/>
              </a:defRPr>
            </a:lvl9pPr>
          </a:lstStyle>
          <a:p>
            <a:pPr>
              <a:spcBef>
                <a:spcPts val="0"/>
              </a:spcBef>
              <a:spcAft>
                <a:spcPts val="600"/>
              </a:spcAft>
            </a:pPr>
            <a:r>
              <a:rPr lang="en-US" sz="3200" kern="0" dirty="0"/>
              <a:t>Separate memories and busses for program and data (Harvard Architecture)</a:t>
            </a:r>
          </a:p>
          <a:p>
            <a:pPr>
              <a:spcBef>
                <a:spcPts val="0"/>
              </a:spcBef>
              <a:spcAft>
                <a:spcPts val="600"/>
              </a:spcAft>
            </a:pPr>
            <a:r>
              <a:rPr lang="en-US" sz="3200" kern="0" dirty="0"/>
              <a:t>Instructions in program memory are executed with single-level pipelining</a:t>
            </a:r>
          </a:p>
          <a:p>
            <a:pPr>
              <a:spcBef>
                <a:spcPts val="0"/>
              </a:spcBef>
              <a:spcAft>
                <a:spcPts val="600"/>
              </a:spcAft>
            </a:pPr>
            <a:r>
              <a:rPr lang="en-US" sz="3200" kern="0" dirty="0"/>
              <a:t>The next instruction is pre-fetched from program memory while previous instruction is being executed</a:t>
            </a:r>
          </a:p>
          <a:p>
            <a:pPr>
              <a:spcBef>
                <a:spcPts val="0"/>
              </a:spcBef>
              <a:spcAft>
                <a:spcPts val="600"/>
              </a:spcAft>
            </a:pPr>
            <a:r>
              <a:rPr lang="en-US" sz="3200" kern="0" dirty="0"/>
              <a:t>Instructions are executed every clock cycle</a:t>
            </a:r>
          </a:p>
          <a:p>
            <a:pPr>
              <a:spcBef>
                <a:spcPts val="0"/>
              </a:spcBef>
              <a:spcAft>
                <a:spcPts val="600"/>
              </a:spcAft>
            </a:pPr>
            <a:r>
              <a:rPr lang="en-US" sz="3200" kern="0" dirty="0"/>
              <a:t>Program counter points towards the next instruction to be executed</a:t>
            </a:r>
          </a:p>
        </p:txBody>
      </p:sp>
      <p:sp>
        <p:nvSpPr>
          <p:cNvPr id="5" name="Rectangle 4"/>
          <p:cNvSpPr/>
          <p:nvPr/>
        </p:nvSpPr>
        <p:spPr>
          <a:xfrm>
            <a:off x="10591800" y="952500"/>
            <a:ext cx="2743200" cy="2781300"/>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Tree>
    <p:extLst>
      <p:ext uri="{BB962C8B-B14F-4D97-AF65-F5344CB8AC3E}">
        <p14:creationId xmlns:p14="http://schemas.microsoft.com/office/powerpoint/2010/main" val="413014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4">
                                            <p:txEl>
                                              <p:pRg st="0" end="0"/>
                                            </p:txEl>
                                          </p:spTgt>
                                        </p:tgtEl>
                                        <p:attrNameLst>
                                          <p:attrName>style.color</p:attrName>
                                        </p:attrNameLst>
                                      </p:cBhvr>
                                      <p:to>
                                        <a:srgbClr val="FF0000"/>
                                      </p:to>
                                    </p:animClr>
                                    <p:animClr clrSpc="rgb" dir="cw">
                                      <p:cBhvr>
                                        <p:cTn id="7" dur="500" fill="hold"/>
                                        <p:tgtEl>
                                          <p:spTgt spid="4">
                                            <p:txEl>
                                              <p:pRg st="0" end="0"/>
                                            </p:txEl>
                                          </p:spTgt>
                                        </p:tgtEl>
                                        <p:attrNameLst>
                                          <p:attrName>fillcolor</p:attrName>
                                        </p:attrNameLst>
                                      </p:cBhvr>
                                      <p:to>
                                        <a:srgbClr val="FF0000"/>
                                      </p:to>
                                    </p:animClr>
                                    <p:set>
                                      <p:cBhvr>
                                        <p:cTn id="8" dur="500" fill="hold"/>
                                        <p:tgtEl>
                                          <p:spTgt spid="4">
                                            <p:txEl>
                                              <p:pRg st="0" end="0"/>
                                            </p:txEl>
                                          </p:spTgt>
                                        </p:tgtEl>
                                        <p:attrNameLst>
                                          <p:attrName>fill.type</p:attrName>
                                        </p:attrNameLst>
                                      </p:cBhvr>
                                      <p:to>
                                        <p:strVal val="solid"/>
                                      </p:to>
                                    </p:set>
                                    <p:set>
                                      <p:cBhvr>
                                        <p:cTn id="9" dur="500" fill="hold"/>
                                        <p:tgtEl>
                                          <p:spTgt spid="4">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4">
                                            <p:txEl>
                                              <p:pRg st="1" end="1"/>
                                            </p:txEl>
                                          </p:spTgt>
                                        </p:tgtEl>
                                        <p:attrNameLst>
                                          <p:attrName>style.color</p:attrName>
                                        </p:attrNameLst>
                                      </p:cBhvr>
                                      <p:to>
                                        <a:srgbClr val="FF0000"/>
                                      </p:to>
                                    </p:animClr>
                                    <p:animClr clrSpc="rgb" dir="cw">
                                      <p:cBhvr>
                                        <p:cTn id="14" dur="500" fill="hold"/>
                                        <p:tgtEl>
                                          <p:spTgt spid="4">
                                            <p:txEl>
                                              <p:pRg st="1" end="1"/>
                                            </p:txEl>
                                          </p:spTgt>
                                        </p:tgtEl>
                                        <p:attrNameLst>
                                          <p:attrName>fillcolor</p:attrName>
                                        </p:attrNameLst>
                                      </p:cBhvr>
                                      <p:to>
                                        <a:srgbClr val="FF0000"/>
                                      </p:to>
                                    </p:animClr>
                                    <p:set>
                                      <p:cBhvr>
                                        <p:cTn id="15" dur="500" fill="hold"/>
                                        <p:tgtEl>
                                          <p:spTgt spid="4">
                                            <p:txEl>
                                              <p:pRg st="1" end="1"/>
                                            </p:txEl>
                                          </p:spTgt>
                                        </p:tgtEl>
                                        <p:attrNameLst>
                                          <p:attrName>fill.type</p:attrName>
                                        </p:attrNameLst>
                                      </p:cBhvr>
                                      <p:to>
                                        <p:strVal val="solid"/>
                                      </p:to>
                                    </p:set>
                                    <p:set>
                                      <p:cBhvr>
                                        <p:cTn id="16" dur="500" fill="hold"/>
                                        <p:tgtEl>
                                          <p:spTgt spid="4">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4">
                                            <p:txEl>
                                              <p:pRg st="2" end="2"/>
                                            </p:txEl>
                                          </p:spTgt>
                                        </p:tgtEl>
                                        <p:attrNameLst>
                                          <p:attrName>style.color</p:attrName>
                                        </p:attrNameLst>
                                      </p:cBhvr>
                                      <p:to>
                                        <a:srgbClr val="FF0000"/>
                                      </p:to>
                                    </p:animClr>
                                    <p:animClr clrSpc="rgb" dir="cw">
                                      <p:cBhvr>
                                        <p:cTn id="21" dur="500" fill="hold"/>
                                        <p:tgtEl>
                                          <p:spTgt spid="4">
                                            <p:txEl>
                                              <p:pRg st="2" end="2"/>
                                            </p:txEl>
                                          </p:spTgt>
                                        </p:tgtEl>
                                        <p:attrNameLst>
                                          <p:attrName>fillcolor</p:attrName>
                                        </p:attrNameLst>
                                      </p:cBhvr>
                                      <p:to>
                                        <a:srgbClr val="FF0000"/>
                                      </p:to>
                                    </p:animClr>
                                    <p:set>
                                      <p:cBhvr>
                                        <p:cTn id="22" dur="500" fill="hold"/>
                                        <p:tgtEl>
                                          <p:spTgt spid="4">
                                            <p:txEl>
                                              <p:pRg st="2" end="2"/>
                                            </p:txEl>
                                          </p:spTgt>
                                        </p:tgtEl>
                                        <p:attrNameLst>
                                          <p:attrName>fill.type</p:attrName>
                                        </p:attrNameLst>
                                      </p:cBhvr>
                                      <p:to>
                                        <p:strVal val="solid"/>
                                      </p:to>
                                    </p:set>
                                    <p:set>
                                      <p:cBhvr>
                                        <p:cTn id="23" dur="500" fill="hold"/>
                                        <p:tgtEl>
                                          <p:spTgt spid="4">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4">
                                            <p:txEl>
                                              <p:pRg st="3" end="3"/>
                                            </p:txEl>
                                          </p:spTgt>
                                        </p:tgtEl>
                                        <p:attrNameLst>
                                          <p:attrName>style.color</p:attrName>
                                        </p:attrNameLst>
                                      </p:cBhvr>
                                      <p:to>
                                        <a:srgbClr val="FF0000"/>
                                      </p:to>
                                    </p:animClr>
                                    <p:animClr clrSpc="rgb" dir="cw">
                                      <p:cBhvr>
                                        <p:cTn id="28" dur="500" fill="hold"/>
                                        <p:tgtEl>
                                          <p:spTgt spid="4">
                                            <p:txEl>
                                              <p:pRg st="3" end="3"/>
                                            </p:txEl>
                                          </p:spTgt>
                                        </p:tgtEl>
                                        <p:attrNameLst>
                                          <p:attrName>fillcolor</p:attrName>
                                        </p:attrNameLst>
                                      </p:cBhvr>
                                      <p:to>
                                        <a:srgbClr val="FF0000"/>
                                      </p:to>
                                    </p:animClr>
                                    <p:set>
                                      <p:cBhvr>
                                        <p:cTn id="29" dur="500" fill="hold"/>
                                        <p:tgtEl>
                                          <p:spTgt spid="4">
                                            <p:txEl>
                                              <p:pRg st="3" end="3"/>
                                            </p:txEl>
                                          </p:spTgt>
                                        </p:tgtEl>
                                        <p:attrNameLst>
                                          <p:attrName>fill.type</p:attrName>
                                        </p:attrNameLst>
                                      </p:cBhvr>
                                      <p:to>
                                        <p:strVal val="solid"/>
                                      </p:to>
                                    </p:set>
                                    <p:set>
                                      <p:cBhvr>
                                        <p:cTn id="30" dur="500" fill="hold"/>
                                        <p:tgtEl>
                                          <p:spTgt spid="4">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4">
                                            <p:txEl>
                                              <p:pRg st="4" end="4"/>
                                            </p:txEl>
                                          </p:spTgt>
                                        </p:tgtEl>
                                        <p:attrNameLst>
                                          <p:attrName>style.color</p:attrName>
                                        </p:attrNameLst>
                                      </p:cBhvr>
                                      <p:to>
                                        <a:srgbClr val="FF0000"/>
                                      </p:to>
                                    </p:animClr>
                                    <p:animClr clrSpc="rgb" dir="cw">
                                      <p:cBhvr>
                                        <p:cTn id="35" dur="500" fill="hold"/>
                                        <p:tgtEl>
                                          <p:spTgt spid="4">
                                            <p:txEl>
                                              <p:pRg st="4" end="4"/>
                                            </p:txEl>
                                          </p:spTgt>
                                        </p:tgtEl>
                                        <p:attrNameLst>
                                          <p:attrName>fillcolor</p:attrName>
                                        </p:attrNameLst>
                                      </p:cBhvr>
                                      <p:to>
                                        <a:srgbClr val="FF0000"/>
                                      </p:to>
                                    </p:animClr>
                                    <p:set>
                                      <p:cBhvr>
                                        <p:cTn id="36" dur="500" fill="hold"/>
                                        <p:tgtEl>
                                          <p:spTgt spid="4">
                                            <p:txEl>
                                              <p:pRg st="4" end="4"/>
                                            </p:txEl>
                                          </p:spTgt>
                                        </p:tgtEl>
                                        <p:attrNameLst>
                                          <p:attrName>fill.type</p:attrName>
                                        </p:attrNameLst>
                                      </p:cBhvr>
                                      <p:to>
                                        <p:strVal val="solid"/>
                                      </p:to>
                                    </p:set>
                                    <p:set>
                                      <p:cBhvr>
                                        <p:cTn id="37" dur="500" fill="hold"/>
                                        <p:tgtEl>
                                          <p:spTgt spid="4">
                                            <p:txEl>
                                              <p:pRg st="4" end="4"/>
                                            </p:txEl>
                                          </p:spTgt>
                                        </p:tgtEl>
                                        <p:attrNameLst>
                                          <p:attrName>fill.on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heel(1)">
                                      <p:cBhvr>
                                        <p:cTn id="4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0210800" y="457200"/>
            <a:ext cx="6172200" cy="7467600"/>
          </a:xfrm>
          <a:prstGeom prst="rect">
            <a:avLst/>
          </a:prstGeom>
        </p:spPr>
      </p:pic>
      <p:sp>
        <p:nvSpPr>
          <p:cNvPr id="3" name="Rectangle 2"/>
          <p:cNvSpPr/>
          <p:nvPr/>
        </p:nvSpPr>
        <p:spPr>
          <a:xfrm>
            <a:off x="990600" y="228600"/>
            <a:ext cx="9448800" cy="769441"/>
          </a:xfrm>
          <a:prstGeom prst="rect">
            <a:avLst/>
          </a:prstGeom>
        </p:spPr>
        <p:txBody>
          <a:bodyPr wrap="square">
            <a:spAutoFit/>
          </a:bodyPr>
          <a:lstStyle/>
          <a:p>
            <a:pPr algn="ctr"/>
            <a:r>
              <a:rPr lang="en-US" sz="4400" b="1" dirty="0">
                <a:latin typeface="+mj-lt"/>
              </a:rPr>
              <a:t>ALU Instructions</a:t>
            </a:r>
          </a:p>
        </p:txBody>
      </p:sp>
      <p:sp>
        <p:nvSpPr>
          <p:cNvPr id="4" name="Content Placeholder 3"/>
          <p:cNvSpPr txBox="1">
            <a:spLocks/>
          </p:cNvSpPr>
          <p:nvPr/>
        </p:nvSpPr>
        <p:spPr>
          <a:xfrm>
            <a:off x="152400" y="1676400"/>
            <a:ext cx="10287000" cy="5638800"/>
          </a:xfrm>
          <a:prstGeom prst="rect">
            <a:avLst/>
          </a:prstGeom>
        </p:spPr>
        <p:txBody>
          <a:bodyPr>
            <a:noAutofit/>
          </a:bodyPr>
          <a:lstStyle>
            <a:lvl1pPr marL="546100" indent="-5461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n-ea"/>
                <a:cs typeface="+mn-cs"/>
              </a:defRPr>
            </a:lvl1pPr>
            <a:lvl2pPr marL="1025525" indent="-342900" algn="l" rtl="0" eaLnBrk="0" fontAlgn="base" hangingPunct="0">
              <a:spcBef>
                <a:spcPct val="20000"/>
              </a:spcBef>
              <a:spcAft>
                <a:spcPct val="0"/>
              </a:spcAft>
              <a:buChar char="–"/>
              <a:defRPr sz="2800">
                <a:solidFill>
                  <a:schemeClr val="tx1"/>
                </a:solidFill>
                <a:latin typeface="+mn-lt"/>
              </a:defRPr>
            </a:lvl2pPr>
            <a:lvl3pPr marL="1438275" indent="-273050" algn="l" rtl="0" eaLnBrk="0" fontAlgn="base" hangingPunct="0">
              <a:spcBef>
                <a:spcPct val="20000"/>
              </a:spcBef>
              <a:spcAft>
                <a:spcPct val="0"/>
              </a:spcAft>
              <a:buChar char="•"/>
              <a:defRPr sz="2800">
                <a:solidFill>
                  <a:schemeClr val="tx1"/>
                </a:solidFill>
                <a:latin typeface="+mn-lt"/>
              </a:defRPr>
            </a:lvl3pPr>
            <a:lvl4pPr marL="1919288" indent="-273050" algn="l" rtl="0" eaLnBrk="0" fontAlgn="base" hangingPunct="0">
              <a:spcBef>
                <a:spcPct val="20000"/>
              </a:spcBef>
              <a:spcAft>
                <a:spcPct val="0"/>
              </a:spcAft>
              <a:buChar char="–"/>
              <a:defRPr sz="2400">
                <a:solidFill>
                  <a:schemeClr val="tx1"/>
                </a:solidFill>
                <a:latin typeface="+mn-lt"/>
              </a:defRPr>
            </a:lvl4pPr>
            <a:lvl5pPr marL="2468563" indent="-273050" algn="l" rtl="0" eaLnBrk="0" fontAlgn="base" hangingPunct="0">
              <a:spcBef>
                <a:spcPct val="20000"/>
              </a:spcBef>
              <a:spcAft>
                <a:spcPct val="0"/>
              </a:spcAft>
              <a:buChar char="»"/>
              <a:defRPr sz="2400">
                <a:solidFill>
                  <a:schemeClr val="tx1"/>
                </a:solidFill>
                <a:latin typeface="+mn-lt"/>
              </a:defRPr>
            </a:lvl5pPr>
            <a:lvl6pPr marL="3017520" indent="-274320" algn="l" rtl="0" fontAlgn="base">
              <a:spcBef>
                <a:spcPct val="20000"/>
              </a:spcBef>
              <a:spcAft>
                <a:spcPct val="0"/>
              </a:spcAft>
              <a:buChar char="»"/>
              <a:defRPr sz="2400">
                <a:solidFill>
                  <a:schemeClr val="tx1"/>
                </a:solidFill>
                <a:latin typeface="+mn-lt"/>
              </a:defRPr>
            </a:lvl6pPr>
            <a:lvl7pPr marL="3566160" indent="-274320" algn="l" rtl="0" fontAlgn="base">
              <a:spcBef>
                <a:spcPct val="20000"/>
              </a:spcBef>
              <a:spcAft>
                <a:spcPct val="0"/>
              </a:spcAft>
              <a:buChar char="»"/>
              <a:defRPr sz="2400">
                <a:solidFill>
                  <a:schemeClr val="tx1"/>
                </a:solidFill>
                <a:latin typeface="+mn-lt"/>
              </a:defRPr>
            </a:lvl7pPr>
            <a:lvl8pPr marL="4114800" indent="-274320" algn="l" rtl="0" fontAlgn="base">
              <a:spcBef>
                <a:spcPct val="20000"/>
              </a:spcBef>
              <a:spcAft>
                <a:spcPct val="0"/>
              </a:spcAft>
              <a:buChar char="»"/>
              <a:defRPr sz="2400">
                <a:solidFill>
                  <a:schemeClr val="tx1"/>
                </a:solidFill>
                <a:latin typeface="+mn-lt"/>
              </a:defRPr>
            </a:lvl8pPr>
            <a:lvl9pPr marL="4663440" indent="-274320" algn="l" rtl="0" fontAlgn="base">
              <a:spcBef>
                <a:spcPct val="20000"/>
              </a:spcBef>
              <a:spcAft>
                <a:spcPct val="0"/>
              </a:spcAft>
              <a:buChar char="»"/>
              <a:defRPr sz="2400">
                <a:solidFill>
                  <a:schemeClr val="tx1"/>
                </a:solidFill>
                <a:latin typeface="+mn-lt"/>
              </a:defRPr>
            </a:lvl9pPr>
          </a:lstStyle>
          <a:p>
            <a:pPr>
              <a:spcBef>
                <a:spcPts val="0"/>
              </a:spcBef>
              <a:spcAft>
                <a:spcPts val="600"/>
              </a:spcAft>
            </a:pPr>
            <a:r>
              <a:rPr lang="en-US" sz="3200" kern="0" dirty="0"/>
              <a:t>ALU supports both arithmetic and logic operations between:</a:t>
            </a:r>
          </a:p>
          <a:p>
            <a:pPr lvl="1">
              <a:spcBef>
                <a:spcPts val="0"/>
              </a:spcBef>
              <a:spcAft>
                <a:spcPts val="600"/>
              </a:spcAft>
              <a:buFont typeface="Wingdings" panose="05000000000000000000" pitchFamily="2" charset="2"/>
              <a:buChar char="§"/>
            </a:pPr>
            <a:r>
              <a:rPr lang="en-US" sz="3200" kern="0" dirty="0"/>
              <a:t>Registers</a:t>
            </a:r>
          </a:p>
          <a:p>
            <a:pPr lvl="1">
              <a:spcBef>
                <a:spcPts val="0"/>
              </a:spcBef>
              <a:spcAft>
                <a:spcPts val="600"/>
              </a:spcAft>
              <a:buFont typeface="Wingdings" panose="05000000000000000000" pitchFamily="2" charset="2"/>
              <a:buChar char="§"/>
            </a:pPr>
            <a:r>
              <a:rPr lang="en-US" sz="3200" kern="0" dirty="0"/>
              <a:t>A constant and a register</a:t>
            </a:r>
          </a:p>
          <a:p>
            <a:pPr>
              <a:spcBef>
                <a:spcPts val="0"/>
              </a:spcBef>
              <a:spcAft>
                <a:spcPts val="600"/>
              </a:spcAft>
            </a:pPr>
            <a:r>
              <a:rPr lang="en-US" sz="3200" kern="0" dirty="0"/>
              <a:t>Single register operations can also be executed</a:t>
            </a:r>
          </a:p>
          <a:p>
            <a:pPr>
              <a:spcBef>
                <a:spcPts val="0"/>
              </a:spcBef>
              <a:spcAft>
                <a:spcPts val="600"/>
              </a:spcAft>
            </a:pPr>
            <a:r>
              <a:rPr lang="en-US" sz="3200" kern="0" dirty="0"/>
              <a:t>Status register updated after arithmetic operations to reflect information about the operation</a:t>
            </a:r>
          </a:p>
          <a:p>
            <a:pPr>
              <a:spcBef>
                <a:spcPts val="0"/>
              </a:spcBef>
              <a:spcAft>
                <a:spcPts val="600"/>
              </a:spcAft>
            </a:pPr>
            <a:r>
              <a:rPr lang="en-US" sz="3200" kern="0" dirty="0"/>
              <a:t>In typical ALU operations, in a single clock cycle:</a:t>
            </a:r>
          </a:p>
          <a:p>
            <a:pPr lvl="1">
              <a:spcBef>
                <a:spcPts val="0"/>
              </a:spcBef>
              <a:spcAft>
                <a:spcPts val="600"/>
              </a:spcAft>
              <a:buFont typeface="Wingdings" panose="05000000000000000000" pitchFamily="2" charset="2"/>
              <a:buChar char="§"/>
            </a:pPr>
            <a:r>
              <a:rPr lang="en-US" sz="3200" kern="0" dirty="0"/>
              <a:t>Operation is executed</a:t>
            </a:r>
          </a:p>
          <a:p>
            <a:pPr lvl="1">
              <a:spcBef>
                <a:spcPts val="0"/>
              </a:spcBef>
              <a:spcAft>
                <a:spcPts val="600"/>
              </a:spcAft>
              <a:buFont typeface="Wingdings" panose="05000000000000000000" pitchFamily="2" charset="2"/>
              <a:buChar char="§"/>
            </a:pPr>
            <a:r>
              <a:rPr lang="en-US" sz="3200" kern="0" dirty="0"/>
              <a:t>Result is stored back in the register</a:t>
            </a:r>
          </a:p>
        </p:txBody>
      </p:sp>
      <p:sp>
        <p:nvSpPr>
          <p:cNvPr id="5" name="Rectangle 4"/>
          <p:cNvSpPr/>
          <p:nvPr/>
        </p:nvSpPr>
        <p:spPr>
          <a:xfrm>
            <a:off x="13296900" y="1726532"/>
            <a:ext cx="1409700" cy="2693068"/>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Tree>
    <p:extLst>
      <p:ext uri="{BB962C8B-B14F-4D97-AF65-F5344CB8AC3E}">
        <p14:creationId xmlns:p14="http://schemas.microsoft.com/office/powerpoint/2010/main" val="175006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4">
                                            <p:txEl>
                                              <p:pRg st="0" end="0"/>
                                            </p:txEl>
                                          </p:spTgt>
                                        </p:tgtEl>
                                        <p:attrNameLst>
                                          <p:attrName>style.color</p:attrName>
                                        </p:attrNameLst>
                                      </p:cBhvr>
                                      <p:to>
                                        <a:srgbClr val="FF0000"/>
                                      </p:to>
                                    </p:animClr>
                                    <p:animClr clrSpc="rgb" dir="cw">
                                      <p:cBhvr>
                                        <p:cTn id="7" dur="500" fill="hold"/>
                                        <p:tgtEl>
                                          <p:spTgt spid="4">
                                            <p:txEl>
                                              <p:pRg st="0" end="0"/>
                                            </p:txEl>
                                          </p:spTgt>
                                        </p:tgtEl>
                                        <p:attrNameLst>
                                          <p:attrName>fillcolor</p:attrName>
                                        </p:attrNameLst>
                                      </p:cBhvr>
                                      <p:to>
                                        <a:srgbClr val="FF0000"/>
                                      </p:to>
                                    </p:animClr>
                                    <p:set>
                                      <p:cBhvr>
                                        <p:cTn id="8" dur="500" fill="hold"/>
                                        <p:tgtEl>
                                          <p:spTgt spid="4">
                                            <p:txEl>
                                              <p:pRg st="0" end="0"/>
                                            </p:txEl>
                                          </p:spTgt>
                                        </p:tgtEl>
                                        <p:attrNameLst>
                                          <p:attrName>fill.type</p:attrName>
                                        </p:attrNameLst>
                                      </p:cBhvr>
                                      <p:to>
                                        <p:strVal val="solid"/>
                                      </p:to>
                                    </p:set>
                                    <p:set>
                                      <p:cBhvr>
                                        <p:cTn id="9" dur="500" fill="hold"/>
                                        <p:tgtEl>
                                          <p:spTgt spid="4">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4">
                                            <p:txEl>
                                              <p:pRg st="1" end="1"/>
                                            </p:txEl>
                                          </p:spTgt>
                                        </p:tgtEl>
                                        <p:attrNameLst>
                                          <p:attrName>style.color</p:attrName>
                                        </p:attrNameLst>
                                      </p:cBhvr>
                                      <p:to>
                                        <a:srgbClr val="FF0000"/>
                                      </p:to>
                                    </p:animClr>
                                    <p:animClr clrSpc="rgb" dir="cw">
                                      <p:cBhvr>
                                        <p:cTn id="14" dur="500" fill="hold"/>
                                        <p:tgtEl>
                                          <p:spTgt spid="4">
                                            <p:txEl>
                                              <p:pRg st="1" end="1"/>
                                            </p:txEl>
                                          </p:spTgt>
                                        </p:tgtEl>
                                        <p:attrNameLst>
                                          <p:attrName>fillcolor</p:attrName>
                                        </p:attrNameLst>
                                      </p:cBhvr>
                                      <p:to>
                                        <a:srgbClr val="FF0000"/>
                                      </p:to>
                                    </p:animClr>
                                    <p:set>
                                      <p:cBhvr>
                                        <p:cTn id="15" dur="500" fill="hold"/>
                                        <p:tgtEl>
                                          <p:spTgt spid="4">
                                            <p:txEl>
                                              <p:pRg st="1" end="1"/>
                                            </p:txEl>
                                          </p:spTgt>
                                        </p:tgtEl>
                                        <p:attrNameLst>
                                          <p:attrName>fill.type</p:attrName>
                                        </p:attrNameLst>
                                      </p:cBhvr>
                                      <p:to>
                                        <p:strVal val="solid"/>
                                      </p:to>
                                    </p:set>
                                    <p:set>
                                      <p:cBhvr>
                                        <p:cTn id="16" dur="500" fill="hold"/>
                                        <p:tgtEl>
                                          <p:spTgt spid="4">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4">
                                            <p:txEl>
                                              <p:pRg st="2" end="2"/>
                                            </p:txEl>
                                          </p:spTgt>
                                        </p:tgtEl>
                                        <p:attrNameLst>
                                          <p:attrName>style.color</p:attrName>
                                        </p:attrNameLst>
                                      </p:cBhvr>
                                      <p:to>
                                        <a:srgbClr val="FF0000"/>
                                      </p:to>
                                    </p:animClr>
                                    <p:animClr clrSpc="rgb" dir="cw">
                                      <p:cBhvr>
                                        <p:cTn id="21" dur="500" fill="hold"/>
                                        <p:tgtEl>
                                          <p:spTgt spid="4">
                                            <p:txEl>
                                              <p:pRg st="2" end="2"/>
                                            </p:txEl>
                                          </p:spTgt>
                                        </p:tgtEl>
                                        <p:attrNameLst>
                                          <p:attrName>fillcolor</p:attrName>
                                        </p:attrNameLst>
                                      </p:cBhvr>
                                      <p:to>
                                        <a:srgbClr val="FF0000"/>
                                      </p:to>
                                    </p:animClr>
                                    <p:set>
                                      <p:cBhvr>
                                        <p:cTn id="22" dur="500" fill="hold"/>
                                        <p:tgtEl>
                                          <p:spTgt spid="4">
                                            <p:txEl>
                                              <p:pRg st="2" end="2"/>
                                            </p:txEl>
                                          </p:spTgt>
                                        </p:tgtEl>
                                        <p:attrNameLst>
                                          <p:attrName>fill.type</p:attrName>
                                        </p:attrNameLst>
                                      </p:cBhvr>
                                      <p:to>
                                        <p:strVal val="solid"/>
                                      </p:to>
                                    </p:set>
                                    <p:set>
                                      <p:cBhvr>
                                        <p:cTn id="23" dur="500" fill="hold"/>
                                        <p:tgtEl>
                                          <p:spTgt spid="4">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4">
                                            <p:txEl>
                                              <p:pRg st="3" end="3"/>
                                            </p:txEl>
                                          </p:spTgt>
                                        </p:tgtEl>
                                        <p:attrNameLst>
                                          <p:attrName>style.color</p:attrName>
                                        </p:attrNameLst>
                                      </p:cBhvr>
                                      <p:to>
                                        <a:srgbClr val="FF0000"/>
                                      </p:to>
                                    </p:animClr>
                                    <p:animClr clrSpc="rgb" dir="cw">
                                      <p:cBhvr>
                                        <p:cTn id="28" dur="500" fill="hold"/>
                                        <p:tgtEl>
                                          <p:spTgt spid="4">
                                            <p:txEl>
                                              <p:pRg st="3" end="3"/>
                                            </p:txEl>
                                          </p:spTgt>
                                        </p:tgtEl>
                                        <p:attrNameLst>
                                          <p:attrName>fillcolor</p:attrName>
                                        </p:attrNameLst>
                                      </p:cBhvr>
                                      <p:to>
                                        <a:srgbClr val="FF0000"/>
                                      </p:to>
                                    </p:animClr>
                                    <p:set>
                                      <p:cBhvr>
                                        <p:cTn id="29" dur="500" fill="hold"/>
                                        <p:tgtEl>
                                          <p:spTgt spid="4">
                                            <p:txEl>
                                              <p:pRg st="3" end="3"/>
                                            </p:txEl>
                                          </p:spTgt>
                                        </p:tgtEl>
                                        <p:attrNameLst>
                                          <p:attrName>fill.type</p:attrName>
                                        </p:attrNameLst>
                                      </p:cBhvr>
                                      <p:to>
                                        <p:strVal val="solid"/>
                                      </p:to>
                                    </p:set>
                                    <p:set>
                                      <p:cBhvr>
                                        <p:cTn id="30" dur="500" fill="hold"/>
                                        <p:tgtEl>
                                          <p:spTgt spid="4">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4">
                                            <p:txEl>
                                              <p:pRg st="4" end="4"/>
                                            </p:txEl>
                                          </p:spTgt>
                                        </p:tgtEl>
                                        <p:attrNameLst>
                                          <p:attrName>style.color</p:attrName>
                                        </p:attrNameLst>
                                      </p:cBhvr>
                                      <p:to>
                                        <a:srgbClr val="FF0000"/>
                                      </p:to>
                                    </p:animClr>
                                    <p:animClr clrSpc="rgb" dir="cw">
                                      <p:cBhvr>
                                        <p:cTn id="35" dur="500" fill="hold"/>
                                        <p:tgtEl>
                                          <p:spTgt spid="4">
                                            <p:txEl>
                                              <p:pRg st="4" end="4"/>
                                            </p:txEl>
                                          </p:spTgt>
                                        </p:tgtEl>
                                        <p:attrNameLst>
                                          <p:attrName>fillcolor</p:attrName>
                                        </p:attrNameLst>
                                      </p:cBhvr>
                                      <p:to>
                                        <a:srgbClr val="FF0000"/>
                                      </p:to>
                                    </p:animClr>
                                    <p:set>
                                      <p:cBhvr>
                                        <p:cTn id="36" dur="500" fill="hold"/>
                                        <p:tgtEl>
                                          <p:spTgt spid="4">
                                            <p:txEl>
                                              <p:pRg st="4" end="4"/>
                                            </p:txEl>
                                          </p:spTgt>
                                        </p:tgtEl>
                                        <p:attrNameLst>
                                          <p:attrName>fill.type</p:attrName>
                                        </p:attrNameLst>
                                      </p:cBhvr>
                                      <p:to>
                                        <p:strVal val="solid"/>
                                      </p:to>
                                    </p:set>
                                    <p:set>
                                      <p:cBhvr>
                                        <p:cTn id="37" dur="500" fill="hold"/>
                                        <p:tgtEl>
                                          <p:spTgt spid="4">
                                            <p:txEl>
                                              <p:pRg st="4" end="4"/>
                                            </p:txEl>
                                          </p:spTgt>
                                        </p:tgtEl>
                                        <p:attrNameLst>
                                          <p:attrName>fill.on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19" presetClass="emph" presetSubtype="0" fill="hold" nodeType="clickEffect">
                                  <p:stCondLst>
                                    <p:cond delay="0"/>
                                  </p:stCondLst>
                                  <p:childTnLst>
                                    <p:animClr clrSpc="rgb" dir="cw">
                                      <p:cBhvr override="childStyle">
                                        <p:cTn id="41" dur="500" fill="hold"/>
                                        <p:tgtEl>
                                          <p:spTgt spid="4">
                                            <p:txEl>
                                              <p:pRg st="5" end="5"/>
                                            </p:txEl>
                                          </p:spTgt>
                                        </p:tgtEl>
                                        <p:attrNameLst>
                                          <p:attrName>style.color</p:attrName>
                                        </p:attrNameLst>
                                      </p:cBhvr>
                                      <p:to>
                                        <a:srgbClr val="FF0000"/>
                                      </p:to>
                                    </p:animClr>
                                    <p:animClr clrSpc="rgb" dir="cw">
                                      <p:cBhvr>
                                        <p:cTn id="42" dur="500" fill="hold"/>
                                        <p:tgtEl>
                                          <p:spTgt spid="4">
                                            <p:txEl>
                                              <p:pRg st="5" end="5"/>
                                            </p:txEl>
                                          </p:spTgt>
                                        </p:tgtEl>
                                        <p:attrNameLst>
                                          <p:attrName>fillcolor</p:attrName>
                                        </p:attrNameLst>
                                      </p:cBhvr>
                                      <p:to>
                                        <a:srgbClr val="FF0000"/>
                                      </p:to>
                                    </p:animClr>
                                    <p:set>
                                      <p:cBhvr>
                                        <p:cTn id="43" dur="500" fill="hold"/>
                                        <p:tgtEl>
                                          <p:spTgt spid="4">
                                            <p:txEl>
                                              <p:pRg st="5" end="5"/>
                                            </p:txEl>
                                          </p:spTgt>
                                        </p:tgtEl>
                                        <p:attrNameLst>
                                          <p:attrName>fill.type</p:attrName>
                                        </p:attrNameLst>
                                      </p:cBhvr>
                                      <p:to>
                                        <p:strVal val="solid"/>
                                      </p:to>
                                    </p:set>
                                    <p:set>
                                      <p:cBhvr>
                                        <p:cTn id="44" dur="500" fill="hold"/>
                                        <p:tgtEl>
                                          <p:spTgt spid="4">
                                            <p:txEl>
                                              <p:pRg st="5" end="5"/>
                                            </p:txEl>
                                          </p:spTgt>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9" presetClass="emph" presetSubtype="0" fill="hold" nodeType="clickEffect">
                                  <p:stCondLst>
                                    <p:cond delay="0"/>
                                  </p:stCondLst>
                                  <p:childTnLst>
                                    <p:animClr clrSpc="rgb" dir="cw">
                                      <p:cBhvr override="childStyle">
                                        <p:cTn id="48" dur="500" fill="hold"/>
                                        <p:tgtEl>
                                          <p:spTgt spid="4">
                                            <p:txEl>
                                              <p:pRg st="6" end="6"/>
                                            </p:txEl>
                                          </p:spTgt>
                                        </p:tgtEl>
                                        <p:attrNameLst>
                                          <p:attrName>style.color</p:attrName>
                                        </p:attrNameLst>
                                      </p:cBhvr>
                                      <p:to>
                                        <a:srgbClr val="FF0000"/>
                                      </p:to>
                                    </p:animClr>
                                    <p:animClr clrSpc="rgb" dir="cw">
                                      <p:cBhvr>
                                        <p:cTn id="49" dur="500" fill="hold"/>
                                        <p:tgtEl>
                                          <p:spTgt spid="4">
                                            <p:txEl>
                                              <p:pRg st="6" end="6"/>
                                            </p:txEl>
                                          </p:spTgt>
                                        </p:tgtEl>
                                        <p:attrNameLst>
                                          <p:attrName>fillcolor</p:attrName>
                                        </p:attrNameLst>
                                      </p:cBhvr>
                                      <p:to>
                                        <a:srgbClr val="FF0000"/>
                                      </p:to>
                                    </p:animClr>
                                    <p:set>
                                      <p:cBhvr>
                                        <p:cTn id="50" dur="500" fill="hold"/>
                                        <p:tgtEl>
                                          <p:spTgt spid="4">
                                            <p:txEl>
                                              <p:pRg st="6" end="6"/>
                                            </p:txEl>
                                          </p:spTgt>
                                        </p:tgtEl>
                                        <p:attrNameLst>
                                          <p:attrName>fill.type</p:attrName>
                                        </p:attrNameLst>
                                      </p:cBhvr>
                                      <p:to>
                                        <p:strVal val="solid"/>
                                      </p:to>
                                    </p:set>
                                    <p:set>
                                      <p:cBhvr>
                                        <p:cTn id="51" dur="500" fill="hold"/>
                                        <p:tgtEl>
                                          <p:spTgt spid="4">
                                            <p:txEl>
                                              <p:pRg st="6" end="6"/>
                                            </p:txEl>
                                          </p:spTgt>
                                        </p:tgtEl>
                                        <p:attrNameLst>
                                          <p:attrName>fill.on</p:attrName>
                                        </p:attrNameLst>
                                      </p:cBhvr>
                                      <p:to>
                                        <p:strVal val="true"/>
                                      </p:to>
                                    </p:set>
                                  </p:childTnLst>
                                </p:cTn>
                              </p:par>
                            </p:childTnLst>
                          </p:cTn>
                        </p:par>
                      </p:childTnLst>
                    </p:cTn>
                  </p:par>
                  <p:par>
                    <p:cTn id="52" fill="hold">
                      <p:stCondLst>
                        <p:cond delay="indefinite"/>
                      </p:stCondLst>
                      <p:childTnLst>
                        <p:par>
                          <p:cTn id="53" fill="hold">
                            <p:stCondLst>
                              <p:cond delay="0"/>
                            </p:stCondLst>
                            <p:childTnLst>
                              <p:par>
                                <p:cTn id="54" presetID="19" presetClass="emph" presetSubtype="0" fill="hold" nodeType="clickEffect">
                                  <p:stCondLst>
                                    <p:cond delay="0"/>
                                  </p:stCondLst>
                                  <p:childTnLst>
                                    <p:animClr clrSpc="rgb" dir="cw">
                                      <p:cBhvr override="childStyle">
                                        <p:cTn id="55" dur="500" fill="hold"/>
                                        <p:tgtEl>
                                          <p:spTgt spid="4">
                                            <p:txEl>
                                              <p:pRg st="7" end="7"/>
                                            </p:txEl>
                                          </p:spTgt>
                                        </p:tgtEl>
                                        <p:attrNameLst>
                                          <p:attrName>style.color</p:attrName>
                                        </p:attrNameLst>
                                      </p:cBhvr>
                                      <p:to>
                                        <a:srgbClr val="FF0000"/>
                                      </p:to>
                                    </p:animClr>
                                    <p:animClr clrSpc="rgb" dir="cw">
                                      <p:cBhvr>
                                        <p:cTn id="56" dur="500" fill="hold"/>
                                        <p:tgtEl>
                                          <p:spTgt spid="4">
                                            <p:txEl>
                                              <p:pRg st="7" end="7"/>
                                            </p:txEl>
                                          </p:spTgt>
                                        </p:tgtEl>
                                        <p:attrNameLst>
                                          <p:attrName>fillcolor</p:attrName>
                                        </p:attrNameLst>
                                      </p:cBhvr>
                                      <p:to>
                                        <a:srgbClr val="FF0000"/>
                                      </p:to>
                                    </p:animClr>
                                    <p:set>
                                      <p:cBhvr>
                                        <p:cTn id="57" dur="500" fill="hold"/>
                                        <p:tgtEl>
                                          <p:spTgt spid="4">
                                            <p:txEl>
                                              <p:pRg st="7" end="7"/>
                                            </p:txEl>
                                          </p:spTgt>
                                        </p:tgtEl>
                                        <p:attrNameLst>
                                          <p:attrName>fill.type</p:attrName>
                                        </p:attrNameLst>
                                      </p:cBhvr>
                                      <p:to>
                                        <p:strVal val="solid"/>
                                      </p:to>
                                    </p:set>
                                    <p:set>
                                      <p:cBhvr>
                                        <p:cTn id="58" dur="500" fill="hold"/>
                                        <p:tgtEl>
                                          <p:spTgt spid="4">
                                            <p:txEl>
                                              <p:pRg st="7" end="7"/>
                                            </p:txEl>
                                          </p:spTgt>
                                        </p:tgtEl>
                                        <p:attrNameLst>
                                          <p:attrName>fill.on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21" presetClass="entr" presetSubtype="1"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wheel(1)">
                                      <p:cBhvr>
                                        <p:cTn id="6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0210800" y="457200"/>
            <a:ext cx="6172200" cy="7467600"/>
          </a:xfrm>
          <a:prstGeom prst="rect">
            <a:avLst/>
          </a:prstGeom>
        </p:spPr>
      </p:pic>
      <p:sp>
        <p:nvSpPr>
          <p:cNvPr id="3" name="Rectangle 2"/>
          <p:cNvSpPr/>
          <p:nvPr/>
        </p:nvSpPr>
        <p:spPr>
          <a:xfrm>
            <a:off x="990600" y="228600"/>
            <a:ext cx="9448800" cy="769441"/>
          </a:xfrm>
          <a:prstGeom prst="rect">
            <a:avLst/>
          </a:prstGeom>
        </p:spPr>
        <p:txBody>
          <a:bodyPr wrap="square">
            <a:spAutoFit/>
          </a:bodyPr>
          <a:lstStyle/>
          <a:p>
            <a:pPr algn="ctr"/>
            <a:r>
              <a:rPr lang="en-US" sz="4400" b="1" dirty="0">
                <a:latin typeface="+mj-lt"/>
              </a:rPr>
              <a:t>I/O and Special Functions</a:t>
            </a:r>
          </a:p>
        </p:txBody>
      </p:sp>
      <p:sp>
        <p:nvSpPr>
          <p:cNvPr id="4" name="Content Placeholder 3"/>
          <p:cNvSpPr txBox="1">
            <a:spLocks/>
          </p:cNvSpPr>
          <p:nvPr/>
        </p:nvSpPr>
        <p:spPr>
          <a:xfrm>
            <a:off x="152400" y="1676400"/>
            <a:ext cx="10287000" cy="5638800"/>
          </a:xfrm>
          <a:prstGeom prst="rect">
            <a:avLst/>
          </a:prstGeom>
        </p:spPr>
        <p:txBody>
          <a:bodyPr>
            <a:noAutofit/>
          </a:bodyPr>
          <a:lstStyle>
            <a:lvl1pPr marL="546100" indent="-5461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n-ea"/>
                <a:cs typeface="+mn-cs"/>
              </a:defRPr>
            </a:lvl1pPr>
            <a:lvl2pPr marL="1025525" indent="-342900" algn="l" rtl="0" eaLnBrk="0" fontAlgn="base" hangingPunct="0">
              <a:spcBef>
                <a:spcPct val="20000"/>
              </a:spcBef>
              <a:spcAft>
                <a:spcPct val="0"/>
              </a:spcAft>
              <a:buChar char="–"/>
              <a:defRPr sz="2800">
                <a:solidFill>
                  <a:schemeClr val="tx1"/>
                </a:solidFill>
                <a:latin typeface="+mn-lt"/>
              </a:defRPr>
            </a:lvl2pPr>
            <a:lvl3pPr marL="1438275" indent="-273050" algn="l" rtl="0" eaLnBrk="0" fontAlgn="base" hangingPunct="0">
              <a:spcBef>
                <a:spcPct val="20000"/>
              </a:spcBef>
              <a:spcAft>
                <a:spcPct val="0"/>
              </a:spcAft>
              <a:buChar char="•"/>
              <a:defRPr sz="2800">
                <a:solidFill>
                  <a:schemeClr val="tx1"/>
                </a:solidFill>
                <a:latin typeface="+mn-lt"/>
              </a:defRPr>
            </a:lvl3pPr>
            <a:lvl4pPr marL="1919288" indent="-273050" algn="l" rtl="0" eaLnBrk="0" fontAlgn="base" hangingPunct="0">
              <a:spcBef>
                <a:spcPct val="20000"/>
              </a:spcBef>
              <a:spcAft>
                <a:spcPct val="0"/>
              </a:spcAft>
              <a:buChar char="–"/>
              <a:defRPr sz="2400">
                <a:solidFill>
                  <a:schemeClr val="tx1"/>
                </a:solidFill>
                <a:latin typeface="+mn-lt"/>
              </a:defRPr>
            </a:lvl4pPr>
            <a:lvl5pPr marL="2468563" indent="-273050" algn="l" rtl="0" eaLnBrk="0" fontAlgn="base" hangingPunct="0">
              <a:spcBef>
                <a:spcPct val="20000"/>
              </a:spcBef>
              <a:spcAft>
                <a:spcPct val="0"/>
              </a:spcAft>
              <a:buChar char="»"/>
              <a:defRPr sz="2400">
                <a:solidFill>
                  <a:schemeClr val="tx1"/>
                </a:solidFill>
                <a:latin typeface="+mn-lt"/>
              </a:defRPr>
            </a:lvl5pPr>
            <a:lvl6pPr marL="3017520" indent="-274320" algn="l" rtl="0" fontAlgn="base">
              <a:spcBef>
                <a:spcPct val="20000"/>
              </a:spcBef>
              <a:spcAft>
                <a:spcPct val="0"/>
              </a:spcAft>
              <a:buChar char="»"/>
              <a:defRPr sz="2400">
                <a:solidFill>
                  <a:schemeClr val="tx1"/>
                </a:solidFill>
                <a:latin typeface="+mn-lt"/>
              </a:defRPr>
            </a:lvl6pPr>
            <a:lvl7pPr marL="3566160" indent="-274320" algn="l" rtl="0" fontAlgn="base">
              <a:spcBef>
                <a:spcPct val="20000"/>
              </a:spcBef>
              <a:spcAft>
                <a:spcPct val="0"/>
              </a:spcAft>
              <a:buChar char="»"/>
              <a:defRPr sz="2400">
                <a:solidFill>
                  <a:schemeClr val="tx1"/>
                </a:solidFill>
                <a:latin typeface="+mn-lt"/>
              </a:defRPr>
            </a:lvl7pPr>
            <a:lvl8pPr marL="4114800" indent="-274320" algn="l" rtl="0" fontAlgn="base">
              <a:spcBef>
                <a:spcPct val="20000"/>
              </a:spcBef>
              <a:spcAft>
                <a:spcPct val="0"/>
              </a:spcAft>
              <a:buChar char="»"/>
              <a:defRPr sz="2400">
                <a:solidFill>
                  <a:schemeClr val="tx1"/>
                </a:solidFill>
                <a:latin typeface="+mn-lt"/>
              </a:defRPr>
            </a:lvl8pPr>
            <a:lvl9pPr marL="4663440" indent="-274320" algn="l" rtl="0" fontAlgn="base">
              <a:spcBef>
                <a:spcPct val="20000"/>
              </a:spcBef>
              <a:spcAft>
                <a:spcPct val="0"/>
              </a:spcAft>
              <a:buChar char="»"/>
              <a:defRPr sz="2400">
                <a:solidFill>
                  <a:schemeClr val="tx1"/>
                </a:solidFill>
                <a:latin typeface="+mn-lt"/>
              </a:defRPr>
            </a:lvl9pPr>
          </a:lstStyle>
          <a:p>
            <a:pPr>
              <a:spcBef>
                <a:spcPts val="0"/>
              </a:spcBef>
              <a:spcAft>
                <a:spcPts val="600"/>
              </a:spcAft>
            </a:pPr>
            <a:r>
              <a:rPr lang="en-US" sz="3200" kern="0" dirty="0"/>
              <a:t>When used as general digital I/O ports, all AVR ports have true read-modify-write functionality.</a:t>
            </a:r>
          </a:p>
          <a:p>
            <a:pPr>
              <a:spcBef>
                <a:spcPts val="0"/>
              </a:spcBef>
              <a:spcAft>
                <a:spcPts val="600"/>
              </a:spcAft>
            </a:pPr>
            <a:r>
              <a:rPr lang="en-US" sz="3200" kern="0" dirty="0"/>
              <a:t>General digital I/O pins are: </a:t>
            </a:r>
          </a:p>
          <a:p>
            <a:pPr lvl="1">
              <a:spcBef>
                <a:spcPts val="0"/>
              </a:spcBef>
              <a:spcAft>
                <a:spcPts val="600"/>
              </a:spcAft>
              <a:buFont typeface="Wingdings" panose="05000000000000000000" pitchFamily="2" charset="2"/>
              <a:buChar char="§"/>
            </a:pPr>
            <a:r>
              <a:rPr lang="en-US" sz="3200" kern="0" dirty="0"/>
              <a:t>Bi-directional</a:t>
            </a:r>
          </a:p>
          <a:p>
            <a:pPr lvl="1">
              <a:spcBef>
                <a:spcPts val="0"/>
              </a:spcBef>
              <a:spcAft>
                <a:spcPts val="600"/>
              </a:spcAft>
              <a:buFont typeface="Wingdings" panose="05000000000000000000" pitchFamily="2" charset="2"/>
              <a:buChar char="§"/>
            </a:pPr>
            <a:r>
              <a:rPr lang="en-US" sz="3200" kern="0" dirty="0"/>
              <a:t>Optional internal pull-ups</a:t>
            </a:r>
          </a:p>
          <a:p>
            <a:pPr lvl="1">
              <a:spcBef>
                <a:spcPts val="0"/>
              </a:spcBef>
              <a:spcAft>
                <a:spcPts val="600"/>
              </a:spcAft>
              <a:buFont typeface="Wingdings" panose="05000000000000000000" pitchFamily="2" charset="2"/>
              <a:buChar char="§"/>
            </a:pPr>
            <a:r>
              <a:rPr lang="en-US" sz="3200" kern="0" dirty="0"/>
              <a:t>When configured as an input pin, pull up resistor is activated</a:t>
            </a:r>
          </a:p>
          <a:p>
            <a:pPr lvl="1">
              <a:spcBef>
                <a:spcPts val="0"/>
              </a:spcBef>
              <a:spcAft>
                <a:spcPts val="600"/>
              </a:spcAft>
              <a:buFont typeface="Wingdings" panose="05000000000000000000" pitchFamily="2" charset="2"/>
              <a:buChar char="§"/>
            </a:pPr>
            <a:r>
              <a:rPr lang="en-US" sz="3200" kern="0" dirty="0"/>
              <a:t>When configured as an output pin, pull up resistor is turned off</a:t>
            </a:r>
          </a:p>
          <a:p>
            <a:pPr>
              <a:spcBef>
                <a:spcPts val="0"/>
              </a:spcBef>
              <a:spcAft>
                <a:spcPts val="600"/>
              </a:spcAft>
            </a:pPr>
            <a:r>
              <a:rPr lang="en-US" sz="3200" kern="0" dirty="0"/>
              <a:t>Most digital I/O pins have alternate functions</a:t>
            </a:r>
          </a:p>
        </p:txBody>
      </p:sp>
      <p:sp>
        <p:nvSpPr>
          <p:cNvPr id="5" name="Rectangle 4"/>
          <p:cNvSpPr/>
          <p:nvPr/>
        </p:nvSpPr>
        <p:spPr>
          <a:xfrm>
            <a:off x="14973300" y="1812758"/>
            <a:ext cx="1409700" cy="4816641"/>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
        <p:nvSpPr>
          <p:cNvPr id="7" name="Rectangle 6"/>
          <p:cNvSpPr/>
          <p:nvPr/>
        </p:nvSpPr>
        <p:spPr>
          <a:xfrm>
            <a:off x="13308932" y="4876800"/>
            <a:ext cx="1409700" cy="2057400"/>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Tree>
    <p:extLst>
      <p:ext uri="{BB962C8B-B14F-4D97-AF65-F5344CB8AC3E}">
        <p14:creationId xmlns:p14="http://schemas.microsoft.com/office/powerpoint/2010/main" val="385800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4">
                                            <p:txEl>
                                              <p:pRg st="0" end="0"/>
                                            </p:txEl>
                                          </p:spTgt>
                                        </p:tgtEl>
                                        <p:attrNameLst>
                                          <p:attrName>style.color</p:attrName>
                                        </p:attrNameLst>
                                      </p:cBhvr>
                                      <p:to>
                                        <a:srgbClr val="FF0000"/>
                                      </p:to>
                                    </p:animClr>
                                    <p:animClr clrSpc="rgb" dir="cw">
                                      <p:cBhvr>
                                        <p:cTn id="7" dur="500" fill="hold"/>
                                        <p:tgtEl>
                                          <p:spTgt spid="4">
                                            <p:txEl>
                                              <p:pRg st="0" end="0"/>
                                            </p:txEl>
                                          </p:spTgt>
                                        </p:tgtEl>
                                        <p:attrNameLst>
                                          <p:attrName>fillcolor</p:attrName>
                                        </p:attrNameLst>
                                      </p:cBhvr>
                                      <p:to>
                                        <a:srgbClr val="FF0000"/>
                                      </p:to>
                                    </p:animClr>
                                    <p:set>
                                      <p:cBhvr>
                                        <p:cTn id="8" dur="500" fill="hold"/>
                                        <p:tgtEl>
                                          <p:spTgt spid="4">
                                            <p:txEl>
                                              <p:pRg st="0" end="0"/>
                                            </p:txEl>
                                          </p:spTgt>
                                        </p:tgtEl>
                                        <p:attrNameLst>
                                          <p:attrName>fill.type</p:attrName>
                                        </p:attrNameLst>
                                      </p:cBhvr>
                                      <p:to>
                                        <p:strVal val="solid"/>
                                      </p:to>
                                    </p:set>
                                    <p:set>
                                      <p:cBhvr>
                                        <p:cTn id="9" dur="500" fill="hold"/>
                                        <p:tgtEl>
                                          <p:spTgt spid="4">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4">
                                            <p:txEl>
                                              <p:pRg st="1" end="1"/>
                                            </p:txEl>
                                          </p:spTgt>
                                        </p:tgtEl>
                                        <p:attrNameLst>
                                          <p:attrName>style.color</p:attrName>
                                        </p:attrNameLst>
                                      </p:cBhvr>
                                      <p:to>
                                        <a:srgbClr val="FF0000"/>
                                      </p:to>
                                    </p:animClr>
                                    <p:animClr clrSpc="rgb" dir="cw">
                                      <p:cBhvr>
                                        <p:cTn id="14" dur="500" fill="hold"/>
                                        <p:tgtEl>
                                          <p:spTgt spid="4">
                                            <p:txEl>
                                              <p:pRg st="1" end="1"/>
                                            </p:txEl>
                                          </p:spTgt>
                                        </p:tgtEl>
                                        <p:attrNameLst>
                                          <p:attrName>fillcolor</p:attrName>
                                        </p:attrNameLst>
                                      </p:cBhvr>
                                      <p:to>
                                        <a:srgbClr val="FF0000"/>
                                      </p:to>
                                    </p:animClr>
                                    <p:set>
                                      <p:cBhvr>
                                        <p:cTn id="15" dur="500" fill="hold"/>
                                        <p:tgtEl>
                                          <p:spTgt spid="4">
                                            <p:txEl>
                                              <p:pRg st="1" end="1"/>
                                            </p:txEl>
                                          </p:spTgt>
                                        </p:tgtEl>
                                        <p:attrNameLst>
                                          <p:attrName>fill.type</p:attrName>
                                        </p:attrNameLst>
                                      </p:cBhvr>
                                      <p:to>
                                        <p:strVal val="solid"/>
                                      </p:to>
                                    </p:set>
                                    <p:set>
                                      <p:cBhvr>
                                        <p:cTn id="16" dur="500" fill="hold"/>
                                        <p:tgtEl>
                                          <p:spTgt spid="4">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4">
                                            <p:txEl>
                                              <p:pRg st="2" end="2"/>
                                            </p:txEl>
                                          </p:spTgt>
                                        </p:tgtEl>
                                        <p:attrNameLst>
                                          <p:attrName>style.color</p:attrName>
                                        </p:attrNameLst>
                                      </p:cBhvr>
                                      <p:to>
                                        <a:srgbClr val="FF0000"/>
                                      </p:to>
                                    </p:animClr>
                                    <p:animClr clrSpc="rgb" dir="cw">
                                      <p:cBhvr>
                                        <p:cTn id="21" dur="500" fill="hold"/>
                                        <p:tgtEl>
                                          <p:spTgt spid="4">
                                            <p:txEl>
                                              <p:pRg st="2" end="2"/>
                                            </p:txEl>
                                          </p:spTgt>
                                        </p:tgtEl>
                                        <p:attrNameLst>
                                          <p:attrName>fillcolor</p:attrName>
                                        </p:attrNameLst>
                                      </p:cBhvr>
                                      <p:to>
                                        <a:srgbClr val="FF0000"/>
                                      </p:to>
                                    </p:animClr>
                                    <p:set>
                                      <p:cBhvr>
                                        <p:cTn id="22" dur="500" fill="hold"/>
                                        <p:tgtEl>
                                          <p:spTgt spid="4">
                                            <p:txEl>
                                              <p:pRg st="2" end="2"/>
                                            </p:txEl>
                                          </p:spTgt>
                                        </p:tgtEl>
                                        <p:attrNameLst>
                                          <p:attrName>fill.type</p:attrName>
                                        </p:attrNameLst>
                                      </p:cBhvr>
                                      <p:to>
                                        <p:strVal val="solid"/>
                                      </p:to>
                                    </p:set>
                                    <p:set>
                                      <p:cBhvr>
                                        <p:cTn id="23" dur="500" fill="hold"/>
                                        <p:tgtEl>
                                          <p:spTgt spid="4">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4">
                                            <p:txEl>
                                              <p:pRg st="3" end="3"/>
                                            </p:txEl>
                                          </p:spTgt>
                                        </p:tgtEl>
                                        <p:attrNameLst>
                                          <p:attrName>style.color</p:attrName>
                                        </p:attrNameLst>
                                      </p:cBhvr>
                                      <p:to>
                                        <a:srgbClr val="FF0000"/>
                                      </p:to>
                                    </p:animClr>
                                    <p:animClr clrSpc="rgb" dir="cw">
                                      <p:cBhvr>
                                        <p:cTn id="28" dur="500" fill="hold"/>
                                        <p:tgtEl>
                                          <p:spTgt spid="4">
                                            <p:txEl>
                                              <p:pRg st="3" end="3"/>
                                            </p:txEl>
                                          </p:spTgt>
                                        </p:tgtEl>
                                        <p:attrNameLst>
                                          <p:attrName>fillcolor</p:attrName>
                                        </p:attrNameLst>
                                      </p:cBhvr>
                                      <p:to>
                                        <a:srgbClr val="FF0000"/>
                                      </p:to>
                                    </p:animClr>
                                    <p:set>
                                      <p:cBhvr>
                                        <p:cTn id="29" dur="500" fill="hold"/>
                                        <p:tgtEl>
                                          <p:spTgt spid="4">
                                            <p:txEl>
                                              <p:pRg st="3" end="3"/>
                                            </p:txEl>
                                          </p:spTgt>
                                        </p:tgtEl>
                                        <p:attrNameLst>
                                          <p:attrName>fill.type</p:attrName>
                                        </p:attrNameLst>
                                      </p:cBhvr>
                                      <p:to>
                                        <p:strVal val="solid"/>
                                      </p:to>
                                    </p:set>
                                    <p:set>
                                      <p:cBhvr>
                                        <p:cTn id="30" dur="500" fill="hold"/>
                                        <p:tgtEl>
                                          <p:spTgt spid="4">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4">
                                            <p:txEl>
                                              <p:pRg st="4" end="4"/>
                                            </p:txEl>
                                          </p:spTgt>
                                        </p:tgtEl>
                                        <p:attrNameLst>
                                          <p:attrName>style.color</p:attrName>
                                        </p:attrNameLst>
                                      </p:cBhvr>
                                      <p:to>
                                        <a:srgbClr val="FF0000"/>
                                      </p:to>
                                    </p:animClr>
                                    <p:animClr clrSpc="rgb" dir="cw">
                                      <p:cBhvr>
                                        <p:cTn id="35" dur="500" fill="hold"/>
                                        <p:tgtEl>
                                          <p:spTgt spid="4">
                                            <p:txEl>
                                              <p:pRg st="4" end="4"/>
                                            </p:txEl>
                                          </p:spTgt>
                                        </p:tgtEl>
                                        <p:attrNameLst>
                                          <p:attrName>fillcolor</p:attrName>
                                        </p:attrNameLst>
                                      </p:cBhvr>
                                      <p:to>
                                        <a:srgbClr val="FF0000"/>
                                      </p:to>
                                    </p:animClr>
                                    <p:set>
                                      <p:cBhvr>
                                        <p:cTn id="36" dur="500" fill="hold"/>
                                        <p:tgtEl>
                                          <p:spTgt spid="4">
                                            <p:txEl>
                                              <p:pRg st="4" end="4"/>
                                            </p:txEl>
                                          </p:spTgt>
                                        </p:tgtEl>
                                        <p:attrNameLst>
                                          <p:attrName>fill.type</p:attrName>
                                        </p:attrNameLst>
                                      </p:cBhvr>
                                      <p:to>
                                        <p:strVal val="solid"/>
                                      </p:to>
                                    </p:set>
                                    <p:set>
                                      <p:cBhvr>
                                        <p:cTn id="37" dur="500" fill="hold"/>
                                        <p:tgtEl>
                                          <p:spTgt spid="4">
                                            <p:txEl>
                                              <p:pRg st="4" end="4"/>
                                            </p:txEl>
                                          </p:spTgt>
                                        </p:tgtEl>
                                        <p:attrNameLst>
                                          <p:attrName>fill.on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19" presetClass="emph" presetSubtype="0" fill="hold" nodeType="clickEffect">
                                  <p:stCondLst>
                                    <p:cond delay="0"/>
                                  </p:stCondLst>
                                  <p:childTnLst>
                                    <p:animClr clrSpc="rgb" dir="cw">
                                      <p:cBhvr override="childStyle">
                                        <p:cTn id="41" dur="500" fill="hold"/>
                                        <p:tgtEl>
                                          <p:spTgt spid="4">
                                            <p:txEl>
                                              <p:pRg st="5" end="5"/>
                                            </p:txEl>
                                          </p:spTgt>
                                        </p:tgtEl>
                                        <p:attrNameLst>
                                          <p:attrName>style.color</p:attrName>
                                        </p:attrNameLst>
                                      </p:cBhvr>
                                      <p:to>
                                        <a:srgbClr val="FF0000"/>
                                      </p:to>
                                    </p:animClr>
                                    <p:animClr clrSpc="rgb" dir="cw">
                                      <p:cBhvr>
                                        <p:cTn id="42" dur="500" fill="hold"/>
                                        <p:tgtEl>
                                          <p:spTgt spid="4">
                                            <p:txEl>
                                              <p:pRg st="5" end="5"/>
                                            </p:txEl>
                                          </p:spTgt>
                                        </p:tgtEl>
                                        <p:attrNameLst>
                                          <p:attrName>fillcolor</p:attrName>
                                        </p:attrNameLst>
                                      </p:cBhvr>
                                      <p:to>
                                        <a:srgbClr val="FF0000"/>
                                      </p:to>
                                    </p:animClr>
                                    <p:set>
                                      <p:cBhvr>
                                        <p:cTn id="43" dur="500" fill="hold"/>
                                        <p:tgtEl>
                                          <p:spTgt spid="4">
                                            <p:txEl>
                                              <p:pRg st="5" end="5"/>
                                            </p:txEl>
                                          </p:spTgt>
                                        </p:tgtEl>
                                        <p:attrNameLst>
                                          <p:attrName>fill.type</p:attrName>
                                        </p:attrNameLst>
                                      </p:cBhvr>
                                      <p:to>
                                        <p:strVal val="solid"/>
                                      </p:to>
                                    </p:set>
                                    <p:set>
                                      <p:cBhvr>
                                        <p:cTn id="44" dur="500" fill="hold"/>
                                        <p:tgtEl>
                                          <p:spTgt spid="4">
                                            <p:txEl>
                                              <p:pRg st="5" end="5"/>
                                            </p:txEl>
                                          </p:spTgt>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9" presetClass="emph" presetSubtype="0" fill="hold" nodeType="clickEffect">
                                  <p:stCondLst>
                                    <p:cond delay="0"/>
                                  </p:stCondLst>
                                  <p:childTnLst>
                                    <p:animClr clrSpc="rgb" dir="cw">
                                      <p:cBhvr override="childStyle">
                                        <p:cTn id="48" dur="500" fill="hold"/>
                                        <p:tgtEl>
                                          <p:spTgt spid="4">
                                            <p:txEl>
                                              <p:pRg st="6" end="6"/>
                                            </p:txEl>
                                          </p:spTgt>
                                        </p:tgtEl>
                                        <p:attrNameLst>
                                          <p:attrName>style.color</p:attrName>
                                        </p:attrNameLst>
                                      </p:cBhvr>
                                      <p:to>
                                        <a:srgbClr val="FF0000"/>
                                      </p:to>
                                    </p:animClr>
                                    <p:animClr clrSpc="rgb" dir="cw">
                                      <p:cBhvr>
                                        <p:cTn id="49" dur="500" fill="hold"/>
                                        <p:tgtEl>
                                          <p:spTgt spid="4">
                                            <p:txEl>
                                              <p:pRg st="6" end="6"/>
                                            </p:txEl>
                                          </p:spTgt>
                                        </p:tgtEl>
                                        <p:attrNameLst>
                                          <p:attrName>fillcolor</p:attrName>
                                        </p:attrNameLst>
                                      </p:cBhvr>
                                      <p:to>
                                        <a:srgbClr val="FF0000"/>
                                      </p:to>
                                    </p:animClr>
                                    <p:set>
                                      <p:cBhvr>
                                        <p:cTn id="50" dur="500" fill="hold"/>
                                        <p:tgtEl>
                                          <p:spTgt spid="4">
                                            <p:txEl>
                                              <p:pRg st="6" end="6"/>
                                            </p:txEl>
                                          </p:spTgt>
                                        </p:tgtEl>
                                        <p:attrNameLst>
                                          <p:attrName>fill.type</p:attrName>
                                        </p:attrNameLst>
                                      </p:cBhvr>
                                      <p:to>
                                        <p:strVal val="solid"/>
                                      </p:to>
                                    </p:set>
                                    <p:set>
                                      <p:cBhvr>
                                        <p:cTn id="51" dur="500" fill="hold"/>
                                        <p:tgtEl>
                                          <p:spTgt spid="4">
                                            <p:txEl>
                                              <p:pRg st="6" end="6"/>
                                            </p:txEl>
                                          </p:spTgt>
                                        </p:tgtEl>
                                        <p:attrNameLst>
                                          <p:attrName>fill.on</p:attrName>
                                        </p:attrNameLst>
                                      </p:cBhvr>
                                      <p:to>
                                        <p:strVal val="true"/>
                                      </p:to>
                                    </p:set>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wheel(1)">
                                      <p:cBhvr>
                                        <p:cTn id="56" dur="2000"/>
                                        <p:tgtEl>
                                          <p:spTgt spid="5"/>
                                        </p:tgtEl>
                                      </p:cBhvr>
                                    </p:animEffect>
                                  </p:childTnLst>
                                </p:cTn>
                              </p:par>
                            </p:childTnLst>
                          </p:cTn>
                        </p:par>
                      </p:childTnLst>
                    </p:cTn>
                  </p:par>
                  <p:par>
                    <p:cTn id="57" fill="hold">
                      <p:stCondLst>
                        <p:cond delay="indefinite"/>
                      </p:stCondLst>
                      <p:childTnLst>
                        <p:par>
                          <p:cTn id="58" fill="hold">
                            <p:stCondLst>
                              <p:cond delay="0"/>
                            </p:stCondLst>
                            <p:childTnLst>
                              <p:par>
                                <p:cTn id="59" presetID="21" presetClass="entr" presetSubtype="1"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heel(1)">
                                      <p:cBhvr>
                                        <p:cTn id="6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3800" y="606504"/>
            <a:ext cx="8686800" cy="719948"/>
          </a:xfrm>
        </p:spPr>
        <p:txBody>
          <a:bodyPr>
            <a:noAutofit/>
          </a:bodyPr>
          <a:lstStyle/>
          <a:p>
            <a:pPr lvl="0"/>
            <a:r>
              <a:rPr lang="en-US" sz="4800" b="1" dirty="0">
                <a:latin typeface="Arial Black" panose="020B0A04020102020204" pitchFamily="34" charset="0"/>
                <a:ea typeface="Times New Roman"/>
                <a:cs typeface="Times New Roman"/>
              </a:rPr>
              <a:t>ATmega328 Memory</a:t>
            </a:r>
            <a:endParaRPr lang="en-US" sz="4800" dirty="0">
              <a:latin typeface="Arial Black" panose="020B0A04020102020204" pitchFamily="34" charset="0"/>
            </a:endParaRPr>
          </a:p>
        </p:txBody>
      </p:sp>
      <p:sp>
        <p:nvSpPr>
          <p:cNvPr id="4" name="Content Placeholder 2"/>
          <p:cNvSpPr txBox="1">
            <a:spLocks/>
          </p:cNvSpPr>
          <p:nvPr/>
        </p:nvSpPr>
        <p:spPr>
          <a:xfrm>
            <a:off x="152400" y="1752600"/>
            <a:ext cx="9067801" cy="5715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00000"/>
              </a:lnSpc>
              <a:spcBef>
                <a:spcPts val="0"/>
              </a:spcBef>
              <a:spcAft>
                <a:spcPts val="0"/>
              </a:spcAft>
              <a:buSzPct val="100000"/>
              <a:buFont typeface="Wingdings" panose="05000000000000000000" pitchFamily="2" charset="2"/>
              <a:buChar char="q"/>
              <a:tabLst>
                <a:tab pos="548640" algn="l"/>
              </a:tabLst>
            </a:pPr>
            <a:r>
              <a:rPr lang="en-US" sz="3200" dirty="0" err="1">
                <a:latin typeface="Arial MT"/>
                <a:ea typeface="Calibri"/>
                <a:cs typeface="Calibri"/>
              </a:rPr>
              <a:t>ATmega</a:t>
            </a:r>
            <a:r>
              <a:rPr lang="en-US" sz="3200" dirty="0">
                <a:latin typeface="Arial MT"/>
                <a:ea typeface="Calibri"/>
                <a:cs typeface="Calibri"/>
              </a:rPr>
              <a:t> 328 has </a:t>
            </a:r>
            <a:r>
              <a:rPr lang="en-US" sz="3200" b="1" dirty="0">
                <a:latin typeface="Arial MT"/>
                <a:ea typeface="Calibri"/>
                <a:cs typeface="Calibri"/>
              </a:rPr>
              <a:t>three types of memories:</a:t>
            </a:r>
            <a:endParaRPr lang="en-US" sz="3200" dirty="0">
              <a:latin typeface="Arial MT"/>
              <a:ea typeface="Times New Roman"/>
            </a:endParaRPr>
          </a:p>
          <a:p>
            <a:pPr lvl="1" indent="-365760">
              <a:lnSpc>
                <a:spcPct val="100000"/>
              </a:lnSpc>
              <a:spcBef>
                <a:spcPts val="0"/>
              </a:spcBef>
              <a:spcAft>
                <a:spcPts val="0"/>
              </a:spcAft>
              <a:buFont typeface="Wingdings" panose="05000000000000000000" pitchFamily="2" charset="2"/>
              <a:buChar char="v"/>
            </a:pPr>
            <a:r>
              <a:rPr lang="en-US" sz="2800" b="1" dirty="0">
                <a:latin typeface="Arial MT"/>
                <a:ea typeface="Times New Roman"/>
              </a:rPr>
              <a:t>Flash Memory (Program Memory)</a:t>
            </a:r>
            <a:r>
              <a:rPr lang="en-US" sz="2800" dirty="0">
                <a:latin typeface="Arial MT"/>
                <a:ea typeface="Times New Roman"/>
              </a:rPr>
              <a:t> has </a:t>
            </a:r>
            <a:r>
              <a:rPr lang="en-US" sz="2800" b="1" dirty="0">
                <a:latin typeface="Arial MT"/>
                <a:ea typeface="Times New Roman"/>
              </a:rPr>
              <a:t>32 KB </a:t>
            </a:r>
            <a:r>
              <a:rPr lang="en-US" sz="2800" dirty="0">
                <a:latin typeface="Arial MT"/>
                <a:ea typeface="Times New Roman"/>
              </a:rPr>
              <a:t>capacity. It has an address of 15 bits. It is a non-volatile memory. It is used for the permanent saving program (CODE) being executed. The AVR executes programs stored in program memory only.</a:t>
            </a:r>
          </a:p>
          <a:p>
            <a:pPr lvl="1" indent="-365760">
              <a:lnSpc>
                <a:spcPct val="100000"/>
              </a:lnSpc>
              <a:spcBef>
                <a:spcPts val="0"/>
              </a:spcBef>
              <a:spcAft>
                <a:spcPts val="0"/>
              </a:spcAft>
              <a:buFont typeface="Wingdings" panose="05000000000000000000" pitchFamily="2" charset="2"/>
              <a:buChar char="v"/>
            </a:pPr>
            <a:r>
              <a:rPr lang="en-US" sz="2800" dirty="0">
                <a:latin typeface="Arial MT"/>
                <a:ea typeface="Times New Roman"/>
              </a:rPr>
              <a:t>SRAM stands for </a:t>
            </a:r>
            <a:r>
              <a:rPr lang="en-US" sz="2800" b="1" dirty="0">
                <a:latin typeface="Arial MT"/>
                <a:ea typeface="Times New Roman"/>
              </a:rPr>
              <a:t>Static Random Access Memory. It is also called Data Memory. It has a 2 KB capacity. </a:t>
            </a:r>
            <a:r>
              <a:rPr lang="en-US" sz="2800" dirty="0">
                <a:latin typeface="Arial MT"/>
                <a:ea typeface="Times New Roman"/>
              </a:rPr>
              <a:t>It is a volatile memory i.e., data will be removed after removing the power supply.</a:t>
            </a:r>
            <a:endParaRPr lang="en-US" sz="3200" dirty="0">
              <a:latin typeface="Arial MT"/>
              <a:ea typeface="Times New Roman"/>
            </a:endParaRPr>
          </a:p>
          <a:p>
            <a:pPr lvl="1" indent="-365760">
              <a:lnSpc>
                <a:spcPct val="100000"/>
              </a:lnSpc>
              <a:spcBef>
                <a:spcPts val="0"/>
              </a:spcBef>
              <a:spcAft>
                <a:spcPts val="0"/>
              </a:spcAft>
              <a:buFont typeface="Wingdings" panose="05000000000000000000" pitchFamily="2" charset="2"/>
              <a:buChar char="v"/>
            </a:pPr>
            <a:r>
              <a:rPr lang="en-US" sz="2800" dirty="0">
                <a:latin typeface="Arial MT"/>
                <a:ea typeface="Times New Roman"/>
              </a:rPr>
              <a:t>EEPROM stands for Electrically Erasable Programmable Read Only Memory. </a:t>
            </a:r>
            <a:r>
              <a:rPr lang="en-US" sz="2800" b="1" dirty="0">
                <a:latin typeface="Arial MT"/>
                <a:ea typeface="Times New Roman"/>
              </a:rPr>
              <a:t>It has a 1 KB capacity.</a:t>
            </a:r>
            <a:r>
              <a:rPr lang="en-US" sz="2800" dirty="0">
                <a:latin typeface="Arial MT"/>
                <a:ea typeface="Times New Roman"/>
              </a:rPr>
              <a:t> </a:t>
            </a:r>
            <a:r>
              <a:rPr lang="en-US" sz="2800" b="1" dirty="0">
                <a:latin typeface="Arial MT"/>
                <a:ea typeface="Times New Roman"/>
              </a:rPr>
              <a:t>It has long-term data.</a:t>
            </a:r>
            <a:endParaRPr lang="en-US" sz="4000" dirty="0">
              <a:latin typeface="Arial MT"/>
            </a:endParaRPr>
          </a:p>
        </p:txBody>
      </p:sp>
      <p:pic>
        <p:nvPicPr>
          <p:cNvPr id="3" name="Picture 2"/>
          <p:cNvPicPr>
            <a:picLocks noChangeAspect="1"/>
          </p:cNvPicPr>
          <p:nvPr/>
        </p:nvPicPr>
        <p:blipFill rotWithShape="1">
          <a:blip r:embed="rId2">
            <a:duotone>
              <a:schemeClr val="accent2">
                <a:shade val="45000"/>
                <a:satMod val="135000"/>
              </a:schemeClr>
              <a:prstClr val="white"/>
            </a:duotone>
          </a:blip>
          <a:srcRect l="2250" t="6250" r="7730"/>
          <a:stretch/>
        </p:blipFill>
        <p:spPr>
          <a:xfrm>
            <a:off x="9067800" y="1676400"/>
            <a:ext cx="7238999" cy="5867400"/>
          </a:xfrm>
          <a:prstGeom prst="rect">
            <a:avLst/>
          </a:prstGeom>
        </p:spPr>
      </p:pic>
    </p:spTree>
    <p:extLst>
      <p:ext uri="{BB962C8B-B14F-4D97-AF65-F5344CB8AC3E}">
        <p14:creationId xmlns:p14="http://schemas.microsoft.com/office/powerpoint/2010/main" val="624226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34560"/>
            <a:ext cx="15316200" cy="937040"/>
          </a:xfrm>
        </p:spPr>
        <p:txBody>
          <a:bodyPr>
            <a:noAutofit/>
          </a:bodyPr>
          <a:lstStyle/>
          <a:p>
            <a:pPr lvl="0"/>
            <a:r>
              <a:rPr lang="en-US" sz="4800" b="1" dirty="0">
                <a:ea typeface="Times New Roman"/>
                <a:cs typeface="Times New Roman"/>
              </a:rPr>
              <a:t>ATmega328 General Purpose Registers</a:t>
            </a:r>
            <a:endParaRPr lang="en-US" sz="4800" dirty="0"/>
          </a:p>
        </p:txBody>
      </p:sp>
      <p:sp>
        <p:nvSpPr>
          <p:cNvPr id="4" name="Rectangle 3"/>
          <p:cNvSpPr/>
          <p:nvPr/>
        </p:nvSpPr>
        <p:spPr>
          <a:xfrm>
            <a:off x="457200" y="1716300"/>
            <a:ext cx="10134600" cy="5386090"/>
          </a:xfrm>
          <a:prstGeom prst="rect">
            <a:avLst/>
          </a:prstGeom>
        </p:spPr>
        <p:txBody>
          <a:bodyPr wrap="square">
            <a:spAutoFit/>
          </a:bodyPr>
          <a:lstStyle/>
          <a:p>
            <a:pPr marL="457200" indent="-457200">
              <a:spcBef>
                <a:spcPts val="0"/>
              </a:spcBef>
              <a:spcAft>
                <a:spcPts val="0"/>
              </a:spcAft>
              <a:buSzPct val="100000"/>
              <a:buFont typeface="Wingdings" panose="05000000000000000000" pitchFamily="2" charset="2"/>
              <a:buChar char="q"/>
              <a:tabLst>
                <a:tab pos="548640" algn="l"/>
              </a:tabLst>
            </a:pPr>
            <a:r>
              <a:rPr lang="en-US" sz="3600" dirty="0">
                <a:solidFill>
                  <a:prstClr val="black"/>
                </a:solidFill>
                <a:latin typeface="Arial MT"/>
                <a:ea typeface="Calibri"/>
                <a:cs typeface="Calibri"/>
              </a:rPr>
              <a:t>ATmega-328 has thirty-two </a:t>
            </a:r>
            <a:r>
              <a:rPr lang="en-US" sz="3600" b="1" dirty="0">
                <a:solidFill>
                  <a:prstClr val="black"/>
                </a:solidFill>
                <a:latin typeface="Arial MT"/>
                <a:ea typeface="Calibri"/>
                <a:cs typeface="Calibri"/>
              </a:rPr>
              <a:t>(32) General Purpose Registers (GPR).</a:t>
            </a:r>
            <a:endParaRPr lang="en-US" sz="3600" b="1" dirty="0">
              <a:solidFill>
                <a:prstClr val="black"/>
              </a:solidFill>
              <a:latin typeface="Arial MT"/>
              <a:ea typeface="Calibri"/>
              <a:cs typeface="Times New Roman"/>
            </a:endParaRPr>
          </a:p>
          <a:p>
            <a:pPr marL="457200" indent="-457200">
              <a:spcBef>
                <a:spcPts val="0"/>
              </a:spcBef>
              <a:spcAft>
                <a:spcPts val="0"/>
              </a:spcAft>
              <a:buSzPct val="100000"/>
              <a:buFont typeface="Wingdings" panose="05000000000000000000" pitchFamily="2" charset="2"/>
              <a:buChar char="q"/>
              <a:tabLst>
                <a:tab pos="548640" algn="l"/>
              </a:tabLst>
            </a:pPr>
            <a:r>
              <a:rPr lang="en-US" sz="3600" dirty="0">
                <a:solidFill>
                  <a:prstClr val="black"/>
                </a:solidFill>
                <a:latin typeface="Arial MT"/>
                <a:ea typeface="Calibri"/>
                <a:cs typeface="Calibri"/>
              </a:rPr>
              <a:t>All these registers are </a:t>
            </a:r>
            <a:r>
              <a:rPr lang="en-US" sz="3600" b="1" dirty="0">
                <a:solidFill>
                  <a:prstClr val="black"/>
                </a:solidFill>
                <a:latin typeface="Arial MT"/>
                <a:ea typeface="Calibri"/>
                <a:cs typeface="Calibri"/>
              </a:rPr>
              <a:t>part of Static Random Access Memory (SRAM).</a:t>
            </a:r>
          </a:p>
          <a:p>
            <a:pPr marL="457200" indent="-457200">
              <a:spcBef>
                <a:spcPts val="0"/>
              </a:spcBef>
              <a:spcAft>
                <a:spcPts val="0"/>
              </a:spcAft>
              <a:buSzPct val="100000"/>
              <a:buFont typeface="Wingdings" panose="05000000000000000000" pitchFamily="2" charset="2"/>
              <a:buChar char="q"/>
              <a:tabLst>
                <a:tab pos="548640" algn="l"/>
              </a:tabLst>
            </a:pPr>
            <a:r>
              <a:rPr lang="en-US" sz="3600" dirty="0">
                <a:solidFill>
                  <a:prstClr val="black"/>
                </a:solidFill>
                <a:latin typeface="Arial MT"/>
                <a:ea typeface="Calibri"/>
                <a:cs typeface="Calibri"/>
              </a:rPr>
              <a:t>These </a:t>
            </a:r>
            <a:r>
              <a:rPr lang="en-US" sz="3600" b="1" dirty="0">
                <a:solidFill>
                  <a:prstClr val="black"/>
                </a:solidFill>
                <a:latin typeface="Arial MT"/>
                <a:ea typeface="Calibri"/>
                <a:cs typeface="Calibri"/>
              </a:rPr>
              <a:t>GPRs</a:t>
            </a:r>
            <a:r>
              <a:rPr lang="en-US" sz="3600" dirty="0">
                <a:solidFill>
                  <a:prstClr val="black"/>
                </a:solidFill>
                <a:latin typeface="Arial MT"/>
                <a:ea typeface="Calibri"/>
                <a:cs typeface="Calibri"/>
              </a:rPr>
              <a:t> are 8-bit in size.</a:t>
            </a:r>
          </a:p>
          <a:p>
            <a:pPr marL="457200" indent="-457200">
              <a:spcBef>
                <a:spcPts val="0"/>
              </a:spcBef>
              <a:spcAft>
                <a:spcPts val="0"/>
              </a:spcAft>
              <a:buSzPct val="100000"/>
              <a:buFont typeface="Wingdings" panose="05000000000000000000" pitchFamily="2" charset="2"/>
              <a:buChar char="q"/>
              <a:tabLst>
                <a:tab pos="548640" algn="l"/>
              </a:tabLst>
            </a:pPr>
            <a:r>
              <a:rPr lang="en-US" sz="3600" dirty="0">
                <a:solidFill>
                  <a:prstClr val="black"/>
                </a:solidFill>
                <a:latin typeface="Arial MT"/>
                <a:ea typeface="Calibri"/>
                <a:cs typeface="Calibri"/>
              </a:rPr>
              <a:t>Most instructions operating on the Register file:</a:t>
            </a:r>
          </a:p>
          <a:p>
            <a:pPr marL="1005840" lvl="1" indent="-457200">
              <a:spcBef>
                <a:spcPts val="0"/>
              </a:spcBef>
              <a:spcAft>
                <a:spcPts val="0"/>
              </a:spcAft>
              <a:buSzPct val="100000"/>
              <a:buFont typeface="Wingdings" panose="05000000000000000000" pitchFamily="2" charset="2"/>
              <a:buChar char="ü"/>
              <a:tabLst>
                <a:tab pos="548640" algn="l"/>
              </a:tabLst>
            </a:pPr>
            <a:r>
              <a:rPr lang="en-US" sz="3600" dirty="0">
                <a:solidFill>
                  <a:prstClr val="black"/>
                </a:solidFill>
                <a:latin typeface="Arial MT"/>
                <a:ea typeface="Calibri"/>
                <a:cs typeface="Calibri"/>
              </a:rPr>
              <a:t>Have direct access to all registers</a:t>
            </a:r>
          </a:p>
          <a:p>
            <a:pPr marL="1005840" lvl="1" indent="-457200">
              <a:spcBef>
                <a:spcPts val="0"/>
              </a:spcBef>
              <a:spcAft>
                <a:spcPts val="0"/>
              </a:spcAft>
              <a:buSzPct val="100000"/>
              <a:buFont typeface="Wingdings" panose="05000000000000000000" pitchFamily="2" charset="2"/>
              <a:buChar char="ü"/>
              <a:tabLst>
                <a:tab pos="548640" algn="l"/>
              </a:tabLst>
            </a:pPr>
            <a:r>
              <a:rPr lang="en-US" sz="3600" dirty="0">
                <a:solidFill>
                  <a:prstClr val="black"/>
                </a:solidFill>
                <a:latin typeface="Arial MT"/>
                <a:ea typeface="Calibri"/>
                <a:cs typeface="Calibri"/>
              </a:rPr>
              <a:t>Most are single-clock cycle execution</a:t>
            </a:r>
            <a:endParaRPr lang="en-US" sz="3600" b="1" dirty="0">
              <a:solidFill>
                <a:prstClr val="black"/>
              </a:solidFill>
              <a:latin typeface="Arial MT"/>
              <a:ea typeface="Calibri"/>
              <a:cs typeface="Times New Roman"/>
            </a:endParaRPr>
          </a:p>
          <a:p>
            <a:pPr marL="411480" indent="-411480">
              <a:spcBef>
                <a:spcPts val="0"/>
              </a:spcBef>
              <a:spcAft>
                <a:spcPts val="0"/>
              </a:spcAft>
              <a:buSzPct val="100000"/>
              <a:buFont typeface="Wingdings" panose="05000000000000000000" pitchFamily="2" charset="2"/>
              <a:buChar char="q"/>
            </a:pPr>
            <a:endParaRPr lang="en-US" sz="2000" b="1" dirty="0">
              <a:solidFill>
                <a:prstClr val="black"/>
              </a:solidFill>
              <a:latin typeface="Arial MT"/>
            </a:endParaRPr>
          </a:p>
        </p:txBody>
      </p:sp>
      <p:pic>
        <p:nvPicPr>
          <p:cNvPr id="5" name="Picture 4"/>
          <p:cNvPicPr>
            <a:picLocks noChangeAspect="1"/>
          </p:cNvPicPr>
          <p:nvPr/>
        </p:nvPicPr>
        <p:blipFill rotWithShape="1">
          <a:blip r:embed="rId2"/>
          <a:srcRect l="1369" r="1369"/>
          <a:stretch/>
        </p:blipFill>
        <p:spPr>
          <a:xfrm>
            <a:off x="10439400" y="1716300"/>
            <a:ext cx="5410200" cy="5751300"/>
          </a:xfrm>
          <a:prstGeom prst="rect">
            <a:avLst/>
          </a:prstGeom>
        </p:spPr>
      </p:pic>
    </p:spTree>
    <p:extLst>
      <p:ext uri="{BB962C8B-B14F-4D97-AF65-F5344CB8AC3E}">
        <p14:creationId xmlns:p14="http://schemas.microsoft.com/office/powerpoint/2010/main" val="4181337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a:xfrm>
            <a:off x="1737362" y="381000"/>
            <a:ext cx="8092438" cy="823912"/>
          </a:xfrm>
        </p:spPr>
        <p:txBody>
          <a:bodyPr/>
          <a:lstStyle/>
          <a:p>
            <a:pPr algn="l"/>
            <a:r>
              <a:rPr lang="en-US" sz="4000" dirty="0"/>
              <a:t>References: </a:t>
            </a:r>
          </a:p>
        </p:txBody>
      </p:sp>
      <p:sp>
        <p:nvSpPr>
          <p:cNvPr id="3" name="Content Placeholder 2">
            <a:extLst>
              <a:ext uri="{FF2B5EF4-FFF2-40B4-BE49-F238E27FC236}">
                <a16:creationId xmlns:a16="http://schemas.microsoft.com/office/drawing/2014/main" id="{90E8A47E-9D4A-4D70-B23A-B0AC3757292F}"/>
              </a:ext>
            </a:extLst>
          </p:cNvPr>
          <p:cNvSpPr>
            <a:spLocks noGrp="1"/>
          </p:cNvSpPr>
          <p:nvPr>
            <p:ph idx="1"/>
          </p:nvPr>
        </p:nvSpPr>
        <p:spPr>
          <a:xfrm>
            <a:off x="228600" y="1752601"/>
            <a:ext cx="15925800" cy="5486400"/>
          </a:xfrm>
        </p:spPr>
        <p:txBody>
          <a:bodyPr>
            <a:normAutofit lnSpcReduction="10000"/>
          </a:bodyPr>
          <a:lstStyle/>
          <a:p>
            <a:pPr marL="411480" indent="-411480" algn="just">
              <a:buFont typeface="+mj-lt"/>
              <a:buAutoNum type="arabicPeriod"/>
            </a:pPr>
            <a:r>
              <a:rPr lang="en-CA" sz="2400" dirty="0">
                <a:latin typeface="Arial" panose="020B0604020202020204" pitchFamily="34" charset="0"/>
                <a:cs typeface="Arial" panose="020B0604020202020204" pitchFamily="34" charset="0"/>
              </a:rPr>
              <a:t>The Intel microprocessors By Barry B. </a:t>
            </a:r>
            <a:r>
              <a:rPr lang="en-CA" sz="2400" dirty="0" err="1">
                <a:latin typeface="Arial" panose="020B0604020202020204" pitchFamily="34" charset="0"/>
                <a:cs typeface="Arial" panose="020B0604020202020204" pitchFamily="34" charset="0"/>
              </a:rPr>
              <a:t>Brey</a:t>
            </a:r>
            <a:endParaRPr lang="en-CA" sz="2400" dirty="0">
              <a:latin typeface="Arial" panose="020B0604020202020204" pitchFamily="34" charset="0"/>
              <a:cs typeface="Arial" panose="020B0604020202020204" pitchFamily="34" charset="0"/>
            </a:endParaRPr>
          </a:p>
          <a:p>
            <a:pPr marL="411480" indent="-411480" algn="just">
              <a:buFont typeface="+mj-lt"/>
              <a:buAutoNum type="arabicPeriod"/>
            </a:pPr>
            <a:r>
              <a:rPr lang="en-CA" sz="2400" dirty="0">
                <a:latin typeface="Arial" panose="020B0604020202020204" pitchFamily="34" charset="0"/>
                <a:cs typeface="Arial" panose="020B0604020202020204" pitchFamily="34" charset="0"/>
              </a:rPr>
              <a:t>Microprocessors and Microcomputer-based System Design By Mohamed </a:t>
            </a:r>
            <a:r>
              <a:rPr lang="en-CA" sz="2400" dirty="0" err="1">
                <a:latin typeface="Arial" panose="020B0604020202020204" pitchFamily="34" charset="0"/>
                <a:cs typeface="Arial" panose="020B0604020202020204" pitchFamily="34" charset="0"/>
              </a:rPr>
              <a:t>Rafiquzzaman</a:t>
            </a:r>
            <a:endParaRPr lang="en-CA" sz="2400" dirty="0">
              <a:latin typeface="Arial" panose="020B0604020202020204" pitchFamily="34" charset="0"/>
              <a:cs typeface="Arial" panose="020B0604020202020204" pitchFamily="34" charset="0"/>
            </a:endParaRPr>
          </a:p>
          <a:p>
            <a:pPr marL="411480" indent="-411480" algn="just">
              <a:buFont typeface="+mj-lt"/>
              <a:buAutoNum type="arabicPeriod"/>
            </a:pPr>
            <a:r>
              <a:rPr lang="en-CA" sz="2400" dirty="0">
                <a:latin typeface="Arial" panose="020B0604020202020204" pitchFamily="34" charset="0"/>
                <a:cs typeface="Arial" panose="020B0604020202020204" pitchFamily="34" charset="0"/>
              </a:rPr>
              <a:t>Implementing a One Address CPU in </a:t>
            </a:r>
            <a:r>
              <a:rPr lang="en-CA" sz="2400" dirty="0" err="1">
                <a:latin typeface="Arial" panose="020B0604020202020204" pitchFamily="34" charset="0"/>
                <a:cs typeface="Arial" panose="020B0604020202020204" pitchFamily="34" charset="0"/>
              </a:rPr>
              <a:t>Logisim</a:t>
            </a:r>
            <a:r>
              <a:rPr lang="en-CA" sz="2400" dirty="0">
                <a:latin typeface="Arial" panose="020B0604020202020204" pitchFamily="34" charset="0"/>
                <a:cs typeface="Arial" panose="020B0604020202020204" pitchFamily="34" charset="0"/>
              </a:rPr>
              <a:t> By Charles W. </a:t>
            </a:r>
            <a:r>
              <a:rPr lang="en-CA" sz="2400" dirty="0" err="1">
                <a:latin typeface="Arial" panose="020B0604020202020204" pitchFamily="34" charset="0"/>
                <a:cs typeface="Arial" panose="020B0604020202020204" pitchFamily="34" charset="0"/>
              </a:rPr>
              <a:t>Kann</a:t>
            </a:r>
            <a:endParaRPr lang="en-CA" sz="2400" dirty="0">
              <a:latin typeface="Arial" panose="020B0604020202020204" pitchFamily="34" charset="0"/>
              <a:cs typeface="Arial" panose="020B0604020202020204" pitchFamily="34" charset="0"/>
            </a:endParaRPr>
          </a:p>
          <a:p>
            <a:pPr marL="411480" indent="-411480" algn="just">
              <a:buFont typeface="+mj-lt"/>
              <a:buAutoNum type="arabicPeriod"/>
            </a:pPr>
            <a:r>
              <a:rPr lang="en-CA" sz="2400" dirty="0">
                <a:latin typeface="Arial" panose="020B0604020202020204" pitchFamily="34" charset="0"/>
                <a:cs typeface="Arial" panose="020B0604020202020204" pitchFamily="34" charset="0"/>
              </a:rPr>
              <a:t>Security in Embedded Systems By J. Rosenberg</a:t>
            </a:r>
          </a:p>
          <a:p>
            <a:pPr marL="411480" indent="-411480" algn="just">
              <a:buFont typeface="+mj-lt"/>
              <a:buAutoNum type="arabicPeriod"/>
            </a:pPr>
            <a:r>
              <a:rPr lang="en-CA" sz="2400" dirty="0">
                <a:latin typeface="Arial" panose="020B0604020202020204" pitchFamily="34" charset="0"/>
                <a:cs typeface="Arial" panose="020B0604020202020204" pitchFamily="34" charset="0"/>
              </a:rPr>
              <a:t>External Search By Stefan </a:t>
            </a:r>
            <a:r>
              <a:rPr lang="en-CA" sz="2400" dirty="0" err="1">
                <a:latin typeface="Arial" panose="020B0604020202020204" pitchFamily="34" charset="0"/>
                <a:cs typeface="Arial" panose="020B0604020202020204" pitchFamily="34" charset="0"/>
              </a:rPr>
              <a:t>Edelkamp</a:t>
            </a:r>
            <a:r>
              <a:rPr lang="en-CA" sz="2400" dirty="0">
                <a:latin typeface="Arial" panose="020B0604020202020204" pitchFamily="34" charset="0"/>
                <a:cs typeface="Arial" panose="020B0604020202020204" pitchFamily="34" charset="0"/>
              </a:rPr>
              <a:t> and Stefan </a:t>
            </a:r>
            <a:r>
              <a:rPr lang="en-CA" sz="2400" dirty="0" err="1">
                <a:latin typeface="Arial" panose="020B0604020202020204" pitchFamily="34" charset="0"/>
                <a:cs typeface="Arial" panose="020B0604020202020204" pitchFamily="34" charset="0"/>
              </a:rPr>
              <a:t>Schrödl</a:t>
            </a:r>
            <a:endParaRPr lang="en-CA" sz="2400" dirty="0">
              <a:latin typeface="Arial" panose="020B0604020202020204" pitchFamily="34" charset="0"/>
              <a:cs typeface="Arial" panose="020B0604020202020204" pitchFamily="34" charset="0"/>
            </a:endParaRPr>
          </a:p>
          <a:p>
            <a:pPr marL="411480" indent="-411480" algn="just">
              <a:buFont typeface="+mj-lt"/>
              <a:buAutoNum type="arabicPeriod"/>
            </a:pPr>
            <a:r>
              <a:rPr lang="en-CA" sz="2400" dirty="0">
                <a:latin typeface="Arial" panose="020B0604020202020204" pitchFamily="34" charset="0"/>
                <a:cs typeface="Arial" panose="020B0604020202020204" pitchFamily="34" charset="0"/>
              </a:rPr>
              <a:t>Embedded Systems Design By Steve Heath</a:t>
            </a:r>
          </a:p>
          <a:p>
            <a:pPr marL="411480" indent="-411480" algn="just">
              <a:buFont typeface="+mj-lt"/>
              <a:buAutoNum type="arabicPeriod"/>
            </a:pPr>
            <a:r>
              <a:rPr lang="en-CA" sz="2400" dirty="0">
                <a:latin typeface="Arial" panose="020B0604020202020204" pitchFamily="34" charset="0"/>
                <a:cs typeface="Arial" panose="020B0604020202020204" pitchFamily="34" charset="0"/>
              </a:rPr>
              <a:t>Programming Embedded Systems with C and GNU Development Tools By Michael Barr and Anthony Massa</a:t>
            </a:r>
          </a:p>
          <a:p>
            <a:pPr marL="411480" indent="-411480" algn="just">
              <a:buFont typeface="+mj-lt"/>
              <a:buAutoNum type="arabicPeriod"/>
            </a:pPr>
            <a:r>
              <a:rPr lang="en-US" sz="2400" dirty="0">
                <a:latin typeface="Arial" panose="020B0604020202020204" pitchFamily="34" charset="0"/>
                <a:cs typeface="Arial" panose="020B0604020202020204" pitchFamily="34" charset="0"/>
              </a:rPr>
              <a:t>The Rise of “Internet of Things”: Review and Open Research Issues Related to Detection and Prevention of </a:t>
            </a:r>
            <a:r>
              <a:rPr lang="en-US" sz="2400" dirty="0" err="1">
                <a:latin typeface="Arial" panose="020B0604020202020204" pitchFamily="34" charset="0"/>
                <a:cs typeface="Arial" panose="020B0604020202020204" pitchFamily="34" charset="0"/>
              </a:rPr>
              <a:t>IoT</a:t>
            </a:r>
            <a:r>
              <a:rPr lang="en-US" sz="2400" dirty="0">
                <a:latin typeface="Arial" panose="020B0604020202020204" pitchFamily="34" charset="0"/>
                <a:cs typeface="Arial" panose="020B0604020202020204" pitchFamily="34" charset="0"/>
              </a:rPr>
              <a:t>-Based Security Attacks, By Muhammad </a:t>
            </a:r>
            <a:r>
              <a:rPr lang="en-US" sz="2400" dirty="0" err="1">
                <a:latin typeface="Arial" panose="020B0604020202020204" pitchFamily="34" charset="0"/>
                <a:cs typeface="Arial" panose="020B0604020202020204" pitchFamily="34" charset="0"/>
              </a:rPr>
              <a:t>Shafiq</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Zhaoquan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Gu</a:t>
            </a:r>
            <a:r>
              <a:rPr lang="en-US" sz="2400" dirty="0">
                <a:latin typeface="Arial" panose="020B0604020202020204" pitchFamily="34" charset="0"/>
                <a:cs typeface="Arial" panose="020B0604020202020204" pitchFamily="34" charset="0"/>
              </a:rPr>
              <a:t>, Omar </a:t>
            </a:r>
            <a:r>
              <a:rPr lang="en-US" sz="2400" dirty="0" err="1">
                <a:latin typeface="Arial" panose="020B0604020202020204" pitchFamily="34" charset="0"/>
                <a:cs typeface="Arial" panose="020B0604020202020204" pitchFamily="34" charset="0"/>
              </a:rPr>
              <a:t>Cheikhrouhou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Wajdi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Alhakami</a:t>
            </a:r>
            <a:r>
              <a:rPr lang="en-US" sz="2400" dirty="0">
                <a:latin typeface="Arial" panose="020B0604020202020204" pitchFamily="34" charset="0"/>
                <a:cs typeface="Arial" panose="020B0604020202020204" pitchFamily="34" charset="0"/>
              </a:rPr>
              <a:t>, and </a:t>
            </a:r>
            <a:r>
              <a:rPr lang="en-US" sz="2400" dirty="0" err="1">
                <a:latin typeface="Arial" panose="020B0604020202020204" pitchFamily="34" charset="0"/>
                <a:cs typeface="Arial" panose="020B0604020202020204" pitchFamily="34" charset="0"/>
              </a:rPr>
              <a:t>Habib</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Hamam</a:t>
            </a:r>
            <a:r>
              <a:rPr lang="en-US" sz="2400" dirty="0">
                <a:latin typeface="Arial" panose="020B0604020202020204" pitchFamily="34" charset="0"/>
                <a:cs typeface="Arial" panose="020B0604020202020204" pitchFamily="34" charset="0"/>
              </a:rPr>
              <a:t>, </a:t>
            </a:r>
            <a:r>
              <a:rPr lang="en-US" sz="2400" i="1" dirty="0">
                <a:latin typeface="Arial" panose="020B0604020202020204" pitchFamily="34" charset="0"/>
                <a:cs typeface="Arial" panose="020B0604020202020204" pitchFamily="34" charset="0"/>
              </a:rPr>
              <a:t>Wireless Communications and Mobile Computing, </a:t>
            </a:r>
            <a:r>
              <a:rPr lang="en-US" sz="2400" dirty="0">
                <a:latin typeface="Arial" panose="020B0604020202020204" pitchFamily="34" charset="0"/>
                <a:cs typeface="Arial" panose="020B0604020202020204" pitchFamily="34" charset="0"/>
              </a:rPr>
              <a:t>2022</a:t>
            </a:r>
          </a:p>
          <a:p>
            <a:pPr marL="411480" indent="-411480" algn="just">
              <a:buFont typeface="+mj-lt"/>
              <a:buAutoNum type="arabicPeriod"/>
            </a:pPr>
            <a:r>
              <a:rPr lang="en-US" sz="2400" dirty="0">
                <a:latin typeface="Arial" panose="020B0604020202020204" pitchFamily="34" charset="0"/>
                <a:cs typeface="Arial" panose="020B0604020202020204" pitchFamily="34" charset="0"/>
              </a:rPr>
              <a:t>Internet of Things and Big Data Analytics Toward Next-Generation Intelligence By </a:t>
            </a:r>
            <a:r>
              <a:rPr lang="fr-FR" sz="2400" dirty="0" err="1">
                <a:latin typeface="Arial" panose="020B0604020202020204" pitchFamily="34" charset="0"/>
                <a:cs typeface="Arial" panose="020B0604020202020204" pitchFamily="34" charset="0"/>
              </a:rPr>
              <a:t>Nilanjan</a:t>
            </a:r>
            <a:r>
              <a:rPr lang="fr-FR" sz="2400" dirty="0">
                <a:latin typeface="Arial" panose="020B0604020202020204" pitchFamily="34" charset="0"/>
                <a:cs typeface="Arial" panose="020B0604020202020204" pitchFamily="34" charset="0"/>
              </a:rPr>
              <a:t> Dey, </a:t>
            </a:r>
            <a:r>
              <a:rPr lang="fr-FR" sz="2400" dirty="0" err="1">
                <a:latin typeface="Arial" panose="020B0604020202020204" pitchFamily="34" charset="0"/>
                <a:cs typeface="Arial" panose="020B0604020202020204" pitchFamily="34" charset="0"/>
              </a:rPr>
              <a:t>Aboul</a:t>
            </a:r>
            <a:r>
              <a:rPr lang="fr-FR" sz="2400" dirty="0">
                <a:latin typeface="Arial" panose="020B0604020202020204" pitchFamily="34" charset="0"/>
                <a:cs typeface="Arial" panose="020B0604020202020204" pitchFamily="34" charset="0"/>
              </a:rPr>
              <a:t> Ella Hassanien, </a:t>
            </a:r>
            <a:r>
              <a:rPr lang="fr-FR" sz="2400" dirty="0" err="1">
                <a:latin typeface="Arial" panose="020B0604020202020204" pitchFamily="34" charset="0"/>
                <a:cs typeface="Arial" panose="020B0604020202020204" pitchFamily="34" charset="0"/>
              </a:rPr>
              <a:t>Chintan</a:t>
            </a:r>
            <a:r>
              <a:rPr lang="fr-FR" sz="2400" dirty="0">
                <a:latin typeface="Arial" panose="020B0604020202020204" pitchFamily="34" charset="0"/>
                <a:cs typeface="Arial" panose="020B0604020202020204" pitchFamily="34" charset="0"/>
              </a:rPr>
              <a:t> Bhatt, </a:t>
            </a:r>
            <a:r>
              <a:rPr lang="fr-FR" sz="2400" dirty="0" err="1">
                <a:latin typeface="Arial" panose="020B0604020202020204" pitchFamily="34" charset="0"/>
                <a:cs typeface="Arial" panose="020B0604020202020204" pitchFamily="34" charset="0"/>
              </a:rPr>
              <a:t>Amira</a:t>
            </a:r>
            <a:r>
              <a:rPr lang="fr-FR" sz="2400" dirty="0">
                <a:latin typeface="Arial" panose="020B0604020202020204" pitchFamily="34" charset="0"/>
                <a:cs typeface="Arial" panose="020B0604020202020204" pitchFamily="34" charset="0"/>
              </a:rPr>
              <a:t> S. </a:t>
            </a:r>
            <a:r>
              <a:rPr lang="fr-FR" sz="2400" dirty="0" err="1">
                <a:latin typeface="Arial" panose="020B0604020202020204" pitchFamily="34" charset="0"/>
                <a:cs typeface="Arial" panose="020B0604020202020204" pitchFamily="34" charset="0"/>
              </a:rPr>
              <a:t>Ashour</a:t>
            </a:r>
            <a:r>
              <a:rPr lang="fr-FR" sz="2400" dirty="0">
                <a:latin typeface="Arial" panose="020B0604020202020204" pitchFamily="34" charset="0"/>
                <a:cs typeface="Arial" panose="020B0604020202020204" pitchFamily="34" charset="0"/>
              </a:rPr>
              <a:t>, Suresh Chandra </a:t>
            </a:r>
            <a:r>
              <a:rPr lang="fr-FR" sz="2400" dirty="0" err="1">
                <a:latin typeface="Arial" panose="020B0604020202020204" pitchFamily="34" charset="0"/>
                <a:cs typeface="Arial" panose="020B0604020202020204" pitchFamily="34" charset="0"/>
              </a:rPr>
              <a:t>Satapathy</a:t>
            </a:r>
            <a:endParaRPr lang="fr-FR" sz="2400" dirty="0">
              <a:latin typeface="Arial" panose="020B0604020202020204" pitchFamily="34" charset="0"/>
              <a:cs typeface="Arial" panose="020B0604020202020204" pitchFamily="34" charset="0"/>
            </a:endParaRPr>
          </a:p>
          <a:p>
            <a:pPr marL="411480" indent="-411480" algn="just">
              <a:buFont typeface="+mj-lt"/>
              <a:buAutoNum type="arabicPeriod"/>
            </a:pPr>
            <a:r>
              <a:rPr lang="fr-FR" sz="2400" dirty="0">
                <a:latin typeface="Arial" panose="020B0604020202020204" pitchFamily="34" charset="0"/>
                <a:cs typeface="Arial" panose="020B0604020202020204" pitchFamily="34" charset="0"/>
              </a:rPr>
              <a:t> </a:t>
            </a:r>
            <a:r>
              <a:rPr lang="fr-FR" sz="2400" dirty="0" err="1">
                <a:latin typeface="Arial" panose="020B0604020202020204" pitchFamily="34" charset="0"/>
                <a:cs typeface="Arial" panose="020B0604020202020204" pitchFamily="34" charset="0"/>
              </a:rPr>
              <a:t>Family</a:t>
            </a:r>
            <a:r>
              <a:rPr lang="fr-FR" sz="2400" dirty="0">
                <a:latin typeface="Arial" panose="020B0604020202020204" pitchFamily="34" charset="0"/>
                <a:cs typeface="Arial" panose="020B0604020202020204" pitchFamily="34" charset="0"/>
              </a:rPr>
              <a:t> </a:t>
            </a:r>
            <a:r>
              <a:rPr lang="fr-FR" sz="2400" dirty="0" err="1">
                <a:latin typeface="Arial" panose="020B0604020202020204" pitchFamily="34" charset="0"/>
                <a:cs typeface="Arial" panose="020B0604020202020204" pitchFamily="34" charset="0"/>
              </a:rPr>
              <a:t>Datasheet</a:t>
            </a:r>
            <a:r>
              <a:rPr lang="fr-FR" sz="2400" dirty="0">
                <a:latin typeface="Arial" panose="020B0604020202020204" pitchFamily="34" charset="0"/>
                <a:cs typeface="Arial" panose="020B0604020202020204" pitchFamily="34" charset="0"/>
              </a:rPr>
              <a:t>: 8-bit AVR </a:t>
            </a:r>
            <a:r>
              <a:rPr lang="fr-FR" sz="2400" dirty="0" err="1">
                <a:latin typeface="Arial" panose="020B0604020202020204" pitchFamily="34" charset="0"/>
                <a:cs typeface="Arial" panose="020B0604020202020204" pitchFamily="34" charset="0"/>
              </a:rPr>
              <a:t>Microcontrollers</a:t>
            </a:r>
            <a:endParaRPr lang="fr-FR" sz="2400" dirty="0">
              <a:latin typeface="Arial" panose="020B0604020202020204" pitchFamily="34" charset="0"/>
              <a:cs typeface="Arial" panose="020B0604020202020204" pitchFamily="34" charset="0"/>
            </a:endParaRPr>
          </a:p>
          <a:p>
            <a:pPr marL="411480" indent="-411480" algn="just">
              <a:buFont typeface="+mj-lt"/>
              <a:buAutoNum type="arabicPeriod"/>
            </a:pPr>
            <a:r>
              <a:rPr lang="fr-FR" sz="2400" dirty="0">
                <a:latin typeface="Arial" panose="020B0604020202020204" pitchFamily="34" charset="0"/>
                <a:cs typeface="Arial" panose="020B0604020202020204" pitchFamily="34" charset="0"/>
              </a:rPr>
              <a:t> </a:t>
            </a:r>
            <a:r>
              <a:rPr lang="fr-FR" sz="2400" dirty="0" err="1">
                <a:latin typeface="Arial" panose="020B0604020202020204" pitchFamily="34" charset="0"/>
                <a:cs typeface="Arial" panose="020B0604020202020204" pitchFamily="34" charset="0"/>
              </a:rPr>
              <a:t>Arduino</a:t>
            </a:r>
            <a:r>
              <a:rPr lang="fr-FR" sz="2400" dirty="0">
                <a:latin typeface="Arial" panose="020B0604020202020204" pitchFamily="34" charset="0"/>
                <a:cs typeface="Arial" panose="020B0604020202020204" pitchFamily="34" charset="0"/>
              </a:rPr>
              <a:t> Uni R3 </a:t>
            </a:r>
            <a:r>
              <a:rPr lang="fr-FR" sz="2400" dirty="0" err="1">
                <a:latin typeface="Arial" panose="020B0604020202020204" pitchFamily="34" charset="0"/>
                <a:cs typeface="Arial" panose="020B0604020202020204" pitchFamily="34" charset="0"/>
              </a:rPr>
              <a:t>Datasheet</a:t>
            </a:r>
            <a:endParaRPr lang="en-US" sz="2400" dirty="0">
              <a:latin typeface="Arial" panose="020B0604020202020204" pitchFamily="34" charset="0"/>
              <a:cs typeface="Arial" panose="020B0604020202020204" pitchFamily="34" charset="0"/>
            </a:endParaRPr>
          </a:p>
          <a:p>
            <a:pPr marL="411480" indent="-411480" algn="just">
              <a:buFont typeface="+mj-lt"/>
              <a:buAutoNum type="arabicPeriod"/>
            </a:pPr>
            <a:endParaRPr lang="en-CA" sz="2400" i="1" dirty="0">
              <a:latin typeface="Arial" panose="020B0604020202020204" pitchFamily="34" charset="0"/>
              <a:cs typeface="Arial" panose="020B0604020202020204" pitchFamily="34" charset="0"/>
            </a:endParaRPr>
          </a:p>
          <a:p>
            <a:pPr marL="411480" indent="-411480" algn="just">
              <a:buFont typeface="+mj-lt"/>
              <a:buAutoNum type="arabicPeriod"/>
            </a:pPr>
            <a:endParaRPr lang="en-CA"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7252990"/>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body" idx="1"/>
          </p:nvPr>
        </p:nvSpPr>
        <p:spPr>
          <a:xfrm>
            <a:off x="1235075" y="1828800"/>
            <a:ext cx="13989050" cy="914400"/>
          </a:xfrm>
        </p:spPr>
        <p:txBody>
          <a:bodyPr/>
          <a:lstStyle/>
          <a:p>
            <a:pPr marL="0" indent="0" eaLnBrk="1" hangingPunct="1">
              <a:buFont typeface="Wingdings" panose="05000000000000000000" pitchFamily="2" charset="2"/>
              <a:buNone/>
            </a:pPr>
            <a:r>
              <a:rPr lang="en-US" altLang="en-US" sz="4800" b="1" dirty="0">
                <a:solidFill>
                  <a:srgbClr val="0070C0"/>
                </a:solidFill>
              </a:rPr>
              <a:t>Thanks for attending….</a:t>
            </a:r>
            <a:endParaRPr lang="en-US" altLang="en-US" sz="4400" dirty="0"/>
          </a:p>
        </p:txBody>
      </p:sp>
      <p:grpSp>
        <p:nvGrpSpPr>
          <p:cNvPr id="92164" name="Group 6"/>
          <p:cNvGrpSpPr>
            <a:grpSpLocks/>
          </p:cNvGrpSpPr>
          <p:nvPr/>
        </p:nvGrpSpPr>
        <p:grpSpPr bwMode="auto">
          <a:xfrm>
            <a:off x="8382000" y="2133600"/>
            <a:ext cx="5257800" cy="4953000"/>
            <a:chOff x="432" y="1584"/>
            <a:chExt cx="3072" cy="2426"/>
          </a:xfrm>
        </p:grpSpPr>
        <p:sp>
          <p:nvSpPr>
            <p:cNvPr id="5"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defRPr/>
              </a:pPr>
              <a:endParaRPr lang="en-US" altLang="en-US" sz="2800"/>
            </a:p>
          </p:txBody>
        </p:sp>
        <p:pic>
          <p:nvPicPr>
            <p:cNvPr id="92166" name="Picture 4" descr="j03012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2598"/>
              <a:ext cx="1651" cy="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7" name="WordArt 5"/>
            <p:cNvSpPr>
              <a:spLocks noChangeArrowheads="1" noChangeShapeType="1" noTextEdit="1"/>
            </p:cNvSpPr>
            <p:nvPr/>
          </p:nvSpPr>
          <p:spPr bwMode="auto">
            <a:xfrm>
              <a:off x="2083" y="1728"/>
              <a:ext cx="1008" cy="1231"/>
            </a:xfrm>
            <a:prstGeom prst="rect">
              <a:avLst/>
            </a:prstGeom>
          </p:spPr>
          <p:txBody>
            <a:bodyPr wrap="none" fromWordArt="1">
              <a:prstTxWarp prst="textPlain">
                <a:avLst>
                  <a:gd name="adj" fmla="val 50000"/>
                </a:avLst>
              </a:prstTxWarp>
            </a:bodyPr>
            <a:lstStyle/>
            <a:p>
              <a:pPr algn="ctr"/>
              <a:r>
                <a:rPr lang="en-US" sz="5520" kern="10">
                  <a:ln w="9525">
                    <a:solidFill>
                      <a:srgbClr val="60C99C"/>
                    </a:solidFill>
                    <a:round/>
                    <a:headEnd/>
                    <a:tailEnd/>
                  </a:ln>
                  <a:solidFill>
                    <a:srgbClr val="00B050"/>
                  </a:solidFill>
                  <a:latin typeface="Arial Black" panose="020B0A04020102020204" pitchFamily="34" charset="0"/>
                </a:rPr>
                <a:t>?</a:t>
              </a:r>
            </a:p>
          </p:txBody>
        </p:sp>
      </p:grpSp>
    </p:spTree>
  </p:cSld>
  <p:clrMapOvr>
    <a:masterClrMapping/>
  </p:clrMapOvr>
  <p:transition>
    <p:zoom/>
  </p:transition>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8503</TotalTime>
  <Words>2811</Words>
  <Application>Microsoft Office PowerPoint</Application>
  <PresentationFormat>Custom</PresentationFormat>
  <Paragraphs>226</Paragraphs>
  <Slides>34</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Arial Black</vt:lpstr>
      <vt:lpstr>Arial MT</vt:lpstr>
      <vt:lpstr>Calibri</vt:lpstr>
      <vt:lpstr>Times New Roman</vt:lpstr>
      <vt:lpstr>Wingdings</vt:lpstr>
      <vt:lpstr>Default Design</vt:lpstr>
      <vt:lpstr>Lecture # 01M:  Introduction to Microcontroller</vt:lpstr>
      <vt:lpstr>Outline</vt:lpstr>
      <vt:lpstr>Some important Differences</vt:lpstr>
      <vt:lpstr>Comparison of Microprocessor and Microcontroller</vt:lpstr>
      <vt:lpstr>Architectures: Harvard vs. Von Neumann</vt:lpstr>
      <vt:lpstr>Architectures: Harvard vs. Von Neumann</vt:lpstr>
      <vt:lpstr>Embedded System</vt:lpstr>
      <vt:lpstr>Internet of Things (IoT)</vt:lpstr>
      <vt:lpstr>New Hardware Emerged for Embedded Systems</vt:lpstr>
      <vt:lpstr>New Hardware Emerged for Embedded Systems</vt:lpstr>
      <vt:lpstr>Real-life Examples of embedded Systems</vt:lpstr>
      <vt:lpstr>Architecture of a Modern  Microcontroller </vt:lpstr>
      <vt:lpstr>Basics Features of Arduino UNO</vt:lpstr>
      <vt:lpstr>Arduino UNO Pin Configuration</vt:lpstr>
      <vt:lpstr>Arduino UNO Pin Configuration</vt:lpstr>
      <vt:lpstr>Arduino UNO Pin Configuration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ATmega328 Memory</vt:lpstr>
      <vt:lpstr>ATmega328 General Purpose Registers</vt:lpstr>
      <vt:lpstr>References: </vt:lpstr>
      <vt:lpstr>PowerPoint Presentation</vt:lpstr>
    </vt:vector>
  </TitlesOfParts>
  <Company>Harvey Mudd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Harris</dc:creator>
  <cp:lastModifiedBy>Md. Shaoran Sayem</cp:lastModifiedBy>
  <cp:revision>433</cp:revision>
  <dcterms:created xsi:type="dcterms:W3CDTF">2003-12-29T03:13:39Z</dcterms:created>
  <dcterms:modified xsi:type="dcterms:W3CDTF">2026-06-15T06:01:35Z</dcterms:modified>
</cp:coreProperties>
</file>