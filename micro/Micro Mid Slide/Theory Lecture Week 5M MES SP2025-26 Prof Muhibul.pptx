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Lst>
  <p:notesMasterIdLst>
    <p:notesMasterId r:id="rId52"/>
  </p:notesMasterIdLst>
  <p:handoutMasterIdLst>
    <p:handoutMasterId r:id="rId53"/>
  </p:handoutMasterIdLst>
  <p:sldIdLst>
    <p:sldId id="256" r:id="rId5"/>
    <p:sldId id="370" r:id="rId6"/>
    <p:sldId id="371" r:id="rId7"/>
    <p:sldId id="269" r:id="rId8"/>
    <p:sldId id="292" r:id="rId9"/>
    <p:sldId id="318" r:id="rId10"/>
    <p:sldId id="348" r:id="rId11"/>
    <p:sldId id="353" r:id="rId12"/>
    <p:sldId id="354" r:id="rId13"/>
    <p:sldId id="355" r:id="rId14"/>
    <p:sldId id="356" r:id="rId15"/>
    <p:sldId id="357" r:id="rId16"/>
    <p:sldId id="358" r:id="rId17"/>
    <p:sldId id="360" r:id="rId18"/>
    <p:sldId id="372" r:id="rId19"/>
    <p:sldId id="363" r:id="rId20"/>
    <p:sldId id="364" r:id="rId21"/>
    <p:sldId id="365" r:id="rId22"/>
    <p:sldId id="366" r:id="rId23"/>
    <p:sldId id="374" r:id="rId24"/>
    <p:sldId id="373" r:id="rId25"/>
    <p:sldId id="367" r:id="rId26"/>
    <p:sldId id="368" r:id="rId27"/>
    <p:sldId id="375" r:id="rId28"/>
    <p:sldId id="376" r:id="rId29"/>
    <p:sldId id="377" r:id="rId30"/>
    <p:sldId id="378" r:id="rId31"/>
    <p:sldId id="390" r:id="rId32"/>
    <p:sldId id="389" r:id="rId33"/>
    <p:sldId id="379" r:id="rId34"/>
    <p:sldId id="397" r:id="rId35"/>
    <p:sldId id="381" r:id="rId36"/>
    <p:sldId id="382" r:id="rId37"/>
    <p:sldId id="383" r:id="rId38"/>
    <p:sldId id="384" r:id="rId39"/>
    <p:sldId id="385" r:id="rId40"/>
    <p:sldId id="386" r:id="rId41"/>
    <p:sldId id="387" r:id="rId42"/>
    <p:sldId id="388" r:id="rId43"/>
    <p:sldId id="391" r:id="rId44"/>
    <p:sldId id="392" r:id="rId45"/>
    <p:sldId id="393" r:id="rId46"/>
    <p:sldId id="394" r:id="rId47"/>
    <p:sldId id="395" r:id="rId48"/>
    <p:sldId id="396" r:id="rId49"/>
    <p:sldId id="369" r:id="rId50"/>
    <p:sldId id="347" r:id="rId51"/>
  </p:sldIdLst>
  <p:sldSz cx="164592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800000"/>
    <a:srgbClr val="700000"/>
    <a:srgbClr val="133E57"/>
    <a:srgbClr val="184259"/>
    <a:srgbClr val="9C4E4E"/>
    <a:srgbClr val="5E2001"/>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01" autoAdjust="0"/>
  </p:normalViewPr>
  <p:slideViewPr>
    <p:cSldViewPr snapToGrid="0">
      <p:cViewPr varScale="1">
        <p:scale>
          <a:sx n="61" d="100"/>
          <a:sy n="61" d="100"/>
        </p:scale>
        <p:origin x="64" y="14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6/15/2026</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6/15/2026</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4</a:t>
            </a:fld>
            <a:endParaRPr lang="en-US" dirty="0"/>
          </a:p>
        </p:txBody>
      </p:sp>
    </p:spTree>
    <p:extLst>
      <p:ext uri="{BB962C8B-B14F-4D97-AF65-F5344CB8AC3E}">
        <p14:creationId xmlns:p14="http://schemas.microsoft.com/office/powerpoint/2010/main" val="547053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CA" sz="1600" dirty="0">
              <a:solidFill>
                <a:srgbClr val="FFFF00"/>
              </a:solidFill>
              <a:latin typeface="Arial" panose="020B0604020202020204" pitchFamily="34" charset="0"/>
              <a:cs typeface="Arial" panose="020B0604020202020204" pitchFamily="34" charset="0"/>
            </a:endParaRPr>
          </a:p>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7</a:t>
            </a:fld>
            <a:endParaRPr lang="en-US" dirty="0"/>
          </a:p>
        </p:txBody>
      </p:sp>
    </p:spTree>
    <p:extLst>
      <p:ext uri="{BB962C8B-B14F-4D97-AF65-F5344CB8AC3E}">
        <p14:creationId xmlns:p14="http://schemas.microsoft.com/office/powerpoint/2010/main" val="346615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8</a:t>
            </a:fld>
            <a:endParaRPr lang="en-US" dirty="0"/>
          </a:p>
        </p:txBody>
      </p:sp>
    </p:spTree>
    <p:extLst>
      <p:ext uri="{BB962C8B-B14F-4D97-AF65-F5344CB8AC3E}">
        <p14:creationId xmlns:p14="http://schemas.microsoft.com/office/powerpoint/2010/main" val="603605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9</a:t>
            </a:fld>
            <a:endParaRPr lang="en-US" dirty="0"/>
          </a:p>
        </p:txBody>
      </p:sp>
    </p:spTree>
    <p:extLst>
      <p:ext uri="{BB962C8B-B14F-4D97-AF65-F5344CB8AC3E}">
        <p14:creationId xmlns:p14="http://schemas.microsoft.com/office/powerpoint/2010/main" val="2952107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10</a:t>
            </a:fld>
            <a:endParaRPr lang="en-US" dirty="0"/>
          </a:p>
        </p:txBody>
      </p:sp>
    </p:spTree>
    <p:extLst>
      <p:ext uri="{BB962C8B-B14F-4D97-AF65-F5344CB8AC3E}">
        <p14:creationId xmlns:p14="http://schemas.microsoft.com/office/powerpoint/2010/main" val="1779264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11</a:t>
            </a:fld>
            <a:endParaRPr lang="en-US" dirty="0"/>
          </a:p>
        </p:txBody>
      </p:sp>
    </p:spTree>
    <p:extLst>
      <p:ext uri="{BB962C8B-B14F-4D97-AF65-F5344CB8AC3E}">
        <p14:creationId xmlns:p14="http://schemas.microsoft.com/office/powerpoint/2010/main" val="2258590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12</a:t>
            </a:fld>
            <a:endParaRPr lang="en-US" dirty="0"/>
          </a:p>
        </p:txBody>
      </p:sp>
    </p:spTree>
    <p:extLst>
      <p:ext uri="{BB962C8B-B14F-4D97-AF65-F5344CB8AC3E}">
        <p14:creationId xmlns:p14="http://schemas.microsoft.com/office/powerpoint/2010/main" val="3059341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13</a:t>
            </a:fld>
            <a:endParaRPr lang="en-US" dirty="0"/>
          </a:p>
        </p:txBody>
      </p:sp>
    </p:spTree>
    <p:extLst>
      <p:ext uri="{BB962C8B-B14F-4D97-AF65-F5344CB8AC3E}">
        <p14:creationId xmlns:p14="http://schemas.microsoft.com/office/powerpoint/2010/main" val="3580094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14</a:t>
            </a:fld>
            <a:endParaRPr lang="en-US" dirty="0"/>
          </a:p>
        </p:txBody>
      </p:sp>
    </p:spTree>
    <p:extLst>
      <p:ext uri="{BB962C8B-B14F-4D97-AF65-F5344CB8AC3E}">
        <p14:creationId xmlns:p14="http://schemas.microsoft.com/office/powerpoint/2010/main" val="3242499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15</a:t>
            </a:fld>
            <a:endParaRPr lang="en-US" dirty="0"/>
          </a:p>
        </p:txBody>
      </p:sp>
    </p:spTree>
    <p:extLst>
      <p:ext uri="{BB962C8B-B14F-4D97-AF65-F5344CB8AC3E}">
        <p14:creationId xmlns:p14="http://schemas.microsoft.com/office/powerpoint/2010/main" val="1704431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16</a:t>
            </a:fld>
            <a:endParaRPr lang="en-US" dirty="0"/>
          </a:p>
        </p:txBody>
      </p:sp>
    </p:spTree>
    <p:extLst>
      <p:ext uri="{BB962C8B-B14F-4D97-AF65-F5344CB8AC3E}">
        <p14:creationId xmlns:p14="http://schemas.microsoft.com/office/powerpoint/2010/main" val="410052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17</a:t>
            </a:fld>
            <a:endParaRPr lang="en-US" dirty="0"/>
          </a:p>
        </p:txBody>
      </p:sp>
    </p:spTree>
    <p:extLst>
      <p:ext uri="{BB962C8B-B14F-4D97-AF65-F5344CB8AC3E}">
        <p14:creationId xmlns:p14="http://schemas.microsoft.com/office/powerpoint/2010/main" val="1834371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18</a:t>
            </a:fld>
            <a:endParaRPr lang="en-US" dirty="0"/>
          </a:p>
        </p:txBody>
      </p:sp>
    </p:spTree>
    <p:extLst>
      <p:ext uri="{BB962C8B-B14F-4D97-AF65-F5344CB8AC3E}">
        <p14:creationId xmlns:p14="http://schemas.microsoft.com/office/powerpoint/2010/main" val="3237482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19</a:t>
            </a:fld>
            <a:endParaRPr lang="en-US" dirty="0"/>
          </a:p>
        </p:txBody>
      </p:sp>
    </p:spTree>
    <p:extLst>
      <p:ext uri="{BB962C8B-B14F-4D97-AF65-F5344CB8AC3E}">
        <p14:creationId xmlns:p14="http://schemas.microsoft.com/office/powerpoint/2010/main" val="2760789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20</a:t>
            </a:fld>
            <a:endParaRPr lang="en-US" dirty="0"/>
          </a:p>
        </p:txBody>
      </p:sp>
    </p:spTree>
    <p:extLst>
      <p:ext uri="{BB962C8B-B14F-4D97-AF65-F5344CB8AC3E}">
        <p14:creationId xmlns:p14="http://schemas.microsoft.com/office/powerpoint/2010/main" val="455275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21</a:t>
            </a:fld>
            <a:endParaRPr lang="en-US" dirty="0"/>
          </a:p>
        </p:txBody>
      </p:sp>
    </p:spTree>
    <p:extLst>
      <p:ext uri="{BB962C8B-B14F-4D97-AF65-F5344CB8AC3E}">
        <p14:creationId xmlns:p14="http://schemas.microsoft.com/office/powerpoint/2010/main" val="3094919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22</a:t>
            </a:fld>
            <a:endParaRPr lang="en-US" dirty="0"/>
          </a:p>
        </p:txBody>
      </p:sp>
    </p:spTree>
    <p:extLst>
      <p:ext uri="{BB962C8B-B14F-4D97-AF65-F5344CB8AC3E}">
        <p14:creationId xmlns:p14="http://schemas.microsoft.com/office/powerpoint/2010/main" val="1317916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23</a:t>
            </a:fld>
            <a:endParaRPr lang="en-US" dirty="0"/>
          </a:p>
        </p:txBody>
      </p:sp>
    </p:spTree>
    <p:extLst>
      <p:ext uri="{BB962C8B-B14F-4D97-AF65-F5344CB8AC3E}">
        <p14:creationId xmlns:p14="http://schemas.microsoft.com/office/powerpoint/2010/main" val="658104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24</a:t>
            </a:fld>
            <a:endParaRPr lang="en-US" dirty="0"/>
          </a:p>
        </p:txBody>
      </p:sp>
    </p:spTree>
    <p:extLst>
      <p:ext uri="{BB962C8B-B14F-4D97-AF65-F5344CB8AC3E}">
        <p14:creationId xmlns:p14="http://schemas.microsoft.com/office/powerpoint/2010/main" val="2164785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25</a:t>
            </a:fld>
            <a:endParaRPr lang="en-US" dirty="0"/>
          </a:p>
        </p:txBody>
      </p:sp>
    </p:spTree>
    <p:extLst>
      <p:ext uri="{BB962C8B-B14F-4D97-AF65-F5344CB8AC3E}">
        <p14:creationId xmlns:p14="http://schemas.microsoft.com/office/powerpoint/2010/main" val="1823530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26</a:t>
            </a:fld>
            <a:endParaRPr lang="en-US" dirty="0"/>
          </a:p>
        </p:txBody>
      </p:sp>
    </p:spTree>
    <p:extLst>
      <p:ext uri="{BB962C8B-B14F-4D97-AF65-F5344CB8AC3E}">
        <p14:creationId xmlns:p14="http://schemas.microsoft.com/office/powerpoint/2010/main" val="2557193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27</a:t>
            </a:fld>
            <a:endParaRPr lang="en-US" dirty="0"/>
          </a:p>
        </p:txBody>
      </p:sp>
    </p:spTree>
    <p:extLst>
      <p:ext uri="{BB962C8B-B14F-4D97-AF65-F5344CB8AC3E}">
        <p14:creationId xmlns:p14="http://schemas.microsoft.com/office/powerpoint/2010/main" val="32054747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28</a:t>
            </a:fld>
            <a:endParaRPr lang="en-US" dirty="0"/>
          </a:p>
        </p:txBody>
      </p:sp>
    </p:spTree>
    <p:extLst>
      <p:ext uri="{BB962C8B-B14F-4D97-AF65-F5344CB8AC3E}">
        <p14:creationId xmlns:p14="http://schemas.microsoft.com/office/powerpoint/2010/main" val="4071196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29</a:t>
            </a:fld>
            <a:endParaRPr lang="en-US" dirty="0"/>
          </a:p>
        </p:txBody>
      </p:sp>
    </p:spTree>
    <p:extLst>
      <p:ext uri="{BB962C8B-B14F-4D97-AF65-F5344CB8AC3E}">
        <p14:creationId xmlns:p14="http://schemas.microsoft.com/office/powerpoint/2010/main" val="4013045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30</a:t>
            </a:fld>
            <a:endParaRPr lang="en-US" dirty="0"/>
          </a:p>
        </p:txBody>
      </p:sp>
    </p:spTree>
    <p:extLst>
      <p:ext uri="{BB962C8B-B14F-4D97-AF65-F5344CB8AC3E}">
        <p14:creationId xmlns:p14="http://schemas.microsoft.com/office/powerpoint/2010/main" val="666046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FC82-055F-181D-BFA1-AE0D70B91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19A31-5EE5-6B8A-267A-69B54EA4F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6AAF4-A879-D7F5-2FCD-5D14A777D759}"/>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66861D5E-B0FA-AEBF-DC14-5B0476EA0BC0}"/>
              </a:ext>
            </a:extLst>
          </p:cNvPr>
          <p:cNvSpPr>
            <a:spLocks noGrp="1"/>
          </p:cNvSpPr>
          <p:nvPr>
            <p:ph type="sldNum" sz="quarter" idx="10"/>
          </p:nvPr>
        </p:nvSpPr>
        <p:spPr/>
        <p:txBody>
          <a:bodyPr/>
          <a:lstStyle/>
          <a:p>
            <a:fld id="{C6AAF9CF-D1E5-49FD-94F7-B246BB67E246}" type="slidenum">
              <a:rPr lang="en-US" smtClean="0"/>
              <a:t>31</a:t>
            </a:fld>
            <a:endParaRPr lang="en-US" dirty="0"/>
          </a:p>
        </p:txBody>
      </p:sp>
    </p:spTree>
    <p:extLst>
      <p:ext uri="{BB962C8B-B14F-4D97-AF65-F5344CB8AC3E}">
        <p14:creationId xmlns:p14="http://schemas.microsoft.com/office/powerpoint/2010/main" val="32549249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32</a:t>
            </a:fld>
            <a:endParaRPr lang="en-US" dirty="0"/>
          </a:p>
        </p:txBody>
      </p:sp>
    </p:spTree>
    <p:extLst>
      <p:ext uri="{BB962C8B-B14F-4D97-AF65-F5344CB8AC3E}">
        <p14:creationId xmlns:p14="http://schemas.microsoft.com/office/powerpoint/2010/main" val="39971937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33</a:t>
            </a:fld>
            <a:endParaRPr lang="en-US" dirty="0"/>
          </a:p>
        </p:txBody>
      </p:sp>
    </p:spTree>
    <p:extLst>
      <p:ext uri="{BB962C8B-B14F-4D97-AF65-F5344CB8AC3E}">
        <p14:creationId xmlns:p14="http://schemas.microsoft.com/office/powerpoint/2010/main" val="17954247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34</a:t>
            </a:fld>
            <a:endParaRPr lang="en-US" dirty="0"/>
          </a:p>
        </p:txBody>
      </p:sp>
    </p:spTree>
    <p:extLst>
      <p:ext uri="{BB962C8B-B14F-4D97-AF65-F5344CB8AC3E}">
        <p14:creationId xmlns:p14="http://schemas.microsoft.com/office/powerpoint/2010/main" val="1857158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35</a:t>
            </a:fld>
            <a:endParaRPr lang="en-US" dirty="0"/>
          </a:p>
        </p:txBody>
      </p:sp>
    </p:spTree>
    <p:extLst>
      <p:ext uri="{BB962C8B-B14F-4D97-AF65-F5344CB8AC3E}">
        <p14:creationId xmlns:p14="http://schemas.microsoft.com/office/powerpoint/2010/main" val="21068206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36</a:t>
            </a:fld>
            <a:endParaRPr lang="en-US" dirty="0"/>
          </a:p>
        </p:txBody>
      </p:sp>
    </p:spTree>
    <p:extLst>
      <p:ext uri="{BB962C8B-B14F-4D97-AF65-F5344CB8AC3E}">
        <p14:creationId xmlns:p14="http://schemas.microsoft.com/office/powerpoint/2010/main" val="18399768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37</a:t>
            </a:fld>
            <a:endParaRPr lang="en-US" dirty="0"/>
          </a:p>
        </p:txBody>
      </p:sp>
    </p:spTree>
    <p:extLst>
      <p:ext uri="{BB962C8B-B14F-4D97-AF65-F5344CB8AC3E}">
        <p14:creationId xmlns:p14="http://schemas.microsoft.com/office/powerpoint/2010/main" val="2104295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38</a:t>
            </a:fld>
            <a:endParaRPr lang="en-US" dirty="0"/>
          </a:p>
        </p:txBody>
      </p:sp>
    </p:spTree>
    <p:extLst>
      <p:ext uri="{BB962C8B-B14F-4D97-AF65-F5344CB8AC3E}">
        <p14:creationId xmlns:p14="http://schemas.microsoft.com/office/powerpoint/2010/main" val="15409597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39</a:t>
            </a:fld>
            <a:endParaRPr lang="en-US" dirty="0"/>
          </a:p>
        </p:txBody>
      </p:sp>
    </p:spTree>
    <p:extLst>
      <p:ext uri="{BB962C8B-B14F-4D97-AF65-F5344CB8AC3E}">
        <p14:creationId xmlns:p14="http://schemas.microsoft.com/office/powerpoint/2010/main" val="4710559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AF00B-908E-B8F8-49C2-7EA4FF636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521AA-5D34-E5BC-9427-A531A7764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DBFE8-2F54-7559-B6F8-9C7F22B59512}"/>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FBE6BA63-027F-0B33-8812-74F82E13CA3E}"/>
              </a:ext>
            </a:extLst>
          </p:cNvPr>
          <p:cNvSpPr>
            <a:spLocks noGrp="1"/>
          </p:cNvSpPr>
          <p:nvPr>
            <p:ph type="sldNum" sz="quarter" idx="10"/>
          </p:nvPr>
        </p:nvSpPr>
        <p:spPr/>
        <p:txBody>
          <a:bodyPr/>
          <a:lstStyle/>
          <a:p>
            <a:fld id="{C6AAF9CF-D1E5-49FD-94F7-B246BB67E246}" type="slidenum">
              <a:rPr lang="en-US" smtClean="0"/>
              <a:t>40</a:t>
            </a:fld>
            <a:endParaRPr lang="en-US" dirty="0"/>
          </a:p>
        </p:txBody>
      </p:sp>
    </p:spTree>
    <p:extLst>
      <p:ext uri="{BB962C8B-B14F-4D97-AF65-F5344CB8AC3E}">
        <p14:creationId xmlns:p14="http://schemas.microsoft.com/office/powerpoint/2010/main" val="1479974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EE02-A0DE-4C3C-2C30-C7C372BAB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3B9B2-D4BE-6025-1694-51E8D5423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4BE23-B062-9E25-27CB-CC66EAEF1439}"/>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9F4FF10B-B4E5-5470-5E93-C73578D55DD0}"/>
              </a:ext>
            </a:extLst>
          </p:cNvPr>
          <p:cNvSpPr>
            <a:spLocks noGrp="1"/>
          </p:cNvSpPr>
          <p:nvPr>
            <p:ph type="sldNum" sz="quarter" idx="10"/>
          </p:nvPr>
        </p:nvSpPr>
        <p:spPr/>
        <p:txBody>
          <a:bodyPr/>
          <a:lstStyle/>
          <a:p>
            <a:fld id="{C6AAF9CF-D1E5-49FD-94F7-B246BB67E246}" type="slidenum">
              <a:rPr lang="en-US" smtClean="0"/>
              <a:t>41</a:t>
            </a:fld>
            <a:endParaRPr lang="en-US" dirty="0"/>
          </a:p>
        </p:txBody>
      </p:sp>
    </p:spTree>
    <p:extLst>
      <p:ext uri="{BB962C8B-B14F-4D97-AF65-F5344CB8AC3E}">
        <p14:creationId xmlns:p14="http://schemas.microsoft.com/office/powerpoint/2010/main" val="40297711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2FBC6-DB7E-AA3F-11D6-6CA918773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E30E1-BD07-D7C2-EFBC-E6B539A83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CB2A7-8C66-402D-A558-DF08010F517D}"/>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66352DD2-A518-E3E3-B912-020225050F36}"/>
              </a:ext>
            </a:extLst>
          </p:cNvPr>
          <p:cNvSpPr>
            <a:spLocks noGrp="1"/>
          </p:cNvSpPr>
          <p:nvPr>
            <p:ph type="sldNum" sz="quarter" idx="10"/>
          </p:nvPr>
        </p:nvSpPr>
        <p:spPr/>
        <p:txBody>
          <a:bodyPr/>
          <a:lstStyle/>
          <a:p>
            <a:fld id="{C6AAF9CF-D1E5-49FD-94F7-B246BB67E246}" type="slidenum">
              <a:rPr lang="en-US" smtClean="0"/>
              <a:t>42</a:t>
            </a:fld>
            <a:endParaRPr lang="en-US" dirty="0"/>
          </a:p>
        </p:txBody>
      </p:sp>
    </p:spTree>
    <p:extLst>
      <p:ext uri="{BB962C8B-B14F-4D97-AF65-F5344CB8AC3E}">
        <p14:creationId xmlns:p14="http://schemas.microsoft.com/office/powerpoint/2010/main" val="1324966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3F2CC-2747-7328-CEC9-360CF4A59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ACF80-C634-C1BC-8DF1-15C4E817B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0340B-FD28-3DAB-D456-4602D58BC623}"/>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3FAE53AA-35CA-C5D1-BADC-047E4AC74C2A}"/>
              </a:ext>
            </a:extLst>
          </p:cNvPr>
          <p:cNvSpPr>
            <a:spLocks noGrp="1"/>
          </p:cNvSpPr>
          <p:nvPr>
            <p:ph type="sldNum" sz="quarter" idx="10"/>
          </p:nvPr>
        </p:nvSpPr>
        <p:spPr/>
        <p:txBody>
          <a:bodyPr/>
          <a:lstStyle/>
          <a:p>
            <a:fld id="{C6AAF9CF-D1E5-49FD-94F7-B246BB67E246}" type="slidenum">
              <a:rPr lang="en-US" smtClean="0"/>
              <a:t>43</a:t>
            </a:fld>
            <a:endParaRPr lang="en-US" dirty="0"/>
          </a:p>
        </p:txBody>
      </p:sp>
    </p:spTree>
    <p:extLst>
      <p:ext uri="{BB962C8B-B14F-4D97-AF65-F5344CB8AC3E}">
        <p14:creationId xmlns:p14="http://schemas.microsoft.com/office/powerpoint/2010/main" val="42623686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FF9DD-A1D6-69BF-F30E-14C4CF2A8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EB15C-8473-3129-F5CA-B87F17967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14B04-42D0-79A8-034B-ADE1EAA50D95}"/>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3544064D-4C86-20D5-2573-299CF3823D66}"/>
              </a:ext>
            </a:extLst>
          </p:cNvPr>
          <p:cNvSpPr>
            <a:spLocks noGrp="1"/>
          </p:cNvSpPr>
          <p:nvPr>
            <p:ph type="sldNum" sz="quarter" idx="10"/>
          </p:nvPr>
        </p:nvSpPr>
        <p:spPr/>
        <p:txBody>
          <a:bodyPr/>
          <a:lstStyle/>
          <a:p>
            <a:fld id="{C6AAF9CF-D1E5-49FD-94F7-B246BB67E246}" type="slidenum">
              <a:rPr lang="en-US" smtClean="0"/>
              <a:t>44</a:t>
            </a:fld>
            <a:endParaRPr lang="en-US" dirty="0"/>
          </a:p>
        </p:txBody>
      </p:sp>
    </p:spTree>
    <p:extLst>
      <p:ext uri="{BB962C8B-B14F-4D97-AF65-F5344CB8AC3E}">
        <p14:creationId xmlns:p14="http://schemas.microsoft.com/office/powerpoint/2010/main" val="28766440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F08BE-D954-A7C5-F6BE-667F33CAE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0D340-20CB-EF86-1776-B04E2752F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B6E6C-5DD8-9E83-AA9C-CE2C85C35C7C}"/>
              </a:ext>
            </a:extLst>
          </p:cNvPr>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a:extLst>
              <a:ext uri="{FF2B5EF4-FFF2-40B4-BE49-F238E27FC236}">
                <a16:creationId xmlns:a16="http://schemas.microsoft.com/office/drawing/2014/main" id="{6A22DF71-A385-D43B-AA58-E29788AF8370}"/>
              </a:ext>
            </a:extLst>
          </p:cNvPr>
          <p:cNvSpPr>
            <a:spLocks noGrp="1"/>
          </p:cNvSpPr>
          <p:nvPr>
            <p:ph type="sldNum" sz="quarter" idx="10"/>
          </p:nvPr>
        </p:nvSpPr>
        <p:spPr/>
        <p:txBody>
          <a:bodyPr/>
          <a:lstStyle/>
          <a:p>
            <a:fld id="{C6AAF9CF-D1E5-49FD-94F7-B246BB67E246}" type="slidenum">
              <a:rPr lang="en-US" smtClean="0"/>
              <a:t>45</a:t>
            </a:fld>
            <a:endParaRPr lang="en-US" dirty="0"/>
          </a:p>
        </p:txBody>
      </p:sp>
    </p:spTree>
    <p:extLst>
      <p:ext uri="{BB962C8B-B14F-4D97-AF65-F5344CB8AC3E}">
        <p14:creationId xmlns:p14="http://schemas.microsoft.com/office/powerpoint/2010/main" val="1271266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r>
              <a:rPr lang="en-CA" sz="1400" b="1" dirty="0">
                <a:latin typeface="Arial" panose="020B0604020202020204" pitchFamily="34" charset="0"/>
                <a:cs typeface="Arial" panose="020B0604020202020204" pitchFamily="34" charset="0"/>
              </a:rPr>
              <a:t> </a:t>
            </a: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46</a:t>
            </a:fld>
            <a:endParaRPr lang="en-US" dirty="0"/>
          </a:p>
        </p:txBody>
      </p:sp>
    </p:spTree>
    <p:extLst>
      <p:ext uri="{BB962C8B-B14F-4D97-AF65-F5344CB8AC3E}">
        <p14:creationId xmlns:p14="http://schemas.microsoft.com/office/powerpoint/2010/main" val="1566516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2551-AAEE-DE0D-C092-51730E8600DB}"/>
              </a:ext>
            </a:extLst>
          </p:cNvPr>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515B0CA0-302D-F2B9-B808-3278C121F226}"/>
              </a:ext>
            </a:extLst>
          </p:cNvPr>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D2D0A09F-AD4C-0D36-84AC-3CC49508A72C}"/>
              </a:ext>
            </a:extLst>
          </p:cNvPr>
          <p:cNvSpPr>
            <a:spLocks noGrp="1"/>
          </p:cNvSpPr>
          <p:nvPr>
            <p:ph type="dt" sz="half" idx="10"/>
          </p:nvPr>
        </p:nvSpPr>
        <p:spPr/>
        <p:txBody>
          <a:bodyPr/>
          <a:lstStyle/>
          <a:p>
            <a:fld id="{5F769EF7-8174-4D35-86BA-5AA8270FBB18}"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84D86BED-C862-7181-E16F-5B60CAEC3214}"/>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11D53375-28FA-618E-5784-589A0CA2B026}"/>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78516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ABAC-86FB-480B-6D2D-324966EB1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C1B7E3-E69C-B449-8074-EFD386C12A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5557F8-A52F-5A2D-5E23-AB7E0C4A2E19}"/>
              </a:ext>
            </a:extLst>
          </p:cNvPr>
          <p:cNvSpPr>
            <a:spLocks noGrp="1"/>
          </p:cNvSpPr>
          <p:nvPr>
            <p:ph type="dt" sz="half" idx="10"/>
          </p:nvPr>
        </p:nvSpPr>
        <p:spPr/>
        <p:txBody>
          <a:bodyPr/>
          <a:lstStyle/>
          <a:p>
            <a:fld id="{3E93B624-86A0-4134-99D6-C273CAE41818}"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2A4DF0EA-AFC6-AEAF-FE77-EAA7000B2A5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4C566557-3A63-9D15-3795-0B1D7B75FD65}"/>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7" name="Straight Connector 6">
            <a:extLst>
              <a:ext uri="{FF2B5EF4-FFF2-40B4-BE49-F238E27FC236}">
                <a16:creationId xmlns:a16="http://schemas.microsoft.com/office/drawing/2014/main" id="{6C010DB2-EDD9-99C8-C847-AB0224F1E1F2}"/>
              </a:ext>
              <a:ext uri="{C183D7F6-B498-43B3-948B-1728B52AA6E4}">
                <adec:decorative xmlns:adec="http://schemas.microsoft.com/office/drawing/2017/decorative" val="1"/>
              </a:ext>
            </a:extLst>
          </p:cNvPr>
          <p:cNvCxnSpPr>
            <a:cxnSpLocks/>
          </p:cNvCxnSpPr>
          <p:nvPr userDrawn="1"/>
        </p:nvCxnSpPr>
        <p:spPr>
          <a:xfrm rot="16200000">
            <a:off x="-212648" y="1468120"/>
            <a:ext cx="6048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44186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9238-2C57-5997-B408-A14C491C910D}"/>
              </a:ext>
            </a:extLst>
          </p:cNvPr>
          <p:cNvSpPr>
            <a:spLocks noGrp="1"/>
          </p:cNvSpPr>
          <p:nvPr>
            <p:ph type="title"/>
          </p:nvPr>
        </p:nvSpPr>
        <p:spPr>
          <a:xfrm>
            <a:off x="1122998" y="2051686"/>
            <a:ext cx="1419606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17ECBD58-0F29-6B35-5C63-B87311A35DD2}"/>
              </a:ext>
            </a:extLst>
          </p:cNvPr>
          <p:cNvSpPr>
            <a:spLocks noGrp="1"/>
          </p:cNvSpPr>
          <p:nvPr>
            <p:ph type="body" idx="1"/>
          </p:nvPr>
        </p:nvSpPr>
        <p:spPr>
          <a:xfrm>
            <a:off x="1122998" y="5507356"/>
            <a:ext cx="1419606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30F840-35A6-169C-9B93-49AD4EFEE4DA}"/>
              </a:ext>
            </a:extLst>
          </p:cNvPr>
          <p:cNvSpPr>
            <a:spLocks noGrp="1"/>
          </p:cNvSpPr>
          <p:nvPr>
            <p:ph type="dt" sz="half" idx="10"/>
          </p:nvPr>
        </p:nvSpPr>
        <p:spPr/>
        <p:txBody>
          <a:bodyPr/>
          <a:lstStyle/>
          <a:p>
            <a:fld id="{173EBC97-9BFF-4026-8437-5920601693BB}"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2EA56C31-8A8C-74B0-E1C4-8F5A7A9877F5}"/>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85E407CF-645D-9816-CF97-1BA8E8ADDD7E}"/>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69083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D033-88DA-A954-7336-3E3AF17031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15D4DE-ADDF-B54F-0594-23496A329050}"/>
              </a:ext>
            </a:extLst>
          </p:cNvPr>
          <p:cNvSpPr>
            <a:spLocks noGrp="1"/>
          </p:cNvSpPr>
          <p:nvPr>
            <p:ph sz="half" idx="1"/>
          </p:nvPr>
        </p:nvSpPr>
        <p:spPr>
          <a:xfrm>
            <a:off x="1131570" y="2190750"/>
            <a:ext cx="699516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398810-312A-B3CA-5930-05CC780206EC}"/>
              </a:ext>
            </a:extLst>
          </p:cNvPr>
          <p:cNvSpPr>
            <a:spLocks noGrp="1"/>
          </p:cNvSpPr>
          <p:nvPr>
            <p:ph sz="half" idx="2"/>
          </p:nvPr>
        </p:nvSpPr>
        <p:spPr>
          <a:xfrm>
            <a:off x="8332470" y="2190750"/>
            <a:ext cx="699516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34234C-DC90-D6AF-9828-CA6D8E9A9C69}"/>
              </a:ext>
            </a:extLst>
          </p:cNvPr>
          <p:cNvSpPr>
            <a:spLocks noGrp="1"/>
          </p:cNvSpPr>
          <p:nvPr>
            <p:ph type="dt" sz="half" idx="10"/>
          </p:nvPr>
        </p:nvSpPr>
        <p:spPr/>
        <p:txBody>
          <a:bodyPr/>
          <a:lstStyle/>
          <a:p>
            <a:fld id="{E4EC9B1B-448E-487C-A4C5-D90F13957D2C}"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91B2DC65-28F8-6B52-FFB7-09392AD919B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975A0C85-01CD-0E7F-66BD-E26B7CF432E0}"/>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8" name="Rectangle: Rounded Corners 7">
            <a:extLst>
              <a:ext uri="{FF2B5EF4-FFF2-40B4-BE49-F238E27FC236}">
                <a16:creationId xmlns:a16="http://schemas.microsoft.com/office/drawing/2014/main" id="{A7F346C0-2187-3C71-04B7-218ED0D34988}"/>
              </a:ext>
            </a:extLst>
          </p:cNvPr>
          <p:cNvSpPr/>
          <p:nvPr userDrawn="1"/>
        </p:nvSpPr>
        <p:spPr>
          <a:xfrm>
            <a:off x="895531" y="2148273"/>
            <a:ext cx="14665533" cy="489641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noProof="0" dirty="0"/>
          </a:p>
        </p:txBody>
      </p:sp>
      <p:cxnSp>
        <p:nvCxnSpPr>
          <p:cNvPr id="9" name="Straight Connector 8">
            <a:extLst>
              <a:ext uri="{FF2B5EF4-FFF2-40B4-BE49-F238E27FC236}">
                <a16:creationId xmlns:a16="http://schemas.microsoft.com/office/drawing/2014/main" id="{EFE69329-3CA4-70BF-256F-47E1E4409203}"/>
              </a:ext>
              <a:ext uri="{C183D7F6-B498-43B3-948B-1728B52AA6E4}">
                <adec:decorative xmlns:adec="http://schemas.microsoft.com/office/drawing/2017/decorative" val="1"/>
              </a:ext>
            </a:extLst>
          </p:cNvPr>
          <p:cNvCxnSpPr>
            <a:cxnSpLocks/>
          </p:cNvCxnSpPr>
          <p:nvPr userDrawn="1"/>
        </p:nvCxnSpPr>
        <p:spPr>
          <a:xfrm flipV="1">
            <a:off x="77153" y="1196294"/>
            <a:ext cx="4949" cy="589372"/>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27868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BE01-2CBE-423F-2AF3-637AA700E691}"/>
              </a:ext>
            </a:extLst>
          </p:cNvPr>
          <p:cNvSpPr>
            <a:spLocks noGrp="1"/>
          </p:cNvSpPr>
          <p:nvPr>
            <p:ph type="title"/>
          </p:nvPr>
        </p:nvSpPr>
        <p:spPr>
          <a:xfrm>
            <a:off x="1133714" y="438150"/>
            <a:ext cx="1419606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AB9511-8137-3DCB-65BD-0352AC3AD63B}"/>
              </a:ext>
            </a:extLst>
          </p:cNvPr>
          <p:cNvSpPr>
            <a:spLocks noGrp="1"/>
          </p:cNvSpPr>
          <p:nvPr>
            <p:ph type="body" idx="1"/>
          </p:nvPr>
        </p:nvSpPr>
        <p:spPr>
          <a:xfrm>
            <a:off x="1133715" y="2017396"/>
            <a:ext cx="6963012"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72842E03-E013-D918-2C16-FC77BC2B0EC0}"/>
              </a:ext>
            </a:extLst>
          </p:cNvPr>
          <p:cNvSpPr>
            <a:spLocks noGrp="1"/>
          </p:cNvSpPr>
          <p:nvPr>
            <p:ph sz="half" idx="2"/>
          </p:nvPr>
        </p:nvSpPr>
        <p:spPr>
          <a:xfrm>
            <a:off x="1133715" y="3006090"/>
            <a:ext cx="6963012"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5D5926-6B35-EFAD-4A2C-4A754F722403}"/>
              </a:ext>
            </a:extLst>
          </p:cNvPr>
          <p:cNvSpPr>
            <a:spLocks noGrp="1"/>
          </p:cNvSpPr>
          <p:nvPr>
            <p:ph type="body" sz="quarter" idx="3"/>
          </p:nvPr>
        </p:nvSpPr>
        <p:spPr>
          <a:xfrm>
            <a:off x="8332470" y="2017396"/>
            <a:ext cx="699730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F1234650-6F94-3674-219A-917F91A8446C}"/>
              </a:ext>
            </a:extLst>
          </p:cNvPr>
          <p:cNvSpPr>
            <a:spLocks noGrp="1"/>
          </p:cNvSpPr>
          <p:nvPr>
            <p:ph sz="quarter" idx="4"/>
          </p:nvPr>
        </p:nvSpPr>
        <p:spPr>
          <a:xfrm>
            <a:off x="8332470" y="3006090"/>
            <a:ext cx="699730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28E800-CF86-757E-5623-FA75DEE7FBA0}"/>
              </a:ext>
            </a:extLst>
          </p:cNvPr>
          <p:cNvSpPr>
            <a:spLocks noGrp="1"/>
          </p:cNvSpPr>
          <p:nvPr>
            <p:ph type="dt" sz="half" idx="10"/>
          </p:nvPr>
        </p:nvSpPr>
        <p:spPr/>
        <p:txBody>
          <a:bodyPr/>
          <a:lstStyle/>
          <a:p>
            <a:fld id="{7C952E24-1CB7-46A0-8C3D-B4FF0DB6E441}" type="datetime3">
              <a:rPr lang="en-US" noProof="0" smtClean="0"/>
              <a:t>15 June 2026</a:t>
            </a:fld>
            <a:endParaRPr lang="en-US" noProof="0" dirty="0"/>
          </a:p>
        </p:txBody>
      </p:sp>
      <p:sp>
        <p:nvSpPr>
          <p:cNvPr id="8" name="Footer Placeholder 7">
            <a:extLst>
              <a:ext uri="{FF2B5EF4-FFF2-40B4-BE49-F238E27FC236}">
                <a16:creationId xmlns:a16="http://schemas.microsoft.com/office/drawing/2014/main" id="{4C21DBA9-2172-BFFE-C6DD-2AFA3D0F8EA0}"/>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a:extLst>
              <a:ext uri="{FF2B5EF4-FFF2-40B4-BE49-F238E27FC236}">
                <a16:creationId xmlns:a16="http://schemas.microsoft.com/office/drawing/2014/main" id="{E891D740-77AD-89CA-9D1A-5F1F563ED732}"/>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pic>
        <p:nvPicPr>
          <p:cNvPr id="10" name="Picture 9" descr="Celestia-R1---OverlayContentHD.png">
            <a:extLst>
              <a:ext uri="{FF2B5EF4-FFF2-40B4-BE49-F238E27FC236}">
                <a16:creationId xmlns:a16="http://schemas.microsoft.com/office/drawing/2014/main" id="{0430D8C6-CE85-4C5C-3C34-00588D7B02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6454914" cy="8227457"/>
          </a:xfrm>
          <a:prstGeom prst="rect">
            <a:avLst/>
          </a:prstGeom>
        </p:spPr>
      </p:pic>
      <p:cxnSp>
        <p:nvCxnSpPr>
          <p:cNvPr id="11" name="Straight Connector 10">
            <a:extLst>
              <a:ext uri="{FF2B5EF4-FFF2-40B4-BE49-F238E27FC236}">
                <a16:creationId xmlns:a16="http://schemas.microsoft.com/office/drawing/2014/main" id="{31DB8DD3-68C2-FF2E-982D-19E74F696159}"/>
              </a:ext>
              <a:ext uri="{C183D7F6-B498-43B3-948B-1728B52AA6E4}">
                <adec:decorative xmlns:adec="http://schemas.microsoft.com/office/drawing/2017/decorative" val="1"/>
              </a:ext>
            </a:extLst>
          </p:cNvPr>
          <p:cNvCxnSpPr>
            <a:cxnSpLocks/>
          </p:cNvCxnSpPr>
          <p:nvPr userDrawn="1"/>
        </p:nvCxnSpPr>
        <p:spPr>
          <a:xfrm flipV="1">
            <a:off x="77153" y="1127714"/>
            <a:ext cx="4949" cy="589372"/>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441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421A-FAF8-63D3-626D-49898B050F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0D8D51-A581-B4BF-9B51-ED60A8C84C55}"/>
              </a:ext>
            </a:extLst>
          </p:cNvPr>
          <p:cNvSpPr>
            <a:spLocks noGrp="1"/>
          </p:cNvSpPr>
          <p:nvPr>
            <p:ph type="dt" sz="half" idx="10"/>
          </p:nvPr>
        </p:nvSpPr>
        <p:spPr/>
        <p:txBody>
          <a:bodyPr/>
          <a:lstStyle/>
          <a:p>
            <a:fld id="{2ABBC097-04B8-48C5-BC62-A1F21BB9B5AC}" type="datetime3">
              <a:rPr lang="en-US" noProof="0" smtClean="0"/>
              <a:t>15 June 2026</a:t>
            </a:fld>
            <a:endParaRPr lang="en-US" noProof="0" dirty="0"/>
          </a:p>
        </p:txBody>
      </p:sp>
      <p:sp>
        <p:nvSpPr>
          <p:cNvPr id="4" name="Footer Placeholder 3">
            <a:extLst>
              <a:ext uri="{FF2B5EF4-FFF2-40B4-BE49-F238E27FC236}">
                <a16:creationId xmlns:a16="http://schemas.microsoft.com/office/drawing/2014/main" id="{6D88E8EB-0963-2E64-CE2F-A4A73E5A89AB}"/>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5" name="Slide Number Placeholder 4">
            <a:extLst>
              <a:ext uri="{FF2B5EF4-FFF2-40B4-BE49-F238E27FC236}">
                <a16:creationId xmlns:a16="http://schemas.microsoft.com/office/drawing/2014/main" id="{21A8D414-F416-B005-ABD7-F45FFC8ADF9B}"/>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568098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43FD-3834-F5D9-F094-4847373173DA}"/>
              </a:ext>
            </a:extLst>
          </p:cNvPr>
          <p:cNvSpPr>
            <a:spLocks noGrp="1"/>
          </p:cNvSpPr>
          <p:nvPr>
            <p:ph type="dt" sz="half" idx="10"/>
          </p:nvPr>
        </p:nvSpPr>
        <p:spPr/>
        <p:txBody>
          <a:bodyPr/>
          <a:lstStyle/>
          <a:p>
            <a:fld id="{47311629-8881-4024-9F82-49EBA912A2AF}" type="datetime3">
              <a:rPr lang="en-US" noProof="0" smtClean="0"/>
              <a:t>15 June 2026</a:t>
            </a:fld>
            <a:endParaRPr lang="en-US" noProof="0" dirty="0"/>
          </a:p>
        </p:txBody>
      </p:sp>
      <p:sp>
        <p:nvSpPr>
          <p:cNvPr id="3" name="Footer Placeholder 2">
            <a:extLst>
              <a:ext uri="{FF2B5EF4-FFF2-40B4-BE49-F238E27FC236}">
                <a16:creationId xmlns:a16="http://schemas.microsoft.com/office/drawing/2014/main" id="{0A3B29C9-499A-51D3-B6E5-74DFF75F314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4" name="Slide Number Placeholder 3">
            <a:extLst>
              <a:ext uri="{FF2B5EF4-FFF2-40B4-BE49-F238E27FC236}">
                <a16:creationId xmlns:a16="http://schemas.microsoft.com/office/drawing/2014/main" id="{BF7F45D1-ACDF-A194-290E-4512335EA710}"/>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276279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6932C-ACD8-4FD9-5BD9-495D9927A665}"/>
              </a:ext>
            </a:extLst>
          </p:cNvPr>
          <p:cNvSpPr>
            <a:spLocks noGrp="1"/>
          </p:cNvSpPr>
          <p:nvPr>
            <p:ph type="title"/>
          </p:nvPr>
        </p:nvSpPr>
        <p:spPr>
          <a:xfrm>
            <a:off x="1133714" y="548640"/>
            <a:ext cx="5308520"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916DD922-6153-6E0A-1F63-59BDD6637B75}"/>
              </a:ext>
            </a:extLst>
          </p:cNvPr>
          <p:cNvSpPr>
            <a:spLocks noGrp="1"/>
          </p:cNvSpPr>
          <p:nvPr>
            <p:ph idx="1"/>
          </p:nvPr>
        </p:nvSpPr>
        <p:spPr>
          <a:xfrm>
            <a:off x="6997304" y="1184911"/>
            <a:ext cx="833247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C46E72-6CA6-59A4-1BD9-954210A2E816}"/>
              </a:ext>
            </a:extLst>
          </p:cNvPr>
          <p:cNvSpPr>
            <a:spLocks noGrp="1"/>
          </p:cNvSpPr>
          <p:nvPr>
            <p:ph type="body" sz="half" idx="2"/>
          </p:nvPr>
        </p:nvSpPr>
        <p:spPr>
          <a:xfrm>
            <a:off x="1133714" y="2468880"/>
            <a:ext cx="53085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D5763185-D3D9-3528-AE4D-AD3ED9FD77F3}"/>
              </a:ext>
            </a:extLst>
          </p:cNvPr>
          <p:cNvSpPr>
            <a:spLocks noGrp="1"/>
          </p:cNvSpPr>
          <p:nvPr>
            <p:ph type="dt" sz="half" idx="10"/>
          </p:nvPr>
        </p:nvSpPr>
        <p:spPr/>
        <p:txBody>
          <a:bodyPr/>
          <a:lstStyle/>
          <a:p>
            <a:fld id="{8D328CD9-8FBD-4A91-AA43-797AA12A3315}"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156873E7-AF16-0D25-A9E8-2D99EA86857B}"/>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C07A508F-B1C7-CB92-6A73-FADCBA3A7D0C}"/>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368587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EBB2-B5A2-0D58-C118-CE604E8EE00C}"/>
              </a:ext>
            </a:extLst>
          </p:cNvPr>
          <p:cNvSpPr>
            <a:spLocks noGrp="1"/>
          </p:cNvSpPr>
          <p:nvPr>
            <p:ph type="title"/>
          </p:nvPr>
        </p:nvSpPr>
        <p:spPr>
          <a:xfrm>
            <a:off x="1133714" y="548640"/>
            <a:ext cx="5308520"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19F37FA5-60E4-FCB9-5F56-34DB5D53909A}"/>
              </a:ext>
            </a:extLst>
          </p:cNvPr>
          <p:cNvSpPr>
            <a:spLocks noGrp="1"/>
          </p:cNvSpPr>
          <p:nvPr>
            <p:ph type="pic" idx="1"/>
          </p:nvPr>
        </p:nvSpPr>
        <p:spPr>
          <a:xfrm>
            <a:off x="6997304" y="1184911"/>
            <a:ext cx="833247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51F397DC-028F-5449-DBAF-C19F319E605A}"/>
              </a:ext>
            </a:extLst>
          </p:cNvPr>
          <p:cNvSpPr>
            <a:spLocks noGrp="1"/>
          </p:cNvSpPr>
          <p:nvPr>
            <p:ph type="body" sz="half" idx="2"/>
          </p:nvPr>
        </p:nvSpPr>
        <p:spPr>
          <a:xfrm>
            <a:off x="1133714" y="2468880"/>
            <a:ext cx="53085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9675B055-CF88-BA0B-F1D0-1F7BDA61301E}"/>
              </a:ext>
            </a:extLst>
          </p:cNvPr>
          <p:cNvSpPr>
            <a:spLocks noGrp="1"/>
          </p:cNvSpPr>
          <p:nvPr>
            <p:ph type="dt" sz="half" idx="10"/>
          </p:nvPr>
        </p:nvSpPr>
        <p:spPr/>
        <p:txBody>
          <a:bodyPr/>
          <a:lstStyle/>
          <a:p>
            <a:fld id="{83CE2F4D-5C11-45DF-A104-944469D53874}"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CE5E90CB-BFCF-12CA-ED54-222A96E7AD78}"/>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2A2C9EEC-5E05-00C9-51B3-0A3B89738AA7}"/>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7805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C6A3-FD23-817F-F964-B809F53401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C1F517-1D63-EC81-B2D4-C2D5C8EE26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2C10D-D0A6-DC2F-07FB-688028D595F5}"/>
              </a:ext>
            </a:extLst>
          </p:cNvPr>
          <p:cNvSpPr>
            <a:spLocks noGrp="1"/>
          </p:cNvSpPr>
          <p:nvPr>
            <p:ph type="dt" sz="half" idx="10"/>
          </p:nvPr>
        </p:nvSpPr>
        <p:spPr/>
        <p:txBody>
          <a:bodyPr/>
          <a:lstStyle/>
          <a:p>
            <a:fld id="{99521C0C-BF05-4819-89B0-E0E82B746787}"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456579C6-F060-954F-EE7B-136934D8D351}"/>
              </a:ext>
            </a:extLst>
          </p:cNvPr>
          <p:cNvSpPr>
            <a:spLocks noGrp="1"/>
          </p:cNvSpPr>
          <p:nvPr>
            <p:ph type="ftr" sz="quarter" idx="11"/>
          </p:nvPr>
        </p:nvSpPr>
        <p:spPr/>
        <p:txBody>
          <a:body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A98E5E63-3CBC-E978-CC1A-36F71F8FCA25}"/>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016177726"/>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7BB8E5-5B69-DBC5-472D-07945BD684C4}"/>
              </a:ext>
            </a:extLst>
          </p:cNvPr>
          <p:cNvSpPr>
            <a:spLocks noGrp="1"/>
          </p:cNvSpPr>
          <p:nvPr>
            <p:ph type="title" orient="vert"/>
          </p:nvPr>
        </p:nvSpPr>
        <p:spPr>
          <a:xfrm>
            <a:off x="11778615" y="438150"/>
            <a:ext cx="3549015"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9FA3BE-9EDE-12A3-3AF8-E70C1FA4B907}"/>
              </a:ext>
            </a:extLst>
          </p:cNvPr>
          <p:cNvSpPr>
            <a:spLocks noGrp="1"/>
          </p:cNvSpPr>
          <p:nvPr>
            <p:ph type="body" orient="vert" idx="1"/>
          </p:nvPr>
        </p:nvSpPr>
        <p:spPr>
          <a:xfrm>
            <a:off x="1131570" y="438150"/>
            <a:ext cx="10441305"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CFDAF-6259-6BB8-5C3D-224DBBC04B2E}"/>
              </a:ext>
            </a:extLst>
          </p:cNvPr>
          <p:cNvSpPr>
            <a:spLocks noGrp="1"/>
          </p:cNvSpPr>
          <p:nvPr>
            <p:ph type="dt" sz="half" idx="10"/>
          </p:nvPr>
        </p:nvSpPr>
        <p:spPr/>
        <p:txBody>
          <a:bodyPr/>
          <a:lstStyle/>
          <a:p>
            <a:fld id="{99521C0C-BF05-4819-89B0-E0E82B746787}"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5F61F98E-3DB0-7117-1A6F-83D4F16A9CB7}"/>
              </a:ext>
            </a:extLst>
          </p:cNvPr>
          <p:cNvSpPr>
            <a:spLocks noGrp="1"/>
          </p:cNvSpPr>
          <p:nvPr>
            <p:ph type="ftr" sz="quarter" idx="11"/>
          </p:nvPr>
        </p:nvSpPr>
        <p:spPr/>
        <p:txBody>
          <a:body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5E1DACF2-57B2-B04A-525F-41BC7D0B454D}"/>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8975671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6454914" cy="8227457"/>
          </a:xfrm>
          <a:prstGeom prst="rect">
            <a:avLst/>
          </a:prstGeom>
        </p:spPr>
      </p:pic>
      <p:sp>
        <p:nvSpPr>
          <p:cNvPr id="2" name="Title 1"/>
          <p:cNvSpPr>
            <a:spLocks noGrp="1"/>
          </p:cNvSpPr>
          <p:nvPr>
            <p:ph type="title"/>
          </p:nvPr>
        </p:nvSpPr>
        <p:spPr>
          <a:xfrm>
            <a:off x="925831" y="731521"/>
            <a:ext cx="14635234" cy="1512000"/>
          </a:xfrm>
        </p:spPr>
        <p:txBody>
          <a:bodyPr anchor="ctr" anchorCtr="0">
            <a:normAutofit/>
          </a:bodyPr>
          <a:lstStyle>
            <a:lvl1pPr>
              <a:defRPr sz="3600"/>
            </a:lvl1pPr>
          </a:lstStyle>
          <a:p>
            <a:r>
              <a:rPr lang="en-US" noProof="0"/>
              <a:t>Click to edit Master title style</a:t>
            </a:r>
          </a:p>
        </p:txBody>
      </p:sp>
      <p:sp>
        <p:nvSpPr>
          <p:cNvPr id="3" name="Text Placeholder 2"/>
          <p:cNvSpPr>
            <a:spLocks noGrp="1"/>
          </p:cNvSpPr>
          <p:nvPr>
            <p:ph type="body" idx="1"/>
          </p:nvPr>
        </p:nvSpPr>
        <p:spPr>
          <a:xfrm>
            <a:off x="925829" y="2258189"/>
            <a:ext cx="14635234" cy="1239391"/>
          </a:xfrm>
        </p:spPr>
        <p:txBody>
          <a:bodyPr anchor="t" anchorCtr="0">
            <a:noAutofit/>
          </a:bodyPr>
          <a:lstStyle>
            <a:lvl1pPr marL="0" indent="0">
              <a:buNone/>
              <a:defRPr sz="21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noProof="0"/>
              <a:t>Edit Master text styles</a:t>
            </a:r>
          </a:p>
        </p:txBody>
      </p:sp>
      <p:sp>
        <p:nvSpPr>
          <p:cNvPr id="7" name="Date Placeholder 6"/>
          <p:cNvSpPr>
            <a:spLocks noGrp="1"/>
          </p:cNvSpPr>
          <p:nvPr>
            <p:ph type="dt" sz="half" idx="10"/>
          </p:nvPr>
        </p:nvSpPr>
        <p:spPr/>
        <p:txBody>
          <a:bodyPr/>
          <a:lstStyle/>
          <a:p>
            <a:fld id="{278A9EDC-E51F-48C8-8F79-252575C55B96}" type="datetime3">
              <a:rPr lang="en-US" noProof="0" smtClean="0"/>
              <a:t>15 June 2026</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641859"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925829" y="3497580"/>
            <a:ext cx="14635234" cy="602551"/>
          </a:xfrm>
        </p:spPr>
        <p:txBody>
          <a:bodyPr anchor="ctr" anchorCtr="0">
            <a:noAutofit/>
          </a:bodyPr>
          <a:lstStyle>
            <a:lvl1pPr marL="0" indent="0" algn="ctr">
              <a:buNone/>
              <a:defRPr sz="21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10078244"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12890372"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7266116"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4453987"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212648" y="1490980"/>
            <a:ext cx="6048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 y="0"/>
            <a:ext cx="16454914" cy="8227457"/>
          </a:xfrm>
          <a:prstGeom prst="rect">
            <a:avLst/>
          </a:prstGeom>
        </p:spPr>
      </p:pic>
      <p:sp>
        <p:nvSpPr>
          <p:cNvPr id="2" name="Title 1"/>
          <p:cNvSpPr>
            <a:spLocks noGrp="1"/>
          </p:cNvSpPr>
          <p:nvPr>
            <p:ph type="title"/>
          </p:nvPr>
        </p:nvSpPr>
        <p:spPr>
          <a:xfrm>
            <a:off x="1967390" y="1195160"/>
            <a:ext cx="8422480" cy="1512000"/>
          </a:xfrm>
        </p:spPr>
        <p:txBody>
          <a:bodyPr anchor="ctr" anchorCtr="0">
            <a:noAutofit/>
          </a:bodyPr>
          <a:lstStyle>
            <a:lvl1pPr algn="r">
              <a:defRPr sz="36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10819170" y="1195162"/>
            <a:ext cx="4714200" cy="5839277"/>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noProof="0"/>
              <a:t>Click icon to add picture</a:t>
            </a:r>
            <a:endParaRPr lang="en-US" noProof="0" dirty="0"/>
          </a:p>
        </p:txBody>
      </p:sp>
      <p:sp>
        <p:nvSpPr>
          <p:cNvPr id="4" name="Text Placeholder 3"/>
          <p:cNvSpPr>
            <a:spLocks noGrp="1"/>
          </p:cNvSpPr>
          <p:nvPr>
            <p:ph type="body" sz="half" idx="2"/>
          </p:nvPr>
        </p:nvSpPr>
        <p:spPr>
          <a:xfrm>
            <a:off x="1465897" y="2707160"/>
            <a:ext cx="8923974" cy="4171942"/>
          </a:xfrm>
        </p:spPr>
        <p:txBody>
          <a:bodyPr anchor="t">
            <a:normAutofit/>
          </a:bodyPr>
          <a:lstStyle>
            <a:lvl1pPr marL="0" indent="0" algn="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noProof="0"/>
              <a:t>Edit Master text styles</a:t>
            </a:r>
          </a:p>
        </p:txBody>
      </p:sp>
      <p:sp>
        <p:nvSpPr>
          <p:cNvPr id="5" name="Date Placeholder 4"/>
          <p:cNvSpPr>
            <a:spLocks noGrp="1"/>
          </p:cNvSpPr>
          <p:nvPr>
            <p:ph type="dt" sz="half" idx="10"/>
          </p:nvPr>
        </p:nvSpPr>
        <p:spPr/>
        <p:txBody>
          <a:bodyPr/>
          <a:lstStyle/>
          <a:p>
            <a:fld id="{83CE2F4D-5C11-45DF-A104-944469D53874}"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 y="0"/>
            <a:ext cx="16454914" cy="8227457"/>
          </a:xfrm>
          <a:prstGeom prst="rect">
            <a:avLst/>
          </a:prstGeom>
        </p:spPr>
      </p:pic>
      <p:sp>
        <p:nvSpPr>
          <p:cNvPr id="2" name="Title 1"/>
          <p:cNvSpPr>
            <a:spLocks noGrp="1"/>
          </p:cNvSpPr>
          <p:nvPr>
            <p:ph type="title"/>
          </p:nvPr>
        </p:nvSpPr>
        <p:spPr>
          <a:xfrm>
            <a:off x="8988265" y="1195162"/>
            <a:ext cx="6545104" cy="1512000"/>
          </a:xfrm>
        </p:spPr>
        <p:txBody>
          <a:bodyPr anchor="ctr" anchorCtr="0">
            <a:normAutofit/>
          </a:bodyPr>
          <a:lstStyle>
            <a:lvl1pPr algn="l">
              <a:defRPr sz="36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982225" y="1097281"/>
            <a:ext cx="7761724" cy="5781822"/>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noProof="0"/>
              <a:t>Click icon to add picture</a:t>
            </a:r>
            <a:endParaRPr lang="en-US" noProof="0" dirty="0"/>
          </a:p>
        </p:txBody>
      </p:sp>
      <p:sp>
        <p:nvSpPr>
          <p:cNvPr id="4" name="Text Placeholder 3"/>
          <p:cNvSpPr>
            <a:spLocks noGrp="1"/>
          </p:cNvSpPr>
          <p:nvPr>
            <p:ph type="body" sz="half" idx="2"/>
          </p:nvPr>
        </p:nvSpPr>
        <p:spPr>
          <a:xfrm>
            <a:off x="8988265" y="2707162"/>
            <a:ext cx="6545104" cy="4171940"/>
          </a:xfrm>
        </p:spPr>
        <p:txBody>
          <a:bodyPr anchor="t">
            <a:normAutofit/>
          </a:bodyPr>
          <a:lstStyle>
            <a:lvl1pPr marL="0" indent="0" algn="l">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noProof="0"/>
              <a:t>Edit Master text styles</a:t>
            </a:r>
          </a:p>
        </p:txBody>
      </p:sp>
      <p:sp>
        <p:nvSpPr>
          <p:cNvPr id="5" name="Date Placeholder 4"/>
          <p:cNvSpPr>
            <a:spLocks noGrp="1"/>
          </p:cNvSpPr>
          <p:nvPr>
            <p:ph type="dt" sz="half" idx="10"/>
          </p:nvPr>
        </p:nvSpPr>
        <p:spPr/>
        <p:txBody>
          <a:bodyPr/>
          <a:lstStyle/>
          <a:p>
            <a:fld id="{E963834A-6431-42FE-9745-0C42FA65CC71}"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CB9AF-1CA4-3D27-A03A-5AC21AA27269}"/>
              </a:ext>
            </a:extLst>
          </p:cNvPr>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F63570-4725-06D8-3F83-00280E0B2417}"/>
              </a:ext>
            </a:extLst>
          </p:cNvPr>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61AED-F246-5366-9A4A-10765F4ED8C1}"/>
              </a:ext>
            </a:extLst>
          </p:cNvPr>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99521C0C-BF05-4819-89B0-E0E82B746787}"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9F742841-08D1-F64E-2426-7F7790D4180D}"/>
              </a:ext>
            </a:extLst>
          </p:cNvPr>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9CDCBFD4-8A05-5C8D-0837-55649FB1F871}"/>
              </a:ext>
            </a:extLst>
          </p:cNvPr>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15263566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79" r:id="rId12"/>
    <p:sldLayoutId id="2147483669" r:id="rId13"/>
    <p:sldLayoutId id="2147483680" r:id="rId14"/>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14.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rocketscream/Low-Power" TargetMode="External"/><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jpeg"/><Relationship Id="rId4" Type="http://schemas.microsoft.com/office/2007/relationships/hdphoto" Target="../media/hdphoto3.wdp"/></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ktvUunBQQD0" TargetMode="External"/><Relationship Id="rId2" Type="http://schemas.openxmlformats.org/officeDocument/2006/relationships/image" Target="../media/image27.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517521" y="152401"/>
            <a:ext cx="9711267" cy="6172199"/>
          </a:xfrm>
          <a:prstGeom prst="rect">
            <a:avLst/>
          </a:prstGeom>
        </p:spPr>
      </p:pic>
      <p:sp>
        <p:nvSpPr>
          <p:cNvPr id="4098" name="Rectangle 2"/>
          <p:cNvSpPr>
            <a:spLocks noGrp="1" noChangeArrowheads="1"/>
          </p:cNvSpPr>
          <p:nvPr>
            <p:ph type="ctrTitle"/>
          </p:nvPr>
        </p:nvSpPr>
        <p:spPr>
          <a:xfrm>
            <a:off x="6477000" y="152401"/>
            <a:ext cx="9677400" cy="3581399"/>
          </a:xfrm>
        </p:spPr>
        <p:txBody>
          <a:bodyPr anchor="t">
            <a:normAutofit/>
          </a:bodyPr>
          <a:lstStyle/>
          <a:p>
            <a:pPr algn="l" eaLnBrk="1" hangingPunct="1"/>
            <a:r>
              <a:rPr lang="en-US" altLang="en-US" sz="7200" dirty="0">
                <a:solidFill>
                  <a:srgbClr val="FFFF00"/>
                </a:solidFill>
                <a:latin typeface="Algerian" panose="04020705040A02060702" pitchFamily="82" charset="0"/>
              </a:rPr>
              <a:t>Lecture </a:t>
            </a:r>
            <a:r>
              <a:rPr lang="en-US" altLang="en-US" sz="7200">
                <a:solidFill>
                  <a:srgbClr val="FFFF00"/>
                </a:solidFill>
                <a:latin typeface="Algerian" panose="04020705040A02060702" pitchFamily="82" charset="0"/>
              </a:rPr>
              <a:t># 05M</a:t>
            </a:r>
            <a:r>
              <a:rPr lang="en-US" altLang="en-US" sz="7200" dirty="0">
                <a:solidFill>
                  <a:srgbClr val="FFFF00"/>
                </a:solidFill>
                <a:latin typeface="Algerian" panose="04020705040A02060702" pitchFamily="82" charset="0"/>
              </a:rPr>
              <a:t>:</a:t>
            </a:r>
          </a:p>
        </p:txBody>
      </p:sp>
      <p:sp>
        <p:nvSpPr>
          <p:cNvPr id="4100" name="Rectangle 5"/>
          <p:cNvSpPr>
            <a:spLocks noChangeAspect="1" noChangeArrowheads="1"/>
          </p:cNvSpPr>
          <p:nvPr/>
        </p:nvSpPr>
        <p:spPr bwMode="auto">
          <a:xfrm>
            <a:off x="6551388" y="6496580"/>
            <a:ext cx="9677400" cy="1508125"/>
          </a:xfrm>
          <a:prstGeom prst="rect">
            <a:avLst/>
          </a:prstGeom>
          <a:noFill/>
          <a:ln w="28575">
            <a:solidFill>
              <a:srgbClr val="0070C0"/>
            </a:solidFill>
            <a:miter lim="800000"/>
            <a:headEnd/>
            <a:tailEnd/>
          </a:ln>
        </p:spPr>
        <p:txBody>
          <a:bodyPr lIns="117191" tIns="0" rIns="117191"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400" b="1" dirty="0">
                <a:solidFill>
                  <a:srgbClr val="0000FF"/>
                </a:solidFill>
                <a:cs typeface="Arial" panose="020B0604020202020204" pitchFamily="34" charset="0"/>
              </a:rPr>
              <a:t>Prof. Dr. Engr. </a:t>
            </a:r>
            <a:r>
              <a:rPr lang="en-US" altLang="en-US" sz="2400" b="1" dirty="0" err="1">
                <a:solidFill>
                  <a:srgbClr val="0000FF"/>
                </a:solidFill>
                <a:cs typeface="Arial" panose="020B0604020202020204" pitchFamily="34" charset="0"/>
              </a:rPr>
              <a:t>Muhibul</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Haque</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Bhuyan</a:t>
            </a:r>
            <a:endParaRPr lang="en-US" altLang="en-US" sz="2400" b="1" dirty="0">
              <a:solidFill>
                <a:srgbClr val="0000FF"/>
              </a:solidFill>
              <a:cs typeface="Arial" panose="020B0604020202020204" pitchFamily="34" charset="0"/>
            </a:endParaRPr>
          </a:p>
          <a:p>
            <a:pPr eaLnBrk="1" hangingPunct="1">
              <a:spcBef>
                <a:spcPct val="0"/>
              </a:spcBef>
              <a:buFontTx/>
              <a:buNone/>
            </a:pPr>
            <a:r>
              <a:rPr lang="en-US" altLang="en-US" sz="2400" b="1" dirty="0">
                <a:solidFill>
                  <a:srgbClr val="FF0000"/>
                </a:solidFill>
                <a:cs typeface="Arial" panose="020B0604020202020204" pitchFamily="34" charset="0"/>
              </a:rPr>
              <a:t>Professor, Department of EEE</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p>
        </p:txBody>
      </p:sp>
      <p:pic>
        <p:nvPicPr>
          <p:cNvPr id="6" name="Picture 5"/>
          <p:cNvPicPr>
            <a:picLocks noChangeAspect="1"/>
          </p:cNvPicPr>
          <p:nvPr/>
        </p:nvPicPr>
        <p:blipFill>
          <a:blip r:embed="rId4"/>
          <a:stretch>
            <a:fillRect/>
          </a:stretch>
        </p:blipFill>
        <p:spPr>
          <a:xfrm>
            <a:off x="228600" y="152401"/>
            <a:ext cx="6174012" cy="7828858"/>
          </a:xfrm>
          <a:prstGeom prst="rect">
            <a:avLst/>
          </a:prstGeom>
          <a:ln>
            <a:solidFill>
              <a:schemeClr val="tx1"/>
            </a:solidFill>
          </a:ln>
        </p:spPr>
      </p:pic>
      <p:sp>
        <p:nvSpPr>
          <p:cNvPr id="2" name="Title 1">
            <a:extLst>
              <a:ext uri="{FF2B5EF4-FFF2-40B4-BE49-F238E27FC236}">
                <a16:creationId xmlns:a16="http://schemas.microsoft.com/office/drawing/2014/main" id="{ED116E64-9C56-1C32-3A5B-0EA6EF3DE1B3}"/>
              </a:ext>
            </a:extLst>
          </p:cNvPr>
          <p:cNvSpPr txBox="1">
            <a:spLocks/>
          </p:cNvSpPr>
          <p:nvPr/>
        </p:nvSpPr>
        <p:spPr>
          <a:xfrm>
            <a:off x="6472982" y="818148"/>
            <a:ext cx="8734927" cy="1380262"/>
          </a:xfrm>
          <a:prstGeom prst="rect">
            <a:avLst/>
          </a:prstGeom>
        </p:spPr>
        <p:txBody>
          <a:bodyPr vert="horz" lIns="91440" tIns="45720" rIns="91440" bIns="45720" rtlCol="0" anchor="ctr">
            <a:noAutofit/>
          </a:bodyPr>
          <a:lstStyle>
            <a:lvl1pPr algn="ctr" defTabSz="1097280" rtl="0" eaLnBrk="1" latinLnBrk="0" hangingPunct="1">
              <a:lnSpc>
                <a:spcPct val="90000"/>
              </a:lnSpc>
              <a:spcBef>
                <a:spcPct val="0"/>
              </a:spcBef>
              <a:buNone/>
              <a:defRPr sz="7200" kern="1200">
                <a:solidFill>
                  <a:schemeClr val="tx1"/>
                </a:solidFill>
                <a:latin typeface="+mj-lt"/>
                <a:ea typeface="+mj-ea"/>
                <a:cs typeface="+mj-cs"/>
              </a:defRPr>
            </a:lvl1pPr>
          </a:lstStyle>
          <a:p>
            <a:pPr algn="l"/>
            <a:r>
              <a:rPr lang="en-US" sz="6000" b="1" dirty="0">
                <a:solidFill>
                  <a:srgbClr val="FF0000"/>
                </a:solidFill>
                <a:latin typeface="Elephant" panose="02020904090505020303" pitchFamily="18" charset="0"/>
              </a:rPr>
              <a:t>System Clock Options </a:t>
            </a:r>
          </a:p>
        </p:txBody>
      </p:sp>
    </p:spTree>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2"/>
                                        </p:tgtEl>
                                        <p:attrNameLst>
                                          <p:attrName>style.color</p:attrName>
                                        </p:attrNameLst>
                                      </p:cBhvr>
                                      <p:by>
                                        <p:hsl h="7200000" s="0" l="0"/>
                                      </p:by>
                                    </p:animClr>
                                    <p:animClr clrSpc="hsl" dir="cw">
                                      <p:cBhvr>
                                        <p:cTn id="7" dur="500" fill="hold"/>
                                        <p:tgtEl>
                                          <p:spTgt spid="2"/>
                                        </p:tgtEl>
                                        <p:attrNameLst>
                                          <p:attrName>fillcolor</p:attrName>
                                        </p:attrNameLst>
                                      </p:cBhvr>
                                      <p:by>
                                        <p:hsl h="7200000" s="0" l="0"/>
                                      </p:by>
                                    </p:animClr>
                                    <p:animClr clrSpc="hsl" dir="cw">
                                      <p:cBhvr>
                                        <p:cTn id="8" dur="500" fill="hold"/>
                                        <p:tgtEl>
                                          <p:spTgt spid="2"/>
                                        </p:tgtEl>
                                        <p:attrNameLst>
                                          <p:attrName>stroke.color</p:attrName>
                                        </p:attrNameLst>
                                      </p:cBhvr>
                                      <p:by>
                                        <p:hsl h="7200000" s="0" l="0"/>
                                      </p:by>
                                    </p:animClr>
                                    <p:set>
                                      <p:cBhvr>
                                        <p:cTn id="9"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00263" y="167867"/>
            <a:ext cx="11799231" cy="859790"/>
          </a:xfrm>
        </p:spPr>
        <p:txBody>
          <a:bodyPr>
            <a:normAutofit fontScale="90000"/>
          </a:bodyPr>
          <a:lstStyle/>
          <a:p>
            <a:pPr algn="l"/>
            <a:r>
              <a:rPr lang="en-US" sz="6000" b="1" u="sng" dirty="0">
                <a:latin typeface="+mn-lt"/>
              </a:rPr>
              <a:t>Introduction:</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373649" y="1444752"/>
            <a:ext cx="12444551" cy="2419920"/>
          </a:xfrm>
        </p:spPr>
        <p:txBody>
          <a:bodyPr>
            <a:noAutofit/>
          </a:bodyPr>
          <a:lstStyle/>
          <a:p>
            <a:pPr algn="just"/>
            <a:endParaRPr lang="en-CA"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5" name="Date Placeholder 4">
            <a:extLst>
              <a:ext uri="{FF2B5EF4-FFF2-40B4-BE49-F238E27FC236}">
                <a16:creationId xmlns:a16="http://schemas.microsoft.com/office/drawing/2014/main" id="{B2E35ABC-8166-5747-40E3-90F5D760C9E4}"/>
              </a:ext>
            </a:extLst>
          </p:cNvPr>
          <p:cNvSpPr>
            <a:spLocks noGrp="1"/>
          </p:cNvSpPr>
          <p:nvPr>
            <p:ph type="dt" sz="half" idx="10"/>
          </p:nvPr>
        </p:nvSpPr>
        <p:spPr/>
        <p:txBody>
          <a:bodyPr/>
          <a:lstStyle/>
          <a:p>
            <a:fld id="{5EE09050-8205-4611-91CA-F29D2E5D8BC2}"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F786FAD6-BA4F-78D9-BA2E-DA7E08F2B24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a:t>
            </a:fld>
            <a:endParaRPr lang="en-US" noProof="0" dirty="0"/>
          </a:p>
        </p:txBody>
      </p:sp>
      <p:sp>
        <p:nvSpPr>
          <p:cNvPr id="8" name="Rectangle 7"/>
          <p:cNvSpPr/>
          <p:nvPr/>
        </p:nvSpPr>
        <p:spPr>
          <a:xfrm>
            <a:off x="200264" y="1058141"/>
            <a:ext cx="16096164" cy="6832640"/>
          </a:xfrm>
          <a:prstGeom prst="rect">
            <a:avLst/>
          </a:prstGeom>
        </p:spPr>
        <p:txBody>
          <a:bodyPr wrap="square">
            <a:spAutoFit/>
          </a:bodyPr>
          <a:lstStyle/>
          <a:p>
            <a:r>
              <a:rPr lang="en-US" sz="4000" b="1" dirty="0">
                <a:solidFill>
                  <a:srgbClr val="FF0000"/>
                </a:solidFill>
                <a:latin typeface="Arial" panose="020B0604020202020204" pitchFamily="34" charset="0"/>
                <a:cs typeface="Arial" panose="020B0604020202020204" pitchFamily="34" charset="0"/>
              </a:rPr>
              <a:t>Oscillating Options:</a:t>
            </a:r>
          </a:p>
          <a:p>
            <a:pPr>
              <a:spcAft>
                <a:spcPts val="1200"/>
              </a:spcAft>
            </a:pPr>
            <a:r>
              <a:rPr lang="en-US" sz="3600" dirty="0">
                <a:latin typeface="Arial" panose="020B0604020202020204" pitchFamily="34" charset="0"/>
                <a:cs typeface="Arial" panose="020B0604020202020204" pitchFamily="34" charset="0"/>
              </a:rPr>
              <a:t>Every microcontroller needs a clock source. The </a:t>
            </a:r>
            <a:r>
              <a:rPr lang="en-US" sz="3600" dirty="0">
                <a:solidFill>
                  <a:srgbClr val="FF0000"/>
                </a:solidFill>
                <a:latin typeface="Arial" panose="020B0604020202020204" pitchFamily="34" charset="0"/>
                <a:cs typeface="Arial" panose="020B0604020202020204" pitchFamily="34" charset="0"/>
              </a:rPr>
              <a:t>CPU</a:t>
            </a:r>
            <a:r>
              <a:rPr lang="en-US" sz="3600" dirty="0">
                <a:latin typeface="Arial" panose="020B0604020202020204" pitchFamily="34" charset="0"/>
                <a:cs typeface="Arial" panose="020B0604020202020204" pitchFamily="34" charset="0"/>
              </a:rPr>
              <a:t>, the </a:t>
            </a:r>
            <a:r>
              <a:rPr lang="en-US" sz="3600" dirty="0">
                <a:solidFill>
                  <a:srgbClr val="FF0000"/>
                </a:solidFill>
                <a:latin typeface="Arial" panose="020B0604020202020204" pitchFamily="34" charset="0"/>
                <a:cs typeface="Arial" panose="020B0604020202020204" pitchFamily="34" charset="0"/>
              </a:rPr>
              <a:t>memory bus</a:t>
            </a:r>
            <a:r>
              <a:rPr lang="en-US" sz="3600" dirty="0">
                <a:latin typeface="Arial" panose="020B0604020202020204" pitchFamily="34" charset="0"/>
                <a:cs typeface="Arial" panose="020B0604020202020204" pitchFamily="34" charset="0"/>
              </a:rPr>
              <a:t>, the </a:t>
            </a:r>
            <a:r>
              <a:rPr lang="en-US" sz="3200" dirty="0">
                <a:solidFill>
                  <a:srgbClr val="00B0F0"/>
                </a:solidFill>
                <a:latin typeface="Arial" panose="020B0604020202020204" pitchFamily="34" charset="0"/>
                <a:cs typeface="Arial" panose="020B0604020202020204" pitchFamily="34" charset="0"/>
              </a:rPr>
              <a:t>peripherals</a:t>
            </a:r>
            <a:r>
              <a:rPr lang="en-US" sz="3200" dirty="0">
                <a:latin typeface="Arial" panose="020B0604020202020204" pitchFamily="34" charset="0"/>
                <a:cs typeface="Arial" panose="020B0604020202020204" pitchFamily="34" charset="0"/>
              </a:rPr>
              <a:t>—clock signals are everywhere inside a microcontroller. They govern the speed at which the processor executes instructions, the baud rate of serial communication signals, the amount of time needed to perform an analog-to-digital conversion, and so much more.</a:t>
            </a:r>
          </a:p>
          <a:p>
            <a:r>
              <a:rPr lang="en-US" sz="3200" dirty="0">
                <a:latin typeface="Arial" panose="020B0604020202020204" pitchFamily="34" charset="0"/>
                <a:cs typeface="Arial" panose="020B0604020202020204" pitchFamily="34" charset="0"/>
              </a:rPr>
              <a:t>All these clocking actions return to the clock signal’s source, namely the oscillator. Therefore, the oscillator must provide the desired performance from the microcontroller. Though some oscillator options are more complex or expensive than others, the choice of oscillator should reflect the importance of reducing cost and complexity whenever possible. </a:t>
            </a:r>
            <a:r>
              <a:rPr lang="en-US" sz="3200" b="1" dirty="0">
                <a:solidFill>
                  <a:srgbClr val="00B050"/>
                </a:solidFill>
                <a:latin typeface="Arial" panose="020B0604020202020204" pitchFamily="34" charset="0"/>
                <a:cs typeface="Arial" panose="020B0604020202020204" pitchFamily="34" charset="0"/>
              </a:rPr>
              <a:t>CPU clock speed is a good indicator of the processor’s performance</a:t>
            </a:r>
            <a:r>
              <a:rPr lang="en-US" sz="3200" dirty="0">
                <a:latin typeface="Arial" panose="020B0604020202020204" pitchFamily="34" charset="0"/>
                <a:cs typeface="Arial" panose="020B0604020202020204" pitchFamily="34" charset="0"/>
              </a:rPr>
              <a:t>. In general, a higher clock speed means a faster CPU. A CPU with a clock speed of 3.2 GHz executes 3.2 billion cycles per second. </a:t>
            </a:r>
          </a:p>
        </p:txBody>
      </p:sp>
    </p:spTree>
    <p:extLst>
      <p:ext uri="{BB962C8B-B14F-4D97-AF65-F5344CB8AC3E}">
        <p14:creationId xmlns:p14="http://schemas.microsoft.com/office/powerpoint/2010/main" val="1789687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88758" y="148817"/>
            <a:ext cx="11710737" cy="859790"/>
          </a:xfrm>
        </p:spPr>
        <p:txBody>
          <a:bodyPr>
            <a:normAutofit/>
          </a:bodyPr>
          <a:lstStyle/>
          <a:p>
            <a:pPr algn="l"/>
            <a:r>
              <a:rPr lang="en-US" sz="5400" b="1" u="sng" dirty="0">
                <a:latin typeface="+mn-lt"/>
              </a:rPr>
              <a:t>Introduction:</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373649" y="1444752"/>
            <a:ext cx="12444551" cy="2419920"/>
          </a:xfrm>
        </p:spPr>
        <p:txBody>
          <a:bodyPr>
            <a:noAutofit/>
          </a:bodyPr>
          <a:lstStyle/>
          <a:p>
            <a:pPr algn="just"/>
            <a:endParaRPr lang="en-CA"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5" name="Date Placeholder 4">
            <a:extLst>
              <a:ext uri="{FF2B5EF4-FFF2-40B4-BE49-F238E27FC236}">
                <a16:creationId xmlns:a16="http://schemas.microsoft.com/office/drawing/2014/main" id="{B2E35ABC-8166-5747-40E3-90F5D760C9E4}"/>
              </a:ext>
            </a:extLst>
          </p:cNvPr>
          <p:cNvSpPr>
            <a:spLocks noGrp="1"/>
          </p:cNvSpPr>
          <p:nvPr>
            <p:ph type="dt" sz="half" idx="10"/>
          </p:nvPr>
        </p:nvSpPr>
        <p:spPr/>
        <p:txBody>
          <a:bodyPr/>
          <a:lstStyle/>
          <a:p>
            <a:fld id="{5EE09050-8205-4611-91CA-F29D2E5D8BC2}"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F786FAD6-BA4F-78D9-BA2E-DA7E08F2B24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a:t>
            </a:fld>
            <a:endParaRPr lang="en-US" noProof="0" dirty="0"/>
          </a:p>
        </p:txBody>
      </p:sp>
      <p:sp>
        <p:nvSpPr>
          <p:cNvPr id="8" name="Rectangle 7"/>
          <p:cNvSpPr/>
          <p:nvPr/>
        </p:nvSpPr>
        <p:spPr>
          <a:xfrm>
            <a:off x="200264" y="1000991"/>
            <a:ext cx="16096164" cy="7048083"/>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There are quite a few ways to generate a clock signal for a microcontroller. The datasheet of the microcontroller should provide a good deal of information about what types of oscillators can be used and how to implement them in a way that is compatible with its hardware. There are some advantages and disadvantages of various clock sources and thus it is needed to choose the best one among the oscillator options available for a particular microcontroller.</a:t>
            </a:r>
          </a:p>
          <a:p>
            <a:r>
              <a:rPr lang="en-US" sz="3600" dirty="0">
                <a:latin typeface="Arial" panose="020B0604020202020204" pitchFamily="34" charset="0"/>
                <a:cs typeface="Arial" panose="020B0604020202020204" pitchFamily="34" charset="0"/>
              </a:rPr>
              <a:t>There are </a:t>
            </a:r>
            <a:r>
              <a:rPr lang="en-US" sz="3600" b="1" dirty="0">
                <a:solidFill>
                  <a:srgbClr val="0070C0"/>
                </a:solidFill>
                <a:latin typeface="Arial" panose="020B0604020202020204" pitchFamily="34" charset="0"/>
                <a:cs typeface="Arial" panose="020B0604020202020204" pitchFamily="34" charset="0"/>
              </a:rPr>
              <a:t>two broad types of oscillators- </a:t>
            </a:r>
            <a:r>
              <a:rPr lang="en-US" sz="3600" dirty="0">
                <a:latin typeface="Arial" panose="020B0604020202020204" pitchFamily="34" charset="0"/>
                <a:cs typeface="Arial" panose="020B0604020202020204" pitchFamily="34" charset="0"/>
              </a:rPr>
              <a:t>internal and external.</a:t>
            </a:r>
          </a:p>
          <a:p>
            <a:r>
              <a:rPr lang="en-US" sz="3600" b="1" dirty="0">
                <a:solidFill>
                  <a:srgbClr val="FF0000"/>
                </a:solidFill>
                <a:latin typeface="Arial" panose="020B0604020202020204" pitchFamily="34" charset="0"/>
                <a:cs typeface="Arial" panose="020B0604020202020204" pitchFamily="34" charset="0"/>
              </a:rPr>
              <a:t>Internal</a:t>
            </a:r>
          </a:p>
          <a:p>
            <a:pPr lvl="1"/>
            <a:r>
              <a:rPr lang="en-US" sz="3200" dirty="0">
                <a:latin typeface="Arial" panose="020B0604020202020204" pitchFamily="34" charset="0"/>
                <a:cs typeface="Arial" panose="020B0604020202020204" pitchFamily="34" charset="0"/>
              </a:rPr>
              <a:t>A resistor-capacitor circuit (R-C phase shift oscillator circuit)</a:t>
            </a:r>
          </a:p>
          <a:p>
            <a:pPr lvl="1"/>
            <a:r>
              <a:rPr lang="en-US" sz="3200" dirty="0">
                <a:latin typeface="Arial" panose="020B0604020202020204" pitchFamily="34" charset="0"/>
                <a:cs typeface="Arial" panose="020B0604020202020204" pitchFamily="34" charset="0"/>
              </a:rPr>
              <a:t>Phase-Locked Loop (PLL) for frequency multiplication</a:t>
            </a:r>
            <a:endParaRPr lang="en-US" sz="3600" dirty="0">
              <a:latin typeface="Arial" panose="020B0604020202020204" pitchFamily="34" charset="0"/>
              <a:cs typeface="Arial" panose="020B0604020202020204" pitchFamily="34" charset="0"/>
            </a:endParaRPr>
          </a:p>
          <a:p>
            <a:r>
              <a:rPr lang="en-US" sz="3600" b="1" dirty="0">
                <a:solidFill>
                  <a:srgbClr val="00B050"/>
                </a:solidFill>
                <a:latin typeface="Arial" panose="020B0604020202020204" pitchFamily="34" charset="0"/>
                <a:cs typeface="Arial" panose="020B0604020202020204" pitchFamily="34" charset="0"/>
              </a:rPr>
              <a:t>External</a:t>
            </a:r>
          </a:p>
          <a:p>
            <a:pPr lvl="1"/>
            <a:r>
              <a:rPr lang="en-US" sz="3200" dirty="0">
                <a:latin typeface="Arial" panose="020B0604020202020204" pitchFamily="34" charset="0"/>
                <a:cs typeface="Arial" panose="020B0604020202020204" pitchFamily="34" charset="0"/>
              </a:rPr>
              <a:t>CMOS clock, crystal oscillator, ceramic resonator oscillator, resistor-capacitor oscillator, capacitor-only oscillator, etc.</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70104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81821" y="410178"/>
            <a:ext cx="5895129" cy="7266972"/>
          </a:xfrm>
        </p:spPr>
        <p:txBody>
          <a:bodyPr>
            <a:noAutofit/>
          </a:bodyPr>
          <a:lstStyle/>
          <a:p>
            <a:pPr algn="l"/>
            <a:r>
              <a:rPr lang="en-CA" sz="5400" b="1" u="sng" dirty="0"/>
              <a:t>Block Diagram: </a:t>
            </a:r>
          </a:p>
          <a:p>
            <a:pPr algn="l"/>
            <a:r>
              <a:rPr lang="en-CA" sz="3600" dirty="0">
                <a:latin typeface="Arial" panose="020B0604020202020204" pitchFamily="34" charset="0"/>
                <a:cs typeface="Arial" panose="020B0604020202020204" pitchFamily="34" charset="0"/>
              </a:rPr>
              <a:t>The block diagram represents the </a:t>
            </a:r>
            <a:r>
              <a:rPr lang="en-CA" sz="3600" b="1" dirty="0">
                <a:solidFill>
                  <a:srgbClr val="FF0000"/>
                </a:solidFill>
                <a:latin typeface="Arial" panose="020B0604020202020204" pitchFamily="34" charset="0"/>
                <a:cs typeface="Arial" panose="020B0604020202020204" pitchFamily="34" charset="0"/>
              </a:rPr>
              <a:t>principal clock systems</a:t>
            </a:r>
            <a:r>
              <a:rPr lang="en-CA" sz="3600" b="1" dirty="0">
                <a:latin typeface="Arial" panose="020B0604020202020204" pitchFamily="34" charset="0"/>
                <a:cs typeface="Arial" panose="020B0604020202020204" pitchFamily="34" charset="0"/>
              </a:rPr>
              <a:t> </a:t>
            </a:r>
            <a:r>
              <a:rPr lang="en-CA" sz="3600" dirty="0">
                <a:latin typeface="Arial" panose="020B0604020202020204" pitchFamily="34" charset="0"/>
                <a:cs typeface="Arial" panose="020B0604020202020204" pitchFamily="34" charset="0"/>
              </a:rPr>
              <a:t>in the AVR and their distribution. </a:t>
            </a:r>
          </a:p>
          <a:p>
            <a:pPr algn="l"/>
            <a:r>
              <a:rPr lang="en-CA" sz="3600" dirty="0">
                <a:latin typeface="Arial" panose="020B0604020202020204" pitchFamily="34" charset="0"/>
                <a:cs typeface="Arial" panose="020B0604020202020204" pitchFamily="34" charset="0"/>
              </a:rPr>
              <a:t>All the clocks </a:t>
            </a:r>
            <a:r>
              <a:rPr lang="en-CA" sz="3600" dirty="0">
                <a:solidFill>
                  <a:srgbClr val="0070C0"/>
                </a:solidFill>
                <a:latin typeface="Arial" panose="020B0604020202020204" pitchFamily="34" charset="0"/>
                <a:cs typeface="Arial" panose="020B0604020202020204" pitchFamily="34" charset="0"/>
              </a:rPr>
              <a:t>need not be active at a given time</a:t>
            </a:r>
            <a:r>
              <a:rPr lang="en-CA" sz="3600" dirty="0">
                <a:latin typeface="Arial" panose="020B0604020202020204" pitchFamily="34" charset="0"/>
                <a:cs typeface="Arial" panose="020B0604020202020204" pitchFamily="34" charset="0"/>
              </a:rPr>
              <a:t>.</a:t>
            </a:r>
          </a:p>
          <a:p>
            <a:pPr algn="l"/>
            <a:r>
              <a:rPr lang="en-CA" sz="3600" dirty="0">
                <a:latin typeface="Arial" panose="020B0604020202020204" pitchFamily="34" charset="0"/>
                <a:cs typeface="Arial" panose="020B0604020202020204" pitchFamily="34" charset="0"/>
              </a:rPr>
              <a:t>To reduce power consumption, the clocks to modules not being used can be </a:t>
            </a:r>
            <a:r>
              <a:rPr lang="en-CA" sz="3600" b="1" dirty="0">
                <a:solidFill>
                  <a:srgbClr val="FF0000"/>
                </a:solidFill>
                <a:latin typeface="Arial" panose="020B0604020202020204" pitchFamily="34" charset="0"/>
                <a:cs typeface="Arial" panose="020B0604020202020204" pitchFamily="34" charset="0"/>
              </a:rPr>
              <a:t>halted</a:t>
            </a:r>
            <a:r>
              <a:rPr lang="en-CA" sz="3600" dirty="0">
                <a:latin typeface="Arial" panose="020B0604020202020204" pitchFamily="34" charset="0"/>
                <a:cs typeface="Arial" panose="020B0604020202020204" pitchFamily="34" charset="0"/>
              </a:rPr>
              <a:t> by using different </a:t>
            </a:r>
            <a:r>
              <a:rPr lang="en-CA" sz="3600" b="1" dirty="0">
                <a:solidFill>
                  <a:srgbClr val="CC0099"/>
                </a:solidFill>
                <a:latin typeface="Arial" panose="020B0604020202020204" pitchFamily="34" charset="0"/>
                <a:cs typeface="Arial" panose="020B0604020202020204" pitchFamily="34" charset="0"/>
              </a:rPr>
              <a:t>sleep modes</a:t>
            </a:r>
            <a:r>
              <a:rPr lang="en-CA" sz="3600" dirty="0">
                <a:latin typeface="Arial" panose="020B0604020202020204" pitchFamily="34" charset="0"/>
                <a:cs typeface="Arial" panose="020B0604020202020204" pitchFamily="34" charset="0"/>
              </a:rPr>
              <a:t>.</a:t>
            </a:r>
            <a:endParaRPr lang="en-US" sz="3600" dirty="0">
              <a:latin typeface="Arial" panose="020B0604020202020204" pitchFamily="34" charset="0"/>
              <a:cs typeface="Arial" panose="020B0604020202020204" pitchFamily="34" charset="0"/>
            </a:endParaRPr>
          </a:p>
        </p:txBody>
      </p:sp>
      <p:sp>
        <p:nvSpPr>
          <p:cNvPr id="5" name="Date Placeholder 4">
            <a:extLst>
              <a:ext uri="{FF2B5EF4-FFF2-40B4-BE49-F238E27FC236}">
                <a16:creationId xmlns:a16="http://schemas.microsoft.com/office/drawing/2014/main" id="{5782F8E5-C5A4-F543-445A-DEAF301900C9}"/>
              </a:ext>
            </a:extLst>
          </p:cNvPr>
          <p:cNvSpPr>
            <a:spLocks noGrp="1"/>
          </p:cNvSpPr>
          <p:nvPr>
            <p:ph type="dt" sz="half" idx="10"/>
          </p:nvPr>
        </p:nvSpPr>
        <p:spPr/>
        <p:txBody>
          <a:bodyPr/>
          <a:lstStyle/>
          <a:p>
            <a:fld id="{BF459651-1D14-4AEC-A942-1C694AB8EC34}"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FA718372-6AB8-B82E-458F-581C84092C2F}"/>
              </a:ext>
            </a:extLst>
          </p:cNvPr>
          <p:cNvSpPr>
            <a:spLocks noGrp="1"/>
          </p:cNvSpPr>
          <p:nvPr>
            <p:ph type="ftr" sz="quarter" idx="11"/>
          </p:nvPr>
        </p:nvSpPr>
        <p:spPr/>
        <p:txBody>
          <a:bodyPr/>
          <a:lstStyle/>
          <a:p>
            <a:r>
              <a:rPr lang="en-US" noProof="0" dirty="0"/>
              <a:t>Course Teacher: Prof. Dr. Engr. Muhibul Haque Bhuyan</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4</a:t>
            </a:fld>
            <a:endParaRPr lang="en-US" noProof="0" dirty="0"/>
          </a:p>
        </p:txBody>
      </p:sp>
      <p:pic>
        <p:nvPicPr>
          <p:cNvPr id="7" name="Picture 6"/>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Texturizer/>
                    </a14:imgEffect>
                    <a14:imgEffect>
                      <a14:brightnessContrast bright="-20000" contrast="40000"/>
                    </a14:imgEffect>
                  </a14:imgLayer>
                </a14:imgProps>
              </a:ext>
            </a:extLst>
          </a:blip>
          <a:srcRect l="7497" t="1220" r="2469" b="4359"/>
          <a:stretch/>
        </p:blipFill>
        <p:spPr>
          <a:xfrm>
            <a:off x="5794051" y="133350"/>
            <a:ext cx="10567340" cy="7829550"/>
          </a:xfrm>
          <a:prstGeom prst="rect">
            <a:avLst/>
          </a:prstGeom>
        </p:spPr>
      </p:pic>
    </p:spTree>
    <p:extLst>
      <p:ext uri="{BB962C8B-B14F-4D97-AF65-F5344CB8AC3E}">
        <p14:creationId xmlns:p14="http://schemas.microsoft.com/office/powerpoint/2010/main" val="2342962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down)">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down)">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77935" y="167867"/>
            <a:ext cx="11821560" cy="859790"/>
          </a:xfrm>
        </p:spPr>
        <p:txBody>
          <a:bodyPr>
            <a:normAutofit/>
          </a:bodyPr>
          <a:lstStyle/>
          <a:p>
            <a:pPr algn="l"/>
            <a:r>
              <a:rPr lang="en-US" sz="5400" b="1" u="sng" dirty="0">
                <a:latin typeface="+mn-lt"/>
              </a:rPr>
              <a:t>Clock Sources:</a:t>
            </a:r>
          </a:p>
        </p:txBody>
      </p:sp>
      <p:sp>
        <p:nvSpPr>
          <p:cNvPr id="5" name="Date Placeholder 4">
            <a:extLst>
              <a:ext uri="{FF2B5EF4-FFF2-40B4-BE49-F238E27FC236}">
                <a16:creationId xmlns:a16="http://schemas.microsoft.com/office/drawing/2014/main" id="{B2E35ABC-8166-5747-40E3-90F5D760C9E4}"/>
              </a:ext>
            </a:extLst>
          </p:cNvPr>
          <p:cNvSpPr>
            <a:spLocks noGrp="1"/>
          </p:cNvSpPr>
          <p:nvPr>
            <p:ph type="dt" sz="half" idx="10"/>
          </p:nvPr>
        </p:nvSpPr>
        <p:spPr/>
        <p:txBody>
          <a:bodyPr/>
          <a:lstStyle/>
          <a:p>
            <a:fld id="{5EE09050-8205-4611-91CA-F29D2E5D8BC2}" type="datetime3">
              <a:rPr lang="en-US" noProof="0" smtClean="0"/>
              <a:t>15 June 2026</a:t>
            </a:fld>
            <a:endParaRPr lang="en-US" noProof="0" dirty="0"/>
          </a:p>
        </p:txBody>
      </p:sp>
      <p:sp>
        <p:nvSpPr>
          <p:cNvPr id="6" name="Footer Placeholder 5">
            <a:extLst>
              <a:ext uri="{FF2B5EF4-FFF2-40B4-BE49-F238E27FC236}">
                <a16:creationId xmlns:a16="http://schemas.microsoft.com/office/drawing/2014/main" id="{F786FAD6-BA4F-78D9-BA2E-DA7E08F2B24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5</a:t>
            </a:fld>
            <a:endParaRPr lang="en-US" noProof="0" dirty="0"/>
          </a:p>
        </p:txBody>
      </p:sp>
      <p:sp>
        <p:nvSpPr>
          <p:cNvPr id="8" name="Rectangle 7"/>
          <p:cNvSpPr/>
          <p:nvPr/>
        </p:nvSpPr>
        <p:spPr>
          <a:xfrm>
            <a:off x="257414" y="981941"/>
            <a:ext cx="16011285" cy="1754326"/>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The device has the following clock source options, selectable by </a:t>
            </a:r>
            <a:r>
              <a:rPr lang="en-CA" sz="3600" b="1" dirty="0">
                <a:solidFill>
                  <a:srgbClr val="FF0000"/>
                </a:solidFill>
                <a:latin typeface="Arial" panose="020B0604020202020204" pitchFamily="34" charset="0"/>
                <a:cs typeface="Arial" panose="020B0604020202020204" pitchFamily="34" charset="0"/>
              </a:rPr>
              <a:t>Flash Fuse bits </a:t>
            </a:r>
            <a:r>
              <a:rPr lang="en-CA" sz="3600" dirty="0">
                <a:latin typeface="Arial" panose="020B0604020202020204" pitchFamily="34" charset="0"/>
                <a:cs typeface="Arial" panose="020B0604020202020204" pitchFamily="34" charset="0"/>
              </a:rPr>
              <a:t>as shown. The clock from the </a:t>
            </a:r>
            <a:r>
              <a:rPr lang="en-CA" sz="3600" dirty="0">
                <a:solidFill>
                  <a:srgbClr val="FF0000"/>
                </a:solidFill>
                <a:latin typeface="Arial" panose="020B0604020202020204" pitchFamily="34" charset="0"/>
                <a:cs typeface="Arial" panose="020B0604020202020204" pitchFamily="34" charset="0"/>
              </a:rPr>
              <a:t>selected source </a:t>
            </a:r>
            <a:r>
              <a:rPr lang="en-CA" sz="3600" dirty="0">
                <a:latin typeface="Arial" panose="020B0604020202020204" pitchFamily="34" charset="0"/>
                <a:cs typeface="Arial" panose="020B0604020202020204" pitchFamily="34" charset="0"/>
              </a:rPr>
              <a:t>is input to the </a:t>
            </a:r>
            <a:r>
              <a:rPr lang="en-CA" sz="3600" b="1" dirty="0">
                <a:solidFill>
                  <a:srgbClr val="FF0000"/>
                </a:solidFill>
                <a:latin typeface="Arial" panose="020B0604020202020204" pitchFamily="34" charset="0"/>
                <a:cs typeface="Arial" panose="020B0604020202020204" pitchFamily="34" charset="0"/>
              </a:rPr>
              <a:t>AVR clock generator</a:t>
            </a:r>
            <a:r>
              <a:rPr lang="en-CA" sz="3600" dirty="0">
                <a:latin typeface="Arial" panose="020B0604020202020204" pitchFamily="34" charset="0"/>
                <a:cs typeface="Arial" panose="020B0604020202020204" pitchFamily="34" charset="0"/>
              </a:rPr>
              <a:t> and routed to the appropriate modules</a:t>
            </a:r>
          </a:p>
        </p:txBody>
      </p:sp>
      <p:pic>
        <p:nvPicPr>
          <p:cNvPr id="9" name="Picture 8"/>
          <p:cNvPicPr>
            <a:picLocks noChangeAspect="1"/>
          </p:cNvPicPr>
          <p:nvPr/>
        </p:nvPicPr>
        <p:blipFill rotWithShape="1">
          <a:blip r:embed="rId2">
            <a:duotone>
              <a:schemeClr val="accent2">
                <a:shade val="45000"/>
                <a:satMod val="135000"/>
              </a:schemeClr>
              <a:prstClr val="white"/>
            </a:duotone>
          </a:blip>
          <a:srcRect l="194" t="5283" r="19142" b="2768"/>
          <a:stretch/>
        </p:blipFill>
        <p:spPr>
          <a:xfrm>
            <a:off x="327420" y="2732653"/>
            <a:ext cx="12016695" cy="5165872"/>
          </a:xfrm>
          <a:prstGeom prst="rect">
            <a:avLst/>
          </a:prstGeom>
        </p:spPr>
      </p:pic>
      <p:sp>
        <p:nvSpPr>
          <p:cNvPr id="11" name="TextBox 10">
            <a:extLst>
              <a:ext uri="{FF2B5EF4-FFF2-40B4-BE49-F238E27FC236}">
                <a16:creationId xmlns:a16="http://schemas.microsoft.com/office/drawing/2014/main" id="{85E9A511-2EB2-66E8-6B12-607405CE8360}"/>
              </a:ext>
            </a:extLst>
          </p:cNvPr>
          <p:cNvSpPr txBox="1"/>
          <p:nvPr/>
        </p:nvSpPr>
        <p:spPr>
          <a:xfrm>
            <a:off x="10553700" y="5628594"/>
            <a:ext cx="1483895" cy="461665"/>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8" y="215648"/>
            <a:ext cx="8590788" cy="859790"/>
          </a:xfrm>
        </p:spPr>
        <p:txBody>
          <a:bodyPr/>
          <a:lstStyle/>
          <a:p>
            <a:pPr algn="just"/>
            <a:r>
              <a:rPr lang="en-US" sz="5400" b="1" u="sng" dirty="0">
                <a:latin typeface="+mn-lt"/>
              </a:rPr>
              <a:t>Default Clock Source: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6</a:t>
            </a:fld>
            <a:endParaRPr lang="en-US" noProof="0" dirty="0"/>
          </a:p>
        </p:txBody>
      </p:sp>
      <p:sp>
        <p:nvSpPr>
          <p:cNvPr id="13" name="Rectangle 12"/>
          <p:cNvSpPr/>
          <p:nvPr/>
        </p:nvSpPr>
        <p:spPr>
          <a:xfrm>
            <a:off x="153748" y="1174943"/>
            <a:ext cx="16095902" cy="6740307"/>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The device is shipped </a:t>
            </a:r>
            <a:r>
              <a:rPr lang="en-CA" sz="3600" dirty="0">
                <a:solidFill>
                  <a:srgbClr val="0070C0"/>
                </a:solidFill>
                <a:latin typeface="Arial" panose="020B0604020202020204" pitchFamily="34" charset="0"/>
                <a:cs typeface="Arial" panose="020B0604020202020204" pitchFamily="34" charset="0"/>
              </a:rPr>
              <a:t>with an internal RC oscillator at 8 MHz </a:t>
            </a:r>
            <a:r>
              <a:rPr lang="en-CA" sz="3600" dirty="0">
                <a:latin typeface="Arial" panose="020B0604020202020204" pitchFamily="34" charset="0"/>
                <a:cs typeface="Arial" panose="020B0604020202020204" pitchFamily="34" charset="0"/>
              </a:rPr>
              <a:t>and </a:t>
            </a:r>
            <a:r>
              <a:rPr lang="en-US" sz="3600" dirty="0">
                <a:latin typeface="Arial" panose="020B0604020202020204" pitchFamily="34" charset="0"/>
                <a:cs typeface="Arial" panose="020B0604020202020204" pitchFamily="34" charset="0"/>
              </a:rPr>
              <a:t>the fuse CKDIV</a:t>
            </a:r>
            <a:r>
              <a:rPr lang="en-US" sz="3600" dirty="0">
                <a:solidFill>
                  <a:srgbClr val="0070C0"/>
                </a:solidFill>
                <a:latin typeface="Arial" panose="020B0604020202020204" pitchFamily="34" charset="0"/>
                <a:cs typeface="Arial" panose="020B0604020202020204" pitchFamily="34" charset="0"/>
              </a:rPr>
              <a:t>8</a:t>
            </a:r>
            <a:r>
              <a:rPr lang="en-US" sz="3600" dirty="0">
                <a:latin typeface="Arial" panose="020B0604020202020204" pitchFamily="34" charset="0"/>
                <a:cs typeface="Arial" panose="020B0604020202020204" pitchFamily="34" charset="0"/>
              </a:rPr>
              <a:t> programmed, resulting in a </a:t>
            </a:r>
            <a:r>
              <a:rPr lang="en-CA" sz="3600" dirty="0">
                <a:solidFill>
                  <a:srgbClr val="0070C0"/>
                </a:solidFill>
                <a:latin typeface="Arial" panose="020B0604020202020204" pitchFamily="34" charset="0"/>
                <a:cs typeface="Arial" panose="020B0604020202020204" pitchFamily="34" charset="0"/>
              </a:rPr>
              <a:t>1 MHz </a:t>
            </a:r>
            <a:r>
              <a:rPr lang="en-CA" sz="3600" dirty="0">
                <a:latin typeface="Arial" panose="020B0604020202020204" pitchFamily="34" charset="0"/>
                <a:cs typeface="Arial" panose="020B0604020202020204" pitchFamily="34" charset="0"/>
              </a:rPr>
              <a:t>system clock.</a:t>
            </a:r>
          </a:p>
          <a:p>
            <a:r>
              <a:rPr lang="en-CA" sz="3600" dirty="0">
                <a:latin typeface="Arial" panose="020B0604020202020204" pitchFamily="34" charset="0"/>
                <a:cs typeface="Arial" panose="020B0604020202020204" pitchFamily="34" charset="0"/>
              </a:rPr>
              <a:t>The start-up time (SUT) is set to maximum, and the time-out period is enabled (CKSEL = "</a:t>
            </a:r>
            <a:r>
              <a:rPr lang="en-CA" sz="3600" dirty="0">
                <a:solidFill>
                  <a:srgbClr val="FF0000"/>
                </a:solidFill>
                <a:latin typeface="Arial" panose="020B0604020202020204" pitchFamily="34" charset="0"/>
                <a:cs typeface="Arial" panose="020B0604020202020204" pitchFamily="34" charset="0"/>
              </a:rPr>
              <a:t>0010</a:t>
            </a:r>
            <a:r>
              <a:rPr lang="en-CA" sz="3600" dirty="0">
                <a:latin typeface="Arial" panose="020B0604020202020204" pitchFamily="34" charset="0"/>
                <a:cs typeface="Arial" panose="020B0604020202020204" pitchFamily="34" charset="0"/>
              </a:rPr>
              <a:t>", SUT = "10", CKDIV8 = "0"). The </a:t>
            </a:r>
            <a:r>
              <a:rPr lang="en-CA" sz="3600" dirty="0">
                <a:solidFill>
                  <a:srgbClr val="FF0000"/>
                </a:solidFill>
                <a:latin typeface="Arial" panose="020B0604020202020204" pitchFamily="34" charset="0"/>
                <a:cs typeface="Arial" panose="020B0604020202020204" pitchFamily="34" charset="0"/>
              </a:rPr>
              <a:t>default setting </a:t>
            </a:r>
            <a:r>
              <a:rPr lang="en-CA" sz="3600" dirty="0">
                <a:latin typeface="Arial" panose="020B0604020202020204" pitchFamily="34" charset="0"/>
                <a:cs typeface="Arial" panose="020B0604020202020204" pitchFamily="34" charset="0"/>
              </a:rPr>
              <a:t>ensures that all users can make their desired clock source setting using any available programming interface.</a:t>
            </a:r>
          </a:p>
          <a:p>
            <a:r>
              <a:rPr lang="en-US" sz="3600" dirty="0">
                <a:latin typeface="Arial" panose="020B0604020202020204" pitchFamily="34" charset="0"/>
                <a:cs typeface="Arial" panose="020B0604020202020204" pitchFamily="34" charset="0"/>
              </a:rPr>
              <a:t>The term “overclocking” refers to speeding up the CPU clock for more processing power. </a:t>
            </a:r>
            <a:r>
              <a:rPr lang="en-US" sz="3600" dirty="0">
                <a:solidFill>
                  <a:srgbClr val="00B050"/>
                </a:solidFill>
                <a:latin typeface="Arial" panose="020B0604020202020204" pitchFamily="34" charset="0"/>
                <a:cs typeface="Arial" panose="020B0604020202020204" pitchFamily="34" charset="0"/>
              </a:rPr>
              <a:t>Intel CPUs </a:t>
            </a:r>
            <a:r>
              <a:rPr lang="en-US" sz="3600" dirty="0">
                <a:latin typeface="Arial" panose="020B0604020202020204" pitchFamily="34" charset="0"/>
                <a:cs typeface="Arial" panose="020B0604020202020204" pitchFamily="34" charset="0"/>
              </a:rPr>
              <a:t>with a “K” in the name have an unlocked “multiplier” for easy overclocking when paired with a motherboard chipset that supports overclocking.</a:t>
            </a:r>
          </a:p>
          <a:p>
            <a:r>
              <a:rPr lang="en-US" sz="3600" dirty="0">
                <a:latin typeface="Arial" panose="020B0604020202020204" pitchFamily="34" charset="0"/>
                <a:cs typeface="Arial" panose="020B0604020202020204" pitchFamily="34" charset="0"/>
              </a:rPr>
              <a:t>Overclocking can yield </a:t>
            </a:r>
            <a:r>
              <a:rPr lang="en-US" sz="3600" b="1" dirty="0">
                <a:solidFill>
                  <a:srgbClr val="00B050"/>
                </a:solidFill>
                <a:latin typeface="Arial" panose="020B0604020202020204" pitchFamily="34" charset="0"/>
                <a:cs typeface="Arial" panose="020B0604020202020204" pitchFamily="34" charset="0"/>
              </a:rPr>
              <a:t>improved FPS</a:t>
            </a:r>
            <a:r>
              <a:rPr lang="en-US" sz="3600" dirty="0">
                <a:latin typeface="Arial" panose="020B0604020202020204" pitchFamily="34" charset="0"/>
                <a:cs typeface="Arial" panose="020B0604020202020204" pitchFamily="34" charset="0"/>
              </a:rPr>
              <a:t>, even for high-end CPUs like the latest </a:t>
            </a:r>
            <a:r>
              <a:rPr lang="en-US" sz="3600" b="1" dirty="0">
                <a:solidFill>
                  <a:srgbClr val="0070C0"/>
                </a:solidFill>
                <a:latin typeface="Arial" panose="020B0604020202020204" pitchFamily="34" charset="0"/>
                <a:cs typeface="Arial" panose="020B0604020202020204" pitchFamily="34" charset="0"/>
              </a:rPr>
              <a:t>Intel® Core™ i9 processor</a:t>
            </a:r>
            <a:r>
              <a:rPr lang="en-US" sz="3600" dirty="0">
                <a:latin typeface="Arial" panose="020B0604020202020204" pitchFamily="34" charset="0"/>
                <a:cs typeface="Arial" panose="020B0604020202020204" pitchFamily="34" charset="0"/>
              </a:rPr>
              <a:t>.</a:t>
            </a:r>
            <a:endParaRPr lang="en-CA" sz="3600" dirty="0">
              <a:latin typeface="Arial" panose="020B0604020202020204" pitchFamily="34" charset="0"/>
              <a:cs typeface="Arial" panose="020B0604020202020204" pitchFamily="34" charset="0"/>
            </a:endParaRPr>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1483466" y="5739327"/>
            <a:ext cx="13262992" cy="5807747"/>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8228314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Low Power Crystal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7</a:t>
            </a:fld>
            <a:endParaRPr lang="en-US" noProof="0" dirty="0"/>
          </a:p>
        </p:txBody>
      </p:sp>
      <p:sp>
        <p:nvSpPr>
          <p:cNvPr id="11" name="Rectangle 10"/>
          <p:cNvSpPr/>
          <p:nvPr/>
        </p:nvSpPr>
        <p:spPr>
          <a:xfrm>
            <a:off x="217063" y="1113449"/>
            <a:ext cx="16051638" cy="1200329"/>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Pins </a:t>
            </a:r>
            <a:r>
              <a:rPr lang="en-CA" sz="3600" dirty="0">
                <a:solidFill>
                  <a:srgbClr val="FF0000"/>
                </a:solidFill>
                <a:latin typeface="Arial" panose="020B0604020202020204" pitchFamily="34" charset="0"/>
                <a:cs typeface="Arial" panose="020B0604020202020204" pitchFamily="34" charset="0"/>
              </a:rPr>
              <a:t>XTAL1</a:t>
            </a:r>
            <a:r>
              <a:rPr lang="en-CA" sz="3600" dirty="0">
                <a:latin typeface="Arial" panose="020B0604020202020204" pitchFamily="34" charset="0"/>
                <a:cs typeface="Arial" panose="020B0604020202020204" pitchFamily="34" charset="0"/>
              </a:rPr>
              <a:t> and </a:t>
            </a:r>
            <a:r>
              <a:rPr lang="en-CA" sz="3600" dirty="0">
                <a:solidFill>
                  <a:srgbClr val="00B050"/>
                </a:solidFill>
                <a:latin typeface="Arial" panose="020B0604020202020204" pitchFamily="34" charset="0"/>
                <a:cs typeface="Arial" panose="020B0604020202020204" pitchFamily="34" charset="0"/>
              </a:rPr>
              <a:t>XTAL2</a:t>
            </a:r>
            <a:r>
              <a:rPr lang="en-CA" sz="3600" dirty="0">
                <a:latin typeface="Arial" panose="020B0604020202020204" pitchFamily="34" charset="0"/>
                <a:cs typeface="Arial" panose="020B0604020202020204" pitchFamily="34" charset="0"/>
              </a:rPr>
              <a:t> are </a:t>
            </a:r>
            <a:r>
              <a:rPr lang="en-CA" sz="3600" dirty="0">
                <a:solidFill>
                  <a:srgbClr val="FF0000"/>
                </a:solidFill>
                <a:latin typeface="Arial" panose="020B0604020202020204" pitchFamily="34" charset="0"/>
                <a:cs typeface="Arial" panose="020B0604020202020204" pitchFamily="34" charset="0"/>
              </a:rPr>
              <a:t>input</a:t>
            </a:r>
            <a:r>
              <a:rPr lang="en-CA" sz="3600" dirty="0">
                <a:latin typeface="Arial" panose="020B0604020202020204" pitchFamily="34" charset="0"/>
                <a:cs typeface="Arial" panose="020B0604020202020204" pitchFamily="34" charset="0"/>
              </a:rPr>
              <a:t> and </a:t>
            </a:r>
            <a:r>
              <a:rPr lang="en-CA" sz="3600" dirty="0">
                <a:solidFill>
                  <a:srgbClr val="00B050"/>
                </a:solidFill>
                <a:latin typeface="Arial" panose="020B0604020202020204" pitchFamily="34" charset="0"/>
                <a:cs typeface="Arial" panose="020B0604020202020204" pitchFamily="34" charset="0"/>
              </a:rPr>
              <a:t>output</a:t>
            </a:r>
            <a:r>
              <a:rPr lang="en-CA" sz="3600" dirty="0">
                <a:latin typeface="Arial" panose="020B0604020202020204" pitchFamily="34" charset="0"/>
                <a:cs typeface="Arial" panose="020B0604020202020204" pitchFamily="34" charset="0"/>
              </a:rPr>
              <a:t> respectively of an inverting amplifier, which can be configured for use as an </a:t>
            </a:r>
            <a:r>
              <a:rPr lang="en-CA" sz="3600" dirty="0">
                <a:solidFill>
                  <a:srgbClr val="0070C0"/>
                </a:solidFill>
                <a:latin typeface="Arial" panose="020B0604020202020204" pitchFamily="34" charset="0"/>
                <a:cs typeface="Arial" panose="020B0604020202020204" pitchFamily="34" charset="0"/>
              </a:rPr>
              <a:t>on-chip oscillator</a:t>
            </a:r>
            <a:r>
              <a:rPr lang="en-CA" sz="3600" dirty="0">
                <a:solidFill>
                  <a:srgbClr val="92D050"/>
                </a:solidFill>
                <a:latin typeface="Arial" panose="020B0604020202020204" pitchFamily="34" charset="0"/>
                <a:cs typeface="Arial" panose="020B0604020202020204" pitchFamily="34" charset="0"/>
              </a:rPr>
              <a:t>.</a:t>
            </a:r>
            <a:endParaRPr lang="en-CA" sz="3600" dirty="0">
              <a:solidFill>
                <a:srgbClr val="FFFF00"/>
              </a:solidFill>
              <a:latin typeface="Arial" panose="020B0604020202020204" pitchFamily="34" charset="0"/>
              <a:cs typeface="Arial" panose="020B0604020202020204" pitchFamily="34" charset="0"/>
            </a:endParaRPr>
          </a:p>
        </p:txBody>
      </p:sp>
      <p:pic>
        <p:nvPicPr>
          <p:cNvPr id="10" name="Picture 9"/>
          <p:cNvPicPr>
            <a:picLocks noChangeAspect="1"/>
          </p:cNvPicPr>
          <p:nvPr/>
        </p:nvPicPr>
        <p:blipFill rotWithShape="1">
          <a:blip r:embed="rId3"/>
          <a:srcRect l="1673" t="5865" r="1306" b="7666"/>
          <a:stretch/>
        </p:blipFill>
        <p:spPr>
          <a:xfrm>
            <a:off x="153747" y="2351789"/>
            <a:ext cx="16051638" cy="3745533"/>
          </a:xfrm>
          <a:prstGeom prst="rect">
            <a:avLst/>
          </a:prstGeom>
        </p:spPr>
      </p:pic>
      <p:pic>
        <p:nvPicPr>
          <p:cNvPr id="6" name="Picture 5">
            <a:extLst>
              <a:ext uri="{FF2B5EF4-FFF2-40B4-BE49-F238E27FC236}">
                <a16:creationId xmlns:a16="http://schemas.microsoft.com/office/drawing/2014/main" id="{BEFC2BB0-12FB-3C18-82D9-2841E7676EB9}"/>
              </a:ext>
            </a:extLst>
          </p:cNvPr>
          <p:cNvPicPr>
            <a:picLocks noChangeAspect="1"/>
          </p:cNvPicPr>
          <p:nvPr/>
        </p:nvPicPr>
        <p:blipFill rotWithShape="1">
          <a:blip r:embed="rId4">
            <a:duotone>
              <a:schemeClr val="accent2">
                <a:shade val="45000"/>
                <a:satMod val="135000"/>
              </a:schemeClr>
              <a:prstClr val="white"/>
            </a:duotone>
          </a:blip>
          <a:srcRect l="194" t="5283" r="19142" b="2768"/>
          <a:stretch/>
        </p:blipFill>
        <p:spPr>
          <a:xfrm>
            <a:off x="10539933" y="6204409"/>
            <a:ext cx="4256612" cy="1829880"/>
          </a:xfrm>
          <a:prstGeom prst="rect">
            <a:avLst/>
          </a:prstGeom>
        </p:spPr>
      </p:pic>
      <p:sp>
        <p:nvSpPr>
          <p:cNvPr id="7" name="TextBox 6">
            <a:extLst>
              <a:ext uri="{FF2B5EF4-FFF2-40B4-BE49-F238E27FC236}">
                <a16:creationId xmlns:a16="http://schemas.microsoft.com/office/drawing/2014/main" id="{4FD52468-10F1-9802-98AE-E0912D7002E0}"/>
              </a:ext>
            </a:extLst>
          </p:cNvPr>
          <p:cNvSpPr txBox="1"/>
          <p:nvPr/>
        </p:nvSpPr>
        <p:spPr>
          <a:xfrm>
            <a:off x="10491805" y="6353180"/>
            <a:ext cx="4367193" cy="261610"/>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05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18009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inVertic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Full-Swing Crystal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8</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85293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1" name="Rectangle 10"/>
          <p:cNvSpPr/>
          <p:nvPr/>
        </p:nvSpPr>
        <p:spPr>
          <a:xfrm>
            <a:off x="217062" y="1113449"/>
            <a:ext cx="16025076" cy="1754326"/>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This crystal oscillator is a full swing oscillator, with a rail-to-rail swing on the XTAL2 output. This is useful for driving other clock inputs in a noisy environment. </a:t>
            </a:r>
          </a:p>
        </p:txBody>
      </p:sp>
      <p:pic>
        <p:nvPicPr>
          <p:cNvPr id="7" name="Picture 6"/>
          <p:cNvPicPr>
            <a:picLocks noChangeAspect="1"/>
          </p:cNvPicPr>
          <p:nvPr/>
        </p:nvPicPr>
        <p:blipFill rotWithShape="1">
          <a:blip r:embed="rId3"/>
          <a:srcRect l="1403" t="13880" r="10359" b="17645"/>
          <a:stretch/>
        </p:blipFill>
        <p:spPr>
          <a:xfrm>
            <a:off x="217062" y="2831989"/>
            <a:ext cx="16025076" cy="1754326"/>
          </a:xfrm>
          <a:prstGeom prst="rect">
            <a:avLst/>
          </a:prstGeom>
        </p:spPr>
      </p:pic>
      <p:pic>
        <p:nvPicPr>
          <p:cNvPr id="6" name="Picture 5">
            <a:extLst>
              <a:ext uri="{FF2B5EF4-FFF2-40B4-BE49-F238E27FC236}">
                <a16:creationId xmlns:a16="http://schemas.microsoft.com/office/drawing/2014/main" id="{17BD9799-4EA7-D52A-9F5F-6D83DDC9127F}"/>
              </a:ext>
            </a:extLst>
          </p:cNvPr>
          <p:cNvPicPr>
            <a:picLocks noChangeAspect="1"/>
          </p:cNvPicPr>
          <p:nvPr/>
        </p:nvPicPr>
        <p:blipFill rotWithShape="1">
          <a:blip r:embed="rId4">
            <a:duotone>
              <a:schemeClr val="accent2">
                <a:shade val="45000"/>
                <a:satMod val="135000"/>
              </a:schemeClr>
              <a:prstClr val="white"/>
            </a:duotone>
          </a:blip>
          <a:srcRect l="194" t="5283" r="19142" b="2768"/>
          <a:stretch/>
        </p:blipFill>
        <p:spPr>
          <a:xfrm>
            <a:off x="7970564" y="4562899"/>
            <a:ext cx="7357065" cy="3162738"/>
          </a:xfrm>
          <a:prstGeom prst="rect">
            <a:avLst/>
          </a:prstGeom>
        </p:spPr>
      </p:pic>
      <p:sp>
        <p:nvSpPr>
          <p:cNvPr id="9" name="TextBox 8">
            <a:extLst>
              <a:ext uri="{FF2B5EF4-FFF2-40B4-BE49-F238E27FC236}">
                <a16:creationId xmlns:a16="http://schemas.microsoft.com/office/drawing/2014/main" id="{6B18BE17-2145-9AB6-FA4E-1DF1AAD5D6F7}"/>
              </a:ext>
            </a:extLst>
          </p:cNvPr>
          <p:cNvSpPr txBox="1"/>
          <p:nvPr/>
        </p:nvSpPr>
        <p:spPr>
          <a:xfrm>
            <a:off x="8082541" y="5225875"/>
            <a:ext cx="7269151" cy="332715"/>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74973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1)">
                                      <p:cBhvr>
                                        <p:cTn id="21"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Low-Frequency Crystal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9</a:t>
            </a:fld>
            <a:endParaRPr lang="en-US" noProof="0" dirty="0"/>
          </a:p>
        </p:txBody>
      </p:sp>
      <p:sp>
        <p:nvSpPr>
          <p:cNvPr id="11" name="Rectangle 10"/>
          <p:cNvSpPr/>
          <p:nvPr/>
        </p:nvSpPr>
        <p:spPr>
          <a:xfrm>
            <a:off x="217062" y="961049"/>
            <a:ext cx="15833064" cy="2308324"/>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The </a:t>
            </a:r>
            <a:r>
              <a:rPr lang="en-CA" sz="3600" b="1" dirty="0">
                <a:solidFill>
                  <a:srgbClr val="C00000"/>
                </a:solidFill>
                <a:latin typeface="Arial" panose="020B0604020202020204" pitchFamily="34" charset="0"/>
                <a:cs typeface="Arial" panose="020B0604020202020204" pitchFamily="34" charset="0"/>
              </a:rPr>
              <a:t>low-frequency crystal </a:t>
            </a:r>
            <a:r>
              <a:rPr lang="en-CA" sz="3600" dirty="0">
                <a:solidFill>
                  <a:srgbClr val="C00000"/>
                </a:solidFill>
                <a:latin typeface="Arial" panose="020B0604020202020204" pitchFamily="34" charset="0"/>
                <a:cs typeface="Arial" panose="020B0604020202020204" pitchFamily="34" charset="0"/>
              </a:rPr>
              <a:t>oscillator is optimized for use with a </a:t>
            </a:r>
            <a:r>
              <a:rPr lang="en-CA" sz="3600" b="1" dirty="0">
                <a:solidFill>
                  <a:srgbClr val="C00000"/>
                </a:solidFill>
                <a:latin typeface="Arial" panose="020B0604020202020204" pitchFamily="34" charset="0"/>
                <a:cs typeface="Arial" panose="020B0604020202020204" pitchFamily="34" charset="0"/>
              </a:rPr>
              <a:t>32.768 kHz watch crystal</a:t>
            </a:r>
            <a:r>
              <a:rPr lang="en-CA" sz="3600" dirty="0">
                <a:latin typeface="Arial" panose="020B0604020202020204" pitchFamily="34" charset="0"/>
                <a:cs typeface="Arial" panose="020B0604020202020204" pitchFamily="34" charset="0"/>
              </a:rPr>
              <a:t>. When selecting crystals, the load capacitance and the crystal’s </a:t>
            </a:r>
            <a:r>
              <a:rPr lang="en-CA" sz="3600" b="1" dirty="0">
                <a:solidFill>
                  <a:srgbClr val="C00000"/>
                </a:solidFill>
                <a:latin typeface="Arial" panose="020B0604020202020204" pitchFamily="34" charset="0"/>
                <a:cs typeface="Arial" panose="020B0604020202020204" pitchFamily="34" charset="0"/>
              </a:rPr>
              <a:t>Equivalent Series Resistance (ESR) </a:t>
            </a:r>
            <a:r>
              <a:rPr lang="en-CA" sz="3600" dirty="0">
                <a:latin typeface="Arial" panose="020B0604020202020204" pitchFamily="34" charset="0"/>
                <a:cs typeface="Arial" panose="020B0604020202020204" pitchFamily="34" charset="0"/>
              </a:rPr>
              <a:t>must be taken into consideration. Both values are specified by the crystal vendor.</a:t>
            </a:r>
          </a:p>
        </p:txBody>
      </p:sp>
      <p:pic>
        <p:nvPicPr>
          <p:cNvPr id="6" name="Picture 5"/>
          <p:cNvPicPr>
            <a:picLocks noChangeAspect="1"/>
          </p:cNvPicPr>
          <p:nvPr/>
        </p:nvPicPr>
        <p:blipFill rotWithShape="1">
          <a:blip r:embed="rId3"/>
          <a:srcRect l="1253" t="7781" r="522"/>
          <a:stretch/>
        </p:blipFill>
        <p:spPr>
          <a:xfrm>
            <a:off x="350770" y="4176478"/>
            <a:ext cx="15293137" cy="3227178"/>
          </a:xfrm>
          <a:prstGeom prst="rect">
            <a:avLst/>
          </a:prstGeom>
        </p:spPr>
      </p:pic>
      <p:sp>
        <p:nvSpPr>
          <p:cNvPr id="10" name="TextBox 9">
            <a:extLst>
              <a:ext uri="{FF2B5EF4-FFF2-40B4-BE49-F238E27FC236}">
                <a16:creationId xmlns:a16="http://schemas.microsoft.com/office/drawing/2014/main" id="{6EA9A953-0EBF-8FA9-D57A-3744EC752454}"/>
              </a:ext>
            </a:extLst>
          </p:cNvPr>
          <p:cNvSpPr txBox="1"/>
          <p:nvPr/>
        </p:nvSpPr>
        <p:spPr>
          <a:xfrm>
            <a:off x="350770" y="7429500"/>
            <a:ext cx="16002807" cy="523220"/>
          </a:xfrm>
          <a:prstGeom prst="rect">
            <a:avLst/>
          </a:prstGeom>
          <a:noFill/>
        </p:spPr>
        <p:txBody>
          <a:bodyPr wrap="square">
            <a:spAutoFit/>
          </a:bodyPr>
          <a:lstStyle/>
          <a:p>
            <a:r>
              <a:rPr lang="en-US" sz="2800" dirty="0">
                <a:solidFill>
                  <a:srgbClr val="FF0000"/>
                </a:solidFill>
                <a:highlight>
                  <a:srgbClr val="C0C0C0"/>
                </a:highlight>
              </a:rPr>
              <a:t>Note: 1. This option should only be used if frequency stability at start-up is not important for the application</a:t>
            </a:r>
          </a:p>
        </p:txBody>
      </p:sp>
      <p:sp>
        <p:nvSpPr>
          <p:cNvPr id="12" name="TextBox 11">
            <a:extLst>
              <a:ext uri="{FF2B5EF4-FFF2-40B4-BE49-F238E27FC236}">
                <a16:creationId xmlns:a16="http://schemas.microsoft.com/office/drawing/2014/main" id="{A003E774-C42B-FAA9-88C6-1491C8D8DEAF}"/>
              </a:ext>
            </a:extLst>
          </p:cNvPr>
          <p:cNvSpPr txBox="1"/>
          <p:nvPr/>
        </p:nvSpPr>
        <p:spPr>
          <a:xfrm>
            <a:off x="177898" y="3222371"/>
            <a:ext cx="16064239" cy="954107"/>
          </a:xfrm>
          <a:prstGeom prst="rect">
            <a:avLst/>
          </a:prstGeom>
          <a:noFill/>
        </p:spPr>
        <p:txBody>
          <a:bodyPr wrap="square">
            <a:spAutoFit/>
          </a:bodyPr>
          <a:lstStyle/>
          <a:p>
            <a:r>
              <a:rPr lang="en-US" sz="2800" dirty="0">
                <a:solidFill>
                  <a:srgbClr val="700000"/>
                </a:solidFill>
                <a:highlight>
                  <a:srgbClr val="00FFFF"/>
                </a:highlight>
              </a:rPr>
              <a:t>ATmega48P/88P/168P/328P oscillator is optimized for very low power consumption, and thus when selecting crystals, for maximum ESR, recommended load capacitances, C</a:t>
            </a:r>
            <a:r>
              <a:rPr lang="en-US" sz="2800" baseline="-25000" dirty="0">
                <a:solidFill>
                  <a:srgbClr val="700000"/>
                </a:solidFill>
                <a:highlight>
                  <a:srgbClr val="00FFFF"/>
                </a:highlight>
              </a:rPr>
              <a:t>L</a:t>
            </a:r>
            <a:r>
              <a:rPr lang="en-US" sz="2800" dirty="0">
                <a:solidFill>
                  <a:srgbClr val="700000"/>
                </a:solidFill>
                <a:highlight>
                  <a:srgbClr val="00FFFF"/>
                </a:highlight>
              </a:rPr>
              <a:t> are 6.5 pF, 9.0 pF, and 12.5 pF for crystals</a:t>
            </a:r>
          </a:p>
        </p:txBody>
      </p:sp>
    </p:spTree>
    <p:extLst>
      <p:ext uri="{BB962C8B-B14F-4D97-AF65-F5344CB8AC3E}">
        <p14:creationId xmlns:p14="http://schemas.microsoft.com/office/powerpoint/2010/main" val="1583080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inVertic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Low-Frequency Crystal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10</a:t>
            </a:fld>
            <a:endParaRPr lang="en-US" noProof="0" dirty="0"/>
          </a:p>
        </p:txBody>
      </p:sp>
      <p:sp>
        <p:nvSpPr>
          <p:cNvPr id="11" name="Rectangle 10"/>
          <p:cNvSpPr/>
          <p:nvPr/>
        </p:nvSpPr>
        <p:spPr>
          <a:xfrm>
            <a:off x="217062" y="1113449"/>
            <a:ext cx="15722593" cy="584775"/>
          </a:xfrm>
          <a:prstGeom prst="rect">
            <a:avLst/>
          </a:prstGeom>
        </p:spPr>
        <p:txBody>
          <a:bodyPr wrap="square">
            <a:spAutoFit/>
          </a:bodyPr>
          <a:lstStyle/>
          <a:p>
            <a:pPr algn="just"/>
            <a:endParaRPr lang="en-CA" sz="32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Rectangle 9"/>
              <p:cNvSpPr/>
              <p:nvPr/>
            </p:nvSpPr>
            <p:spPr>
              <a:xfrm>
                <a:off x="217062" y="1113449"/>
                <a:ext cx="16025076" cy="4031873"/>
              </a:xfrm>
              <a:prstGeom prst="rect">
                <a:avLst/>
              </a:prstGeom>
            </p:spPr>
            <p:txBody>
              <a:bodyPr wrap="square">
                <a:spAutoFit/>
              </a:bodyPr>
              <a:lstStyle/>
              <a:p>
                <a:r>
                  <a:rPr lang="en-CA" sz="3200" dirty="0">
                    <a:latin typeface="Arial" panose="020B0604020202020204" pitchFamily="34" charset="0"/>
                    <a:cs typeface="Arial" panose="020B0604020202020204" pitchFamily="34" charset="0"/>
                  </a:rPr>
                  <a:t>The low-frequency crystal oscillator provides an </a:t>
                </a:r>
                <a:r>
                  <a:rPr lang="en-CA" sz="3200" b="1" dirty="0">
                    <a:solidFill>
                      <a:srgbClr val="92D050"/>
                    </a:solidFill>
                    <a:latin typeface="Arial" panose="020B0604020202020204" pitchFamily="34" charset="0"/>
                    <a:cs typeface="Arial" panose="020B0604020202020204" pitchFamily="34" charset="0"/>
                  </a:rPr>
                  <a:t>internal load capacitance of a typical 6 pF </a:t>
                </a:r>
                <a:r>
                  <a:rPr lang="en-CA" sz="3200" dirty="0">
                    <a:latin typeface="Arial" panose="020B0604020202020204" pitchFamily="34" charset="0"/>
                    <a:cs typeface="Arial" panose="020B0604020202020204" pitchFamily="34" charset="0"/>
                  </a:rPr>
                  <a:t>at each </a:t>
                </a:r>
                <a:r>
                  <a:rPr lang="en-CA" sz="3200" b="1" dirty="0">
                    <a:solidFill>
                      <a:srgbClr val="C00000"/>
                    </a:solidFill>
                    <a:latin typeface="Arial" panose="020B0604020202020204" pitchFamily="34" charset="0"/>
                    <a:cs typeface="Arial" panose="020B0604020202020204" pitchFamily="34" charset="0"/>
                  </a:rPr>
                  <a:t>TOSC pin</a:t>
                </a:r>
                <a:r>
                  <a:rPr lang="en-CA" sz="3200" dirty="0">
                    <a:latin typeface="Arial" panose="020B0604020202020204" pitchFamily="34" charset="0"/>
                    <a:cs typeface="Arial" panose="020B0604020202020204" pitchFamily="34" charset="0"/>
                  </a:rPr>
                  <a:t>. The </a:t>
                </a:r>
                <a:r>
                  <a:rPr lang="en-CA" sz="3200" b="1" dirty="0">
                    <a:solidFill>
                      <a:srgbClr val="FF0000"/>
                    </a:solidFill>
                    <a:latin typeface="Arial" panose="020B0604020202020204" pitchFamily="34" charset="0"/>
                    <a:cs typeface="Arial" panose="020B0604020202020204" pitchFamily="34" charset="0"/>
                  </a:rPr>
                  <a:t>external capacitance (C)</a:t>
                </a:r>
                <a:r>
                  <a:rPr lang="en-CA" sz="3200" dirty="0">
                    <a:latin typeface="Arial" panose="020B0604020202020204" pitchFamily="34" charset="0"/>
                    <a:cs typeface="Arial" panose="020B0604020202020204" pitchFamily="34" charset="0"/>
                  </a:rPr>
                  <a:t> needed at each TOSC pin can be calculated by using: </a:t>
                </a:r>
              </a:p>
              <a:p>
                <a:r>
                  <a:rPr lang="en-CA" sz="3200" dirty="0">
                    <a:latin typeface="Arial" panose="020B0604020202020204" pitchFamily="34" charset="0"/>
                    <a:cs typeface="Arial" panose="020B0604020202020204" pitchFamily="34" charset="0"/>
                  </a:rPr>
                  <a:t>C = 2*C</a:t>
                </a:r>
                <a:r>
                  <a:rPr lang="en-CA" sz="3200" baseline="-25000" dirty="0">
                    <a:latin typeface="Arial" panose="020B0604020202020204" pitchFamily="34" charset="0"/>
                    <a:cs typeface="Arial" panose="020B0604020202020204" pitchFamily="34" charset="0"/>
                  </a:rPr>
                  <a:t>L </a:t>
                </a:r>
                <a:r>
                  <a:rPr lang="en-CA" sz="3200" dirty="0">
                    <a:latin typeface="Arial" panose="020B0604020202020204" pitchFamily="34" charset="0"/>
                    <a:cs typeface="Arial" panose="020B0604020202020204" pitchFamily="34" charset="0"/>
                  </a:rPr>
                  <a:t>- </a:t>
                </a:r>
                <a14:m>
                  <m:oMath xmlns:m="http://schemas.openxmlformats.org/officeDocument/2006/math">
                    <m:sSub>
                      <m:sSubPr>
                        <m:ctrlPr>
                          <a:rPr lang="en-CA" sz="3200" i="1">
                            <a:latin typeface="Cambria Math" panose="02040503050406030204" pitchFamily="18" charset="0"/>
                            <a:cs typeface="Arial" panose="020B0604020202020204" pitchFamily="34" charset="0"/>
                          </a:rPr>
                        </m:ctrlPr>
                      </m:sSubPr>
                      <m:e>
                        <m:r>
                          <m:rPr>
                            <m:sty m:val="p"/>
                          </m:rPr>
                          <a:rPr lang="en-CA" sz="3200">
                            <a:latin typeface="Cambria Math" panose="02040503050406030204" pitchFamily="18" charset="0"/>
                            <a:cs typeface="Arial" panose="020B0604020202020204" pitchFamily="34" charset="0"/>
                          </a:rPr>
                          <m:t>C</m:t>
                        </m:r>
                      </m:e>
                      <m:sub>
                        <m:r>
                          <m:rPr>
                            <m:sty m:val="p"/>
                          </m:rPr>
                          <a:rPr lang="en-CA" sz="3200">
                            <a:latin typeface="Cambria Math" panose="02040503050406030204" pitchFamily="18" charset="0"/>
                            <a:cs typeface="Arial" panose="020B0604020202020204" pitchFamily="34" charset="0"/>
                          </a:rPr>
                          <m:t>S</m:t>
                        </m:r>
                      </m:sub>
                    </m:sSub>
                  </m:oMath>
                </a14:m>
                <a:r>
                  <a:rPr lang="en-CA" sz="3200" dirty="0">
                    <a:latin typeface="Arial" panose="020B0604020202020204" pitchFamily="34" charset="0"/>
                    <a:cs typeface="Arial" panose="020B0604020202020204" pitchFamily="34" charset="0"/>
                  </a:rPr>
                  <a:t> where C</a:t>
                </a:r>
                <a:r>
                  <a:rPr lang="en-CA" sz="3200" baseline="-25000" dirty="0">
                    <a:latin typeface="Arial" panose="020B0604020202020204" pitchFamily="34" charset="0"/>
                    <a:cs typeface="Arial" panose="020B0604020202020204" pitchFamily="34" charset="0"/>
                  </a:rPr>
                  <a:t>L </a:t>
                </a:r>
                <a:r>
                  <a:rPr lang="en-CA" sz="3200" dirty="0">
                    <a:latin typeface="Arial" panose="020B0604020202020204" pitchFamily="34" charset="0"/>
                    <a:cs typeface="Arial" panose="020B0604020202020204" pitchFamily="34" charset="0"/>
                  </a:rPr>
                  <a:t>is the load capacitance for a </a:t>
                </a:r>
                <a:r>
                  <a:rPr lang="en-CA" sz="3200" b="1" dirty="0">
                    <a:solidFill>
                      <a:srgbClr val="92D050"/>
                    </a:solidFill>
                    <a:latin typeface="Arial" panose="020B0604020202020204" pitchFamily="34" charset="0"/>
                    <a:cs typeface="Arial" panose="020B0604020202020204" pitchFamily="34" charset="0"/>
                  </a:rPr>
                  <a:t>32.768 kHz crystal </a:t>
                </a:r>
                <a:r>
                  <a:rPr lang="en-CA" sz="3200" dirty="0">
                    <a:latin typeface="Arial" panose="020B0604020202020204" pitchFamily="34" charset="0"/>
                    <a:cs typeface="Arial" panose="020B0604020202020204" pitchFamily="34" charset="0"/>
                  </a:rPr>
                  <a:t>specified by the crystal vendor and </a:t>
                </a:r>
                <a14:m>
                  <m:oMath xmlns:m="http://schemas.openxmlformats.org/officeDocument/2006/math">
                    <m:sSub>
                      <m:sSubPr>
                        <m:ctrlPr>
                          <a:rPr lang="en-CA" sz="3200" i="1" smtClean="0">
                            <a:latin typeface="Cambria Math" panose="02040503050406030204" pitchFamily="18" charset="0"/>
                            <a:cs typeface="Arial" panose="020B0604020202020204" pitchFamily="34" charset="0"/>
                          </a:rPr>
                        </m:ctrlPr>
                      </m:sSubPr>
                      <m:e>
                        <m:r>
                          <m:rPr>
                            <m:sty m:val="p"/>
                          </m:rPr>
                          <a:rPr lang="en-CA" sz="3200" b="0" i="0" smtClean="0">
                            <a:latin typeface="Cambria Math" panose="02040503050406030204" pitchFamily="18" charset="0"/>
                            <a:cs typeface="Arial" panose="020B0604020202020204" pitchFamily="34" charset="0"/>
                          </a:rPr>
                          <m:t>C</m:t>
                        </m:r>
                      </m:e>
                      <m:sub>
                        <m:r>
                          <m:rPr>
                            <m:sty m:val="p"/>
                          </m:rPr>
                          <a:rPr lang="en-CA" sz="3200" b="0" i="0" smtClean="0">
                            <a:latin typeface="Cambria Math" panose="02040503050406030204" pitchFamily="18" charset="0"/>
                            <a:cs typeface="Arial" panose="020B0604020202020204" pitchFamily="34" charset="0"/>
                          </a:rPr>
                          <m:t>S</m:t>
                        </m:r>
                      </m:sub>
                    </m:sSub>
                  </m:oMath>
                </a14:m>
                <a:r>
                  <a:rPr lang="en-CA" sz="3200" dirty="0">
                    <a:latin typeface="Arial" panose="020B0604020202020204" pitchFamily="34" charset="0"/>
                    <a:cs typeface="Arial" panose="020B0604020202020204" pitchFamily="34" charset="0"/>
                  </a:rPr>
                  <a:t> is the total stray capacitance for one TOSC pin. </a:t>
                </a:r>
              </a:p>
              <a:p>
                <a:r>
                  <a:rPr lang="en-CA" sz="3200" dirty="0">
                    <a:solidFill>
                      <a:schemeClr val="accent1"/>
                    </a:solidFill>
                    <a:latin typeface="Arial" panose="020B0604020202020204" pitchFamily="34" charset="0"/>
                    <a:cs typeface="Arial" panose="020B0604020202020204" pitchFamily="34" charset="0"/>
                  </a:rPr>
                  <a:t>Crystals specifying load capacitance (C</a:t>
                </a:r>
                <a:r>
                  <a:rPr lang="en-CA" sz="3200" baseline="-25000" dirty="0">
                    <a:solidFill>
                      <a:schemeClr val="accent1"/>
                    </a:solidFill>
                    <a:latin typeface="Arial" panose="020B0604020202020204" pitchFamily="34" charset="0"/>
                    <a:cs typeface="Arial" panose="020B0604020202020204" pitchFamily="34" charset="0"/>
                  </a:rPr>
                  <a:t>L</a:t>
                </a:r>
                <a:r>
                  <a:rPr lang="en-CA" sz="3200" dirty="0">
                    <a:solidFill>
                      <a:schemeClr val="accent1"/>
                    </a:solidFill>
                    <a:latin typeface="Arial" panose="020B0604020202020204" pitchFamily="34" charset="0"/>
                    <a:cs typeface="Arial" panose="020B0604020202020204" pitchFamily="34" charset="0"/>
                  </a:rPr>
                  <a:t>) higher than 6 pF, require external capacitors </a:t>
                </a:r>
                <a:r>
                  <a:rPr lang="en-CA" sz="3200" dirty="0">
                    <a:latin typeface="Arial" panose="020B0604020202020204" pitchFamily="34" charset="0"/>
                    <a:cs typeface="Arial" panose="020B0604020202020204" pitchFamily="34" charset="0"/>
                  </a:rPr>
                  <a:t>to be applied. The low-frequency crystal oscillator must be selected by setting the CKSEL fuses to “0110” or “0111”. </a:t>
                </a:r>
                <a:r>
                  <a:rPr lang="en-CA" sz="3200" dirty="0">
                    <a:solidFill>
                      <a:srgbClr val="C00000"/>
                    </a:solidFill>
                    <a:latin typeface="Arial" panose="020B0604020202020204" pitchFamily="34" charset="0"/>
                    <a:cs typeface="Arial" panose="020B0604020202020204" pitchFamily="34" charset="0"/>
                  </a:rPr>
                  <a:t>Start-up times are determined by the SUT fuses</a:t>
                </a:r>
                <a:r>
                  <a:rPr lang="en-CA" sz="3200" dirty="0">
                    <a:latin typeface="Arial" panose="020B0604020202020204" pitchFamily="34" charset="0"/>
                    <a:cs typeface="Arial" panose="020B0604020202020204" pitchFamily="34" charset="0"/>
                  </a:rPr>
                  <a:t>.</a:t>
                </a:r>
              </a:p>
            </p:txBody>
          </p:sp>
        </mc:Choice>
        <mc:Fallback xmlns="">
          <p:sp>
            <p:nvSpPr>
              <p:cNvPr id="10" name="Rectangle 9"/>
              <p:cNvSpPr>
                <a:spLocks noRot="1" noChangeAspect="1" noMove="1" noResize="1" noEditPoints="1" noAdjustHandles="1" noChangeArrowheads="1" noChangeShapeType="1" noTextEdit="1"/>
              </p:cNvSpPr>
              <p:nvPr/>
            </p:nvSpPr>
            <p:spPr>
              <a:xfrm>
                <a:off x="217062" y="1113449"/>
                <a:ext cx="16025076" cy="4031873"/>
              </a:xfrm>
              <a:prstGeom prst="rect">
                <a:avLst/>
              </a:prstGeom>
              <a:blipFill>
                <a:blip r:embed="rId3"/>
                <a:stretch>
                  <a:fillRect l="-989" t="-1967" r="-1065" b="-4085"/>
                </a:stretch>
              </a:blipFill>
            </p:spPr>
            <p:txBody>
              <a:bodyPr/>
              <a:lstStyle/>
              <a:p>
                <a:r>
                  <a:rPr lang="en-US">
                    <a:noFill/>
                  </a:rPr>
                  <a:t> </a:t>
                </a:r>
              </a:p>
            </p:txBody>
          </p:sp>
        </mc:Fallback>
      </mc:AlternateContent>
      <p:pic>
        <p:nvPicPr>
          <p:cNvPr id="9" name="Picture 8"/>
          <p:cNvPicPr>
            <a:picLocks noChangeAspect="1"/>
          </p:cNvPicPr>
          <p:nvPr/>
        </p:nvPicPr>
        <p:blipFill rotWithShape="1">
          <a:blip r:embed="rId4"/>
          <a:srcRect l="1817" t="6498" r="13669" b="9719"/>
          <a:stretch/>
        </p:blipFill>
        <p:spPr>
          <a:xfrm>
            <a:off x="838201" y="5145322"/>
            <a:ext cx="14839950" cy="2550878"/>
          </a:xfrm>
          <a:prstGeom prst="rect">
            <a:avLst/>
          </a:prstGeom>
        </p:spPr>
      </p:pic>
    </p:spTree>
    <p:extLst>
      <p:ext uri="{BB962C8B-B14F-4D97-AF65-F5344CB8AC3E}">
        <p14:creationId xmlns:p14="http://schemas.microsoft.com/office/powerpoint/2010/main" val="27676811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Calibrated Internal RC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11</a:t>
            </a:fld>
            <a:endParaRPr lang="en-US" noProof="0" dirty="0"/>
          </a:p>
        </p:txBody>
      </p:sp>
      <p:sp>
        <p:nvSpPr>
          <p:cNvPr id="11" name="Rectangle 10"/>
          <p:cNvSpPr/>
          <p:nvPr/>
        </p:nvSpPr>
        <p:spPr>
          <a:xfrm>
            <a:off x="217062" y="1094399"/>
            <a:ext cx="16051638" cy="2062103"/>
          </a:xfrm>
          <a:prstGeom prst="rect">
            <a:avLst/>
          </a:prstGeom>
        </p:spPr>
        <p:txBody>
          <a:bodyPr wrap="square">
            <a:spAutoFit/>
          </a:bodyPr>
          <a:lstStyle/>
          <a:p>
            <a:r>
              <a:rPr lang="en-CA" sz="3200" dirty="0">
                <a:latin typeface="Arial" panose="020B0604020202020204" pitchFamily="34" charset="0"/>
                <a:cs typeface="Arial" panose="020B0604020202020204" pitchFamily="34" charset="0"/>
              </a:rPr>
              <a:t>By default, the internal RC oscillator provides an approximate </a:t>
            </a:r>
            <a:r>
              <a:rPr lang="en-CA" sz="3200" b="1" dirty="0">
                <a:solidFill>
                  <a:schemeClr val="accent1"/>
                </a:solidFill>
                <a:latin typeface="Arial" panose="020B0604020202020204" pitchFamily="34" charset="0"/>
                <a:cs typeface="Arial" panose="020B0604020202020204" pitchFamily="34" charset="0"/>
              </a:rPr>
              <a:t>8 MHz clock</a:t>
            </a:r>
            <a:r>
              <a:rPr lang="en-CA" sz="3200" dirty="0">
                <a:latin typeface="Arial" panose="020B0604020202020204" pitchFamily="34" charset="0"/>
                <a:cs typeface="Arial" panose="020B0604020202020204" pitchFamily="34" charset="0"/>
              </a:rPr>
              <a:t>. Though voltage and temperature dependent, this clock can be very accurately calibrated by the user. The device is </a:t>
            </a:r>
            <a:r>
              <a:rPr lang="en-CA" sz="3200" dirty="0">
                <a:solidFill>
                  <a:srgbClr val="0070C0"/>
                </a:solidFill>
                <a:latin typeface="Arial" panose="020B0604020202020204" pitchFamily="34" charset="0"/>
                <a:cs typeface="Arial" panose="020B0604020202020204" pitchFamily="34" charset="0"/>
              </a:rPr>
              <a:t>shipped with the </a:t>
            </a:r>
            <a:r>
              <a:rPr lang="en-CA" sz="3200" b="1" dirty="0">
                <a:solidFill>
                  <a:srgbClr val="0070C0"/>
                </a:solidFill>
                <a:latin typeface="Arial" panose="020B0604020202020204" pitchFamily="34" charset="0"/>
                <a:cs typeface="Arial" panose="020B0604020202020204" pitchFamily="34" charset="0"/>
              </a:rPr>
              <a:t>CKDIV8 Fuse programmed</a:t>
            </a:r>
            <a:r>
              <a:rPr lang="en-CA" sz="3200" dirty="0">
                <a:solidFill>
                  <a:srgbClr val="0070C0"/>
                </a:solidFill>
                <a:latin typeface="Arial" panose="020B0604020202020204" pitchFamily="34" charset="0"/>
                <a:cs typeface="Arial" panose="020B0604020202020204" pitchFamily="34" charset="0"/>
              </a:rPr>
              <a:t>. This clock may be selected as the system clock by </a:t>
            </a:r>
            <a:r>
              <a:rPr lang="en-CA" sz="3200" b="1" dirty="0">
                <a:solidFill>
                  <a:srgbClr val="C00000"/>
                </a:solidFill>
                <a:latin typeface="Arial" panose="020B0604020202020204" pitchFamily="34" charset="0"/>
                <a:cs typeface="Arial" panose="020B0604020202020204" pitchFamily="34" charset="0"/>
              </a:rPr>
              <a:t>programming the CKSEL Fuses</a:t>
            </a:r>
            <a:r>
              <a:rPr lang="en-CA" sz="3200" dirty="0">
                <a:latin typeface="Arial" panose="020B0604020202020204" pitchFamily="34" charset="0"/>
                <a:cs typeface="Arial" panose="020B0604020202020204" pitchFamily="34" charset="0"/>
              </a:rPr>
              <a:t>. </a:t>
            </a:r>
          </a:p>
        </p:txBody>
      </p:sp>
      <p:pic>
        <p:nvPicPr>
          <p:cNvPr id="6" name="Picture 5"/>
          <p:cNvPicPr>
            <a:picLocks noChangeAspect="1"/>
          </p:cNvPicPr>
          <p:nvPr/>
        </p:nvPicPr>
        <p:blipFill rotWithShape="1">
          <a:blip r:embed="rId3"/>
          <a:srcRect l="781" t="6069" r="4123" b="16297"/>
          <a:stretch/>
        </p:blipFill>
        <p:spPr>
          <a:xfrm>
            <a:off x="628651" y="3175463"/>
            <a:ext cx="15345242" cy="2587663"/>
          </a:xfrm>
          <a:prstGeom prst="rect">
            <a:avLst/>
          </a:prstGeom>
        </p:spPr>
      </p:pic>
      <p:sp>
        <p:nvSpPr>
          <p:cNvPr id="13" name="Rectangle 12"/>
          <p:cNvSpPr/>
          <p:nvPr/>
        </p:nvSpPr>
        <p:spPr>
          <a:xfrm>
            <a:off x="153747" y="6276659"/>
            <a:ext cx="16114953" cy="1569660"/>
          </a:xfrm>
          <a:prstGeom prst="rect">
            <a:avLst/>
          </a:prstGeom>
        </p:spPr>
        <p:txBody>
          <a:bodyPr wrap="square">
            <a:spAutoFit/>
          </a:bodyPr>
          <a:lstStyle/>
          <a:p>
            <a:r>
              <a:rPr lang="en-CA" sz="3200" dirty="0">
                <a:solidFill>
                  <a:srgbClr val="00B0F0"/>
                </a:solidFill>
                <a:latin typeface="Arial" panose="020B0604020202020204" pitchFamily="34" charset="0"/>
                <a:cs typeface="Arial" panose="020B0604020202020204" pitchFamily="34" charset="0"/>
              </a:rPr>
              <a:t>If selected, it will operate with no external components</a:t>
            </a:r>
            <a:r>
              <a:rPr lang="en-CA" sz="3200" dirty="0">
                <a:latin typeface="Arial" panose="020B0604020202020204" pitchFamily="34" charset="0"/>
                <a:cs typeface="Arial" panose="020B0604020202020204" pitchFamily="34" charset="0"/>
              </a:rPr>
              <a:t>. During reset, the hardware loads the pre-programmed calibration value into the </a:t>
            </a:r>
            <a:r>
              <a:rPr lang="en-CA" sz="3200" b="1" dirty="0">
                <a:solidFill>
                  <a:srgbClr val="00B0F0"/>
                </a:solidFill>
                <a:latin typeface="Arial" panose="020B0604020202020204" pitchFamily="34" charset="0"/>
                <a:cs typeface="Arial" panose="020B0604020202020204" pitchFamily="34" charset="0"/>
              </a:rPr>
              <a:t>OSCCAL Register </a:t>
            </a:r>
            <a:r>
              <a:rPr lang="en-CA" sz="3200" dirty="0">
                <a:latin typeface="Arial" panose="020B0604020202020204" pitchFamily="34" charset="0"/>
                <a:cs typeface="Arial" panose="020B0604020202020204" pitchFamily="34" charset="0"/>
              </a:rPr>
              <a:t>and thereby automatically calibrates the RC oscillator.</a:t>
            </a:r>
          </a:p>
        </p:txBody>
      </p:sp>
      <p:sp>
        <p:nvSpPr>
          <p:cNvPr id="12" name="TextBox 11">
            <a:extLst>
              <a:ext uri="{FF2B5EF4-FFF2-40B4-BE49-F238E27FC236}">
                <a16:creationId xmlns:a16="http://schemas.microsoft.com/office/drawing/2014/main" id="{2CE21884-34C2-1FDF-8D60-AF2B8EE5601A}"/>
              </a:ext>
            </a:extLst>
          </p:cNvPr>
          <p:cNvSpPr txBox="1"/>
          <p:nvPr/>
        </p:nvSpPr>
        <p:spPr>
          <a:xfrm>
            <a:off x="178961" y="5708294"/>
            <a:ext cx="16051637" cy="646331"/>
          </a:xfrm>
          <a:prstGeom prst="rect">
            <a:avLst/>
          </a:prstGeom>
          <a:noFill/>
        </p:spPr>
        <p:txBody>
          <a:bodyPr wrap="square">
            <a:spAutoFit/>
          </a:bodyPr>
          <a:lstStyle/>
          <a:p>
            <a:r>
              <a:rPr lang="en-US" sz="3600" dirty="0">
                <a:solidFill>
                  <a:srgbClr val="C00000"/>
                </a:solidFill>
              </a:rPr>
              <a:t>When this Oscillator is selected, start-up times are determined by the SUT Fuses.</a:t>
            </a:r>
          </a:p>
        </p:txBody>
      </p:sp>
    </p:spTree>
    <p:extLst>
      <p:ext uri="{BB962C8B-B14F-4D97-AF65-F5344CB8AC3E}">
        <p14:creationId xmlns:p14="http://schemas.microsoft.com/office/powerpoint/2010/main" val="29687085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128 </a:t>
            </a:r>
            <a:r>
              <a:rPr lang="en-CA" sz="5400" b="1" u="sng" cap="none" dirty="0">
                <a:latin typeface="+mn-lt"/>
                <a:cs typeface="Arial" panose="020B0604020202020204" pitchFamily="34" charset="0"/>
              </a:rPr>
              <a:t>k</a:t>
            </a:r>
            <a:r>
              <a:rPr lang="en-CA" sz="5400" b="1" u="sng" dirty="0">
                <a:latin typeface="+mn-lt"/>
                <a:cs typeface="Arial" panose="020B0604020202020204" pitchFamily="34" charset="0"/>
              </a:rPr>
              <a:t>Hz Internal Oscillator</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12</a:t>
            </a:fld>
            <a:endParaRPr lang="en-US" noProof="0" dirty="0"/>
          </a:p>
        </p:txBody>
      </p:sp>
      <p:sp>
        <p:nvSpPr>
          <p:cNvPr id="7" name="Rectangle 6"/>
          <p:cNvSpPr/>
          <p:nvPr/>
        </p:nvSpPr>
        <p:spPr>
          <a:xfrm>
            <a:off x="214213" y="1075438"/>
            <a:ext cx="15884040" cy="1569660"/>
          </a:xfrm>
          <a:prstGeom prst="rect">
            <a:avLst/>
          </a:prstGeom>
        </p:spPr>
        <p:txBody>
          <a:bodyPr wrap="square">
            <a:spAutoFit/>
          </a:bodyPr>
          <a:lstStyle/>
          <a:p>
            <a:r>
              <a:rPr lang="en-CA" sz="3200" dirty="0">
                <a:latin typeface="Arial" panose="020B0604020202020204" pitchFamily="34" charset="0"/>
                <a:cs typeface="Arial" panose="020B0604020202020204" pitchFamily="34" charset="0"/>
              </a:rPr>
              <a:t>The 128 kHz internal oscillator is a low-power oscillator providing a clock of 128 kHz. The frequency is nominal at </a:t>
            </a:r>
            <a:r>
              <a:rPr lang="en-CA" sz="3200" dirty="0">
                <a:solidFill>
                  <a:srgbClr val="C00000"/>
                </a:solidFill>
                <a:latin typeface="Arial" panose="020B0604020202020204" pitchFamily="34" charset="0"/>
                <a:cs typeface="Arial" panose="020B0604020202020204" pitchFamily="34" charset="0"/>
              </a:rPr>
              <a:t>3 V and 25°C</a:t>
            </a:r>
            <a:r>
              <a:rPr lang="en-CA" sz="3200" dirty="0">
                <a:latin typeface="Arial" panose="020B0604020202020204" pitchFamily="34" charset="0"/>
                <a:cs typeface="Arial" panose="020B0604020202020204" pitchFamily="34" charset="0"/>
              </a:rPr>
              <a:t>. This clock may be selected as the system clock by programming the CKSEL Fuses to “11”.</a:t>
            </a:r>
            <a:endParaRPr lang="en-CA" dirty="0"/>
          </a:p>
        </p:txBody>
      </p:sp>
      <p:pic>
        <p:nvPicPr>
          <p:cNvPr id="9" name="Picture 8"/>
          <p:cNvPicPr>
            <a:picLocks noChangeAspect="1"/>
          </p:cNvPicPr>
          <p:nvPr/>
        </p:nvPicPr>
        <p:blipFill rotWithShape="1">
          <a:blip r:embed="rId3"/>
          <a:srcRect l="1311" t="4307" r="1507" b="18306"/>
          <a:stretch/>
        </p:blipFill>
        <p:spPr>
          <a:xfrm>
            <a:off x="723901" y="2624884"/>
            <a:ext cx="15106650" cy="2091496"/>
          </a:xfrm>
          <a:prstGeom prst="rect">
            <a:avLst/>
          </a:prstGeom>
        </p:spPr>
      </p:pic>
      <p:sp>
        <p:nvSpPr>
          <p:cNvPr id="10" name="TextBox 9">
            <a:extLst>
              <a:ext uri="{FF2B5EF4-FFF2-40B4-BE49-F238E27FC236}">
                <a16:creationId xmlns:a16="http://schemas.microsoft.com/office/drawing/2014/main" id="{7A3DBD8F-A9A4-706B-31D9-D586181E85C4}"/>
              </a:ext>
            </a:extLst>
          </p:cNvPr>
          <p:cNvSpPr txBox="1"/>
          <p:nvPr/>
        </p:nvSpPr>
        <p:spPr>
          <a:xfrm>
            <a:off x="214212" y="4653057"/>
            <a:ext cx="16091239" cy="646331"/>
          </a:xfrm>
          <a:prstGeom prst="rect">
            <a:avLst/>
          </a:prstGeom>
          <a:noFill/>
        </p:spPr>
        <p:txBody>
          <a:bodyPr wrap="square">
            <a:spAutoFit/>
          </a:bodyPr>
          <a:lstStyle/>
          <a:p>
            <a:r>
              <a:rPr lang="en-US" sz="3600" dirty="0"/>
              <a:t>When this clock source is selected, </a:t>
            </a:r>
            <a:r>
              <a:rPr lang="en-US" sz="3600" b="1" dirty="0">
                <a:solidFill>
                  <a:srgbClr val="C00000"/>
                </a:solidFill>
              </a:rPr>
              <a:t>start-up times are determined by the SUT Fuses</a:t>
            </a:r>
            <a:r>
              <a:rPr lang="en-US" sz="3600" dirty="0"/>
              <a:t>.</a:t>
            </a:r>
          </a:p>
        </p:txBody>
      </p:sp>
      <p:pic>
        <p:nvPicPr>
          <p:cNvPr id="6" name="Picture 5">
            <a:extLst>
              <a:ext uri="{FF2B5EF4-FFF2-40B4-BE49-F238E27FC236}">
                <a16:creationId xmlns:a16="http://schemas.microsoft.com/office/drawing/2014/main" id="{70319D66-17C7-7FA5-C740-42AFDA311ADA}"/>
              </a:ext>
            </a:extLst>
          </p:cNvPr>
          <p:cNvPicPr>
            <a:picLocks noChangeAspect="1"/>
          </p:cNvPicPr>
          <p:nvPr/>
        </p:nvPicPr>
        <p:blipFill rotWithShape="1">
          <a:blip r:embed="rId4">
            <a:duotone>
              <a:schemeClr val="accent2">
                <a:shade val="45000"/>
                <a:satMod val="135000"/>
              </a:schemeClr>
              <a:prstClr val="white"/>
            </a:duotone>
          </a:blip>
          <a:srcRect l="194" t="5283" r="19142" b="2768"/>
          <a:stretch/>
        </p:blipFill>
        <p:spPr>
          <a:xfrm>
            <a:off x="8615174" y="5299389"/>
            <a:ext cx="5690374" cy="2446242"/>
          </a:xfrm>
          <a:prstGeom prst="rect">
            <a:avLst/>
          </a:prstGeom>
        </p:spPr>
      </p:pic>
      <p:sp>
        <p:nvSpPr>
          <p:cNvPr id="8" name="TextBox 7">
            <a:extLst>
              <a:ext uri="{FF2B5EF4-FFF2-40B4-BE49-F238E27FC236}">
                <a16:creationId xmlns:a16="http://schemas.microsoft.com/office/drawing/2014/main" id="{E33D15B7-4FB4-CEB1-409A-90377D89017D}"/>
              </a:ext>
            </a:extLst>
          </p:cNvPr>
          <p:cNvSpPr txBox="1"/>
          <p:nvPr/>
        </p:nvSpPr>
        <p:spPr>
          <a:xfrm>
            <a:off x="8615175" y="6351862"/>
            <a:ext cx="5690374" cy="277537"/>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05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41351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heel(1)">
                                      <p:cBhvr>
                                        <p:cTn id="2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5400" b="1" u="sng" dirty="0">
                <a:latin typeface="+mn-lt"/>
                <a:cs typeface="Arial" panose="020B0604020202020204" pitchFamily="34" charset="0"/>
              </a:rPr>
              <a:t>External Clock</a:t>
            </a:r>
            <a:r>
              <a:rPr lang="en-US" sz="5400" b="1" u="sng" dirty="0">
                <a:latin typeface="+mn-lt"/>
              </a:rPr>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13</a:t>
            </a:fld>
            <a:endParaRPr lang="en-US" noProof="0" dirty="0"/>
          </a:p>
        </p:txBody>
      </p:sp>
      <p:sp>
        <p:nvSpPr>
          <p:cNvPr id="7" name="Rectangle 6"/>
          <p:cNvSpPr/>
          <p:nvPr/>
        </p:nvSpPr>
        <p:spPr>
          <a:xfrm>
            <a:off x="105622" y="1038444"/>
            <a:ext cx="16199831" cy="584775"/>
          </a:xfrm>
          <a:prstGeom prst="rect">
            <a:avLst/>
          </a:prstGeom>
        </p:spPr>
        <p:txBody>
          <a:bodyPr wrap="square">
            <a:spAutoFit/>
          </a:bodyPr>
          <a:lstStyle/>
          <a:p>
            <a:r>
              <a:rPr lang="en-CA" sz="3200" dirty="0">
                <a:latin typeface="Arial" panose="020B0604020202020204" pitchFamily="34" charset="0"/>
                <a:cs typeface="Arial" panose="020B0604020202020204" pitchFamily="34" charset="0"/>
              </a:rPr>
              <a:t>To drive the device from an external clock source, XTAL1 should be driven as follows- </a:t>
            </a:r>
          </a:p>
        </p:txBody>
      </p:sp>
      <p:pic>
        <p:nvPicPr>
          <p:cNvPr id="6" name="Picture 5"/>
          <p:cNvPicPr>
            <a:picLocks noChangeAspect="1"/>
          </p:cNvPicPr>
          <p:nvPr/>
        </p:nvPicPr>
        <p:blipFill rotWithShape="1">
          <a:blip r:embed="rId3">
            <a:duotone>
              <a:prstClr val="black"/>
              <a:schemeClr val="accent6">
                <a:tint val="45000"/>
                <a:satMod val="400000"/>
              </a:schemeClr>
            </a:duotone>
            <a:extLst>
              <a:ext uri="{BEBA8EAE-BF5A-486C-A8C5-ECC9F3942E4B}">
                <a14:imgProps xmlns:a14="http://schemas.microsoft.com/office/drawing/2010/main">
                  <a14:imgLayer r:embed="rId4">
                    <a14:imgEffect>
                      <a14:artisticPhotocopy/>
                    </a14:imgEffect>
                  </a14:imgLayer>
                </a14:imgProps>
              </a:ext>
            </a:extLst>
          </a:blip>
          <a:srcRect r="5473" b="2790"/>
          <a:stretch/>
        </p:blipFill>
        <p:spPr>
          <a:xfrm>
            <a:off x="241477" y="1635935"/>
            <a:ext cx="7226124" cy="4533186"/>
          </a:xfrm>
          <a:prstGeom prst="rect">
            <a:avLst/>
          </a:prstGeom>
        </p:spPr>
      </p:pic>
      <p:sp>
        <p:nvSpPr>
          <p:cNvPr id="12" name="Rectangle 11"/>
          <p:cNvSpPr/>
          <p:nvPr/>
        </p:nvSpPr>
        <p:spPr>
          <a:xfrm>
            <a:off x="105622" y="6169121"/>
            <a:ext cx="16170530" cy="584775"/>
          </a:xfrm>
          <a:prstGeom prst="rect">
            <a:avLst/>
          </a:prstGeom>
        </p:spPr>
        <p:txBody>
          <a:bodyPr wrap="square">
            <a:spAutoFit/>
          </a:bodyPr>
          <a:lstStyle/>
          <a:p>
            <a:r>
              <a:rPr lang="en-CA" sz="3200" dirty="0">
                <a:latin typeface="Arial" panose="020B0604020202020204" pitchFamily="34" charset="0"/>
                <a:cs typeface="Arial" panose="020B0604020202020204" pitchFamily="34" charset="0"/>
              </a:rPr>
              <a:t>To run the device on an external clock, the CKSEL Fuses must be programmed to “0000”</a:t>
            </a:r>
          </a:p>
        </p:txBody>
      </p:sp>
      <p:pic>
        <p:nvPicPr>
          <p:cNvPr id="13" name="Picture 12"/>
          <p:cNvPicPr>
            <a:picLocks noChangeAspect="1"/>
          </p:cNvPicPr>
          <p:nvPr/>
        </p:nvPicPr>
        <p:blipFill rotWithShape="1">
          <a:blip r:embed="rId5"/>
          <a:srcRect l="458" t="11667" r="1330" b="14833"/>
          <a:stretch/>
        </p:blipFill>
        <p:spPr>
          <a:xfrm>
            <a:off x="282531" y="6717062"/>
            <a:ext cx="15478501" cy="1247486"/>
          </a:xfrm>
          <a:prstGeom prst="rect">
            <a:avLst/>
          </a:prstGeom>
        </p:spPr>
      </p:pic>
      <p:pic>
        <p:nvPicPr>
          <p:cNvPr id="8" name="Picture 7">
            <a:extLst>
              <a:ext uri="{FF2B5EF4-FFF2-40B4-BE49-F238E27FC236}">
                <a16:creationId xmlns:a16="http://schemas.microsoft.com/office/drawing/2014/main" id="{A1B398C8-A8F8-BD1F-6B03-9C9E273BA144}"/>
              </a:ext>
            </a:extLst>
          </p:cNvPr>
          <p:cNvPicPr>
            <a:picLocks noChangeAspect="1"/>
          </p:cNvPicPr>
          <p:nvPr/>
        </p:nvPicPr>
        <p:blipFill rotWithShape="1">
          <a:blip r:embed="rId6">
            <a:duotone>
              <a:schemeClr val="accent2">
                <a:shade val="45000"/>
                <a:satMod val="135000"/>
              </a:schemeClr>
              <a:prstClr val="white"/>
            </a:duotone>
          </a:blip>
          <a:srcRect l="194" t="5283" r="19142" b="2768"/>
          <a:stretch/>
        </p:blipFill>
        <p:spPr>
          <a:xfrm>
            <a:off x="7877887" y="2284920"/>
            <a:ext cx="7761080" cy="3336420"/>
          </a:xfrm>
          <a:prstGeom prst="rect">
            <a:avLst/>
          </a:prstGeom>
        </p:spPr>
      </p:pic>
      <p:sp>
        <p:nvSpPr>
          <p:cNvPr id="9" name="TextBox 8">
            <a:extLst>
              <a:ext uri="{FF2B5EF4-FFF2-40B4-BE49-F238E27FC236}">
                <a16:creationId xmlns:a16="http://schemas.microsoft.com/office/drawing/2014/main" id="{7802F8CC-9468-3671-5E3F-6669492CB002}"/>
              </a:ext>
            </a:extLst>
          </p:cNvPr>
          <p:cNvSpPr txBox="1"/>
          <p:nvPr/>
        </p:nvSpPr>
        <p:spPr>
          <a:xfrm>
            <a:off x="8022270" y="4481475"/>
            <a:ext cx="7438307" cy="367251"/>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1925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heel(1)">
                                      <p:cBhvr>
                                        <p:cTn id="30"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4800" b="1" u="sng" dirty="0">
                <a:latin typeface="Arial" panose="020B0604020202020204" pitchFamily="34" charset="0"/>
                <a:cs typeface="Arial" panose="020B0604020202020204" pitchFamily="34" charset="0"/>
              </a:rPr>
              <a:t>Timer/Counter Oscillator:</a:t>
            </a:r>
            <a:endParaRPr lang="en-US" sz="4800" b="1" u="sng" dirty="0"/>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14</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0" name="Rectangle 9"/>
          <p:cNvSpPr/>
          <p:nvPr/>
        </p:nvSpPr>
        <p:spPr>
          <a:xfrm>
            <a:off x="172797" y="1196564"/>
            <a:ext cx="16038753" cy="6186309"/>
          </a:xfrm>
          <a:prstGeom prst="rect">
            <a:avLst/>
          </a:prstGeom>
        </p:spPr>
        <p:txBody>
          <a:bodyPr wrap="square">
            <a:spAutoFit/>
          </a:bodyPr>
          <a:lstStyle/>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ATmega48P/88P/168P/328P uses the same crystal oscillator for the Low-frequency oscillator and Timer/Counter oscillator. </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ATmega48P/88P/168P/328P share the </a:t>
            </a:r>
            <a:r>
              <a:rPr lang="en-US" sz="3600" b="1" dirty="0">
                <a:solidFill>
                  <a:srgbClr val="00B0F0"/>
                </a:solidFill>
                <a:latin typeface="Arial" panose="020B0604020202020204" pitchFamily="34" charset="0"/>
                <a:cs typeface="Arial" panose="020B0604020202020204" pitchFamily="34" charset="0"/>
              </a:rPr>
              <a:t>Timer/Counter Oscillator Pins</a:t>
            </a:r>
            <a:r>
              <a:rPr lang="en-US" sz="3600" dirty="0">
                <a:latin typeface="Arial" panose="020B0604020202020204" pitchFamily="34" charset="0"/>
                <a:cs typeface="Arial" panose="020B0604020202020204" pitchFamily="34" charset="0"/>
              </a:rPr>
              <a:t> (</a:t>
            </a:r>
            <a:r>
              <a:rPr lang="en-US" sz="3600" b="1" dirty="0">
                <a:solidFill>
                  <a:srgbClr val="00B0F0"/>
                </a:solidFill>
                <a:latin typeface="Arial" panose="020B0604020202020204" pitchFamily="34" charset="0"/>
                <a:cs typeface="Arial" panose="020B0604020202020204" pitchFamily="34" charset="0"/>
              </a:rPr>
              <a:t>TOSC1 and TOSC2</a:t>
            </a:r>
            <a:r>
              <a:rPr lang="en-US" sz="3600" dirty="0">
                <a:latin typeface="Arial" panose="020B0604020202020204" pitchFamily="34" charset="0"/>
                <a:cs typeface="Arial" panose="020B0604020202020204" pitchFamily="34" charset="0"/>
              </a:rPr>
              <a:t>) with XTAL1 and XTAL2 respectively. </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When using the Timer/Counter Oscillator, the system clock needs to be </a:t>
            </a:r>
            <a:r>
              <a:rPr lang="en-US" sz="3600" dirty="0">
                <a:solidFill>
                  <a:srgbClr val="00B0F0"/>
                </a:solidFill>
                <a:latin typeface="Arial" panose="020B0604020202020204" pitchFamily="34" charset="0"/>
                <a:cs typeface="Arial" panose="020B0604020202020204" pitchFamily="34" charset="0"/>
              </a:rPr>
              <a:t>four times the oscillator frequency</a:t>
            </a:r>
            <a:r>
              <a:rPr lang="en-US" sz="3600" dirty="0">
                <a:latin typeface="Arial" panose="020B0604020202020204" pitchFamily="34" charset="0"/>
                <a:cs typeface="Arial" panose="020B0604020202020204" pitchFamily="34" charset="0"/>
              </a:rPr>
              <a:t>. Due to this and the pin sharing, the Timer/Counter Oscillator can only be used when the calibrated internal RC oscillator is selected as the system clock source.</a:t>
            </a:r>
          </a:p>
          <a:p>
            <a:pPr marL="571500" indent="-571500">
              <a:buFont typeface="Arial" panose="020B0604020202020204" pitchFamily="34" charset="0"/>
              <a:buChar char="•"/>
            </a:pPr>
            <a:r>
              <a:rPr lang="en-US" sz="3600" dirty="0">
                <a:latin typeface="Arial" panose="020B0604020202020204" pitchFamily="34" charset="0"/>
                <a:cs typeface="Arial" panose="020B0604020202020204" pitchFamily="34" charset="0"/>
              </a:rPr>
              <a:t>Applying an </a:t>
            </a:r>
            <a:r>
              <a:rPr lang="en-US" sz="3600" dirty="0">
                <a:solidFill>
                  <a:srgbClr val="C00000"/>
                </a:solidFill>
                <a:latin typeface="Arial" panose="020B0604020202020204" pitchFamily="34" charset="0"/>
                <a:cs typeface="Arial" panose="020B0604020202020204" pitchFamily="34" charset="0"/>
              </a:rPr>
              <a:t>external clock source to TOSC1 can be done if EXTCLK </a:t>
            </a:r>
            <a:r>
              <a:rPr lang="en-US" sz="3600" dirty="0">
                <a:latin typeface="Arial" panose="020B0604020202020204" pitchFamily="34" charset="0"/>
                <a:cs typeface="Arial" panose="020B0604020202020204" pitchFamily="34" charset="0"/>
              </a:rPr>
              <a:t>in the </a:t>
            </a:r>
            <a:r>
              <a:rPr lang="en-US" sz="3600" b="1" dirty="0">
                <a:solidFill>
                  <a:srgbClr val="C00000"/>
                </a:solidFill>
                <a:latin typeface="Arial" panose="020B0604020202020204" pitchFamily="34" charset="0"/>
                <a:cs typeface="Arial" panose="020B0604020202020204" pitchFamily="34" charset="0"/>
              </a:rPr>
              <a:t>ASSR Register </a:t>
            </a:r>
            <a:r>
              <a:rPr lang="en-US" sz="3600" dirty="0">
                <a:latin typeface="Arial" panose="020B0604020202020204" pitchFamily="34" charset="0"/>
                <a:cs typeface="Arial" panose="020B0604020202020204" pitchFamily="34" charset="0"/>
              </a:rPr>
              <a:t>is written to logic one. An external clock is selected as input instead of a </a:t>
            </a:r>
            <a:r>
              <a:rPr lang="en-US" sz="3600" b="1" dirty="0">
                <a:solidFill>
                  <a:srgbClr val="FF0000"/>
                </a:solidFill>
                <a:latin typeface="Arial" panose="020B0604020202020204" pitchFamily="34" charset="0"/>
                <a:cs typeface="Arial" panose="020B0604020202020204" pitchFamily="34" charset="0"/>
              </a:rPr>
              <a:t>32.768 kHz watch crystal</a:t>
            </a:r>
            <a:r>
              <a:rPr lang="en-US" sz="3600" dirty="0">
                <a:latin typeface="Arial" panose="020B0604020202020204" pitchFamily="34" charset="0"/>
                <a:cs typeface="Arial" panose="020B0604020202020204" pitchFamily="34" charset="0"/>
              </a:rPr>
              <a:t>.</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00754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4800" b="1" u="sng" dirty="0">
                <a:latin typeface="Arial" panose="020B0604020202020204" pitchFamily="34" charset="0"/>
                <a:cs typeface="Arial" panose="020B0604020202020204" pitchFamily="34" charset="0"/>
              </a:rPr>
              <a:t>System Clock Pre-Scalar</a:t>
            </a:r>
            <a:r>
              <a:rPr lang="en-US" sz="4800" b="1" u="sng" dirty="0"/>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15</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0" name="Rectangle 9"/>
          <p:cNvSpPr/>
          <p:nvPr/>
        </p:nvSpPr>
        <p:spPr>
          <a:xfrm>
            <a:off x="153747" y="1196564"/>
            <a:ext cx="16038753" cy="3046988"/>
          </a:xfrm>
          <a:prstGeom prst="rect">
            <a:avLst/>
          </a:prstGeom>
        </p:spPr>
        <p:txBody>
          <a:bodyPr wrap="square">
            <a:spAutoFit/>
          </a:bodyPr>
          <a:lstStyle/>
          <a:p>
            <a:pPr marL="571500" indent="-571500">
              <a:buFont typeface="Arial" panose="020B0604020202020204" pitchFamily="34" charset="0"/>
              <a:buChar char="•"/>
            </a:pPr>
            <a:r>
              <a:rPr lang="en-CA" sz="3200" dirty="0">
                <a:latin typeface="Arial" panose="020B0604020202020204" pitchFamily="34" charset="0"/>
                <a:cs typeface="Arial" panose="020B0604020202020204" pitchFamily="34" charset="0"/>
              </a:rPr>
              <a:t>The ATmega48P/88P/168P/328P has a system </a:t>
            </a:r>
            <a:r>
              <a:rPr lang="en-CA" sz="3200" b="1" dirty="0">
                <a:solidFill>
                  <a:srgbClr val="C00000"/>
                </a:solidFill>
                <a:latin typeface="Arial" panose="020B0604020202020204" pitchFamily="34" charset="0"/>
                <a:cs typeface="Arial" panose="020B0604020202020204" pitchFamily="34" charset="0"/>
              </a:rPr>
              <a:t>clock Pre-scaler</a:t>
            </a:r>
            <a:r>
              <a:rPr lang="en-CA" sz="3200" dirty="0">
                <a:latin typeface="Arial" panose="020B0604020202020204" pitchFamily="34" charset="0"/>
                <a:cs typeface="Arial" panose="020B0604020202020204" pitchFamily="34" charset="0"/>
              </a:rPr>
              <a:t>, and the system clock can be divided by setting the ”CLKPR – Clock Pre-scaler Register”. </a:t>
            </a:r>
          </a:p>
          <a:p>
            <a:pPr marL="571500" indent="-571500">
              <a:buFont typeface="Arial" panose="020B0604020202020204" pitchFamily="34" charset="0"/>
              <a:buChar char="•"/>
            </a:pPr>
            <a:r>
              <a:rPr lang="en-CA" sz="3200" dirty="0">
                <a:latin typeface="Arial" panose="020B0604020202020204" pitchFamily="34" charset="0"/>
                <a:cs typeface="Arial" panose="020B0604020202020204" pitchFamily="34" charset="0"/>
              </a:rPr>
              <a:t>This feature can be used to </a:t>
            </a:r>
            <a:r>
              <a:rPr lang="en-CA" sz="3200" b="1" dirty="0">
                <a:solidFill>
                  <a:srgbClr val="C00000"/>
                </a:solidFill>
                <a:latin typeface="Arial" panose="020B0604020202020204" pitchFamily="34" charset="0"/>
                <a:cs typeface="Arial" panose="020B0604020202020204" pitchFamily="34" charset="0"/>
              </a:rPr>
              <a:t>decrease the system clock frequency and power consumption</a:t>
            </a:r>
            <a:r>
              <a:rPr lang="en-CA" sz="3200" b="1" dirty="0">
                <a:solidFill>
                  <a:srgbClr val="92D050"/>
                </a:solidFill>
                <a:latin typeface="Arial" panose="020B0604020202020204" pitchFamily="34" charset="0"/>
                <a:cs typeface="Arial" panose="020B0604020202020204" pitchFamily="34" charset="0"/>
              </a:rPr>
              <a:t> </a:t>
            </a:r>
            <a:r>
              <a:rPr lang="en-CA" sz="3200" dirty="0">
                <a:latin typeface="Arial" panose="020B0604020202020204" pitchFamily="34" charset="0"/>
                <a:cs typeface="Arial" panose="020B0604020202020204" pitchFamily="34" charset="0"/>
              </a:rPr>
              <a:t>when the requirement for processing power is low.</a:t>
            </a:r>
          </a:p>
          <a:p>
            <a:pPr marL="571500" indent="-571500">
              <a:buFont typeface="Arial" panose="020B0604020202020204" pitchFamily="34" charset="0"/>
              <a:buChar char="•"/>
            </a:pPr>
            <a:r>
              <a:rPr lang="en-CA" sz="3200" dirty="0">
                <a:latin typeface="Arial" panose="020B0604020202020204" pitchFamily="34" charset="0"/>
                <a:cs typeface="Arial" panose="020B0604020202020204" pitchFamily="34" charset="0"/>
              </a:rPr>
              <a:t>This can be used with all clock source options, and it will </a:t>
            </a:r>
            <a:r>
              <a:rPr lang="en-CA" sz="3200" b="1" dirty="0">
                <a:solidFill>
                  <a:srgbClr val="00B0F0"/>
                </a:solidFill>
                <a:latin typeface="Arial" panose="020B0604020202020204" pitchFamily="34" charset="0"/>
                <a:cs typeface="Arial" panose="020B0604020202020204" pitchFamily="34" charset="0"/>
              </a:rPr>
              <a:t>affect the clock frequency </a:t>
            </a:r>
            <a:r>
              <a:rPr lang="en-CA" sz="3200" dirty="0">
                <a:latin typeface="Arial" panose="020B0604020202020204" pitchFamily="34" charset="0"/>
                <a:cs typeface="Arial" panose="020B0604020202020204" pitchFamily="34" charset="0"/>
              </a:rPr>
              <a:t>of the CPU and all synchronous peripherals.</a:t>
            </a:r>
            <a:endParaRPr lang="en-CA"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229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4800" b="1" u="sng" dirty="0">
                <a:latin typeface="Arial" panose="020B0604020202020204" pitchFamily="34" charset="0"/>
                <a:cs typeface="Arial" panose="020B0604020202020204" pitchFamily="34" charset="0"/>
              </a:rPr>
              <a:t>Register Description</a:t>
            </a:r>
            <a:r>
              <a:rPr lang="en-US" sz="4800" b="1" u="sng" dirty="0"/>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16</a:t>
            </a:fld>
            <a:endParaRPr lang="en-US" noProof="0" dirty="0"/>
          </a:p>
        </p:txBody>
      </p:sp>
      <p:sp>
        <p:nvSpPr>
          <p:cNvPr id="10" name="Rectangle 9"/>
          <p:cNvSpPr/>
          <p:nvPr/>
        </p:nvSpPr>
        <p:spPr>
          <a:xfrm>
            <a:off x="540327" y="1196564"/>
            <a:ext cx="15356165" cy="1077218"/>
          </a:xfrm>
          <a:prstGeom prst="rect">
            <a:avLst/>
          </a:prstGeom>
        </p:spPr>
        <p:txBody>
          <a:bodyPr wrap="square">
            <a:spAutoFit/>
          </a:bodyPr>
          <a:lstStyle/>
          <a:p>
            <a:pPr algn="just"/>
            <a:r>
              <a:rPr lang="en-CA" sz="3200" dirty="0">
                <a:latin typeface="Arial" panose="020B0604020202020204" pitchFamily="34" charset="0"/>
                <a:cs typeface="Arial" panose="020B0604020202020204" pitchFamily="34" charset="0"/>
              </a:rPr>
              <a:t> </a:t>
            </a:r>
            <a:br>
              <a:rPr lang="en-CA" sz="3200" dirty="0"/>
            </a:br>
            <a:endParaRPr lang="en-CA" sz="3200" dirty="0">
              <a:latin typeface="Arial" panose="020B0604020202020204" pitchFamily="34" charset="0"/>
              <a:cs typeface="Arial" panose="020B0604020202020204" pitchFamily="34" charset="0"/>
            </a:endParaRPr>
          </a:p>
        </p:txBody>
      </p:sp>
      <p:sp>
        <p:nvSpPr>
          <p:cNvPr id="7" name="Rectangle 6"/>
          <p:cNvSpPr/>
          <p:nvPr/>
        </p:nvSpPr>
        <p:spPr>
          <a:xfrm>
            <a:off x="176128" y="989915"/>
            <a:ext cx="15742745" cy="646331"/>
          </a:xfrm>
          <a:prstGeom prst="rect">
            <a:avLst/>
          </a:prstGeom>
        </p:spPr>
        <p:txBody>
          <a:bodyPr wrap="square">
            <a:spAutoFit/>
          </a:bodyPr>
          <a:lstStyle/>
          <a:p>
            <a:pPr algn="just"/>
            <a:r>
              <a:rPr lang="en-CA" sz="3600" dirty="0"/>
              <a:t>• </a:t>
            </a:r>
            <a:r>
              <a:rPr lang="en-CA" sz="3600" dirty="0">
                <a:latin typeface="Arial" panose="020B0604020202020204" pitchFamily="34" charset="0"/>
                <a:cs typeface="Arial" panose="020B0604020202020204" pitchFamily="34" charset="0"/>
              </a:rPr>
              <a:t>CLKPR-Clock Pre-scaler Register</a:t>
            </a:r>
          </a:p>
        </p:txBody>
      </p:sp>
      <p:pic>
        <p:nvPicPr>
          <p:cNvPr id="9" name="Picture 8"/>
          <p:cNvPicPr>
            <a:picLocks noChangeAspect="1"/>
          </p:cNvPicPr>
          <p:nvPr/>
        </p:nvPicPr>
        <p:blipFill rotWithShape="1">
          <a:blip r:embed="rId3"/>
          <a:srcRect t="6390" b="13303"/>
          <a:stretch/>
        </p:blipFill>
        <p:spPr>
          <a:xfrm>
            <a:off x="517946" y="1706149"/>
            <a:ext cx="15356165" cy="1818930"/>
          </a:xfrm>
          <a:prstGeom prst="rect">
            <a:avLst/>
          </a:prstGeom>
        </p:spPr>
      </p:pic>
      <p:sp>
        <p:nvSpPr>
          <p:cNvPr id="12" name="Rectangle 11"/>
          <p:cNvSpPr/>
          <p:nvPr/>
        </p:nvSpPr>
        <p:spPr>
          <a:xfrm>
            <a:off x="153747" y="3525079"/>
            <a:ext cx="16000653" cy="3970318"/>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 Bit 7 – CLKPCE: Clock Pre-scaler Change Enable</a:t>
            </a:r>
          </a:p>
          <a:p>
            <a:r>
              <a:rPr lang="en-CA" sz="3600" dirty="0">
                <a:latin typeface="Arial" panose="020B0604020202020204" pitchFamily="34" charset="0"/>
                <a:cs typeface="Arial" panose="020B0604020202020204" pitchFamily="34" charset="0"/>
              </a:rPr>
              <a:t>The </a:t>
            </a:r>
            <a:r>
              <a:rPr lang="en-CA" sz="3600" dirty="0">
                <a:solidFill>
                  <a:srgbClr val="FF0000"/>
                </a:solidFill>
                <a:latin typeface="Arial" panose="020B0604020202020204" pitchFamily="34" charset="0"/>
                <a:cs typeface="Arial" panose="020B0604020202020204" pitchFamily="34" charset="0"/>
              </a:rPr>
              <a:t>CLKPCE</a:t>
            </a:r>
            <a:r>
              <a:rPr lang="en-CA" sz="3600" dirty="0">
                <a:latin typeface="Arial" panose="020B0604020202020204" pitchFamily="34" charset="0"/>
                <a:cs typeface="Arial" panose="020B0604020202020204" pitchFamily="34" charset="0"/>
              </a:rPr>
              <a:t> bit must be </a:t>
            </a:r>
            <a:r>
              <a:rPr lang="en-CA" sz="3600" b="1" dirty="0">
                <a:solidFill>
                  <a:srgbClr val="FF0000"/>
                </a:solidFill>
                <a:latin typeface="Arial" panose="020B0604020202020204" pitchFamily="34" charset="0"/>
                <a:cs typeface="Arial" panose="020B0604020202020204" pitchFamily="34" charset="0"/>
              </a:rPr>
              <a:t>written to logic one to enable the change </a:t>
            </a:r>
            <a:r>
              <a:rPr lang="en-CA" sz="3600" dirty="0">
                <a:latin typeface="Arial" panose="020B0604020202020204" pitchFamily="34" charset="0"/>
                <a:cs typeface="Arial" panose="020B0604020202020204" pitchFamily="34" charset="0"/>
              </a:rPr>
              <a:t>of the </a:t>
            </a:r>
            <a:r>
              <a:rPr lang="en-CA" sz="3600" dirty="0">
                <a:solidFill>
                  <a:srgbClr val="FF0000"/>
                </a:solidFill>
                <a:latin typeface="Arial" panose="020B0604020202020204" pitchFamily="34" charset="0"/>
                <a:cs typeface="Arial" panose="020B0604020202020204" pitchFamily="34" charset="0"/>
              </a:rPr>
              <a:t>CLKPS</a:t>
            </a:r>
            <a:r>
              <a:rPr lang="en-CA" sz="3600" dirty="0">
                <a:solidFill>
                  <a:srgbClr val="FFFF00"/>
                </a:solidFill>
                <a:latin typeface="Arial" panose="020B0604020202020204" pitchFamily="34" charset="0"/>
                <a:cs typeface="Arial" panose="020B0604020202020204" pitchFamily="34" charset="0"/>
              </a:rPr>
              <a:t> </a:t>
            </a:r>
            <a:r>
              <a:rPr lang="en-CA" sz="3600" dirty="0">
                <a:latin typeface="Arial" panose="020B0604020202020204" pitchFamily="34" charset="0"/>
                <a:cs typeface="Arial" panose="020B0604020202020204" pitchFamily="34" charset="0"/>
              </a:rPr>
              <a:t>bits. The </a:t>
            </a:r>
            <a:r>
              <a:rPr lang="en-CA" sz="3600" dirty="0">
                <a:solidFill>
                  <a:srgbClr val="FF0000"/>
                </a:solidFill>
                <a:latin typeface="Arial" panose="020B0604020202020204" pitchFamily="34" charset="0"/>
                <a:cs typeface="Arial" panose="020B0604020202020204" pitchFamily="34" charset="0"/>
              </a:rPr>
              <a:t>CLKPCE</a:t>
            </a:r>
            <a:r>
              <a:rPr lang="en-CA" sz="3600" dirty="0">
                <a:latin typeface="Arial" panose="020B0604020202020204" pitchFamily="34" charset="0"/>
                <a:cs typeface="Arial" panose="020B0604020202020204" pitchFamily="34" charset="0"/>
              </a:rPr>
              <a:t> bit is only updated when the other bits in </a:t>
            </a:r>
            <a:r>
              <a:rPr lang="en-CA" sz="3600" dirty="0">
                <a:solidFill>
                  <a:srgbClr val="FF0000"/>
                </a:solidFill>
                <a:latin typeface="Arial" panose="020B0604020202020204" pitchFamily="34" charset="0"/>
                <a:cs typeface="Arial" panose="020B0604020202020204" pitchFamily="34" charset="0"/>
              </a:rPr>
              <a:t>CLKPR </a:t>
            </a:r>
            <a:r>
              <a:rPr lang="en-CA" sz="3600" dirty="0">
                <a:latin typeface="Arial" panose="020B0604020202020204" pitchFamily="34" charset="0"/>
                <a:cs typeface="Arial" panose="020B0604020202020204" pitchFamily="34" charset="0"/>
              </a:rPr>
              <a:t>are simultaneously written to zero. </a:t>
            </a:r>
            <a:r>
              <a:rPr lang="en-CA" sz="3600" dirty="0">
                <a:solidFill>
                  <a:srgbClr val="FF0000"/>
                </a:solidFill>
                <a:latin typeface="Arial" panose="020B0604020202020204" pitchFamily="34" charset="0"/>
                <a:cs typeface="Arial" panose="020B0604020202020204" pitchFamily="34" charset="0"/>
              </a:rPr>
              <a:t>CLKPCE</a:t>
            </a:r>
            <a:r>
              <a:rPr lang="en-CA" sz="3600" dirty="0">
                <a:latin typeface="Arial" panose="020B0604020202020204" pitchFamily="34" charset="0"/>
                <a:cs typeface="Arial" panose="020B0604020202020204" pitchFamily="34" charset="0"/>
              </a:rPr>
              <a:t> is </a:t>
            </a:r>
            <a:r>
              <a:rPr lang="en-CA" sz="3600" b="1" dirty="0">
                <a:solidFill>
                  <a:schemeClr val="accent1"/>
                </a:solidFill>
                <a:latin typeface="Arial" panose="020B0604020202020204" pitchFamily="34" charset="0"/>
                <a:cs typeface="Arial" panose="020B0604020202020204" pitchFamily="34" charset="0"/>
              </a:rPr>
              <a:t>cleared by hardware four cycles after it is written or when CLKPS bits </a:t>
            </a:r>
            <a:r>
              <a:rPr lang="en-CA" sz="3600" dirty="0">
                <a:latin typeface="Arial" panose="020B0604020202020204" pitchFamily="34" charset="0"/>
                <a:cs typeface="Arial" panose="020B0604020202020204" pitchFamily="34" charset="0"/>
              </a:rPr>
              <a:t>are written. Rewriting the </a:t>
            </a:r>
            <a:r>
              <a:rPr lang="en-CA" sz="3600" dirty="0">
                <a:solidFill>
                  <a:srgbClr val="FF0000"/>
                </a:solidFill>
                <a:latin typeface="Arial" panose="020B0604020202020204" pitchFamily="34" charset="0"/>
                <a:cs typeface="Arial" panose="020B0604020202020204" pitchFamily="34" charset="0"/>
              </a:rPr>
              <a:t>CLKPCE</a:t>
            </a:r>
            <a:r>
              <a:rPr lang="en-CA" sz="3600" dirty="0">
                <a:latin typeface="Arial" panose="020B0604020202020204" pitchFamily="34" charset="0"/>
                <a:cs typeface="Arial" panose="020B0604020202020204" pitchFamily="34" charset="0"/>
              </a:rPr>
              <a:t> bit within this time-out period does neither extend the time-out period nor clear the </a:t>
            </a:r>
            <a:r>
              <a:rPr lang="en-CA" sz="3600" dirty="0">
                <a:solidFill>
                  <a:srgbClr val="FF0000"/>
                </a:solidFill>
                <a:latin typeface="Arial" panose="020B0604020202020204" pitchFamily="34" charset="0"/>
                <a:cs typeface="Arial" panose="020B0604020202020204" pitchFamily="34" charset="0"/>
              </a:rPr>
              <a:t>CLKPCE</a:t>
            </a:r>
            <a:r>
              <a:rPr lang="en-CA" sz="3600" dirty="0">
                <a:latin typeface="Arial" panose="020B0604020202020204" pitchFamily="34" charset="0"/>
                <a:cs typeface="Arial" panose="020B0604020202020204" pitchFamily="34" charset="0"/>
              </a:rPr>
              <a:t> bit.</a:t>
            </a:r>
          </a:p>
        </p:txBody>
      </p:sp>
      <p:sp>
        <p:nvSpPr>
          <p:cNvPr id="6" name="TextBox 5">
            <a:extLst>
              <a:ext uri="{FF2B5EF4-FFF2-40B4-BE49-F238E27FC236}">
                <a16:creationId xmlns:a16="http://schemas.microsoft.com/office/drawing/2014/main" id="{8EF11C62-D087-F6AF-B53D-8B65BBE6AD7D}"/>
              </a:ext>
            </a:extLst>
          </p:cNvPr>
          <p:cNvSpPr txBox="1"/>
          <p:nvPr/>
        </p:nvSpPr>
        <p:spPr>
          <a:xfrm>
            <a:off x="2568195" y="2035646"/>
            <a:ext cx="1811300" cy="646331"/>
          </a:xfrm>
          <a:prstGeom prst="rect">
            <a:avLst/>
          </a:prstGeom>
          <a:noFill/>
          <a:ln w="3810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3600" dirty="0">
              <a:solidFill>
                <a:schemeClr val="tx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554E39B-C680-F4BC-B24D-12966A324A42}"/>
              </a:ext>
            </a:extLst>
          </p:cNvPr>
          <p:cNvSpPr txBox="1"/>
          <p:nvPr/>
        </p:nvSpPr>
        <p:spPr>
          <a:xfrm>
            <a:off x="8373979" y="1982188"/>
            <a:ext cx="6100006" cy="707886"/>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16061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heel(1)">
                                      <p:cBhvr>
                                        <p:cTn id="20" dur="2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heel(1)">
                                      <p:cBhvr>
                                        <p:cTn id="25"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6"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3915543" cy="859790"/>
          </a:xfrm>
        </p:spPr>
        <p:txBody>
          <a:bodyPr/>
          <a:lstStyle/>
          <a:p>
            <a:pPr algn="just"/>
            <a:r>
              <a:rPr lang="en-CA" sz="4800" b="1" u="sng" dirty="0">
                <a:latin typeface="Arial" panose="020B0604020202020204" pitchFamily="34" charset="0"/>
                <a:cs typeface="Arial" panose="020B0604020202020204" pitchFamily="34" charset="0"/>
              </a:rPr>
              <a:t>Register Description</a:t>
            </a:r>
            <a:r>
              <a:rPr lang="en-US" sz="4800" b="1" u="sng" dirty="0"/>
              <a: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17</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0" name="Rectangle 9"/>
          <p:cNvSpPr/>
          <p:nvPr/>
        </p:nvSpPr>
        <p:spPr>
          <a:xfrm>
            <a:off x="540327" y="1196564"/>
            <a:ext cx="15356165" cy="1077218"/>
          </a:xfrm>
          <a:prstGeom prst="rect">
            <a:avLst/>
          </a:prstGeom>
        </p:spPr>
        <p:txBody>
          <a:bodyPr wrap="square">
            <a:spAutoFit/>
          </a:bodyPr>
          <a:lstStyle/>
          <a:p>
            <a:pPr algn="just"/>
            <a:r>
              <a:rPr lang="en-CA" sz="3200" dirty="0">
                <a:latin typeface="Arial" panose="020B0604020202020204" pitchFamily="34" charset="0"/>
                <a:cs typeface="Arial" panose="020B0604020202020204" pitchFamily="34" charset="0"/>
              </a:rPr>
              <a:t> </a:t>
            </a:r>
            <a:br>
              <a:rPr lang="en-CA" sz="3200" dirty="0"/>
            </a:br>
            <a:endParaRPr lang="en-CA" sz="3200" dirty="0">
              <a:latin typeface="Arial" panose="020B0604020202020204" pitchFamily="34" charset="0"/>
              <a:cs typeface="Arial" panose="020B0604020202020204" pitchFamily="34" charset="0"/>
            </a:endParaRPr>
          </a:p>
        </p:txBody>
      </p:sp>
      <p:sp>
        <p:nvSpPr>
          <p:cNvPr id="7" name="Rectangle 6"/>
          <p:cNvSpPr/>
          <p:nvPr/>
        </p:nvSpPr>
        <p:spPr>
          <a:xfrm>
            <a:off x="153747" y="1101314"/>
            <a:ext cx="15742745" cy="646331"/>
          </a:xfrm>
          <a:prstGeom prst="rect">
            <a:avLst/>
          </a:prstGeom>
        </p:spPr>
        <p:txBody>
          <a:bodyPr wrap="square">
            <a:spAutoFit/>
          </a:bodyPr>
          <a:lstStyle/>
          <a:p>
            <a:pPr algn="just"/>
            <a:r>
              <a:rPr lang="en-CA" sz="3600" dirty="0"/>
              <a:t>• </a:t>
            </a:r>
            <a:r>
              <a:rPr lang="en-CA" sz="3600" dirty="0">
                <a:latin typeface="Arial" panose="020B0604020202020204" pitchFamily="34" charset="0"/>
                <a:cs typeface="Arial" panose="020B0604020202020204" pitchFamily="34" charset="0"/>
              </a:rPr>
              <a:t>CLKPR-Clock Pre-scaler Register</a:t>
            </a:r>
          </a:p>
        </p:txBody>
      </p:sp>
      <p:pic>
        <p:nvPicPr>
          <p:cNvPr id="9" name="Picture 8"/>
          <p:cNvPicPr>
            <a:picLocks noChangeAspect="1"/>
          </p:cNvPicPr>
          <p:nvPr/>
        </p:nvPicPr>
        <p:blipFill rotWithShape="1">
          <a:blip r:embed="rId3"/>
          <a:srcRect l="1209" t="3422" r="1274" b="18344"/>
          <a:stretch/>
        </p:blipFill>
        <p:spPr>
          <a:xfrm>
            <a:off x="348347" y="1842895"/>
            <a:ext cx="15833009" cy="1958024"/>
          </a:xfrm>
          <a:prstGeom prst="rect">
            <a:avLst/>
          </a:prstGeom>
        </p:spPr>
      </p:pic>
      <p:sp>
        <p:nvSpPr>
          <p:cNvPr id="12" name="Rectangle 11"/>
          <p:cNvSpPr/>
          <p:nvPr/>
        </p:nvSpPr>
        <p:spPr>
          <a:xfrm>
            <a:off x="274958" y="3951680"/>
            <a:ext cx="15906398" cy="3416320"/>
          </a:xfrm>
          <a:prstGeom prst="rect">
            <a:avLst/>
          </a:prstGeom>
        </p:spPr>
        <p:txBody>
          <a:bodyPr wrap="square">
            <a:spAutoFit/>
          </a:bodyPr>
          <a:lstStyle/>
          <a:p>
            <a:r>
              <a:rPr lang="en-CA" sz="3600" dirty="0">
                <a:latin typeface="Arial" panose="020B0604020202020204" pitchFamily="34" charset="0"/>
                <a:cs typeface="Arial" panose="020B0604020202020204" pitchFamily="34" charset="0"/>
              </a:rPr>
              <a:t>• Bits 3..0 – CLKPS3..0: Clock Pre-scaler Select Bits 3 - 0</a:t>
            </a:r>
          </a:p>
          <a:p>
            <a:r>
              <a:rPr lang="en-CA" sz="3600" dirty="0">
                <a:latin typeface="Arial" panose="020B0604020202020204" pitchFamily="34" charset="0"/>
                <a:cs typeface="Arial" panose="020B0604020202020204" pitchFamily="34" charset="0"/>
              </a:rPr>
              <a:t>These bits define the </a:t>
            </a:r>
            <a:r>
              <a:rPr lang="en-CA" sz="3600" b="1" dirty="0">
                <a:solidFill>
                  <a:srgbClr val="FF0000"/>
                </a:solidFill>
                <a:latin typeface="Arial" panose="020B0604020202020204" pitchFamily="34" charset="0"/>
                <a:cs typeface="Arial" panose="020B0604020202020204" pitchFamily="34" charset="0"/>
              </a:rPr>
              <a:t>division factor between </a:t>
            </a:r>
            <a:r>
              <a:rPr lang="en-CA" sz="3600" dirty="0">
                <a:latin typeface="Arial" panose="020B0604020202020204" pitchFamily="34" charset="0"/>
                <a:cs typeface="Arial" panose="020B0604020202020204" pitchFamily="34" charset="0"/>
              </a:rPr>
              <a:t>the </a:t>
            </a:r>
            <a:r>
              <a:rPr lang="en-CA" sz="3600" dirty="0">
                <a:solidFill>
                  <a:srgbClr val="FF0000"/>
                </a:solidFill>
                <a:latin typeface="Arial" panose="020B0604020202020204" pitchFamily="34" charset="0"/>
                <a:cs typeface="Arial" panose="020B0604020202020204" pitchFamily="34" charset="0"/>
              </a:rPr>
              <a:t>selected clock source and the internal system clock</a:t>
            </a:r>
            <a:r>
              <a:rPr lang="en-CA" sz="3600" dirty="0">
                <a:latin typeface="Arial" panose="020B0604020202020204" pitchFamily="34" charset="0"/>
                <a:cs typeface="Arial" panose="020B0604020202020204" pitchFamily="34" charset="0"/>
              </a:rPr>
              <a:t>. These bits can be written run-time to vary the clock frequency to suit the application requirements. As the divider divides the </a:t>
            </a:r>
            <a:r>
              <a:rPr lang="en-CA" sz="3600" b="1" dirty="0">
                <a:solidFill>
                  <a:srgbClr val="FF0000"/>
                </a:solidFill>
                <a:latin typeface="Arial" panose="020B0604020202020204" pitchFamily="34" charset="0"/>
                <a:cs typeface="Arial" panose="020B0604020202020204" pitchFamily="34" charset="0"/>
              </a:rPr>
              <a:t>master clock input to the MCU</a:t>
            </a:r>
            <a:r>
              <a:rPr lang="en-CA" sz="3600" dirty="0">
                <a:latin typeface="Arial" panose="020B0604020202020204" pitchFamily="34" charset="0"/>
                <a:cs typeface="Arial" panose="020B0604020202020204" pitchFamily="34" charset="0"/>
              </a:rPr>
              <a:t>, the speed of all </a:t>
            </a:r>
            <a:r>
              <a:rPr lang="en-CA" sz="3600" b="1" dirty="0">
                <a:solidFill>
                  <a:srgbClr val="FF0000"/>
                </a:solidFill>
                <a:latin typeface="Arial" panose="020B0604020202020204" pitchFamily="34" charset="0"/>
                <a:cs typeface="Arial" panose="020B0604020202020204" pitchFamily="34" charset="0"/>
              </a:rPr>
              <a:t>synchronous peripherals is reduced </a:t>
            </a:r>
            <a:r>
              <a:rPr lang="en-CA" sz="3600" dirty="0">
                <a:latin typeface="Arial" panose="020B0604020202020204" pitchFamily="34" charset="0"/>
                <a:cs typeface="Arial" panose="020B0604020202020204" pitchFamily="34" charset="0"/>
              </a:rPr>
              <a:t>when a division factor is used. </a:t>
            </a:r>
          </a:p>
        </p:txBody>
      </p:sp>
      <p:sp>
        <p:nvSpPr>
          <p:cNvPr id="11" name="TextBox 10">
            <a:extLst>
              <a:ext uri="{FF2B5EF4-FFF2-40B4-BE49-F238E27FC236}">
                <a16:creationId xmlns:a16="http://schemas.microsoft.com/office/drawing/2014/main" id="{B19A0D19-348B-7796-729A-21DF805524BF}"/>
              </a:ext>
            </a:extLst>
          </p:cNvPr>
          <p:cNvSpPr txBox="1"/>
          <p:nvPr/>
        </p:nvSpPr>
        <p:spPr>
          <a:xfrm>
            <a:off x="2322095" y="2295124"/>
            <a:ext cx="1888958" cy="707886"/>
          </a:xfrm>
          <a:prstGeom prst="rect">
            <a:avLst/>
          </a:prstGeom>
          <a:noFill/>
          <a:ln w="3810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0394C4E-DBC9-99F2-6A7A-BFA48D9F1A72}"/>
              </a:ext>
            </a:extLst>
          </p:cNvPr>
          <p:cNvSpPr txBox="1"/>
          <p:nvPr/>
        </p:nvSpPr>
        <p:spPr>
          <a:xfrm>
            <a:off x="8530388" y="2282983"/>
            <a:ext cx="6280485" cy="707886"/>
          </a:xfrm>
          <a:prstGeom prst="rect">
            <a:avLst/>
          </a:prstGeom>
          <a:noFill/>
          <a:ln w="3810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18883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20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heel(1)">
                                      <p:cBhvr>
                                        <p:cTn id="16"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120398"/>
            <a:ext cx="15806689" cy="859790"/>
          </a:xfrm>
        </p:spPr>
        <p:txBody>
          <a:bodyPr/>
          <a:lstStyle/>
          <a:p>
            <a:pPr algn="just"/>
            <a:r>
              <a:rPr lang="en-CA" sz="4800" b="1" u="sng" dirty="0">
                <a:latin typeface="Arial" panose="020B0604020202020204" pitchFamily="34" charset="0"/>
                <a:cs typeface="Arial" panose="020B0604020202020204" pitchFamily="34" charset="0"/>
              </a:rPr>
              <a:t>Register Description</a:t>
            </a:r>
            <a:r>
              <a:rPr lang="en-US" sz="4800" b="1" u="sng" dirty="0"/>
              <a:t>: </a:t>
            </a:r>
            <a:r>
              <a:rPr lang="en-US" sz="4800" b="1" u="sng" dirty="0">
                <a:latin typeface="+mn-lt"/>
              </a:rPr>
              <a:t>Clock Pre-Scaler Select</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18</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6" name="Picture 5"/>
          <p:cNvPicPr>
            <a:picLocks noChangeAspect="1"/>
          </p:cNvPicPr>
          <p:nvPr/>
        </p:nvPicPr>
        <p:blipFill rotWithShape="1">
          <a:blip r:embed="rId3"/>
          <a:srcRect t="892" r="488" b="2672"/>
          <a:stretch/>
        </p:blipFill>
        <p:spPr>
          <a:xfrm>
            <a:off x="4289791" y="961138"/>
            <a:ext cx="10668228" cy="7220271"/>
          </a:xfrm>
          <a:prstGeom prst="rect">
            <a:avLst/>
          </a:prstGeom>
        </p:spPr>
      </p:pic>
    </p:spTree>
    <p:extLst>
      <p:ext uri="{BB962C8B-B14F-4D97-AF65-F5344CB8AC3E}">
        <p14:creationId xmlns:p14="http://schemas.microsoft.com/office/powerpoint/2010/main" val="40207161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normAutofit/>
          </a:bodyPr>
          <a:lstStyle/>
          <a:p>
            <a:pPr algn="just"/>
            <a:r>
              <a:rPr lang="en-US" sz="5400" b="1" u="sng" dirty="0">
                <a:latin typeface="+mn-lt"/>
              </a:rPr>
              <a:t>Power Management and Sleep Modes:</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19</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740307"/>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Power consumption is a critical issue for a device running continuously for a long time without being turned off. So, to overcome this problem almost every controller comes with a </a:t>
            </a:r>
            <a:r>
              <a:rPr lang="en-US" sz="3600" b="1" dirty="0">
                <a:solidFill>
                  <a:srgbClr val="FF0000"/>
                </a:solidFill>
                <a:latin typeface="Arial" panose="020B0604020202020204" pitchFamily="34" charset="0"/>
                <a:cs typeface="Arial" panose="020B0604020202020204" pitchFamily="34" charset="0"/>
              </a:rPr>
              <a:t>Sleep Mode</a:t>
            </a:r>
            <a:r>
              <a:rPr lang="en-US" sz="3600" dirty="0">
                <a:latin typeface="Arial" panose="020B0604020202020204" pitchFamily="34" charset="0"/>
                <a:cs typeface="Arial" panose="020B0604020202020204" pitchFamily="34" charset="0"/>
              </a:rPr>
              <a:t>, which helps developers to design electronic gadgets. Sleep mode puts the device in power-saving mode optimal</a:t>
            </a:r>
            <a:r>
              <a:rPr lang="en-US" sz="3600" b="1" dirty="0">
                <a:solidFill>
                  <a:srgbClr val="FF0000"/>
                </a:solidFill>
                <a:latin typeface="Arial" panose="020B0604020202020204" pitchFamily="34" charset="0"/>
                <a:cs typeface="Arial" panose="020B0604020202020204" pitchFamily="34" charset="0"/>
              </a:rPr>
              <a:t> power consumption</a:t>
            </a:r>
            <a:r>
              <a:rPr lang="en-US" sz="3600" dirty="0">
                <a:latin typeface="Arial" panose="020B0604020202020204" pitchFamily="34" charset="0"/>
                <a:cs typeface="Arial" panose="020B0604020202020204" pitchFamily="34" charset="0"/>
              </a:rPr>
              <a:t> by turning off the unused modules.</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An Arduino Sleep mode is also referred to as </a:t>
            </a:r>
            <a:r>
              <a:rPr lang="en-US" sz="3600" b="1" dirty="0">
                <a:solidFill>
                  <a:srgbClr val="FF0000"/>
                </a:solidFill>
                <a:latin typeface="Arial" panose="020B0604020202020204" pitchFamily="34" charset="0"/>
                <a:cs typeface="Arial" panose="020B0604020202020204" pitchFamily="34" charset="0"/>
              </a:rPr>
              <a:t>Arduino Power Save Mode </a:t>
            </a:r>
            <a:r>
              <a:rPr lang="en-US" sz="3600" dirty="0">
                <a:latin typeface="Arial" panose="020B0604020202020204" pitchFamily="34" charset="0"/>
                <a:cs typeface="Arial" panose="020B0604020202020204" pitchFamily="34" charset="0"/>
              </a:rPr>
              <a:t>or </a:t>
            </a:r>
            <a:r>
              <a:rPr lang="en-US" sz="3600" b="1" dirty="0">
                <a:solidFill>
                  <a:srgbClr val="FF0000"/>
                </a:solidFill>
                <a:latin typeface="Arial" panose="020B0604020202020204" pitchFamily="34" charset="0"/>
                <a:cs typeface="Arial" panose="020B0604020202020204" pitchFamily="34" charset="0"/>
              </a:rPr>
              <a:t>Arduino Standby Mode</a:t>
            </a:r>
            <a:r>
              <a:rPr lang="en-US" sz="3600" dirty="0">
                <a:latin typeface="Arial" panose="020B0604020202020204" pitchFamily="34" charset="0"/>
                <a:cs typeface="Arial" panose="020B0604020202020204" pitchFamily="34" charset="0"/>
              </a:rPr>
              <a:t>.</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Arduino UNO, Arduino Nano, and Pro-mini come with ATmega328P and it has a </a:t>
            </a:r>
            <a:r>
              <a:rPr lang="en-US" sz="3600" b="1" dirty="0">
                <a:solidFill>
                  <a:srgbClr val="FF0000"/>
                </a:solidFill>
                <a:latin typeface="Arial" panose="020B0604020202020204" pitchFamily="34" charset="0"/>
                <a:cs typeface="Arial" panose="020B0604020202020204" pitchFamily="34" charset="0"/>
              </a:rPr>
              <a:t>Brown-Out Detector (BOD)</a:t>
            </a:r>
            <a:r>
              <a:rPr lang="en-US" sz="3600" dirty="0">
                <a:latin typeface="Arial" panose="020B0604020202020204" pitchFamily="34" charset="0"/>
                <a:cs typeface="Arial" panose="020B0604020202020204" pitchFamily="34" charset="0"/>
              </a:rPr>
              <a:t>, which monitors the supply voltage at the time of </a:t>
            </a:r>
            <a:r>
              <a:rPr lang="en-US" sz="3600" b="1" dirty="0">
                <a:solidFill>
                  <a:srgbClr val="FF0000"/>
                </a:solidFill>
                <a:latin typeface="Arial" panose="020B0604020202020204" pitchFamily="34" charset="0"/>
                <a:cs typeface="Arial" panose="020B0604020202020204" pitchFamily="34" charset="0"/>
              </a:rPr>
              <a:t>Sleep Mode</a:t>
            </a:r>
            <a:r>
              <a:rPr lang="en-US" sz="3600" dirty="0">
                <a:latin typeface="Arial" panose="020B0604020202020204" pitchFamily="34" charset="0"/>
                <a:cs typeface="Arial" panose="020B0604020202020204" pitchFamily="34" charset="0"/>
              </a:rPr>
              <a:t>.</a:t>
            </a:r>
            <a:endParaRPr lang="en-CA"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48919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Power Management and Sleep Modes:</a:t>
            </a:r>
            <a:endParaRPr lang="en-US" sz="4800" b="1" u="sng" dirty="0"/>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20</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7" name="Picture 6"/>
          <p:cNvPicPr>
            <a:picLocks noChangeAspect="1"/>
          </p:cNvPicPr>
          <p:nvPr/>
        </p:nvPicPr>
        <p:blipFill rotWithShape="1">
          <a:blip r:embed="rId3"/>
          <a:srcRect r="1074" b="2572"/>
          <a:stretch/>
        </p:blipFill>
        <p:spPr>
          <a:xfrm>
            <a:off x="5065295" y="3283408"/>
            <a:ext cx="9477120" cy="4615116"/>
          </a:xfrm>
          <a:prstGeom prst="rect">
            <a:avLst/>
          </a:prstGeom>
        </p:spPr>
      </p:pic>
      <p:sp>
        <p:nvSpPr>
          <p:cNvPr id="9" name="Rectangle 8"/>
          <p:cNvSpPr/>
          <p:nvPr/>
        </p:nvSpPr>
        <p:spPr>
          <a:xfrm>
            <a:off x="153747" y="958546"/>
            <a:ext cx="16151706" cy="2308324"/>
          </a:xfrm>
          <a:prstGeom prst="rect">
            <a:avLst/>
          </a:prstGeom>
        </p:spPr>
        <p:txBody>
          <a:bodyPr wrap="square">
            <a:spAutoFit/>
          </a:bodyPr>
          <a:lstStyle/>
          <a:p>
            <a:r>
              <a:rPr lang="en-CA" sz="3600" dirty="0">
                <a:solidFill>
                  <a:srgbClr val="FF0000"/>
                </a:solidFill>
                <a:latin typeface="Arial" panose="020B0604020202020204" pitchFamily="34" charset="0"/>
                <a:cs typeface="Arial" panose="020B0604020202020204" pitchFamily="34" charset="0"/>
              </a:rPr>
              <a:t>Sleep modes </a:t>
            </a:r>
            <a:r>
              <a:rPr lang="en-CA" sz="3600" dirty="0">
                <a:latin typeface="Arial" panose="020B0604020202020204" pitchFamily="34" charset="0"/>
                <a:cs typeface="Arial" panose="020B0604020202020204" pitchFamily="34" charset="0"/>
              </a:rPr>
              <a:t>enable the application </a:t>
            </a:r>
            <a:r>
              <a:rPr lang="en-CA" sz="3600" dirty="0">
                <a:solidFill>
                  <a:srgbClr val="FF0000"/>
                </a:solidFill>
                <a:latin typeface="Arial" panose="020B0604020202020204" pitchFamily="34" charset="0"/>
                <a:cs typeface="Arial" panose="020B0604020202020204" pitchFamily="34" charset="0"/>
              </a:rPr>
              <a:t>to shut down unused modules </a:t>
            </a:r>
            <a:r>
              <a:rPr lang="en-CA" sz="3600" dirty="0">
                <a:latin typeface="Arial" panose="020B0604020202020204" pitchFamily="34" charset="0"/>
                <a:cs typeface="Arial" panose="020B0604020202020204" pitchFamily="34" charset="0"/>
              </a:rPr>
              <a:t>in the MCU, thereby </a:t>
            </a:r>
            <a:r>
              <a:rPr lang="en-CA" sz="3600" dirty="0">
                <a:solidFill>
                  <a:srgbClr val="FF0000"/>
                </a:solidFill>
                <a:latin typeface="Arial" panose="020B0604020202020204" pitchFamily="34" charset="0"/>
                <a:cs typeface="Arial" panose="020B0604020202020204" pitchFamily="34" charset="0"/>
              </a:rPr>
              <a:t>saving power</a:t>
            </a:r>
            <a:r>
              <a:rPr lang="en-CA" sz="3600" dirty="0">
                <a:latin typeface="Arial" panose="020B0604020202020204" pitchFamily="34" charset="0"/>
                <a:cs typeface="Arial" panose="020B0604020202020204" pitchFamily="34" charset="0"/>
              </a:rPr>
              <a:t>. The AVR provides various sleep modes allowing the user to </a:t>
            </a:r>
            <a:r>
              <a:rPr lang="en-CA" sz="3600">
                <a:latin typeface="Arial" panose="020B0604020202020204" pitchFamily="34" charset="0"/>
                <a:cs typeface="Arial" panose="020B0604020202020204" pitchFamily="34" charset="0"/>
              </a:rPr>
              <a:t>tailor power </a:t>
            </a:r>
            <a:r>
              <a:rPr lang="en-CA" sz="3600" dirty="0">
                <a:latin typeface="Arial" panose="020B0604020202020204" pitchFamily="34" charset="0"/>
                <a:cs typeface="Arial" panose="020B0604020202020204" pitchFamily="34" charset="0"/>
              </a:rPr>
              <a:t>consumption to the application’s requirements. </a:t>
            </a:r>
            <a:r>
              <a:rPr lang="en-US" sz="3600" dirty="0">
                <a:latin typeface="Arial" panose="020B0604020202020204" pitchFamily="34" charset="0"/>
                <a:cs typeface="Arial" panose="020B0604020202020204" pitchFamily="34" charset="0"/>
              </a:rPr>
              <a:t>There are </a:t>
            </a:r>
            <a:r>
              <a:rPr lang="en-US" sz="3600" b="1" dirty="0">
                <a:solidFill>
                  <a:srgbClr val="FF0000"/>
                </a:solidFill>
                <a:latin typeface="Arial" panose="020B0604020202020204" pitchFamily="34" charset="0"/>
                <a:cs typeface="Arial" panose="020B0604020202020204" pitchFamily="34" charset="0"/>
              </a:rPr>
              <a:t>six sleep modes </a:t>
            </a:r>
            <a:r>
              <a:rPr lang="en-US" sz="3600" dirty="0">
                <a:latin typeface="Arial" panose="020B0604020202020204" pitchFamily="34" charset="0"/>
                <a:cs typeface="Arial" panose="020B0604020202020204" pitchFamily="34" charset="0"/>
              </a:rPr>
              <a:t>in ATmega328P:</a:t>
            </a:r>
            <a:endParaRPr lang="en-CA" sz="3600" dirty="0"/>
          </a:p>
        </p:txBody>
      </p:sp>
    </p:spTree>
    <p:extLst>
      <p:ext uri="{BB962C8B-B14F-4D97-AF65-F5344CB8AC3E}">
        <p14:creationId xmlns:p14="http://schemas.microsoft.com/office/powerpoint/2010/main" val="4375328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Power Management and Sleep Modes:</a:t>
            </a:r>
            <a:endParaRPr lang="en-US" sz="4800" b="1" u="sng" dirty="0"/>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21</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7" name="Picture 6"/>
          <p:cNvPicPr>
            <a:picLocks noChangeAspect="1"/>
          </p:cNvPicPr>
          <p:nvPr/>
        </p:nvPicPr>
        <p:blipFill rotWithShape="1">
          <a:blip r:embed="rId3"/>
          <a:srcRect r="1074" b="2572"/>
          <a:stretch/>
        </p:blipFill>
        <p:spPr>
          <a:xfrm>
            <a:off x="272528" y="1050178"/>
            <a:ext cx="15806689" cy="6848346"/>
          </a:xfrm>
          <a:prstGeom prst="rect">
            <a:avLst/>
          </a:prstGeom>
        </p:spPr>
      </p:pic>
    </p:spTree>
    <p:extLst>
      <p:ext uri="{BB962C8B-B14F-4D97-AF65-F5344CB8AC3E}">
        <p14:creationId xmlns:p14="http://schemas.microsoft.com/office/powerpoint/2010/main" val="40437545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03616"/>
            <a:ext cx="15806689" cy="859790"/>
          </a:xfrm>
        </p:spPr>
        <p:txBody>
          <a:bodyPr/>
          <a:lstStyle/>
          <a:p>
            <a:pPr algn="just"/>
            <a:r>
              <a:rPr lang="en-US" sz="5400" b="1" u="sng" dirty="0">
                <a:latin typeface="+mn-lt"/>
              </a:rPr>
              <a:t>Register Description: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22</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1" name="Rectangle 10"/>
          <p:cNvSpPr/>
          <p:nvPr/>
        </p:nvSpPr>
        <p:spPr>
          <a:xfrm>
            <a:off x="207818" y="1036478"/>
            <a:ext cx="16041832" cy="4801314"/>
          </a:xfrm>
          <a:prstGeom prst="rect">
            <a:avLst/>
          </a:prstGeom>
        </p:spPr>
        <p:txBody>
          <a:bodyPr wrap="square">
            <a:spAutoFit/>
          </a:bodyPr>
          <a:lstStyle/>
          <a:p>
            <a:r>
              <a:rPr lang="en-CA" sz="3400" b="1" dirty="0">
                <a:solidFill>
                  <a:srgbClr val="FF0000"/>
                </a:solidFill>
                <a:latin typeface="Times New Roman" panose="02020603050405020304" pitchFamily="18" charset="0"/>
                <a:cs typeface="Times New Roman" panose="02020603050405020304" pitchFamily="18" charset="0"/>
              </a:rPr>
              <a:t>SMCR – Sleep Mode Control Register</a:t>
            </a:r>
          </a:p>
          <a:p>
            <a:r>
              <a:rPr lang="en-CA" sz="3400" dirty="0">
                <a:latin typeface="Times New Roman" panose="02020603050405020304" pitchFamily="18" charset="0"/>
                <a:cs typeface="Times New Roman" panose="02020603050405020304" pitchFamily="18" charset="0"/>
              </a:rPr>
              <a:t>The Sleep Mode Control Register (SMCR) contains control bits for power management. The function of these bits (SM2:0) is shown in the next slide.</a:t>
            </a:r>
          </a:p>
          <a:p>
            <a:r>
              <a:rPr lang="en-US" sz="3400" dirty="0">
                <a:latin typeface="Times New Roman" panose="02020603050405020304" pitchFamily="18" charset="0"/>
                <a:cs typeface="Times New Roman" panose="02020603050405020304" pitchFamily="18" charset="0"/>
              </a:rPr>
              <a:t>For entering into any of the sleep modes, we need to enable the sleep bit in the Sleep Mode Control Register (SMCR.SE). Then, the Sleep Mode Select bits select any 1 of the sleep modes among 6 different sleep modes, viz. Idle, ADC Noise Reduction, Power-Down, Power-Save, Standby, and External Standby.</a:t>
            </a:r>
          </a:p>
          <a:p>
            <a:r>
              <a:rPr lang="en-US" sz="3400" dirty="0">
                <a:latin typeface="Times New Roman" panose="02020603050405020304" pitchFamily="18" charset="0"/>
                <a:cs typeface="Times New Roman" panose="02020603050405020304" pitchFamily="18" charset="0"/>
              </a:rPr>
              <a:t>An internal or external Arduino interrupt or a Reset can wake up the Arduino from sleep mode.</a:t>
            </a:r>
            <a:endParaRPr lang="en-CA" sz="3400"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rotWithShape="1">
          <a:blip r:embed="rId3"/>
          <a:srcRect l="2000" t="8794" r="1788" b="9173"/>
          <a:stretch/>
        </p:blipFill>
        <p:spPr>
          <a:xfrm>
            <a:off x="172796" y="5751095"/>
            <a:ext cx="16076853" cy="2131226"/>
          </a:xfrm>
          <a:prstGeom prst="rect">
            <a:avLst/>
          </a:prstGeom>
        </p:spPr>
      </p:pic>
      <p:sp>
        <p:nvSpPr>
          <p:cNvPr id="6" name="TextBox 5">
            <a:extLst>
              <a:ext uri="{FF2B5EF4-FFF2-40B4-BE49-F238E27FC236}">
                <a16:creationId xmlns:a16="http://schemas.microsoft.com/office/drawing/2014/main" id="{513CAA55-E0C6-894E-B151-E9F517A7CB0B}"/>
              </a:ext>
            </a:extLst>
          </p:cNvPr>
          <p:cNvSpPr txBox="1"/>
          <p:nvPr/>
        </p:nvSpPr>
        <p:spPr>
          <a:xfrm>
            <a:off x="13309600" y="6158967"/>
            <a:ext cx="1689100" cy="769441"/>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FB608D8-4526-6B12-0059-88FF21E980DA}"/>
              </a:ext>
            </a:extLst>
          </p:cNvPr>
          <p:cNvSpPr txBox="1"/>
          <p:nvPr/>
        </p:nvSpPr>
        <p:spPr>
          <a:xfrm>
            <a:off x="8559799" y="6158734"/>
            <a:ext cx="4838701" cy="769441"/>
          </a:xfrm>
          <a:prstGeom prst="rect">
            <a:avLst/>
          </a:prstGeom>
          <a:noFill/>
          <a:ln w="5715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84559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heel(1)">
                                      <p:cBhvr>
                                        <p:cTn id="2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5400" b="1" u="sng" dirty="0">
                <a:latin typeface="+mn-lt"/>
              </a:rPr>
              <a:t>Register Description: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23</a:t>
            </a:fld>
            <a:endParaRPr lang="en-US" noProof="0" dirty="0"/>
          </a:p>
        </p:txBody>
      </p:sp>
      <p:pic>
        <p:nvPicPr>
          <p:cNvPr id="9" name="Picture 8"/>
          <p:cNvPicPr>
            <a:picLocks noChangeAspect="1"/>
          </p:cNvPicPr>
          <p:nvPr/>
        </p:nvPicPr>
        <p:blipFill rotWithShape="1">
          <a:blip r:embed="rId3"/>
          <a:srcRect r="1366"/>
          <a:stretch/>
        </p:blipFill>
        <p:spPr>
          <a:xfrm>
            <a:off x="248998" y="1075438"/>
            <a:ext cx="14982982" cy="6633971"/>
          </a:xfrm>
          <a:prstGeom prst="rect">
            <a:avLst/>
          </a:prstGeom>
        </p:spPr>
      </p:pic>
      <p:sp>
        <p:nvSpPr>
          <p:cNvPr id="6" name="TextBox 5">
            <a:extLst>
              <a:ext uri="{FF2B5EF4-FFF2-40B4-BE49-F238E27FC236}">
                <a16:creationId xmlns:a16="http://schemas.microsoft.com/office/drawing/2014/main" id="{79CB417F-579D-434F-6FC0-F6B1C16078DE}"/>
              </a:ext>
            </a:extLst>
          </p:cNvPr>
          <p:cNvSpPr txBox="1"/>
          <p:nvPr/>
        </p:nvSpPr>
        <p:spPr>
          <a:xfrm>
            <a:off x="9380744" y="138429"/>
            <a:ext cx="5667087" cy="1569660"/>
          </a:xfrm>
          <a:prstGeom prst="rect">
            <a:avLst/>
          </a:prstGeom>
          <a:noFill/>
        </p:spPr>
        <p:txBody>
          <a:bodyPr wrap="square" rtlCol="0">
            <a:spAutoFit/>
          </a:bodyPr>
          <a:lstStyle/>
          <a:p>
            <a:r>
              <a:rPr lang="en-US" sz="2400" dirty="0">
                <a:solidFill>
                  <a:srgbClr val="FF0000"/>
                </a:solidFill>
              </a:rPr>
              <a:t>Setting up SMCR using Assembly Language:</a:t>
            </a:r>
          </a:p>
          <a:p>
            <a:r>
              <a:rPr lang="en-US" sz="2400" dirty="0"/>
              <a:t>0b00000111 =0x07</a:t>
            </a:r>
          </a:p>
          <a:p>
            <a:r>
              <a:rPr lang="en-US" sz="2400" dirty="0"/>
              <a:t>LDI R1, 0x07;</a:t>
            </a:r>
          </a:p>
          <a:p>
            <a:r>
              <a:rPr lang="en-US" sz="2400" dirty="0"/>
              <a:t>OUT SMCR, R1;</a:t>
            </a:r>
          </a:p>
        </p:txBody>
      </p:sp>
    </p:spTree>
    <p:extLst>
      <p:ext uri="{BB962C8B-B14F-4D97-AF65-F5344CB8AC3E}">
        <p14:creationId xmlns:p14="http://schemas.microsoft.com/office/powerpoint/2010/main" val="42289158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latin typeface="+mn-lt"/>
              </a:rPr>
              <a:t>Idle Mode: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24</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494085"/>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For entering into the Idle sleep mode, write the SM[2,0] bits of the controller ‘000’. This mode stops the CPU but allows the SPI, 2-wire serial interface, USART, Watchdog, counters, and analog comparator to operate.</a:t>
            </a:r>
          </a:p>
          <a:p>
            <a:r>
              <a:rPr lang="en-US" sz="3200" dirty="0">
                <a:latin typeface="Arial" panose="020B0604020202020204" pitchFamily="34" charset="0"/>
                <a:cs typeface="Arial" panose="020B0604020202020204" pitchFamily="34" charset="0"/>
              </a:rPr>
              <a:t>Idle mode stops the CLKCPU and CLKFLASH.</a:t>
            </a:r>
          </a:p>
          <a:p>
            <a:r>
              <a:rPr lang="en-US" sz="3200" dirty="0">
                <a:latin typeface="Arial" panose="020B0604020202020204" pitchFamily="34" charset="0"/>
                <a:cs typeface="Arial" panose="020B0604020202020204" pitchFamily="34" charset="0"/>
              </a:rPr>
              <a:t>Arduino can be woken up at any time by using external or internal interrupts. Arduino Code for Idle Sleep Mode:</a:t>
            </a:r>
          </a:p>
          <a:p>
            <a:endParaRPr lang="en-US" sz="2000" dirty="0">
              <a:latin typeface="Arial" panose="020B0604020202020204" pitchFamily="34" charset="0"/>
              <a:cs typeface="Arial" panose="020B0604020202020204" pitchFamily="34" charset="0"/>
            </a:endParaRPr>
          </a:p>
          <a:p>
            <a:r>
              <a:rPr lang="en-US" sz="3200" dirty="0" err="1">
                <a:latin typeface="Arial" panose="020B0604020202020204" pitchFamily="34" charset="0"/>
                <a:cs typeface="Arial" panose="020B0604020202020204" pitchFamily="34" charset="0"/>
              </a:rPr>
              <a:t>LowPower.idle</a:t>
            </a:r>
            <a:r>
              <a:rPr lang="en-US" sz="3200" dirty="0">
                <a:latin typeface="Arial" panose="020B0604020202020204" pitchFamily="34" charset="0"/>
                <a:cs typeface="Arial" panose="020B0604020202020204" pitchFamily="34" charset="0"/>
              </a:rPr>
              <a:t>(SLEEP_8S, ADC_OFF, TIMER2_OFF, TIMER1_OFF, TIMER0_OFF, SPI_OFF, USART0_OFF, TWI_OFF);</a:t>
            </a:r>
          </a:p>
          <a:p>
            <a:endParaRPr lang="en-US" sz="3200" dirty="0">
              <a:latin typeface="Arial" panose="020B0604020202020204" pitchFamily="34" charset="0"/>
              <a:cs typeface="Arial" panose="020B0604020202020204" pitchFamily="34" charset="0"/>
            </a:endParaRPr>
          </a:p>
          <a:p>
            <a:r>
              <a:rPr lang="en-US" sz="3200" dirty="0">
                <a:latin typeface="Arial" panose="020B0604020202020204" pitchFamily="34" charset="0"/>
                <a:cs typeface="Arial" panose="020B0604020202020204" pitchFamily="34" charset="0"/>
              </a:rPr>
              <a:t>The Arduino cannot sleep for a specific time, but we have the following timers:</a:t>
            </a:r>
          </a:p>
          <a:p>
            <a:r>
              <a:rPr lang="en-US" sz="3200" dirty="0">
                <a:solidFill>
                  <a:srgbClr val="FF0000"/>
                </a:solidFill>
                <a:latin typeface="Arial" panose="020B0604020202020204" pitchFamily="34" charset="0"/>
                <a:cs typeface="Arial" panose="020B0604020202020204" pitchFamily="34" charset="0"/>
              </a:rPr>
              <a:t>SLEEP_15MS, SLEEP_30MS, SLEEP_60MS, SLEEP_120MS, SLEEP_250MS, SLEEP_500MS, SLEEP_1S, SLEEP_2S, SLEEP_4S, SLEEP_8S, SLEEP_FOREVER</a:t>
            </a:r>
            <a:endParaRPr lang="en-CA" sz="3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345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animEffect transition="in" filter="wipe(left)">
                                      <p:cBhvr>
                                        <p:cTn id="13" dur="500"/>
                                        <p:tgtEl>
                                          <p:spTgt spid="9">
                                            <p:txEl>
                                              <p:pRg st="6" end="6"/>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9">
                                            <p:txEl>
                                              <p:pRg st="7" end="7"/>
                                            </p:txEl>
                                          </p:spTgt>
                                        </p:tgtEl>
                                        <p:attrNameLst>
                                          <p:attrName>style.visibility</p:attrName>
                                        </p:attrNameLst>
                                      </p:cBhvr>
                                      <p:to>
                                        <p:strVal val="visible"/>
                                      </p:to>
                                    </p:set>
                                    <p:animEffect transition="in" filter="wipe(left)">
                                      <p:cBhvr>
                                        <p:cTn id="1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latin typeface="+mn-lt"/>
              </a:rPr>
              <a:t>ADC Noise Reduction Mode: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25</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7072705"/>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To use this sleep mode, write the SM[2,0] bit to ‘001’. The mode stops the CPU but allows the ADC, external interrupt, USART, 2-wire serial interface, Watchdog, and counters to operate. ADC Noise Reduction mode basically stops the CLKCPU, CLKI/O, and CLKFLASH. We can wake up the controller from the ADC Noise Reduction mode by the following methods:</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System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Brown-out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2-wire Serial Interface address match</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level interrupt on INT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Pin change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Timer/Counter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SPM/EEPROM ready interrupt</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6142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latin typeface="+mn-lt"/>
              </a:rPr>
              <a:t>Power-Down Mode: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26</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5964710"/>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Power-Down Mode stops all the generated clocks and allows only the operation of asynchronous modules. It can be enabled by writing the SM[2,0] bits to ‘010’. In this mode, the external oscillator turns OFF, but the 2-wire serial interface, watchdog, and external interrupt continue to operate. It can be disabled by only one of the methods below:</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System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Brown-out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2-wire Serial Interface address match</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level interrupt on INT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Pin change interrupt</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79602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normAutofit/>
          </a:bodyPr>
          <a:lstStyle/>
          <a:p>
            <a:pPr algn="just"/>
            <a:r>
              <a:rPr lang="en-US" sz="5400" b="1" u="sng" dirty="0">
                <a:latin typeface="+mn-lt"/>
              </a:rPr>
              <a:t>Standard Low Power Example: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27</a:t>
            </a:fld>
            <a:endParaRPr lang="en-US" noProof="0" dirty="0"/>
          </a:p>
        </p:txBody>
      </p:sp>
      <p:sp>
        <p:nvSpPr>
          <p:cNvPr id="9" name="Rectangle 8"/>
          <p:cNvSpPr/>
          <p:nvPr/>
        </p:nvSpPr>
        <p:spPr>
          <a:xfrm>
            <a:off x="264695" y="958546"/>
            <a:ext cx="15929810" cy="6771084"/>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This is the simplest way of implementing the Low Power mode. It will use the LED as an indicator to tell if the device is in an active state or sleep state. The device will be in a sleep state for 5 seconds.</a:t>
            </a:r>
          </a:p>
          <a:p>
            <a:endParaRPr lang="en-US" sz="1400" dirty="0">
              <a:latin typeface="Times New Roman" panose="0202060305040502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#include "</a:t>
            </a:r>
            <a:r>
              <a:rPr lang="en-US" sz="2800" dirty="0" err="1">
                <a:latin typeface="Book Antiqua" panose="02040602050305030304" pitchFamily="18" charset="0"/>
                <a:cs typeface="Times New Roman" panose="02020603050405020304" pitchFamily="18" charset="0"/>
              </a:rPr>
              <a:t>ArduinoLowPower.h</a:t>
            </a:r>
            <a:r>
              <a:rPr lang="en-US" sz="2800" dirty="0">
                <a:latin typeface="Book Antiqua" panose="02040602050305030304" pitchFamily="18" charset="0"/>
                <a:cs typeface="Times New Roman" panose="02020603050405020304" pitchFamily="18" charset="0"/>
              </a:rPr>
              <a:t>"</a:t>
            </a:r>
          </a:p>
          <a:p>
            <a:pPr lvl="1"/>
            <a:endParaRPr lang="en-US" sz="16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setup()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pinMode</a:t>
            </a:r>
            <a:r>
              <a:rPr lang="en-US" sz="2800" dirty="0">
                <a:latin typeface="Book Antiqua" panose="02040602050305030304" pitchFamily="18" charset="0"/>
                <a:cs typeface="Times New Roman" panose="02020603050405020304" pitchFamily="18" charset="0"/>
              </a:rPr>
              <a:t>(LED_BUILTIN, OUTPUT); }</a:t>
            </a:r>
          </a:p>
          <a:p>
            <a:pPr lvl="1"/>
            <a:endParaRPr lang="en-US" sz="16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loop()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(LED_BUILTIN, HIGH);</a:t>
            </a:r>
          </a:p>
          <a:p>
            <a:pPr lvl="1"/>
            <a:r>
              <a:rPr lang="en-US" sz="2800" dirty="0">
                <a:latin typeface="Book Antiqua" panose="02040602050305030304" pitchFamily="18" charset="0"/>
                <a:cs typeface="Times New Roman" panose="02020603050405020304" pitchFamily="18" charset="0"/>
              </a:rPr>
              <a:t>  delay(1000);</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(LED_BUILTIN, LOW);</a:t>
            </a:r>
          </a:p>
          <a:p>
            <a:pPr lvl="1"/>
            <a:r>
              <a:rPr lang="en-US" sz="2800" dirty="0">
                <a:latin typeface="Book Antiqua" panose="02040602050305030304" pitchFamily="18" charset="0"/>
                <a:cs typeface="Times New Roman" panose="02020603050405020304" pitchFamily="18" charset="0"/>
              </a:rPr>
              <a:t>  delay(1000);</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LowPower.sleep</a:t>
            </a:r>
            <a:r>
              <a:rPr lang="en-US" sz="2800" dirty="0">
                <a:latin typeface="Book Antiqua" panose="02040602050305030304" pitchFamily="18" charset="0"/>
                <a:cs typeface="Times New Roman" panose="02020603050405020304" pitchFamily="18" charset="0"/>
              </a:rPr>
              <a:t>(5000);  </a:t>
            </a:r>
            <a:r>
              <a:rPr lang="en-US" sz="2800" b="1" dirty="0">
                <a:solidFill>
                  <a:srgbClr val="FF0000"/>
                </a:solidFill>
                <a:latin typeface="Book Antiqua" panose="02040602050305030304" pitchFamily="18" charset="0"/>
                <a:cs typeface="Times New Roman" panose="02020603050405020304" pitchFamily="18" charset="0"/>
              </a:rPr>
              <a:t>// Not for Arduino Uno, Nano, Mega, etc. boards.</a:t>
            </a:r>
          </a:p>
          <a:p>
            <a:pPr lvl="1"/>
            <a:r>
              <a:rPr lang="en-US" sz="2800" dirty="0">
                <a:latin typeface="Book Antiqua" panose="02040602050305030304" pitchFamily="18" charset="0"/>
                <a:cs typeface="Times New Roman" panose="02020603050405020304" pitchFamily="18" charset="0"/>
              </a:rPr>
              <a:t>}</a:t>
            </a:r>
            <a:endParaRPr lang="en-CA" sz="2400" dirty="0">
              <a:latin typeface="Book Antiqua" panose="0204060205030503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396CBBC-AE64-B567-BF6D-4A418EF376BF}"/>
              </a:ext>
            </a:extLst>
          </p:cNvPr>
          <p:cNvSpPr txBox="1"/>
          <p:nvPr/>
        </p:nvSpPr>
        <p:spPr>
          <a:xfrm>
            <a:off x="9649326" y="2625334"/>
            <a:ext cx="6311110" cy="3046988"/>
          </a:xfrm>
          <a:prstGeom prst="rect">
            <a:avLst/>
          </a:prstGeom>
          <a:noFill/>
          <a:ln>
            <a:solidFill>
              <a:srgbClr val="FF0000"/>
            </a:solidFill>
          </a:ln>
        </p:spPr>
        <p:txBody>
          <a:bodyPr wrap="square">
            <a:spAutoFit/>
          </a:bodyPr>
          <a:lstStyle/>
          <a:p>
            <a:r>
              <a:rPr lang="en-US" sz="3200" dirty="0">
                <a:solidFill>
                  <a:srgbClr val="FF0000"/>
                </a:solidFill>
                <a:latin typeface="Times New Roman" panose="02020603050405020304" pitchFamily="18" charset="0"/>
                <a:cs typeface="Times New Roman" panose="02020603050405020304" pitchFamily="18" charset="0"/>
              </a:rPr>
              <a:t>Here we can also change a line of the code to perform the Deep Sleep mode of the device.</a:t>
            </a:r>
          </a:p>
          <a:p>
            <a:endParaRPr lang="en-US" sz="3200" dirty="0">
              <a:solidFill>
                <a:srgbClr val="FF0000"/>
              </a:solidFill>
              <a:latin typeface="Times New Roman" panose="02020603050405020304" pitchFamily="18" charset="0"/>
              <a:cs typeface="Times New Roman" panose="02020603050405020304" pitchFamily="18" charset="0"/>
            </a:endParaRPr>
          </a:p>
          <a:p>
            <a:r>
              <a:rPr lang="en-US" sz="3200" dirty="0">
                <a:solidFill>
                  <a:srgbClr val="FF0000"/>
                </a:solidFill>
                <a:latin typeface="Times New Roman" panose="02020603050405020304" pitchFamily="18" charset="0"/>
                <a:cs typeface="Times New Roman" panose="02020603050405020304" pitchFamily="18" charset="0"/>
              </a:rPr>
              <a:t>//</a:t>
            </a:r>
            <a:r>
              <a:rPr lang="en-US" sz="3200" dirty="0" err="1">
                <a:solidFill>
                  <a:srgbClr val="FF0000"/>
                </a:solidFill>
                <a:latin typeface="Times New Roman" panose="02020603050405020304" pitchFamily="18" charset="0"/>
                <a:cs typeface="Times New Roman" panose="02020603050405020304" pitchFamily="18" charset="0"/>
              </a:rPr>
              <a:t>LowPower.sleep</a:t>
            </a:r>
            <a:r>
              <a:rPr lang="en-US" sz="3200" dirty="0">
                <a:solidFill>
                  <a:srgbClr val="FF0000"/>
                </a:solidFill>
                <a:latin typeface="Times New Roman" panose="02020603050405020304" pitchFamily="18" charset="0"/>
                <a:cs typeface="Times New Roman" panose="02020603050405020304" pitchFamily="18" charset="0"/>
              </a:rPr>
              <a:t>(5000);</a:t>
            </a:r>
          </a:p>
          <a:p>
            <a:r>
              <a:rPr lang="en-US" sz="3200" dirty="0" err="1">
                <a:solidFill>
                  <a:srgbClr val="FF0000"/>
                </a:solidFill>
                <a:latin typeface="Times New Roman" panose="02020603050405020304" pitchFamily="18" charset="0"/>
                <a:cs typeface="Times New Roman" panose="02020603050405020304" pitchFamily="18" charset="0"/>
              </a:rPr>
              <a:t>LowPower.deepSleep</a:t>
            </a:r>
            <a:r>
              <a:rPr lang="en-US" sz="3200" dirty="0">
                <a:solidFill>
                  <a:srgbClr val="FF0000"/>
                </a:solidFill>
                <a:latin typeface="Times New Roman" panose="02020603050405020304" pitchFamily="18" charset="0"/>
                <a:cs typeface="Times New Roman" panose="02020603050405020304" pitchFamily="18" charset="0"/>
              </a:rPr>
              <a:t>(5000);</a:t>
            </a:r>
          </a:p>
        </p:txBody>
      </p:sp>
    </p:spTree>
    <p:extLst>
      <p:ext uri="{BB962C8B-B14F-4D97-AF65-F5344CB8AC3E}">
        <p14:creationId xmlns:p14="http://schemas.microsoft.com/office/powerpoint/2010/main" val="11753638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anim calcmode="lin" valueType="num">
                                      <p:cBhvr additive="base">
                                        <p:cTn id="3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 calcmode="lin" valueType="num">
                                      <p:cBhvr additive="base">
                                        <p:cTn id="35"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anim calcmode="lin" valueType="num">
                                      <p:cBhvr additive="base">
                                        <p:cTn id="39"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 calcmode="lin" valueType="num">
                                      <p:cBhvr additive="base">
                                        <p:cTn id="43"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anim calcmode="lin" valueType="num">
                                      <p:cBhvr additive="base">
                                        <p:cTn id="47"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anim calcmode="lin" valueType="num">
                                      <p:cBhvr additive="base">
                                        <p:cTn id="51"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
                                            <p:txEl>
                                              <p:pRg st="13" end="13"/>
                                            </p:txEl>
                                          </p:spTgt>
                                        </p:tgtEl>
                                        <p:attrNameLst>
                                          <p:attrName>style.visibility</p:attrName>
                                        </p:attrNameLst>
                                      </p:cBhvr>
                                      <p:to>
                                        <p:strVal val="visible"/>
                                      </p:to>
                                    </p:set>
                                    <p:anim calcmode="lin" valueType="num">
                                      <p:cBhvr additive="base">
                                        <p:cTn id="55"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normAutofit/>
          </a:bodyPr>
          <a:lstStyle/>
          <a:p>
            <a:pPr algn="just"/>
            <a:r>
              <a:rPr lang="en-US" sz="5400" b="1" u="sng" dirty="0">
                <a:latin typeface="+mn-lt"/>
              </a:rPr>
              <a:t>Low Power-Power Down Mode Example: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28</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7201972"/>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In this sketch, the Arduino blinks an LED for 2 s and is then powered down for 2 s, and during that time, the ADC and Brown-Out Detect (BOD) are disabled. When powered down, the Arduino's current drops from 14 mA, down to just 6 </a:t>
            </a:r>
            <a:r>
              <a:rPr lang="en-US" sz="3200" dirty="0">
                <a:latin typeface="Symbol" panose="05050102010706020507" pitchFamily="18" charset="2"/>
                <a:cs typeface="Times New Roman" panose="02020603050405020304" pitchFamily="18" charset="0"/>
              </a:rPr>
              <a:t>m</a:t>
            </a:r>
            <a:r>
              <a:rPr lang="en-US" sz="3200" dirty="0">
                <a:latin typeface="Times New Roman" panose="02020603050405020304" pitchFamily="18" charset="0"/>
                <a:cs typeface="Times New Roman" panose="02020603050405020304" pitchFamily="18" charset="0"/>
              </a:rPr>
              <a:t>A!</a:t>
            </a:r>
          </a:p>
          <a:p>
            <a:endParaRPr lang="en-US" sz="1400" dirty="0">
              <a:latin typeface="Times New Roman" panose="02020603050405020304" pitchFamily="18" charset="0"/>
              <a:cs typeface="Times New Roman" panose="02020603050405020304" pitchFamily="18" charset="0"/>
            </a:endParaRPr>
          </a:p>
          <a:p>
            <a:pPr lvl="1"/>
            <a:r>
              <a:rPr lang="en-US" sz="3200" dirty="0">
                <a:latin typeface="Book Antiqua" panose="02040602050305030304" pitchFamily="18" charset="0"/>
                <a:cs typeface="Times New Roman" panose="02020603050405020304" pitchFamily="18" charset="0"/>
              </a:rPr>
              <a:t>#include "</a:t>
            </a:r>
            <a:r>
              <a:rPr lang="en-US" sz="3200" dirty="0" err="1">
                <a:latin typeface="Book Antiqua" panose="02040602050305030304" pitchFamily="18" charset="0"/>
                <a:cs typeface="Times New Roman" panose="02020603050405020304" pitchFamily="18" charset="0"/>
              </a:rPr>
              <a:t>LowPower.h</a:t>
            </a:r>
            <a:r>
              <a:rPr lang="en-US" sz="3200" dirty="0">
                <a:latin typeface="Book Antiqua" panose="02040602050305030304" pitchFamily="18" charset="0"/>
                <a:cs typeface="Times New Roman" panose="02020603050405020304" pitchFamily="18" charset="0"/>
              </a:rPr>
              <a:t>"</a:t>
            </a:r>
          </a:p>
          <a:p>
            <a:pPr lvl="1"/>
            <a:endParaRPr lang="en-US" sz="1600" dirty="0">
              <a:latin typeface="Book Antiqua" panose="02040602050305030304" pitchFamily="18" charset="0"/>
              <a:cs typeface="Times New Roman" panose="02020603050405020304" pitchFamily="18" charset="0"/>
            </a:endParaRPr>
          </a:p>
          <a:p>
            <a:pPr lvl="1"/>
            <a:r>
              <a:rPr lang="en-US" sz="3200" dirty="0">
                <a:latin typeface="Book Antiqua" panose="02040602050305030304" pitchFamily="18" charset="0"/>
                <a:cs typeface="Times New Roman" panose="02020603050405020304" pitchFamily="18" charset="0"/>
              </a:rPr>
              <a:t>void setup() {</a:t>
            </a:r>
          </a:p>
          <a:p>
            <a:pPr lvl="1"/>
            <a:r>
              <a:rPr lang="en-US" sz="3200" dirty="0">
                <a:latin typeface="Book Antiqua" panose="02040602050305030304" pitchFamily="18" charset="0"/>
                <a:cs typeface="Times New Roman" panose="02020603050405020304" pitchFamily="18" charset="0"/>
              </a:rPr>
              <a:t>  </a:t>
            </a:r>
            <a:r>
              <a:rPr lang="en-US" sz="3200" dirty="0" err="1">
                <a:latin typeface="Book Antiqua" panose="02040602050305030304" pitchFamily="18" charset="0"/>
                <a:cs typeface="Times New Roman" panose="02020603050405020304" pitchFamily="18" charset="0"/>
              </a:rPr>
              <a:t>pinMode</a:t>
            </a:r>
            <a:r>
              <a:rPr lang="en-US" sz="3200" dirty="0">
                <a:latin typeface="Book Antiqua" panose="02040602050305030304" pitchFamily="18" charset="0"/>
                <a:cs typeface="Times New Roman" panose="02020603050405020304" pitchFamily="18" charset="0"/>
              </a:rPr>
              <a:t>(13,OUTPUT);</a:t>
            </a:r>
          </a:p>
          <a:p>
            <a:pPr lvl="1"/>
            <a:r>
              <a:rPr lang="en-US" sz="3200" dirty="0">
                <a:latin typeface="Book Antiqua" panose="02040602050305030304" pitchFamily="18" charset="0"/>
                <a:cs typeface="Times New Roman" panose="02020603050405020304" pitchFamily="18" charset="0"/>
              </a:rPr>
              <a:t>}</a:t>
            </a:r>
          </a:p>
          <a:p>
            <a:pPr lvl="1"/>
            <a:endParaRPr lang="en-US" sz="1600" dirty="0">
              <a:latin typeface="Book Antiqua" panose="02040602050305030304" pitchFamily="18" charset="0"/>
              <a:cs typeface="Times New Roman" panose="02020603050405020304" pitchFamily="18" charset="0"/>
            </a:endParaRPr>
          </a:p>
          <a:p>
            <a:pPr lvl="1"/>
            <a:r>
              <a:rPr lang="en-US" sz="3200" dirty="0">
                <a:latin typeface="Book Antiqua" panose="02040602050305030304" pitchFamily="18" charset="0"/>
                <a:cs typeface="Times New Roman" panose="02020603050405020304" pitchFamily="18" charset="0"/>
              </a:rPr>
              <a:t>void loop() {</a:t>
            </a:r>
          </a:p>
          <a:p>
            <a:pPr lvl="1"/>
            <a:r>
              <a:rPr lang="en-US" sz="3200" dirty="0">
                <a:latin typeface="Book Antiqua" panose="02040602050305030304" pitchFamily="18" charset="0"/>
                <a:cs typeface="Times New Roman" panose="02020603050405020304" pitchFamily="18" charset="0"/>
              </a:rPr>
              <a:t>  </a:t>
            </a:r>
            <a:r>
              <a:rPr lang="en-US" sz="3200" dirty="0" err="1">
                <a:latin typeface="Book Antiqua" panose="02040602050305030304" pitchFamily="18" charset="0"/>
                <a:cs typeface="Times New Roman" panose="02020603050405020304" pitchFamily="18" charset="0"/>
              </a:rPr>
              <a:t>digitalWrite</a:t>
            </a:r>
            <a:r>
              <a:rPr lang="en-US" sz="3200" dirty="0">
                <a:latin typeface="Book Antiqua" panose="02040602050305030304" pitchFamily="18" charset="0"/>
                <a:cs typeface="Times New Roman" panose="02020603050405020304" pitchFamily="18" charset="0"/>
              </a:rPr>
              <a:t>(13,HIGH);</a:t>
            </a:r>
          </a:p>
          <a:p>
            <a:pPr lvl="1"/>
            <a:r>
              <a:rPr lang="en-US" sz="3200" dirty="0">
                <a:latin typeface="Book Antiqua" panose="02040602050305030304" pitchFamily="18" charset="0"/>
                <a:cs typeface="Times New Roman" panose="02020603050405020304" pitchFamily="18" charset="0"/>
              </a:rPr>
              <a:t>  delay(2000);</a:t>
            </a:r>
          </a:p>
          <a:p>
            <a:pPr lvl="1"/>
            <a:r>
              <a:rPr lang="en-US" sz="3200" dirty="0">
                <a:latin typeface="Book Antiqua" panose="02040602050305030304" pitchFamily="18" charset="0"/>
                <a:cs typeface="Times New Roman" panose="02020603050405020304" pitchFamily="18" charset="0"/>
              </a:rPr>
              <a:t>  </a:t>
            </a:r>
            <a:r>
              <a:rPr lang="en-US" sz="3200" dirty="0" err="1">
                <a:latin typeface="Book Antiqua" panose="02040602050305030304" pitchFamily="18" charset="0"/>
                <a:cs typeface="Times New Roman" panose="02020603050405020304" pitchFamily="18" charset="0"/>
              </a:rPr>
              <a:t>digitalWrite</a:t>
            </a:r>
            <a:r>
              <a:rPr lang="en-US" sz="3200" dirty="0">
                <a:latin typeface="Book Antiqua" panose="02040602050305030304" pitchFamily="18" charset="0"/>
                <a:cs typeface="Times New Roman" panose="02020603050405020304" pitchFamily="18" charset="0"/>
              </a:rPr>
              <a:t>(13,LOW);</a:t>
            </a:r>
          </a:p>
          <a:p>
            <a:pPr lvl="1"/>
            <a:r>
              <a:rPr lang="en-US" sz="3200" dirty="0">
                <a:latin typeface="Book Antiqua" panose="02040602050305030304" pitchFamily="18" charset="0"/>
                <a:cs typeface="Times New Roman" panose="02020603050405020304" pitchFamily="18" charset="0"/>
              </a:rPr>
              <a:t>  </a:t>
            </a:r>
            <a:r>
              <a:rPr lang="en-US" sz="3200" dirty="0" err="1">
                <a:latin typeface="Book Antiqua" panose="02040602050305030304" pitchFamily="18" charset="0"/>
                <a:cs typeface="Times New Roman" panose="02020603050405020304" pitchFamily="18" charset="0"/>
              </a:rPr>
              <a:t>LowPower.powerDown</a:t>
            </a:r>
            <a:r>
              <a:rPr lang="en-US" sz="3200" dirty="0">
                <a:latin typeface="Book Antiqua" panose="02040602050305030304" pitchFamily="18" charset="0"/>
                <a:cs typeface="Times New Roman" panose="02020603050405020304" pitchFamily="18" charset="0"/>
              </a:rPr>
              <a:t>(SLEEP_2S, ADC_OFF, BOD_OFF);</a:t>
            </a:r>
          </a:p>
          <a:p>
            <a:pPr lvl="1"/>
            <a:r>
              <a:rPr lang="en-US" sz="3200" dirty="0">
                <a:latin typeface="Book Antiqua" panose="02040602050305030304" pitchFamily="18" charset="0"/>
                <a:cs typeface="Times New Roman" panose="02020603050405020304" pitchFamily="18" charset="0"/>
              </a:rPr>
              <a:t>}</a:t>
            </a:r>
            <a:endParaRPr lang="en-US" sz="2800" dirty="0">
              <a:latin typeface="Book Antiqua" panose="0204060205030503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396CBBC-AE64-B567-BF6D-4A418EF376BF}"/>
              </a:ext>
            </a:extLst>
          </p:cNvPr>
          <p:cNvSpPr txBox="1"/>
          <p:nvPr/>
        </p:nvSpPr>
        <p:spPr>
          <a:xfrm>
            <a:off x="6335106" y="2551036"/>
            <a:ext cx="9625330" cy="1200329"/>
          </a:xfrm>
          <a:prstGeom prst="rect">
            <a:avLst/>
          </a:prstGeom>
          <a:noFill/>
          <a:ln>
            <a:solidFill>
              <a:srgbClr val="FF0000"/>
            </a:solidFill>
          </a:ln>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Let’s load this sketch onto our Arduino, which is running with a 5 V supply at 16 </a:t>
            </a:r>
            <a:r>
              <a:rPr lang="en-US" sz="2400" dirty="0" err="1">
                <a:solidFill>
                  <a:srgbClr val="FF0000"/>
                </a:solidFill>
                <a:latin typeface="Times New Roman" panose="02020603050405020304" pitchFamily="18" charset="0"/>
                <a:cs typeface="Times New Roman" panose="02020603050405020304" pitchFamily="18" charset="0"/>
              </a:rPr>
              <a:t>MHz.</a:t>
            </a:r>
            <a:r>
              <a:rPr lang="en-US" sz="2400" dirty="0">
                <a:solidFill>
                  <a:srgbClr val="FF0000"/>
                </a:solidFill>
                <a:latin typeface="Times New Roman" panose="02020603050405020304" pitchFamily="18" charset="0"/>
                <a:cs typeface="Times New Roman" panose="02020603050405020304" pitchFamily="18" charset="0"/>
              </a:rPr>
              <a:t> To see how little current is needed in sleep mode, we are using an Arduino ATmega328P board to minimize the current.</a:t>
            </a:r>
          </a:p>
        </p:txBody>
      </p:sp>
      <p:sp>
        <p:nvSpPr>
          <p:cNvPr id="7" name="TextBox 6">
            <a:extLst>
              <a:ext uri="{FF2B5EF4-FFF2-40B4-BE49-F238E27FC236}">
                <a16:creationId xmlns:a16="http://schemas.microsoft.com/office/drawing/2014/main" id="{D0530387-87E7-2773-336E-909AF4D6F4A2}"/>
              </a:ext>
            </a:extLst>
          </p:cNvPr>
          <p:cNvSpPr txBox="1"/>
          <p:nvPr/>
        </p:nvSpPr>
        <p:spPr>
          <a:xfrm>
            <a:off x="5754637" y="4011245"/>
            <a:ext cx="10504905" cy="2431435"/>
          </a:xfrm>
          <a:prstGeom prst="rect">
            <a:avLst/>
          </a:prstGeom>
          <a:noFill/>
          <a:ln>
            <a:solidFill>
              <a:schemeClr val="accent1"/>
            </a:solidFill>
          </a:ln>
        </p:spPr>
        <p:txBody>
          <a:bodyPr wrap="square">
            <a:spAutoFit/>
          </a:bodyPr>
          <a:lstStyle/>
          <a:p>
            <a:r>
              <a:rPr lang="en-US" sz="2800" dirty="0">
                <a:latin typeface="Times New Roman" panose="02020603050405020304" pitchFamily="18" charset="0"/>
                <a:cs typeface="Times New Roman" panose="02020603050405020304" pitchFamily="18" charset="0"/>
              </a:rPr>
              <a:t>If you want longer sleep durations, you can chain multiple 8-second sleeps, since 8 seconds is the watchdog timer’s maximum.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(int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&lt; 5;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t>
            </a:r>
          </a:p>
          <a:p>
            <a:r>
              <a:rPr lang="en-US" sz="2400" dirty="0" err="1">
                <a:latin typeface="Times New Roman" panose="02020603050405020304" pitchFamily="18" charset="0"/>
                <a:cs typeface="Times New Roman" panose="02020603050405020304" pitchFamily="18" charset="0"/>
              </a:rPr>
              <a:t>LowPower.powerDown</a:t>
            </a:r>
            <a:r>
              <a:rPr lang="en-US" sz="2400" dirty="0">
                <a:latin typeface="Times New Roman" panose="02020603050405020304" pitchFamily="18" charset="0"/>
                <a:cs typeface="Times New Roman" panose="02020603050405020304" pitchFamily="18" charset="0"/>
              </a:rPr>
              <a:t>(SLEEP_8S, ADC_OFF, BOD_OFF); // Sleep for ~40s total</a:t>
            </a:r>
          </a:p>
          <a:p>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844260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 calcmode="lin" valueType="num">
                                      <p:cBhvr additive="base">
                                        <p:cTn id="2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 calcmode="lin" valueType="num">
                                      <p:cBhvr additive="base">
                                        <p:cTn id="2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 calcmode="lin" valueType="num">
                                      <p:cBhvr additive="base">
                                        <p:cTn id="2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 calcmode="lin" valueType="num">
                                      <p:cBhvr additive="base">
                                        <p:cTn id="33"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xEl>
                                              <p:pRg st="9" end="9"/>
                                            </p:txEl>
                                          </p:spTgt>
                                        </p:tgtEl>
                                        <p:attrNameLst>
                                          <p:attrName>style.visibility</p:attrName>
                                        </p:attrNameLst>
                                      </p:cBhvr>
                                      <p:to>
                                        <p:strVal val="visible"/>
                                      </p:to>
                                    </p:set>
                                    <p:anim calcmode="lin" valueType="num">
                                      <p:cBhvr additive="base">
                                        <p:cTn id="37"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 calcmode="lin" valueType="num">
                                      <p:cBhvr additive="base">
                                        <p:cTn id="41"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
                                            <p:txEl>
                                              <p:pRg st="11" end="11"/>
                                            </p:txEl>
                                          </p:spTgt>
                                        </p:tgtEl>
                                        <p:attrNameLst>
                                          <p:attrName>style.visibility</p:attrName>
                                        </p:attrNameLst>
                                      </p:cBhvr>
                                      <p:to>
                                        <p:strVal val="visible"/>
                                      </p:to>
                                    </p:set>
                                    <p:anim calcmode="lin" valueType="num">
                                      <p:cBhvr additive="base">
                                        <p:cTn id="45"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
                                            <p:txEl>
                                              <p:pRg st="12" end="12"/>
                                            </p:txEl>
                                          </p:spTgt>
                                        </p:tgtEl>
                                        <p:attrNameLst>
                                          <p:attrName>style.visibility</p:attrName>
                                        </p:attrNameLst>
                                      </p:cBhvr>
                                      <p:to>
                                        <p:strVal val="visible"/>
                                      </p:to>
                                    </p:set>
                                    <p:anim calcmode="lin" valueType="num">
                                      <p:cBhvr additive="base">
                                        <p:cTn id="49"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xEl>
                                              <p:pRg st="13" end="13"/>
                                            </p:txEl>
                                          </p:spTgt>
                                        </p:tgtEl>
                                        <p:attrNameLst>
                                          <p:attrName>style.visibility</p:attrName>
                                        </p:attrNameLst>
                                      </p:cBhvr>
                                      <p:to>
                                        <p:strVal val="visible"/>
                                      </p:to>
                                    </p:set>
                                    <p:anim calcmode="lin" valueType="num">
                                      <p:cBhvr additive="base">
                                        <p:cTn id="53"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normAutofit/>
          </a:bodyPr>
          <a:lstStyle/>
          <a:p>
            <a:pPr algn="just"/>
            <a:r>
              <a:rPr lang="en-US" sz="5400" b="1" u="sng" dirty="0">
                <a:latin typeface="+mn-lt"/>
              </a:rPr>
              <a:t>Arduino Code for Power-Down Periodic Mode:</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29</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924973"/>
          </a:xfrm>
          <a:prstGeom prst="rect">
            <a:avLst/>
          </a:prstGeom>
        </p:spPr>
        <p:txBody>
          <a:bodyPr wrap="square">
            <a:spAutoFit/>
          </a:bodyPr>
          <a:lstStyle/>
          <a:p>
            <a:r>
              <a:rPr lang="en-US" sz="3200" dirty="0" err="1">
                <a:latin typeface="Times New Roman" panose="02020603050405020304" pitchFamily="18" charset="0"/>
                <a:cs typeface="Times New Roman" panose="02020603050405020304" pitchFamily="18" charset="0"/>
              </a:rPr>
              <a:t>LowPower.powerDown</a:t>
            </a:r>
            <a:r>
              <a:rPr lang="en-US" sz="3200" dirty="0">
                <a:latin typeface="Times New Roman" panose="02020603050405020304" pitchFamily="18" charset="0"/>
                <a:cs typeface="Times New Roman" panose="02020603050405020304" pitchFamily="18" charset="0"/>
              </a:rPr>
              <a:t>(SLEEP_8S, ADC_OFF, BOD_OFF); </a:t>
            </a:r>
          </a:p>
          <a:p>
            <a:r>
              <a:rPr lang="en-US" sz="3200" dirty="0">
                <a:latin typeface="Times New Roman" panose="02020603050405020304" pitchFamily="18" charset="0"/>
                <a:cs typeface="Times New Roman" panose="02020603050405020304" pitchFamily="18" charset="0"/>
              </a:rPr>
              <a:t>The code is used to turn on the power-down mode. By using the above code, the Arduino will go to sleep for eight seconds and wake up automatically.</a:t>
            </a:r>
          </a:p>
          <a:p>
            <a:r>
              <a:rPr lang="en-US" sz="3200" dirty="0">
                <a:latin typeface="Times New Roman" panose="02020603050405020304" pitchFamily="18" charset="0"/>
                <a:cs typeface="Times New Roman" panose="02020603050405020304" pitchFamily="18" charset="0"/>
              </a:rPr>
              <a:t>We can also use the power-down mode with an interrupt, where the Arduino will go to sleep but only wakes up when an external or internal interrupt is provided.</a:t>
            </a:r>
          </a:p>
          <a:p>
            <a:endParaRPr lang="en-US" sz="1400" dirty="0">
              <a:latin typeface="Times New Roman" panose="02020603050405020304" pitchFamily="18" charset="0"/>
              <a:cs typeface="Times New Roman" panose="02020603050405020304" pitchFamily="18" charset="0"/>
            </a:endParaRPr>
          </a:p>
          <a:p>
            <a:r>
              <a:rPr lang="en-US" sz="3200" i="1" dirty="0">
                <a:latin typeface="Times New Roman" panose="02020603050405020304" pitchFamily="18" charset="0"/>
                <a:cs typeface="Times New Roman" panose="02020603050405020304" pitchFamily="18" charset="0"/>
              </a:rPr>
              <a:t>Arduino Code for Power-Down Interrupt Mode:</a:t>
            </a:r>
          </a:p>
          <a:p>
            <a:endParaRPr lang="en-US" sz="1400" dirty="0">
              <a:latin typeface="Times New Roman" panose="0202060305040502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loop() {</a:t>
            </a:r>
          </a:p>
          <a:p>
            <a:pPr lvl="1"/>
            <a:r>
              <a:rPr lang="en-US" sz="2800" dirty="0">
                <a:latin typeface="Book Antiqua" panose="02040602050305030304" pitchFamily="18" charset="0"/>
                <a:cs typeface="Times New Roman" panose="02020603050405020304" pitchFamily="18" charset="0"/>
              </a:rPr>
              <a:t>    // Allow the wake-up pin to trigger an interrupt on low.</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attachInterrupt</a:t>
            </a:r>
            <a:r>
              <a:rPr lang="en-US" sz="2800" dirty="0">
                <a:latin typeface="Book Antiqua" panose="02040602050305030304" pitchFamily="18" charset="0"/>
                <a:cs typeface="Times New Roman" panose="02020603050405020304" pitchFamily="18" charset="0"/>
              </a:rPr>
              <a:t>(0, </a:t>
            </a:r>
            <a:r>
              <a:rPr lang="en-US" sz="2800" dirty="0" err="1">
                <a:latin typeface="Book Antiqua" panose="02040602050305030304" pitchFamily="18" charset="0"/>
                <a:cs typeface="Times New Roman" panose="02020603050405020304" pitchFamily="18" charset="0"/>
              </a:rPr>
              <a:t>wakeUp</a:t>
            </a:r>
            <a:r>
              <a:rPr lang="en-US" sz="2800" dirty="0">
                <a:latin typeface="Book Antiqua" panose="02040602050305030304" pitchFamily="18" charset="0"/>
                <a:cs typeface="Times New Roman" panose="02020603050405020304" pitchFamily="18" charset="0"/>
              </a:rPr>
              <a:t>, LOW);</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LowPower.powerDown</a:t>
            </a:r>
            <a:r>
              <a:rPr lang="en-US" sz="2800" dirty="0">
                <a:latin typeface="Book Antiqua" panose="02040602050305030304" pitchFamily="18" charset="0"/>
                <a:cs typeface="Times New Roman" panose="02020603050405020304" pitchFamily="18" charset="0"/>
              </a:rPr>
              <a:t>(SLEEP_FOREVER, ADC_OFF, BOD_OFF);</a:t>
            </a:r>
          </a:p>
          <a:p>
            <a:pPr lvl="1"/>
            <a:r>
              <a:rPr lang="en-US" sz="2800" dirty="0">
                <a:latin typeface="Book Antiqua" panose="02040602050305030304" pitchFamily="18" charset="0"/>
                <a:cs typeface="Times New Roman" panose="02020603050405020304" pitchFamily="18" charset="0"/>
              </a:rPr>
              <a:t>    // Disable external pin interrupt on the wake-up pin.</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detachInterrupt</a:t>
            </a:r>
            <a:r>
              <a:rPr lang="en-US" sz="2800" dirty="0">
                <a:latin typeface="Book Antiqua" panose="02040602050305030304" pitchFamily="18" charset="0"/>
                <a:cs typeface="Times New Roman" panose="02020603050405020304" pitchFamily="18" charset="0"/>
              </a:rPr>
              <a:t>(0);</a:t>
            </a:r>
          </a:p>
          <a:p>
            <a:pPr lvl="1"/>
            <a:r>
              <a:rPr lang="en-US" sz="2800" dirty="0">
                <a:latin typeface="Book Antiqua" panose="02040602050305030304" pitchFamily="18" charset="0"/>
                <a:cs typeface="Times New Roman" panose="02020603050405020304" pitchFamily="18" charset="0"/>
              </a:rPr>
              <a:t>    // Do something here</a:t>
            </a:r>
          </a:p>
          <a:p>
            <a:pPr lvl="1"/>
            <a:r>
              <a:rPr lang="en-US" sz="2800" dirty="0">
                <a:latin typeface="Book Antiqua" panose="02040602050305030304" pitchFamily="18" charset="0"/>
                <a:cs typeface="Times New Roman" panose="02020603050405020304" pitchFamily="18" charset="0"/>
              </a:rPr>
              <a:t>}</a:t>
            </a:r>
            <a:endParaRPr lang="en-CA" sz="2400"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7766199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30</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88757" y="355726"/>
            <a:ext cx="15905748" cy="7294305"/>
          </a:xfrm>
          <a:prstGeom prst="rect">
            <a:avLst/>
          </a:prstGeom>
        </p:spPr>
        <p:txBody>
          <a:bodyPr wrap="square">
            <a:spAutoFit/>
          </a:bodyPr>
          <a:lstStyle/>
          <a:p>
            <a:r>
              <a:rPr lang="en-US" sz="3600" b="1" u="sng" dirty="0"/>
              <a:t>Power-Save Mode: </a:t>
            </a:r>
            <a:r>
              <a:rPr lang="en-US" sz="3600" dirty="0">
                <a:latin typeface="Times New Roman" panose="02020603050405020304" pitchFamily="18" charset="0"/>
                <a:cs typeface="Times New Roman" panose="02020603050405020304" pitchFamily="18" charset="0"/>
              </a:rPr>
              <a:t>To enter the power-save mode, we need to write the SM[2,0] pin to ‘011’. This sleep mode is like the power-down mode, only with one exception, i.e., if the timer/counter is enabled, it will remain running even at the time of sleep. The device can be woken up by using the timer overflow bit, </a:t>
            </a:r>
            <a:r>
              <a:rPr lang="en-US" sz="3600" dirty="0" err="1">
                <a:latin typeface="Times New Roman" panose="02020603050405020304" pitchFamily="18" charset="0"/>
                <a:cs typeface="Times New Roman" panose="02020603050405020304" pitchFamily="18" charset="0"/>
              </a:rPr>
              <a:t>TOVn</a:t>
            </a:r>
            <a:r>
              <a:rPr lang="en-US" sz="3600" dirty="0">
                <a:latin typeface="Times New Roman" panose="02020603050405020304" pitchFamily="18" charset="0"/>
                <a:cs typeface="Times New Roman" panose="02020603050405020304" pitchFamily="18" charset="0"/>
              </a:rPr>
              <a:t>.</a:t>
            </a:r>
          </a:p>
          <a:p>
            <a:r>
              <a:rPr lang="en-US" sz="3600" dirty="0">
                <a:latin typeface="Times New Roman" panose="02020603050405020304" pitchFamily="18" charset="0"/>
                <a:cs typeface="Times New Roman" panose="02020603050405020304" pitchFamily="18" charset="0"/>
              </a:rPr>
              <a:t>If you are not using the time/counter, it is recommended to use Power-Down mode instead of Power-Save mode.</a:t>
            </a:r>
          </a:p>
          <a:p>
            <a:r>
              <a:rPr lang="en-US" sz="3600" b="1" u="sng" dirty="0">
                <a:cs typeface="Times New Roman" panose="02020603050405020304" pitchFamily="18" charset="0"/>
              </a:rPr>
              <a:t>Standby Mode:</a:t>
            </a:r>
            <a:r>
              <a:rPr lang="en-US" sz="3600" b="1" dirty="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standby mode is identical to the Power-Down mode; the only difference between them is that the external oscillator keeps running in this mode. For enabling this mode, write the SM[2,0] pin to ‘110’.</a:t>
            </a:r>
          </a:p>
          <a:p>
            <a:r>
              <a:rPr lang="en-US" sz="3600" b="1" u="sng" dirty="0"/>
              <a:t>Extended Standby Mode:</a:t>
            </a:r>
            <a:r>
              <a:rPr lang="en-US" sz="3600" b="1" dirty="0"/>
              <a:t> </a:t>
            </a:r>
            <a:r>
              <a:rPr lang="en-US" sz="3600" dirty="0">
                <a:latin typeface="Times New Roman" panose="02020603050405020304" pitchFamily="18" charset="0"/>
                <a:cs typeface="Times New Roman" panose="02020603050405020304" pitchFamily="18" charset="0"/>
              </a:rPr>
              <a:t>This mode is like the power-save mode, only with one exception that the oscillator is kept running. The device will enter the Extended Standby mode when we write the SM[2,0] pin to ‘111’. The device will take six clock cycles to wake up from the extended standby mode.</a:t>
            </a:r>
          </a:p>
        </p:txBody>
      </p:sp>
    </p:spTree>
    <p:extLst>
      <p:ext uri="{BB962C8B-B14F-4D97-AF65-F5344CB8AC3E}">
        <p14:creationId xmlns:p14="http://schemas.microsoft.com/office/powerpoint/2010/main" val="34761151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DC11-6F0A-4053-E686-C05F3E327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CA3C1-0F82-2F9D-F0FC-8757F54D36BA}"/>
              </a:ext>
            </a:extLst>
          </p:cNvPr>
          <p:cNvSpPr>
            <a:spLocks noGrp="1"/>
          </p:cNvSpPr>
          <p:nvPr>
            <p:ph type="title"/>
          </p:nvPr>
        </p:nvSpPr>
        <p:spPr>
          <a:xfrm>
            <a:off x="264695" y="215648"/>
            <a:ext cx="15695741" cy="859790"/>
          </a:xfrm>
        </p:spPr>
        <p:txBody>
          <a:bodyPr>
            <a:normAutofit/>
          </a:bodyPr>
          <a:lstStyle/>
          <a:p>
            <a:pPr algn="just"/>
            <a:r>
              <a:rPr lang="en-US" sz="5400" b="1" u="sng" dirty="0">
                <a:latin typeface="+mn-lt"/>
              </a:rPr>
              <a:t>Arduino Codes for Low Power Modes:</a:t>
            </a:r>
          </a:p>
        </p:txBody>
      </p:sp>
      <p:sp>
        <p:nvSpPr>
          <p:cNvPr id="4" name="Date Placeholder 3">
            <a:extLst>
              <a:ext uri="{FF2B5EF4-FFF2-40B4-BE49-F238E27FC236}">
                <a16:creationId xmlns:a16="http://schemas.microsoft.com/office/drawing/2014/main" id="{2E20CAEA-DA21-9A54-3370-A1DA3AF756C5}"/>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73477BDE-A5EA-6F17-B145-C73DD469B5B2}"/>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F43C1615-1447-9C4A-5EDB-F07043C61601}"/>
              </a:ext>
            </a:extLst>
          </p:cNvPr>
          <p:cNvSpPr>
            <a:spLocks noGrp="1"/>
          </p:cNvSpPr>
          <p:nvPr>
            <p:ph type="sldNum" sz="quarter" idx="12"/>
          </p:nvPr>
        </p:nvSpPr>
        <p:spPr/>
        <p:txBody>
          <a:bodyPr/>
          <a:lstStyle/>
          <a:p>
            <a:fld id="{5D99DD2A-B520-4620-9B43-64B657BA2D42}" type="slidenum">
              <a:rPr lang="en-US" noProof="0" smtClean="0"/>
              <a:t>31</a:t>
            </a:fld>
            <a:endParaRPr lang="en-US" noProof="0" dirty="0"/>
          </a:p>
        </p:txBody>
      </p:sp>
      <p:sp>
        <p:nvSpPr>
          <p:cNvPr id="9" name="Rectangle 8">
            <a:extLst>
              <a:ext uri="{FF2B5EF4-FFF2-40B4-BE49-F238E27FC236}">
                <a16:creationId xmlns:a16="http://schemas.microsoft.com/office/drawing/2014/main" id="{215C74E0-F314-90AF-5009-9FD5054654E5}"/>
              </a:ext>
            </a:extLst>
          </p:cNvPr>
          <p:cNvSpPr/>
          <p:nvPr/>
        </p:nvSpPr>
        <p:spPr>
          <a:xfrm>
            <a:off x="175796" y="1114931"/>
            <a:ext cx="5109212" cy="5262979"/>
          </a:xfrm>
          <a:prstGeom prst="rect">
            <a:avLst/>
          </a:prstGeom>
          <a:ln>
            <a:solidFill>
              <a:schemeClr val="accent1"/>
            </a:solidFill>
          </a:ln>
        </p:spPr>
        <p:txBody>
          <a:bodyPr wrap="square">
            <a:spAutoFit/>
          </a:bodyPr>
          <a:lstStyle/>
          <a:p>
            <a:r>
              <a:rPr lang="en-US" sz="2400" dirty="0">
                <a:latin typeface="Times New Roman" panose="02020603050405020304" pitchFamily="18" charset="0"/>
                <a:cs typeface="Times New Roman" panose="02020603050405020304" pitchFamily="18" charset="0"/>
              </a:rPr>
              <a:t>#include "</a:t>
            </a:r>
            <a:r>
              <a:rPr lang="en-US" sz="2400" dirty="0" err="1">
                <a:latin typeface="Times New Roman" panose="02020603050405020304" pitchFamily="18" charset="0"/>
                <a:cs typeface="Times New Roman" panose="02020603050405020304" pitchFamily="18" charset="0"/>
              </a:rPr>
              <a:t>LowPower.h</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HIGH);</a:t>
            </a:r>
          </a:p>
          <a:p>
            <a:r>
              <a:rPr lang="en-US" sz="2400" dirty="0">
                <a:latin typeface="Times New Roman" panose="02020603050405020304" pitchFamily="18" charset="0"/>
                <a:cs typeface="Times New Roman" panose="02020603050405020304" pitchFamily="18" charset="0"/>
              </a:rPr>
              <a:t>  delay(500);</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LOW);</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setup(){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(LED_BUILTIN, OUTPUT);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loop(){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LowPower.powerStandby</a:t>
            </a:r>
            <a:r>
              <a:rPr lang="en-US" sz="2400" dirty="0">
                <a:latin typeface="Times New Roman" panose="02020603050405020304" pitchFamily="18" charset="0"/>
                <a:cs typeface="Times New Roman" panose="02020603050405020304" pitchFamily="18" charset="0"/>
              </a:rPr>
              <a:t>(SLEEP_4S, ADC_OFF, BOD_ON);</a:t>
            </a:r>
          </a:p>
          <a:p>
            <a:r>
              <a:rPr lang="en-US" sz="2400" dirty="0">
                <a:latin typeface="Times New Roman" panose="02020603050405020304" pitchFamily="18" charset="0"/>
                <a:cs typeface="Times New Roman" panose="02020603050405020304" pitchFamily="18" charset="0"/>
              </a:rPr>
              <a:t>}</a:t>
            </a:r>
            <a:endParaRPr lang="en-CA" dirty="0">
              <a:latin typeface="Book Antiqua" panose="0204060205030503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59554EC-CB51-CA58-6A26-099A878C7A1C}"/>
              </a:ext>
            </a:extLst>
          </p:cNvPr>
          <p:cNvSpPr/>
          <p:nvPr/>
        </p:nvSpPr>
        <p:spPr>
          <a:xfrm>
            <a:off x="5361207" y="1114931"/>
            <a:ext cx="5336005" cy="5632311"/>
          </a:xfrm>
          <a:prstGeom prst="rect">
            <a:avLst/>
          </a:prstGeom>
          <a:ln>
            <a:solidFill>
              <a:schemeClr val="accent1"/>
            </a:solidFill>
          </a:ln>
        </p:spPr>
        <p:txBody>
          <a:bodyPr wrap="square">
            <a:spAutoFit/>
          </a:bodyPr>
          <a:lstStyle/>
          <a:p>
            <a:r>
              <a:rPr lang="en-US" sz="2400" dirty="0">
                <a:latin typeface="Times New Roman" panose="02020603050405020304" pitchFamily="18" charset="0"/>
                <a:cs typeface="Times New Roman" panose="02020603050405020304" pitchFamily="18" charset="0"/>
              </a:rPr>
              <a:t>#include "</a:t>
            </a:r>
            <a:r>
              <a:rPr lang="en-US" sz="2400" dirty="0" err="1">
                <a:latin typeface="Times New Roman" panose="02020603050405020304" pitchFamily="18" charset="0"/>
                <a:cs typeface="Times New Roman" panose="02020603050405020304" pitchFamily="18" charset="0"/>
              </a:rPr>
              <a:t>LowPower.h</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HIGH);</a:t>
            </a:r>
          </a:p>
          <a:p>
            <a:r>
              <a:rPr lang="en-US" sz="2400" dirty="0">
                <a:latin typeface="Times New Roman" panose="02020603050405020304" pitchFamily="18" charset="0"/>
                <a:cs typeface="Times New Roman" panose="02020603050405020304" pitchFamily="18" charset="0"/>
              </a:rPr>
              <a:t>  delay(500);</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LOW);</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setup(){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(LED_BUILTIN, OUTPUT);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loop(){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LowPower.powerExtStandby</a:t>
            </a:r>
            <a:r>
              <a:rPr lang="en-US" sz="2400" dirty="0">
                <a:latin typeface="Times New Roman" panose="02020603050405020304" pitchFamily="18" charset="0"/>
                <a:cs typeface="Times New Roman" panose="02020603050405020304" pitchFamily="18" charset="0"/>
              </a:rPr>
              <a:t>(SLEEP_4S, ADC_OFF, BOD_ON, TIMER2_OFF);</a:t>
            </a:r>
          </a:p>
          <a:p>
            <a:r>
              <a:rPr lang="en-US" sz="2400" dirty="0">
                <a:latin typeface="Times New Roman" panose="02020603050405020304" pitchFamily="18" charset="0"/>
                <a:cs typeface="Times New Roman" panose="02020603050405020304" pitchFamily="18" charset="0"/>
              </a:rPr>
              <a:t>}</a:t>
            </a:r>
            <a:endParaRPr lang="en-CA" dirty="0">
              <a:latin typeface="Book Antiqua" panose="0204060205030503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689EC4AC-F558-3D2B-C5F5-9A14EF776DF1}"/>
              </a:ext>
            </a:extLst>
          </p:cNvPr>
          <p:cNvSpPr/>
          <p:nvPr/>
        </p:nvSpPr>
        <p:spPr>
          <a:xfrm>
            <a:off x="10753826" y="1100838"/>
            <a:ext cx="5554979" cy="5632311"/>
          </a:xfrm>
          <a:prstGeom prst="rect">
            <a:avLst/>
          </a:prstGeom>
          <a:ln>
            <a:solidFill>
              <a:schemeClr val="accent1"/>
            </a:solidFill>
          </a:ln>
        </p:spPr>
        <p:txBody>
          <a:bodyPr wrap="square">
            <a:spAutoFit/>
          </a:bodyPr>
          <a:lstStyle/>
          <a:p>
            <a:r>
              <a:rPr lang="en-US" sz="2400" dirty="0">
                <a:latin typeface="Times New Roman" panose="02020603050405020304" pitchFamily="18" charset="0"/>
                <a:cs typeface="Times New Roman" panose="02020603050405020304" pitchFamily="18" charset="0"/>
              </a:rPr>
              <a:t>#include "</a:t>
            </a:r>
            <a:r>
              <a:rPr lang="en-US" sz="2400" dirty="0" err="1">
                <a:latin typeface="Times New Roman" panose="02020603050405020304" pitchFamily="18" charset="0"/>
                <a:cs typeface="Times New Roman" panose="02020603050405020304" pitchFamily="18" charset="0"/>
              </a:rPr>
              <a:t>LowPower.h</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HIGH);</a:t>
            </a:r>
          </a:p>
          <a:p>
            <a:r>
              <a:rPr lang="en-US" sz="2400" dirty="0">
                <a:latin typeface="Times New Roman" panose="02020603050405020304" pitchFamily="18" charset="0"/>
                <a:cs typeface="Times New Roman" panose="02020603050405020304" pitchFamily="18" charset="0"/>
              </a:rPr>
              <a:t>  delay(500);</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LOW);</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setup(){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(LED_BUILTIN, OUTPUT);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loop(){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LowPower.adcNoiseReduction</a:t>
            </a:r>
            <a:r>
              <a:rPr lang="en-US" sz="2400" dirty="0">
                <a:latin typeface="Times New Roman" panose="02020603050405020304" pitchFamily="18" charset="0"/>
                <a:cs typeface="Times New Roman" panose="02020603050405020304" pitchFamily="18" charset="0"/>
              </a:rPr>
              <a:t>(SLEEP_2S, ADC_OFF, TIMER2_OFF);</a:t>
            </a:r>
          </a:p>
          <a:p>
            <a:r>
              <a:rPr lang="en-US" sz="2400" dirty="0">
                <a:latin typeface="Times New Roman" panose="02020603050405020304" pitchFamily="18" charset="0"/>
                <a:cs typeface="Times New Roman" panose="02020603050405020304" pitchFamily="18" charset="0"/>
              </a:rPr>
              <a:t>}</a:t>
            </a:r>
            <a:endParaRPr lang="en-CA"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4731298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 calcmode="lin" valueType="num">
                                      <p:cBhvr additive="base">
                                        <p:cTn id="31"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 calcmode="lin" valueType="num">
                                      <p:cBhvr additive="base">
                                        <p:cTn id="3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anim calcmode="lin" valueType="num">
                                      <p:cBhvr additive="base">
                                        <p:cTn id="39"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anim calcmode="lin" valueType="num">
                                      <p:cBhvr additive="base">
                                        <p:cTn id="43"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anim calcmode="lin" valueType="num">
                                      <p:cBhvr additive="base">
                                        <p:cTn id="47"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anim calcmode="lin" valueType="num">
                                      <p:cBhvr additive="base">
                                        <p:cTn id="51"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anim calcmode="lin" valueType="num">
                                      <p:cBhvr additive="base">
                                        <p:cTn id="55"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additive="base">
                                        <p:cTn id="67" dur="500" fill="hold"/>
                                        <p:tgtEl>
                                          <p:spTgt spid="7"/>
                                        </p:tgtEl>
                                        <p:attrNameLst>
                                          <p:attrName>ppt_x</p:attrName>
                                        </p:attrNameLst>
                                      </p:cBhvr>
                                      <p:tavLst>
                                        <p:tav tm="0">
                                          <p:val>
                                            <p:strVal val="#ppt_x"/>
                                          </p:val>
                                        </p:tav>
                                        <p:tav tm="100000">
                                          <p:val>
                                            <p:strVal val="#ppt_x"/>
                                          </p:val>
                                        </p:tav>
                                      </p:tavLst>
                                    </p:anim>
                                    <p:anim calcmode="lin" valueType="num">
                                      <p:cBhvr additive="base">
                                        <p:cTn id="6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solidFill>
                  <a:srgbClr val="FF0000"/>
                </a:solidFill>
                <a:latin typeface="+mn-lt"/>
              </a:rPr>
              <a:t>Practical Application with a DHT11 Sensor:</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32</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6" name="Picture 5">
            <a:extLst>
              <a:ext uri="{FF2B5EF4-FFF2-40B4-BE49-F238E27FC236}">
                <a16:creationId xmlns:a16="http://schemas.microsoft.com/office/drawing/2014/main" id="{120C2737-717D-BAB0-5025-47D30177B656}"/>
              </a:ext>
            </a:extLst>
          </p:cNvPr>
          <p:cNvPicPr>
            <a:picLocks noChangeAspect="1"/>
          </p:cNvPicPr>
          <p:nvPr/>
        </p:nvPicPr>
        <p:blipFill rotWithShape="1">
          <a:blip r:embed="rId3"/>
          <a:srcRect l="2002" t="2620" r="2796" b="8918"/>
          <a:stretch/>
        </p:blipFill>
        <p:spPr>
          <a:xfrm>
            <a:off x="9721516" y="1910393"/>
            <a:ext cx="6460220" cy="6056897"/>
          </a:xfrm>
          <a:prstGeom prst="rect">
            <a:avLst/>
          </a:prstGeom>
        </p:spPr>
      </p:pic>
      <p:sp>
        <p:nvSpPr>
          <p:cNvPr id="10" name="TextBox 9">
            <a:extLst>
              <a:ext uri="{FF2B5EF4-FFF2-40B4-BE49-F238E27FC236}">
                <a16:creationId xmlns:a16="http://schemas.microsoft.com/office/drawing/2014/main" id="{F3352D8F-E4C9-830C-7E4D-F207FBDC6D7C}"/>
              </a:ext>
            </a:extLst>
          </p:cNvPr>
          <p:cNvSpPr txBox="1"/>
          <p:nvPr/>
        </p:nvSpPr>
        <p:spPr>
          <a:xfrm>
            <a:off x="277463" y="4078939"/>
            <a:ext cx="9213781" cy="3416320"/>
          </a:xfrm>
          <a:prstGeom prst="rect">
            <a:avLst/>
          </a:prstGeom>
          <a:noFill/>
        </p:spPr>
        <p:txBody>
          <a:bodyPr wrap="square">
            <a:spAutoFit/>
          </a:bodyPr>
          <a:lstStyle/>
          <a:p>
            <a:r>
              <a:rPr lang="en-US" sz="3600" dirty="0">
                <a:latin typeface="Times New Roman" panose="02020603050405020304" pitchFamily="18" charset="0"/>
                <a:cs typeface="Times New Roman" panose="02020603050405020304" pitchFamily="18" charset="0"/>
              </a:rPr>
              <a:t>In this setup, to demonstrate Arduino Deep sleep modes, the Arduino is plugged into the </a:t>
            </a:r>
            <a:r>
              <a:rPr lang="en-US" sz="3600" b="1" dirty="0">
                <a:solidFill>
                  <a:srgbClr val="FF0000"/>
                </a:solidFill>
                <a:latin typeface="Times New Roman" panose="02020603050405020304" pitchFamily="18" charset="0"/>
                <a:cs typeface="Times New Roman" panose="02020603050405020304" pitchFamily="18" charset="0"/>
              </a:rPr>
              <a:t>USB meter</a:t>
            </a:r>
            <a:r>
              <a:rPr lang="en-US" sz="3600" dirty="0">
                <a:latin typeface="Times New Roman" panose="02020603050405020304" pitchFamily="18" charset="0"/>
                <a:cs typeface="Times New Roman" panose="02020603050405020304" pitchFamily="18" charset="0"/>
              </a:rPr>
              <a:t>. Then the USB meter is plugged into the USB port of the laptop.</a:t>
            </a:r>
          </a:p>
          <a:p>
            <a:r>
              <a:rPr lang="en-US" sz="3600" dirty="0">
                <a:latin typeface="Times New Roman" panose="02020603050405020304" pitchFamily="18" charset="0"/>
                <a:cs typeface="Times New Roman" panose="02020603050405020304" pitchFamily="18" charset="0"/>
              </a:rPr>
              <a:t>The data pin of the DHT11 sensor is attached to the D2 pin of the Arduino.</a:t>
            </a:r>
          </a:p>
        </p:txBody>
      </p:sp>
      <p:sp>
        <p:nvSpPr>
          <p:cNvPr id="9" name="Rectangle 8"/>
          <p:cNvSpPr/>
          <p:nvPr/>
        </p:nvSpPr>
        <p:spPr>
          <a:xfrm>
            <a:off x="264694" y="1114959"/>
            <a:ext cx="13260806" cy="2862322"/>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Below are the requirements for this project, after connecting the circuit as per the circuit diagram. Upload the sleep mode code into Arduino using Arduino IDE. Arduino will enter idle sleep mode. Then check the current consumption into the USB meter. Otherwise, you can also use a clamp meter for the same.</a:t>
            </a:r>
            <a:endParaRPr lang="en-CA" sz="2800" dirty="0">
              <a:latin typeface="Book Antiqua" panose="0204060205030503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E59D02E-3425-AA8F-7520-95ACA91A6EA8}"/>
              </a:ext>
            </a:extLst>
          </p:cNvPr>
          <p:cNvSpPr txBox="1"/>
          <p:nvPr/>
        </p:nvSpPr>
        <p:spPr>
          <a:xfrm>
            <a:off x="13652500" y="1365720"/>
            <a:ext cx="2759507" cy="584775"/>
          </a:xfrm>
          <a:prstGeom prst="rect">
            <a:avLst/>
          </a:prstGeom>
          <a:noFill/>
        </p:spPr>
        <p:txBody>
          <a:bodyPr wrap="square">
            <a:spAutoFit/>
          </a:bodyPr>
          <a:lstStyle/>
          <a:p>
            <a:pPr algn="ctr"/>
            <a:r>
              <a:rPr lang="en-US" sz="3200" dirty="0">
                <a:solidFill>
                  <a:srgbClr val="FF0000"/>
                </a:solidFill>
                <a:latin typeface="Times New Roman" panose="02020603050405020304" pitchFamily="18" charset="0"/>
                <a:cs typeface="Times New Roman" panose="02020603050405020304" pitchFamily="18" charset="0"/>
              </a:rPr>
              <a:t>DHT11 Sensor </a:t>
            </a:r>
            <a:endParaRPr lang="en-US" sz="3200" dirty="0">
              <a:solidFill>
                <a:srgbClr val="FF0000"/>
              </a:solidFill>
            </a:endParaRPr>
          </a:p>
        </p:txBody>
      </p:sp>
    </p:spTree>
    <p:extLst>
      <p:ext uri="{BB962C8B-B14F-4D97-AF65-F5344CB8AC3E}">
        <p14:creationId xmlns:p14="http://schemas.microsoft.com/office/powerpoint/2010/main" val="31416547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33</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114959"/>
            <a:ext cx="15941842" cy="6186309"/>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The code starts by including the library for the DHT11 sensor and the Low Power library. For downloading the Low Power library follow the link (</a:t>
            </a:r>
            <a:r>
              <a:rPr lang="en-US" sz="3600" i="1" dirty="0">
                <a:latin typeface="Times New Roman" panose="02020603050405020304" pitchFamily="18" charset="0"/>
                <a:cs typeface="Times New Roman" panose="02020603050405020304" pitchFamily="18" charset="0"/>
                <a:hlinkClick r:id="rId3"/>
              </a:rPr>
              <a:t>https://github.com/rocketscream/Low-Power</a:t>
            </a:r>
            <a:r>
              <a:rPr lang="en-US" sz="3600" dirty="0">
                <a:latin typeface="Times New Roman" panose="02020603050405020304" pitchFamily="18" charset="0"/>
                <a:cs typeface="Times New Roman" panose="02020603050405020304" pitchFamily="18" charset="0"/>
              </a:rPr>
              <a:t>).</a:t>
            </a:r>
          </a:p>
          <a:p>
            <a:r>
              <a:rPr lang="en-US" sz="3600" dirty="0">
                <a:latin typeface="Times New Roman" panose="02020603050405020304" pitchFamily="18" charset="0"/>
                <a:cs typeface="Times New Roman" panose="02020603050405020304" pitchFamily="18" charset="0"/>
              </a:rPr>
              <a:t>Then we defined the Arduino pin number to which the data pin of the DHT11 is connected and created a DHT object. </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#include &lt;</a:t>
            </a:r>
            <a:r>
              <a:rPr lang="en-US" sz="3600" dirty="0" err="1">
                <a:latin typeface="Times New Roman" panose="02020603050405020304" pitchFamily="18" charset="0"/>
                <a:cs typeface="Times New Roman" panose="02020603050405020304" pitchFamily="18" charset="0"/>
              </a:rPr>
              <a:t>dht.h</a:t>
            </a:r>
            <a:r>
              <a:rPr lang="en-US" sz="3600" dirty="0">
                <a:latin typeface="Times New Roman" panose="02020603050405020304" pitchFamily="18" charset="0"/>
                <a:cs typeface="Times New Roman" panose="02020603050405020304" pitchFamily="18" charset="0"/>
              </a:rPr>
              <a:t>&gt;</a:t>
            </a:r>
          </a:p>
          <a:p>
            <a:r>
              <a:rPr lang="en-US" sz="3600" dirty="0">
                <a:latin typeface="Times New Roman" panose="02020603050405020304" pitchFamily="18" charset="0"/>
                <a:cs typeface="Times New Roman" panose="02020603050405020304" pitchFamily="18" charset="0"/>
              </a:rPr>
              <a:t>#include &lt;</a:t>
            </a:r>
            <a:r>
              <a:rPr lang="en-US" sz="3600" dirty="0" err="1">
                <a:latin typeface="Times New Roman" panose="02020603050405020304" pitchFamily="18" charset="0"/>
                <a:cs typeface="Times New Roman" panose="02020603050405020304" pitchFamily="18" charset="0"/>
              </a:rPr>
              <a:t>LowPower.h</a:t>
            </a:r>
            <a:r>
              <a:rPr lang="en-US" sz="3600" dirty="0">
                <a:latin typeface="Times New Roman" panose="02020603050405020304" pitchFamily="18" charset="0"/>
                <a:cs typeface="Times New Roman" panose="02020603050405020304" pitchFamily="18" charset="0"/>
              </a:rPr>
              <a:t>&gt;</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#define </a:t>
            </a:r>
            <a:r>
              <a:rPr lang="en-US" sz="3600" dirty="0" err="1">
                <a:latin typeface="Times New Roman" panose="02020603050405020304" pitchFamily="18" charset="0"/>
                <a:cs typeface="Times New Roman" panose="02020603050405020304" pitchFamily="18" charset="0"/>
              </a:rPr>
              <a:t>dataPin</a:t>
            </a:r>
            <a:r>
              <a:rPr lang="en-US" sz="3600" dirty="0">
                <a:latin typeface="Times New Roman" panose="02020603050405020304" pitchFamily="18" charset="0"/>
                <a:cs typeface="Times New Roman" panose="02020603050405020304" pitchFamily="18" charset="0"/>
              </a:rPr>
              <a:t> 2</a:t>
            </a:r>
          </a:p>
          <a:p>
            <a:r>
              <a:rPr lang="en-US" sz="3600" dirty="0" err="1">
                <a:latin typeface="Times New Roman" panose="02020603050405020304" pitchFamily="18" charset="0"/>
                <a:cs typeface="Times New Roman" panose="02020603050405020304" pitchFamily="18" charset="0"/>
              </a:rPr>
              <a:t>dht</a:t>
            </a:r>
            <a:r>
              <a:rPr lang="en-US" sz="3600" dirty="0">
                <a:latin typeface="Times New Roman" panose="02020603050405020304" pitchFamily="18" charset="0"/>
                <a:cs typeface="Times New Roman" panose="02020603050405020304" pitchFamily="18" charset="0"/>
              </a:rPr>
              <a:t> DHT;</a:t>
            </a:r>
          </a:p>
        </p:txBody>
      </p:sp>
      <p:sp>
        <p:nvSpPr>
          <p:cNvPr id="14" name="TextBox 13">
            <a:extLst>
              <a:ext uri="{FF2B5EF4-FFF2-40B4-BE49-F238E27FC236}">
                <a16:creationId xmlns:a16="http://schemas.microsoft.com/office/drawing/2014/main" id="{109DF3A3-2746-0956-56C0-AEBA9A174473}"/>
              </a:ext>
            </a:extLst>
          </p:cNvPr>
          <p:cNvSpPr txBox="1"/>
          <p:nvPr/>
        </p:nvSpPr>
        <p:spPr>
          <a:xfrm>
            <a:off x="10840050" y="6916519"/>
            <a:ext cx="3703320" cy="646331"/>
          </a:xfrm>
          <a:prstGeom prst="rect">
            <a:avLst/>
          </a:prstGeom>
          <a:noFill/>
        </p:spPr>
        <p:txBody>
          <a:bodyPr wrap="square">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USB Meter</a:t>
            </a:r>
            <a:endParaRPr lang="en-US" sz="3600" dirty="0"/>
          </a:p>
        </p:txBody>
      </p:sp>
      <p:pic>
        <p:nvPicPr>
          <p:cNvPr id="7" name="Picture 6">
            <a:extLst>
              <a:ext uri="{FF2B5EF4-FFF2-40B4-BE49-F238E27FC236}">
                <a16:creationId xmlns:a16="http://schemas.microsoft.com/office/drawing/2014/main" id="{6414F614-AD82-FB64-447E-BC6FDF041317}"/>
              </a:ext>
            </a:extLst>
          </p:cNvPr>
          <p:cNvPicPr>
            <a:picLocks noChangeAspect="1"/>
          </p:cNvPicPr>
          <p:nvPr/>
        </p:nvPicPr>
        <p:blipFill>
          <a:blip r:embed="rId4"/>
          <a:stretch>
            <a:fillRect/>
          </a:stretch>
        </p:blipFill>
        <p:spPr>
          <a:xfrm>
            <a:off x="9619954" y="3396217"/>
            <a:ext cx="5524293" cy="3500541"/>
          </a:xfrm>
          <a:prstGeom prst="rect">
            <a:avLst/>
          </a:prstGeom>
        </p:spPr>
      </p:pic>
    </p:spTree>
    <p:extLst>
      <p:ext uri="{BB962C8B-B14F-4D97-AF65-F5344CB8AC3E}">
        <p14:creationId xmlns:p14="http://schemas.microsoft.com/office/powerpoint/2010/main" val="3946946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 calcmode="lin" valueType="num">
                                      <p:cBhvr additive="base">
                                        <p:cTn id="9" dur="500" fill="hold"/>
                                        <p:tgtEl>
                                          <p:spTgt spid="14"/>
                                        </p:tgtEl>
                                        <p:attrNameLst>
                                          <p:attrName>ppt_x</p:attrName>
                                        </p:attrNameLst>
                                      </p:cBhvr>
                                      <p:tavLst>
                                        <p:tav tm="0">
                                          <p:val>
                                            <p:strVal val="#ppt_x"/>
                                          </p:val>
                                        </p:tav>
                                        <p:tav tm="100000">
                                          <p:val>
                                            <p:strVal val="#ppt_x"/>
                                          </p:val>
                                        </p:tav>
                                      </p:tavLst>
                                    </p:anim>
                                    <p:anim calcmode="lin" valueType="num">
                                      <p:cBhvr additive="base">
                                        <p:cTn id="1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34</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114959"/>
            <a:ext cx="15941842" cy="5632311"/>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In the void setup function, we have initiated the serial communication by using </a:t>
            </a:r>
            <a:r>
              <a:rPr lang="en-US" sz="3600">
                <a:latin typeface="Times New Roman" panose="02020603050405020304" pitchFamily="18" charset="0"/>
                <a:cs typeface="Times New Roman" panose="02020603050405020304" pitchFamily="18" charset="0"/>
              </a:rPr>
              <a:t>Serial</a:t>
            </a:r>
            <a:r>
              <a:rPr lang="en-US" sz="3600" dirty="0" err="1">
                <a:latin typeface="Times New Roman" panose="02020603050405020304" pitchFamily="18" charset="0"/>
                <a:cs typeface="Times New Roman" panose="02020603050405020304" pitchFamily="18" charset="0"/>
              </a:rPr>
              <a:t>.begin</a:t>
            </a:r>
            <a:r>
              <a:rPr lang="en-US" sz="3600" dirty="0">
                <a:latin typeface="Times New Roman" panose="02020603050405020304" pitchFamily="18" charset="0"/>
                <a:cs typeface="Times New Roman" panose="02020603050405020304" pitchFamily="18" charset="0"/>
              </a:rPr>
              <a:t>(9600),  here the 9600 is the baud rate. We are using Arduino’s built-in LED as an indicator for the sleep mode. So, we have set the pin as OUTPUT and sent a LOW signal to this pin using the </a:t>
            </a:r>
            <a:r>
              <a:rPr lang="en-US" sz="3600" dirty="0" err="1">
                <a:latin typeface="Times New Roman" panose="02020603050405020304" pitchFamily="18" charset="0"/>
                <a:cs typeface="Times New Roman" panose="02020603050405020304" pitchFamily="18" charset="0"/>
              </a:rPr>
              <a:t>digitalWrite</a:t>
            </a:r>
            <a:r>
              <a:rPr lang="en-US" sz="3600" dirty="0">
                <a:latin typeface="Times New Roman" panose="02020603050405020304" pitchFamily="18" charset="0"/>
                <a:cs typeface="Times New Roman" panose="02020603050405020304" pitchFamily="18" charset="0"/>
              </a:rPr>
              <a:t>() command.</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void setup() {</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Serial.begin</a:t>
            </a:r>
            <a:r>
              <a:rPr lang="en-US" sz="3600" dirty="0">
                <a:latin typeface="Times New Roman" panose="02020603050405020304" pitchFamily="18" charset="0"/>
                <a:cs typeface="Times New Roman" panose="02020603050405020304" pitchFamily="18" charset="0"/>
              </a:rPr>
              <a:t>(9600);</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pinMode</a:t>
            </a:r>
            <a:r>
              <a:rPr lang="en-US" sz="3600" dirty="0">
                <a:latin typeface="Times New Roman" panose="02020603050405020304" pitchFamily="18" charset="0"/>
                <a:cs typeface="Times New Roman" panose="02020603050405020304" pitchFamily="18" charset="0"/>
              </a:rPr>
              <a:t>(LED_BUILTIN, OUTPUT);</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digitalWrite</a:t>
            </a:r>
            <a:r>
              <a:rPr lang="en-US" sz="3600" dirty="0">
                <a:latin typeface="Times New Roman" panose="02020603050405020304" pitchFamily="18" charset="0"/>
                <a:cs typeface="Times New Roman" panose="02020603050405020304" pitchFamily="18" charset="0"/>
              </a:rPr>
              <a:t>(LED_BUILTIN, LOW);</a:t>
            </a:r>
          </a:p>
          <a:p>
            <a:r>
              <a:rPr lang="en-US" sz="3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5427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35</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114959"/>
            <a:ext cx="15941842" cy="6186309"/>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In the void loop function, we are making the built-in LED HIGH and the reading the temperature and humidity data from the sensor. Here, DHT.read11(); command is reading the data from the sensor. Once data is calculated, we can check the values by saving them into any variable. Here, we have taken two float type variables ‘t’ and ‘h’. Hence, the temperature and humidity data is printed serially on the serial monitor.</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void loop() {</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Serial.println</a:t>
            </a:r>
            <a:r>
              <a:rPr lang="en-US" sz="3600" dirty="0">
                <a:latin typeface="Times New Roman" panose="02020603050405020304" pitchFamily="18" charset="0"/>
                <a:cs typeface="Times New Roman" panose="02020603050405020304" pitchFamily="18" charset="0"/>
              </a:rPr>
              <a:t>("Get Data From DHT11");</a:t>
            </a:r>
          </a:p>
          <a:p>
            <a:r>
              <a:rPr lang="en-US" sz="3600" dirty="0">
                <a:latin typeface="Times New Roman" panose="02020603050405020304" pitchFamily="18" charset="0"/>
                <a:cs typeface="Times New Roman" panose="02020603050405020304" pitchFamily="18" charset="0"/>
              </a:rPr>
              <a:t>  delay(1000);</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digitalWrite</a:t>
            </a:r>
            <a:r>
              <a:rPr lang="en-US" sz="3600" dirty="0">
                <a:latin typeface="Times New Roman" panose="02020603050405020304" pitchFamily="18" charset="0"/>
                <a:cs typeface="Times New Roman" panose="02020603050405020304" pitchFamily="18" charset="0"/>
              </a:rPr>
              <a:t>(LED_BUILTIN, HIGH);</a:t>
            </a:r>
          </a:p>
          <a:p>
            <a:r>
              <a:rPr lang="en-US" sz="3600" dirty="0">
                <a:latin typeface="Times New Roman" panose="02020603050405020304" pitchFamily="18" charset="0"/>
                <a:cs typeface="Times New Roman" panose="02020603050405020304" pitchFamily="18" charset="0"/>
              </a:rPr>
              <a:t>  int </a:t>
            </a:r>
            <a:r>
              <a:rPr lang="en-US" sz="3600" dirty="0" err="1">
                <a:latin typeface="Times New Roman" panose="02020603050405020304" pitchFamily="18" charset="0"/>
                <a:cs typeface="Times New Roman" panose="02020603050405020304" pitchFamily="18" charset="0"/>
              </a:rPr>
              <a:t>readData</a:t>
            </a:r>
            <a:r>
              <a:rPr lang="en-US" sz="3600" dirty="0">
                <a:latin typeface="Times New Roman" panose="02020603050405020304" pitchFamily="18" charset="0"/>
                <a:cs typeface="Times New Roman" panose="02020603050405020304" pitchFamily="18" charset="0"/>
              </a:rPr>
              <a:t> = DHT.read11(</a:t>
            </a:r>
            <a:r>
              <a:rPr lang="en-US" sz="3600" dirty="0" err="1">
                <a:latin typeface="Times New Roman" panose="02020603050405020304" pitchFamily="18" charset="0"/>
                <a:cs typeface="Times New Roman" panose="02020603050405020304" pitchFamily="18" charset="0"/>
              </a:rPr>
              <a:t>dataPin</a:t>
            </a:r>
            <a:r>
              <a:rPr lang="en-US" sz="3600" dirty="0">
                <a:latin typeface="Times New Roman" panose="02020603050405020304" pitchFamily="18" charset="0"/>
                <a:cs typeface="Times New Roman" panose="02020603050405020304" pitchFamily="18" charset="0"/>
              </a:rPr>
              <a:t>); // DHT11</a:t>
            </a:r>
          </a:p>
        </p:txBody>
      </p:sp>
    </p:spTree>
    <p:extLst>
      <p:ext uri="{BB962C8B-B14F-4D97-AF65-F5344CB8AC3E}">
        <p14:creationId xmlns:p14="http://schemas.microsoft.com/office/powerpoint/2010/main" val="26631165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36</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114959"/>
            <a:ext cx="15941842" cy="6432530"/>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  float t = </a:t>
            </a:r>
            <a:r>
              <a:rPr lang="en-US" sz="3600" dirty="0" err="1">
                <a:latin typeface="Times New Roman" panose="02020603050405020304" pitchFamily="18" charset="0"/>
                <a:cs typeface="Times New Roman" panose="02020603050405020304" pitchFamily="18" charset="0"/>
              </a:rPr>
              <a:t>DHT.temperature</a:t>
            </a:r>
            <a:r>
              <a:rPr lang="en-US" sz="3600" dirty="0">
                <a:latin typeface="Times New Roman" panose="02020603050405020304" pitchFamily="18" charset="0"/>
                <a:cs typeface="Times New Roman" panose="02020603050405020304" pitchFamily="18" charset="0"/>
              </a:rPr>
              <a:t>;</a:t>
            </a:r>
          </a:p>
          <a:p>
            <a:r>
              <a:rPr lang="en-US" sz="3600" dirty="0">
                <a:latin typeface="Times New Roman" panose="02020603050405020304" pitchFamily="18" charset="0"/>
                <a:cs typeface="Times New Roman" panose="02020603050405020304" pitchFamily="18" charset="0"/>
              </a:rPr>
              <a:t>  float h = </a:t>
            </a:r>
            <a:r>
              <a:rPr lang="en-US" sz="3600" dirty="0" err="1">
                <a:latin typeface="Times New Roman" panose="02020603050405020304" pitchFamily="18" charset="0"/>
                <a:cs typeface="Times New Roman" panose="02020603050405020304" pitchFamily="18" charset="0"/>
              </a:rPr>
              <a:t>DHT.humidity</a:t>
            </a:r>
            <a:r>
              <a:rPr lang="en-US" sz="36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a:t>
            </a:r>
            <a:r>
              <a:rPr lang="en-US" sz="3600" dirty="0">
                <a:latin typeface="Times New Roman" panose="02020603050405020304" pitchFamily="18" charset="0"/>
                <a:cs typeface="Times New Roman" panose="02020603050405020304" pitchFamily="18" charset="0"/>
              </a:rPr>
              <a:t>("Temperature = ");</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a:t>
            </a:r>
            <a:r>
              <a:rPr lang="en-US" sz="3600" dirty="0">
                <a:latin typeface="Times New Roman" panose="02020603050405020304" pitchFamily="18" charset="0"/>
                <a:cs typeface="Times New Roman" panose="02020603050405020304" pitchFamily="18" charset="0"/>
              </a:rPr>
              <a:t>(t);</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a:t>
            </a:r>
            <a:r>
              <a:rPr lang="en-US" sz="3600" dirty="0">
                <a:latin typeface="Times New Roman" panose="02020603050405020304" pitchFamily="18" charset="0"/>
                <a:cs typeface="Times New Roman" panose="02020603050405020304" pitchFamily="18" charset="0"/>
              </a:rPr>
              <a:t>(" C | ");</a:t>
            </a:r>
          </a:p>
          <a:p>
            <a:endParaRPr lang="en-US" sz="28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a:t>
            </a:r>
            <a:r>
              <a:rPr lang="en-US" sz="3600" dirty="0">
                <a:latin typeface="Times New Roman" panose="02020603050405020304" pitchFamily="18" charset="0"/>
                <a:cs typeface="Times New Roman" panose="02020603050405020304" pitchFamily="18" charset="0"/>
              </a:rPr>
              <a:t>("Humidity = ");</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a:t>
            </a:r>
            <a:r>
              <a:rPr lang="en-US" sz="3600" dirty="0">
                <a:latin typeface="Times New Roman" panose="02020603050405020304" pitchFamily="18" charset="0"/>
                <a:cs typeface="Times New Roman" panose="02020603050405020304" pitchFamily="18" charset="0"/>
              </a:rPr>
              <a:t>(h);</a:t>
            </a:r>
          </a:p>
          <a:p>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Serial.println</a:t>
            </a:r>
            <a:r>
              <a:rPr lang="en-US" sz="3600" dirty="0">
                <a:latin typeface="Times New Roman" panose="02020603050405020304" pitchFamily="18" charset="0"/>
                <a:cs typeface="Times New Roman" panose="02020603050405020304" pitchFamily="18" charset="0"/>
              </a:rPr>
              <a:t>(" % ");</a:t>
            </a:r>
          </a:p>
          <a:p>
            <a:endParaRPr lang="en-US" sz="28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delay(2000);</a:t>
            </a:r>
          </a:p>
        </p:txBody>
      </p:sp>
    </p:spTree>
    <p:extLst>
      <p:ext uri="{BB962C8B-B14F-4D97-AF65-F5344CB8AC3E}">
        <p14:creationId xmlns:p14="http://schemas.microsoft.com/office/powerpoint/2010/main" val="18716087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37</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114959"/>
            <a:ext cx="15941842" cy="5632311"/>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Before enabling the sleep mode, we are printing "Arduino:- I am going for a Nap" and making the built-in LED LOW. After that, Arduino sleep mode is enabled by using the command mentioned below in the code.</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The below code enables the idle periodic sleep mode of the Arduino and gives a sleep of eight seconds. It turns the ADC, Timers, SPI, USART, and 2-wire interface into the OFF condition.</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Then, it automatically wakes up Arduino from sleep after 8 seconds and prints “Arduino:- Hey I just Woke up”.</a:t>
            </a:r>
          </a:p>
        </p:txBody>
      </p:sp>
    </p:spTree>
    <p:extLst>
      <p:ext uri="{BB962C8B-B14F-4D97-AF65-F5344CB8AC3E}">
        <p14:creationId xmlns:p14="http://schemas.microsoft.com/office/powerpoint/2010/main" val="38020051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lstStyle/>
          <a:p>
            <a:pPr algn="just"/>
            <a:r>
              <a:rPr lang="en-US" sz="4800" b="1" u="sng" dirty="0"/>
              <a:t>Code Explanation</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38</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1090895"/>
            <a:ext cx="15941842" cy="6709529"/>
          </a:xfrm>
          <a:prstGeom prst="rect">
            <a:avLst/>
          </a:prstGeom>
        </p:spPr>
        <p:txBody>
          <a:bodyPr wrap="square" lIns="0" tIns="0" rIns="0" bIns="0">
            <a:spAutoFit/>
          </a:bodyPr>
          <a:lstStyle/>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Serial.println</a:t>
            </a:r>
            <a:r>
              <a:rPr lang="en-US" sz="3200" dirty="0">
                <a:latin typeface="Times New Roman" panose="02020603050405020304" pitchFamily="18" charset="0"/>
                <a:cs typeface="Times New Roman" panose="02020603050405020304" pitchFamily="18" charset="0"/>
              </a:rPr>
              <a:t>("Arduino:- I am going for a Nap");</a:t>
            </a:r>
          </a:p>
          <a:p>
            <a:r>
              <a:rPr lang="en-US" sz="3200" dirty="0">
                <a:latin typeface="Times New Roman" panose="02020603050405020304" pitchFamily="18" charset="0"/>
                <a:cs typeface="Times New Roman" panose="02020603050405020304" pitchFamily="18" charset="0"/>
              </a:rPr>
              <a:t>  delay(1000);</a:t>
            </a:r>
          </a:p>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digitalWrite</a:t>
            </a:r>
            <a:r>
              <a:rPr lang="en-US" sz="3200" dirty="0">
                <a:latin typeface="Times New Roman" panose="02020603050405020304" pitchFamily="18" charset="0"/>
                <a:cs typeface="Times New Roman" panose="02020603050405020304" pitchFamily="18" charset="0"/>
              </a:rPr>
              <a:t>(LED_BUILTIN,LOW);</a:t>
            </a:r>
          </a:p>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LowPower.idle</a:t>
            </a:r>
            <a:r>
              <a:rPr lang="en-US" sz="3200" dirty="0">
                <a:latin typeface="Times New Roman" panose="02020603050405020304" pitchFamily="18" charset="0"/>
                <a:cs typeface="Times New Roman" panose="02020603050405020304" pitchFamily="18" charset="0"/>
              </a:rPr>
              <a:t>(SLEEP_8S, ADC_OFF, TIMER2_OFF, TIMER1_OFF, TIMER0_OFF,     </a:t>
            </a:r>
          </a:p>
          <a:p>
            <a:r>
              <a:rPr lang="en-US" sz="3200" dirty="0">
                <a:latin typeface="Times New Roman" panose="02020603050405020304" pitchFamily="18" charset="0"/>
                <a:cs typeface="Times New Roman" panose="02020603050405020304" pitchFamily="18" charset="0"/>
              </a:rPr>
              <a:t>  SPI_OFF, USART0_OFF, TWI_OFF);</a:t>
            </a:r>
          </a:p>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Serial.println</a:t>
            </a:r>
            <a:r>
              <a:rPr lang="en-US" sz="3200" dirty="0">
                <a:latin typeface="Times New Roman" panose="02020603050405020304" pitchFamily="18" charset="0"/>
                <a:cs typeface="Times New Roman" panose="02020603050405020304" pitchFamily="18" charset="0"/>
              </a:rPr>
              <a:t>("Arduino:- Hey I just Woke up");</a:t>
            </a:r>
          </a:p>
          <a:p>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Serial.println</a:t>
            </a:r>
            <a:r>
              <a:rPr lang="en-US" sz="3200" dirty="0">
                <a:latin typeface="Times New Roman" panose="02020603050405020304" pitchFamily="18" charset="0"/>
                <a:cs typeface="Times New Roman" panose="02020603050405020304" pitchFamily="18" charset="0"/>
              </a:rPr>
              <a:t>("");</a:t>
            </a:r>
          </a:p>
          <a:p>
            <a:r>
              <a:rPr lang="en-US" sz="3200" dirty="0">
                <a:latin typeface="Times New Roman" panose="02020603050405020304" pitchFamily="18" charset="0"/>
                <a:cs typeface="Times New Roman" panose="02020603050405020304" pitchFamily="18" charset="0"/>
              </a:rPr>
              <a:t>  delay(2000);</a:t>
            </a:r>
          </a:p>
          <a:p>
            <a:r>
              <a:rPr lang="en-US" sz="32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So, using this code, Arduino will only wake up for 24 (6×4 times of the loop) seconds in a minute and will remain in sleep mode for the rest of the 36 (=</a:t>
            </a:r>
            <a:r>
              <a:rPr lang="en-US" sz="3200" b="1" dirty="0">
                <a:solidFill>
                  <a:srgbClr val="FF0000"/>
                </a:solidFill>
                <a:latin typeface="Times New Roman" panose="02020603050405020304" pitchFamily="18" charset="0"/>
                <a:cs typeface="Times New Roman" panose="02020603050405020304" pitchFamily="18" charset="0"/>
              </a:rPr>
              <a:t> 60 – 24) seconds</a:t>
            </a:r>
            <a:r>
              <a:rPr lang="en-US" sz="3200" dirty="0">
                <a:latin typeface="Times New Roman" panose="02020603050405020304" pitchFamily="18" charset="0"/>
                <a:cs typeface="Times New Roman" panose="02020603050405020304" pitchFamily="18" charset="0"/>
              </a:rPr>
              <a:t>, which significantly reduces the power consumed by the Arduino weather station. Therefore, using the Arduino with the sleep mode can approximately double the device runtime.</a:t>
            </a:r>
            <a:endParaRPr lang="en-CA" sz="2400"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36734335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64695" y="215648"/>
            <a:ext cx="15695741" cy="859790"/>
          </a:xfrm>
        </p:spPr>
        <p:txBody>
          <a:bodyPr>
            <a:normAutofit/>
          </a:bodyPr>
          <a:lstStyle/>
          <a:p>
            <a:pPr algn="just"/>
            <a:r>
              <a:rPr lang="en-US" sz="4800" b="1" u="sng" dirty="0">
                <a:latin typeface="+mn-lt"/>
              </a:rPr>
              <a:t>Experimental Setup with USB Meter</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39</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397041" y="1090895"/>
            <a:ext cx="15809495" cy="2954655"/>
          </a:xfrm>
          <a:prstGeom prst="rect">
            <a:avLst/>
          </a:prstGeom>
        </p:spPr>
        <p:txBody>
          <a:bodyPr wrap="square" lIns="0" tIns="0" rIns="0" bIns="0">
            <a:spAutoFit/>
          </a:bodyPr>
          <a:lstStyle/>
          <a:p>
            <a:r>
              <a:rPr lang="en-US" sz="3200" dirty="0">
                <a:latin typeface="Times New Roman" panose="02020603050405020304" pitchFamily="18" charset="0"/>
                <a:cs typeface="Times New Roman" panose="02020603050405020304" pitchFamily="18" charset="0"/>
              </a:rPr>
              <a:t>USB meter is a plug-and-play device used to measure the voltage and current from any USB port. The dongle plugs in between the USB power supply (computer USB port) and the USB device (Arduino). This device has a 0.05 </a:t>
            </a:r>
            <a:r>
              <a:rPr lang="en-US" sz="3200" dirty="0">
                <a:latin typeface="Symbol" panose="05050102010706020507" pitchFamily="18" charset="2"/>
                <a:cs typeface="Times New Roman" panose="02020603050405020304" pitchFamily="18" charset="0"/>
              </a:rPr>
              <a:t>W</a:t>
            </a:r>
            <a:r>
              <a:rPr lang="en-US" sz="3200" dirty="0">
                <a:latin typeface="Times New Roman" panose="02020603050405020304" pitchFamily="18" charset="0"/>
                <a:cs typeface="Times New Roman" panose="02020603050405020304" pitchFamily="18" charset="0"/>
              </a:rPr>
              <a:t> resistor in-line with the power pin through which it measures the value of the current drawn. The device comes with four seven-segment displays, which instantly display the values of current and voltage consumed by the attached device. These values flip in an interval of every 3 seconds.</a:t>
            </a:r>
          </a:p>
        </p:txBody>
      </p:sp>
      <p:pic>
        <p:nvPicPr>
          <p:cNvPr id="11" name="Picture 10">
            <a:extLst>
              <a:ext uri="{FF2B5EF4-FFF2-40B4-BE49-F238E27FC236}">
                <a16:creationId xmlns:a16="http://schemas.microsoft.com/office/drawing/2014/main" id="{90260346-34C5-825B-62DB-89A7697362A1}"/>
              </a:ext>
            </a:extLst>
          </p:cNvPr>
          <p:cNvPicPr>
            <a:picLocks noChangeAspect="1"/>
          </p:cNvPicPr>
          <p:nvPr/>
        </p:nvPicPr>
        <p:blipFill>
          <a:blip r:embed="rId3">
            <a:lum bright="20000"/>
          </a:blip>
          <a:stretch>
            <a:fillRect/>
          </a:stretch>
        </p:blipFill>
        <p:spPr>
          <a:xfrm>
            <a:off x="8962485" y="3631856"/>
            <a:ext cx="6365145" cy="4068261"/>
          </a:xfrm>
          <a:prstGeom prst="rect">
            <a:avLst/>
          </a:prstGeom>
        </p:spPr>
      </p:pic>
      <p:pic>
        <p:nvPicPr>
          <p:cNvPr id="14" name="Picture 13">
            <a:extLst>
              <a:ext uri="{FF2B5EF4-FFF2-40B4-BE49-F238E27FC236}">
                <a16:creationId xmlns:a16="http://schemas.microsoft.com/office/drawing/2014/main" id="{C9DFE3CD-9575-F24E-73D3-68178C49BF90}"/>
              </a:ext>
            </a:extLst>
          </p:cNvPr>
          <p:cNvPicPr>
            <a:picLocks noChangeAspect="1"/>
          </p:cNvPicPr>
          <p:nvPr/>
        </p:nvPicPr>
        <p:blipFill>
          <a:blip r:embed="rId4"/>
          <a:stretch>
            <a:fillRect/>
          </a:stretch>
        </p:blipFill>
        <p:spPr>
          <a:xfrm>
            <a:off x="552154" y="4127079"/>
            <a:ext cx="5524293" cy="3500541"/>
          </a:xfrm>
          <a:prstGeom prst="rect">
            <a:avLst/>
          </a:prstGeom>
        </p:spPr>
      </p:pic>
    </p:spTree>
    <p:extLst>
      <p:ext uri="{BB962C8B-B14F-4D97-AF65-F5344CB8AC3E}">
        <p14:creationId xmlns:p14="http://schemas.microsoft.com/office/powerpoint/2010/main" val="40843985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704CD-7136-A27F-79B3-C71CC8047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0A77D-522D-0E34-C7A7-469A4B00C05E}"/>
              </a:ext>
            </a:extLst>
          </p:cNvPr>
          <p:cNvSpPr>
            <a:spLocks noGrp="1"/>
          </p:cNvSpPr>
          <p:nvPr>
            <p:ph type="title"/>
          </p:nvPr>
        </p:nvSpPr>
        <p:spPr>
          <a:xfrm>
            <a:off x="239295" y="190248"/>
            <a:ext cx="15695741" cy="762252"/>
          </a:xfrm>
        </p:spPr>
        <p:txBody>
          <a:bodyPr>
            <a:normAutofit/>
          </a:bodyPr>
          <a:lstStyle/>
          <a:p>
            <a:pPr algn="just"/>
            <a:r>
              <a:rPr lang="en-US" sz="4800" b="1" u="sng" dirty="0">
                <a:latin typeface="+mn-lt"/>
              </a:rPr>
              <a:t>Example 1</a:t>
            </a:r>
          </a:p>
        </p:txBody>
      </p:sp>
      <p:sp>
        <p:nvSpPr>
          <p:cNvPr id="4" name="Date Placeholder 3">
            <a:extLst>
              <a:ext uri="{FF2B5EF4-FFF2-40B4-BE49-F238E27FC236}">
                <a16:creationId xmlns:a16="http://schemas.microsoft.com/office/drawing/2014/main" id="{EFB7005B-C7E2-16EA-1DC1-84ABB408769C}"/>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02A189DA-4E25-7EE4-882B-36FA11F44831}"/>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3A8CA1C2-36BB-59AB-C300-6F7DA9B947DB}"/>
              </a:ext>
            </a:extLst>
          </p:cNvPr>
          <p:cNvSpPr>
            <a:spLocks noGrp="1"/>
          </p:cNvSpPr>
          <p:nvPr>
            <p:ph type="sldNum" sz="quarter" idx="12"/>
          </p:nvPr>
        </p:nvSpPr>
        <p:spPr/>
        <p:txBody>
          <a:bodyPr/>
          <a:lstStyle/>
          <a:p>
            <a:fld id="{5D99DD2A-B520-4620-9B43-64B657BA2D42}" type="slidenum">
              <a:rPr lang="en-US" noProof="0" smtClean="0"/>
              <a:t>40</a:t>
            </a:fld>
            <a:endParaRPr lang="en-US" noProof="0" dirty="0"/>
          </a:p>
        </p:txBody>
      </p:sp>
      <p:sp>
        <p:nvSpPr>
          <p:cNvPr id="8" name="Text Placeholder 3">
            <a:extLst>
              <a:ext uri="{FF2B5EF4-FFF2-40B4-BE49-F238E27FC236}">
                <a16:creationId xmlns:a16="http://schemas.microsoft.com/office/drawing/2014/main" id="{C0FA134B-1717-1E48-4A04-EABE1417DB5C}"/>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a:extLst>
              <a:ext uri="{FF2B5EF4-FFF2-40B4-BE49-F238E27FC236}">
                <a16:creationId xmlns:a16="http://schemas.microsoft.com/office/drawing/2014/main" id="{46982438-7E5E-983E-2A97-57C698975514}"/>
              </a:ext>
            </a:extLst>
          </p:cNvPr>
          <p:cNvSpPr/>
          <p:nvPr/>
        </p:nvSpPr>
        <p:spPr>
          <a:xfrm>
            <a:off x="251995" y="951195"/>
            <a:ext cx="16016705" cy="6924973"/>
          </a:xfrm>
          <a:prstGeom prst="rect">
            <a:avLst/>
          </a:prstGeom>
        </p:spPr>
        <p:txBody>
          <a:bodyPr wrap="square" lIns="0" tIns="0" rIns="0" bIns="0">
            <a:spAutoFit/>
          </a:bodyPr>
          <a:lstStyle/>
          <a:p>
            <a:pPr algn="just"/>
            <a:r>
              <a:rPr lang="en-US" sz="3200" b="1" dirty="0">
                <a:latin typeface="Times New Roman" panose="02020603050405020304" pitchFamily="18" charset="0"/>
                <a:cs typeface="Times New Roman" panose="02020603050405020304" pitchFamily="18" charset="0"/>
              </a:rPr>
              <a:t>Compute</a:t>
            </a:r>
            <a:r>
              <a:rPr lang="en-US" sz="3200" dirty="0">
                <a:latin typeface="Times New Roman" panose="02020603050405020304" pitchFamily="18" charset="0"/>
                <a:cs typeface="Times New Roman" panose="02020603050405020304" pitchFamily="18" charset="0"/>
              </a:rPr>
              <a:t> the total time for which the device is in low-power power-save mode as per the following program if the loop continues for 20 cycles.</a:t>
            </a:r>
            <a:endParaRPr lang="en-US" sz="3200" i="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endParaRPr lang="en-US" sz="1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#include "</a:t>
            </a:r>
            <a:r>
              <a:rPr lang="en-US" sz="2400" dirty="0" err="1">
                <a:latin typeface="Times New Roman" panose="02020603050405020304" pitchFamily="18" charset="0"/>
                <a:cs typeface="Times New Roman" panose="02020603050405020304" pitchFamily="18" charset="0"/>
              </a:rPr>
              <a:t>LowPower.h</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HIGH);</a:t>
            </a:r>
          </a:p>
          <a:p>
            <a:r>
              <a:rPr lang="en-US" sz="2400" dirty="0">
                <a:latin typeface="Times New Roman" panose="02020603050405020304" pitchFamily="18" charset="0"/>
                <a:cs typeface="Times New Roman" panose="02020603050405020304" pitchFamily="18" charset="0"/>
              </a:rPr>
              <a:t>  delay(500);</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(LED_BUILTIN, LOW); }</a:t>
            </a:r>
          </a:p>
          <a:p>
            <a:r>
              <a:rPr lang="en-US" sz="2400" dirty="0">
                <a:latin typeface="Times New Roman" panose="02020603050405020304" pitchFamily="18" charset="0"/>
                <a:cs typeface="Times New Roman" panose="02020603050405020304" pitchFamily="18" charset="0"/>
              </a:rPr>
              <a:t>void setup(){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(LED_BUILTIN, OUTPUT);</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void loop(){</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ledBlink</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LowPower.powerSave</a:t>
            </a:r>
            <a:r>
              <a:rPr lang="en-US" sz="2400" dirty="0">
                <a:latin typeface="Times New Roman" panose="02020603050405020304" pitchFamily="18" charset="0"/>
                <a:cs typeface="Times New Roman" panose="02020603050405020304" pitchFamily="18" charset="0"/>
              </a:rPr>
              <a:t>(SLEEP_4S, ADC_OFF, BOD_ON, TIMER2_OFF);</a:t>
            </a:r>
          </a:p>
          <a:p>
            <a:r>
              <a:rPr lang="en-US" sz="24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a:t>
            </a:r>
            <a:endParaRPr lang="en-US" sz="1200" i="1" dirty="0">
              <a:latin typeface="Times New Roman" panose="02020603050405020304" pitchFamily="18" charset="0"/>
              <a:cs typeface="Times New Roman" panose="02020603050405020304" pitchFamily="18" charset="0"/>
            </a:endParaRPr>
          </a:p>
          <a:p>
            <a:r>
              <a:rPr lang="en-US" sz="2800" b="1" dirty="0">
                <a:solidFill>
                  <a:srgbClr val="FF0000"/>
                </a:solidFill>
                <a:latin typeface="Times New Roman" panose="02020603050405020304" pitchFamily="18" charset="0"/>
                <a:cs typeface="Times New Roman" panose="02020603050405020304" pitchFamily="18" charset="0"/>
              </a:rPr>
              <a:t>Answer:</a:t>
            </a:r>
            <a:endParaRPr lang="en-US" sz="2800" i="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If the above program is run, then the time for which the device is in low-power deep sleep mode is 4 s. Hence, if the loop continues for 20 cycles, then the device is in low-power deep sleep mode for 4×20 = 80 s.</a:t>
            </a:r>
            <a:endParaRPr lang="en-US" sz="2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01306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CDF73-E186-87F5-2247-2F80CF6C3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2529A-F0E2-ADB7-0819-D6990B7885EC}"/>
              </a:ext>
            </a:extLst>
          </p:cNvPr>
          <p:cNvSpPr>
            <a:spLocks noGrp="1"/>
          </p:cNvSpPr>
          <p:nvPr>
            <p:ph type="title"/>
          </p:nvPr>
        </p:nvSpPr>
        <p:spPr>
          <a:xfrm>
            <a:off x="264695" y="215648"/>
            <a:ext cx="15695741" cy="859790"/>
          </a:xfrm>
        </p:spPr>
        <p:txBody>
          <a:bodyPr>
            <a:normAutofit/>
          </a:bodyPr>
          <a:lstStyle/>
          <a:p>
            <a:pPr algn="just"/>
            <a:r>
              <a:rPr lang="en-US" sz="4800" b="1" u="sng" dirty="0">
                <a:solidFill>
                  <a:srgbClr val="FF0000"/>
                </a:solidFill>
                <a:latin typeface="+mn-lt"/>
              </a:rPr>
              <a:t>Example 2</a:t>
            </a:r>
          </a:p>
        </p:txBody>
      </p:sp>
      <p:sp>
        <p:nvSpPr>
          <p:cNvPr id="4" name="Date Placeholder 3">
            <a:extLst>
              <a:ext uri="{FF2B5EF4-FFF2-40B4-BE49-F238E27FC236}">
                <a16:creationId xmlns:a16="http://schemas.microsoft.com/office/drawing/2014/main" id="{C7702B9C-D536-28F2-5A01-FC75D2C1CAA6}"/>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8E8220EB-456A-D9B0-2CBF-310A4E41FFD5}"/>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8F66BE7D-0FC9-F3E2-5E0C-4A5EFAA55791}"/>
              </a:ext>
            </a:extLst>
          </p:cNvPr>
          <p:cNvSpPr>
            <a:spLocks noGrp="1"/>
          </p:cNvSpPr>
          <p:nvPr>
            <p:ph type="sldNum" sz="quarter" idx="12"/>
          </p:nvPr>
        </p:nvSpPr>
        <p:spPr/>
        <p:txBody>
          <a:bodyPr/>
          <a:lstStyle/>
          <a:p>
            <a:fld id="{5D99DD2A-B520-4620-9B43-64B657BA2D42}" type="slidenum">
              <a:rPr lang="en-US" noProof="0" smtClean="0"/>
              <a:t>41</a:t>
            </a:fld>
            <a:endParaRPr lang="en-US" noProof="0" dirty="0"/>
          </a:p>
        </p:txBody>
      </p:sp>
      <p:sp>
        <p:nvSpPr>
          <p:cNvPr id="8" name="Text Placeholder 3">
            <a:extLst>
              <a:ext uri="{FF2B5EF4-FFF2-40B4-BE49-F238E27FC236}">
                <a16:creationId xmlns:a16="http://schemas.microsoft.com/office/drawing/2014/main" id="{006CA1D2-18C6-4158-A0A6-2F151FE8B303}"/>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a:extLst>
              <a:ext uri="{FF2B5EF4-FFF2-40B4-BE49-F238E27FC236}">
                <a16:creationId xmlns:a16="http://schemas.microsoft.com/office/drawing/2014/main" id="{E90421BC-A3ED-E0CF-20E0-197A5861BC11}"/>
              </a:ext>
            </a:extLst>
          </p:cNvPr>
          <p:cNvSpPr/>
          <p:nvPr/>
        </p:nvSpPr>
        <p:spPr>
          <a:xfrm>
            <a:off x="264695" y="1090895"/>
            <a:ext cx="15941841" cy="6678751"/>
          </a:xfrm>
          <a:prstGeom prst="rect">
            <a:avLst/>
          </a:prstGeom>
        </p:spPr>
        <p:txBody>
          <a:bodyPr wrap="square" lIns="0" tIns="0" rIns="0" bIns="0">
            <a:spAutoFit/>
          </a:bodyPr>
          <a:lstStyle/>
          <a:p>
            <a:r>
              <a:rPr lang="en-US" b="1" dirty="0">
                <a:latin typeface="Times New Roman" panose="02020603050405020304" pitchFamily="18" charset="0"/>
                <a:cs typeface="Times New Roman" panose="02020603050405020304" pitchFamily="18" charset="0"/>
              </a:rPr>
              <a:t>Determine</a:t>
            </a:r>
            <a:r>
              <a:rPr lang="en-US" dirty="0">
                <a:latin typeface="Times New Roman" panose="02020603050405020304" pitchFamily="18" charset="0"/>
                <a:cs typeface="Times New Roman" panose="02020603050405020304" pitchFamily="18" charset="0"/>
              </a:rPr>
              <a:t> the output of the following program. </a:t>
            </a:r>
            <a:r>
              <a:rPr lang="en-US" b="1" dirty="0">
                <a:latin typeface="Times New Roman" panose="02020603050405020304" pitchFamily="18" charset="0"/>
                <a:cs typeface="Times New Roman" panose="02020603050405020304" pitchFamily="18" charset="0"/>
              </a:rPr>
              <a:t>Compute</a:t>
            </a:r>
            <a:r>
              <a:rPr lang="en-US" dirty="0">
                <a:latin typeface="Times New Roman" panose="02020603050405020304" pitchFamily="18" charset="0"/>
                <a:cs typeface="Times New Roman" panose="02020603050405020304" pitchFamily="18" charset="0"/>
              </a:rPr>
              <a:t> the duration of Arduino blinks an LED and makes the system power down. When powered down, the Arduino’s current drops from 10 mA to just 8 </a:t>
            </a:r>
            <a:r>
              <a:rPr lang="en-US" dirty="0">
                <a:latin typeface="Symbol" panose="05050102010706020507" pitchFamily="18" charset="2"/>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A. The supply voltage is 3.3 V. </a:t>
            </a:r>
            <a:r>
              <a:rPr lang="en-US" b="1" dirty="0">
                <a:latin typeface="Times New Roman" panose="02020603050405020304" pitchFamily="18" charset="0"/>
                <a:cs typeface="Times New Roman" panose="02020603050405020304" pitchFamily="18" charset="0"/>
              </a:rPr>
              <a:t>Compute</a:t>
            </a:r>
            <a:r>
              <a:rPr lang="en-US" dirty="0">
                <a:latin typeface="Times New Roman" panose="02020603050405020304" pitchFamily="18" charset="0"/>
                <a:cs typeface="Times New Roman" panose="02020603050405020304" pitchFamily="18" charset="0"/>
              </a:rPr>
              <a:t> the amount of power that is saved by the Arduino during this power-down mode.</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#include "</a:t>
            </a:r>
            <a:r>
              <a:rPr lang="en-US" dirty="0" err="1">
                <a:latin typeface="Times New Roman" panose="02020603050405020304" pitchFamily="18" charset="0"/>
                <a:cs typeface="Times New Roman" panose="02020603050405020304" pitchFamily="18" charset="0"/>
              </a:rPr>
              <a:t>LowPower.h</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void setup()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pinMode</a:t>
            </a:r>
            <a:r>
              <a:rPr lang="en-US" dirty="0">
                <a:latin typeface="Times New Roman" panose="02020603050405020304" pitchFamily="18" charset="0"/>
                <a:cs typeface="Times New Roman" panose="02020603050405020304" pitchFamily="18" charset="0"/>
              </a:rPr>
              <a:t>(10, OUTPUT);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void loop() {</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digitalWrite</a:t>
            </a:r>
            <a:r>
              <a:rPr lang="en-US" dirty="0">
                <a:latin typeface="Times New Roman" panose="02020603050405020304" pitchFamily="18" charset="0"/>
                <a:cs typeface="Times New Roman" panose="02020603050405020304" pitchFamily="18" charset="0"/>
              </a:rPr>
              <a:t>(10, HIGH);</a:t>
            </a:r>
          </a:p>
          <a:p>
            <a:r>
              <a:rPr lang="en-US" dirty="0">
                <a:latin typeface="Times New Roman" panose="02020603050405020304" pitchFamily="18" charset="0"/>
                <a:cs typeface="Times New Roman" panose="02020603050405020304" pitchFamily="18" charset="0"/>
              </a:rPr>
              <a:t>  delay(1000);</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digitalWrite</a:t>
            </a:r>
            <a:r>
              <a:rPr lang="en-US" dirty="0">
                <a:latin typeface="Times New Roman" panose="02020603050405020304" pitchFamily="18" charset="0"/>
                <a:cs typeface="Times New Roman" panose="02020603050405020304" pitchFamily="18" charset="0"/>
              </a:rPr>
              <a:t>(10, LOW);</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LowPower.powerDown</a:t>
            </a:r>
            <a:r>
              <a:rPr lang="en-US" dirty="0">
                <a:latin typeface="Times New Roman" panose="02020603050405020304" pitchFamily="18" charset="0"/>
                <a:cs typeface="Times New Roman" panose="02020603050405020304" pitchFamily="18" charset="0"/>
              </a:rPr>
              <a:t>(SLEEP_4S, WDT_OFF, BOD_OFF, SPI_OFF, TWI_OFF);</a:t>
            </a:r>
          </a:p>
          <a:p>
            <a:r>
              <a:rPr lang="en-US"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sz="2000" b="1" dirty="0">
                <a:solidFill>
                  <a:srgbClr val="FF0000"/>
                </a:solidFill>
                <a:latin typeface="Times New Roman" panose="02020603050405020304" pitchFamily="18" charset="0"/>
                <a:cs typeface="Times New Roman" panose="02020603050405020304" pitchFamily="18" charset="0"/>
              </a:rPr>
              <a:t>Solution:</a:t>
            </a:r>
            <a:endParaRPr lang="en-US" sz="2000" i="1"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the above program is run, then the time for which the LED is ON is 1000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 or 1 s because the </a:t>
            </a:r>
            <a:r>
              <a:rPr lang="en-US" dirty="0" err="1">
                <a:latin typeface="Times New Roman" panose="02020603050405020304" pitchFamily="18" charset="0"/>
                <a:cs typeface="Times New Roman" panose="02020603050405020304" pitchFamily="18" charset="0"/>
              </a:rPr>
              <a:t>digitalWrite</a:t>
            </a:r>
            <a:r>
              <a:rPr lang="en-US" dirty="0">
                <a:latin typeface="Times New Roman" panose="02020603050405020304" pitchFamily="18" charset="0"/>
                <a:cs typeface="Times New Roman" panose="02020603050405020304" pitchFamily="18" charset="0"/>
              </a:rPr>
              <a:t>() function sends a ‘HIGH’ signal to pin 10, where an LED is connected, and then the delay() function makes a delay of 1000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 After that, the </a:t>
            </a:r>
            <a:r>
              <a:rPr lang="en-US" dirty="0" err="1">
                <a:latin typeface="Times New Roman" panose="02020603050405020304" pitchFamily="18" charset="0"/>
                <a:cs typeface="Times New Roman" panose="02020603050405020304" pitchFamily="18" charset="0"/>
              </a:rPr>
              <a:t>digitalWrite</a:t>
            </a:r>
            <a:r>
              <a:rPr lang="en-US" dirty="0">
                <a:latin typeface="Times New Roman" panose="02020603050405020304" pitchFamily="18" charset="0"/>
                <a:cs typeface="Times New Roman" panose="02020603050405020304" pitchFamily="18" charset="0"/>
              </a:rPr>
              <a:t>() function sends a ‘LOW’ signal to pin 10. After that, there is no delay() function, but the device goes into power-down mode for 4 s. As such, the duration that the Arduino blinks an LED connected to pin 10 is every 5 s, that is, the LED is ON for 1 s and OFF for 4 s, and this loop continues.</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Initially, when the power is not down then the device draws a 10 mA current. Hence, it consumes a power of 3.3×10 = 33 </a:t>
            </a:r>
            <a:r>
              <a:rPr lang="en-US" dirty="0" err="1">
                <a:latin typeface="Times New Roman" panose="02020603050405020304" pitchFamily="18" charset="0"/>
                <a:cs typeface="Times New Roman" panose="02020603050405020304" pitchFamily="18" charset="0"/>
              </a:rPr>
              <a:t>mW</a:t>
            </a:r>
            <a:r>
              <a:rPr lang="en-US"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the device is in low-power power-down mode, then the device draws an 8 </a:t>
            </a:r>
            <a:r>
              <a:rPr lang="en-US" dirty="0">
                <a:latin typeface="Symbol" panose="05050102010706020507" pitchFamily="18" charset="2"/>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A current. Hence, it consumes a power of 3.3×8 = 26.4 </a:t>
            </a:r>
            <a:r>
              <a:rPr lang="en-US"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 = 0.0264 </a:t>
            </a:r>
            <a:r>
              <a:rPr lang="en-US" dirty="0" err="1">
                <a:latin typeface="Times New Roman" panose="02020603050405020304" pitchFamily="18" charset="0"/>
                <a:cs typeface="Times New Roman" panose="02020603050405020304" pitchFamily="18" charset="0"/>
              </a:rPr>
              <a:t>mW</a:t>
            </a:r>
            <a:r>
              <a:rPr lang="en-US"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the amount of power that is saved by the Arduino during the low-power power-down mode = 33 – 0.0264 = 32.9736 </a:t>
            </a:r>
            <a:r>
              <a:rPr lang="en-US" dirty="0" err="1">
                <a:latin typeface="Times New Roman" panose="02020603050405020304" pitchFamily="18" charset="0"/>
                <a:cs typeface="Times New Roman" panose="02020603050405020304" pitchFamily="18" charset="0"/>
              </a:rPr>
              <a:t>mW</a:t>
            </a:r>
            <a:r>
              <a:rPr lang="en-US" dirty="0">
                <a:latin typeface="Times New Roman" panose="02020603050405020304" pitchFamily="18" charset="0"/>
                <a:cs typeface="Times New Roman" panose="02020603050405020304" pitchFamily="18" charset="0"/>
              </a:rPr>
              <a:t>.</a:t>
            </a:r>
            <a:endParaRPr lang="en-US" sz="2400" i="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6AF476-73F1-298B-2431-CE8C4E113A56}"/>
              </a:ext>
            </a:extLst>
          </p:cNvPr>
          <p:cNvPicPr>
            <a:picLocks noChangeAspect="1"/>
          </p:cNvPicPr>
          <p:nvPr/>
        </p:nvPicPr>
        <p:blipFill rotWithShape="1">
          <a:blip r:embed="rId3"/>
          <a:srcRect r="1074" b="2572"/>
          <a:stretch/>
        </p:blipFill>
        <p:spPr>
          <a:xfrm>
            <a:off x="8585200" y="1765300"/>
            <a:ext cx="7394374" cy="3600872"/>
          </a:xfrm>
          <a:prstGeom prst="rect">
            <a:avLst/>
          </a:prstGeom>
        </p:spPr>
      </p:pic>
      <p:sp>
        <p:nvSpPr>
          <p:cNvPr id="7" name="Rectangle 6">
            <a:extLst>
              <a:ext uri="{FF2B5EF4-FFF2-40B4-BE49-F238E27FC236}">
                <a16:creationId xmlns:a16="http://schemas.microsoft.com/office/drawing/2014/main" id="{259709B0-F446-106C-F36C-F1AD76BD5CEA}"/>
              </a:ext>
            </a:extLst>
          </p:cNvPr>
          <p:cNvSpPr/>
          <p:nvPr/>
        </p:nvSpPr>
        <p:spPr>
          <a:xfrm>
            <a:off x="8585200" y="3799224"/>
            <a:ext cx="7375236" cy="315576"/>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Tree>
    <p:extLst>
      <p:ext uri="{BB962C8B-B14F-4D97-AF65-F5344CB8AC3E}">
        <p14:creationId xmlns:p14="http://schemas.microsoft.com/office/powerpoint/2010/main" val="34268822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B5F03-5416-3F8F-18AE-A59370768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9662A-CDD5-14C5-3750-D5228F171689}"/>
              </a:ext>
            </a:extLst>
          </p:cNvPr>
          <p:cNvSpPr>
            <a:spLocks noGrp="1"/>
          </p:cNvSpPr>
          <p:nvPr>
            <p:ph type="title"/>
          </p:nvPr>
        </p:nvSpPr>
        <p:spPr>
          <a:xfrm>
            <a:off x="123393" y="152148"/>
            <a:ext cx="16147312" cy="698752"/>
          </a:xfrm>
        </p:spPr>
        <p:txBody>
          <a:bodyPr>
            <a:normAutofit/>
          </a:bodyPr>
          <a:lstStyle/>
          <a:p>
            <a:pPr algn="just"/>
            <a:r>
              <a:rPr lang="en-US" sz="4400" b="1" u="sng" dirty="0">
                <a:solidFill>
                  <a:srgbClr val="FF0000"/>
                </a:solidFill>
                <a:latin typeface="+mn-lt"/>
              </a:rPr>
              <a:t>Example 3</a:t>
            </a:r>
          </a:p>
        </p:txBody>
      </p:sp>
      <p:sp>
        <p:nvSpPr>
          <p:cNvPr id="4" name="Date Placeholder 3">
            <a:extLst>
              <a:ext uri="{FF2B5EF4-FFF2-40B4-BE49-F238E27FC236}">
                <a16:creationId xmlns:a16="http://schemas.microsoft.com/office/drawing/2014/main" id="{5EA309E8-8DF2-D88A-2008-7C6B440E2126}"/>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E002DEFB-2BC0-399D-68D1-32680FA83AFD}"/>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7B10E940-60A5-5CF5-4741-A81FF4465C83}"/>
              </a:ext>
            </a:extLst>
          </p:cNvPr>
          <p:cNvSpPr>
            <a:spLocks noGrp="1"/>
          </p:cNvSpPr>
          <p:nvPr>
            <p:ph type="sldNum" sz="quarter" idx="12"/>
          </p:nvPr>
        </p:nvSpPr>
        <p:spPr/>
        <p:txBody>
          <a:bodyPr/>
          <a:lstStyle/>
          <a:p>
            <a:fld id="{5D99DD2A-B520-4620-9B43-64B657BA2D42}" type="slidenum">
              <a:rPr lang="en-US" noProof="0" smtClean="0"/>
              <a:t>42</a:t>
            </a:fld>
            <a:endParaRPr lang="en-US" noProof="0" dirty="0"/>
          </a:p>
        </p:txBody>
      </p:sp>
      <p:sp>
        <p:nvSpPr>
          <p:cNvPr id="8" name="Text Placeholder 3">
            <a:extLst>
              <a:ext uri="{FF2B5EF4-FFF2-40B4-BE49-F238E27FC236}">
                <a16:creationId xmlns:a16="http://schemas.microsoft.com/office/drawing/2014/main" id="{3ABD9AE1-6796-B37A-4176-557AB7F637CB}"/>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a:extLst>
              <a:ext uri="{FF2B5EF4-FFF2-40B4-BE49-F238E27FC236}">
                <a16:creationId xmlns:a16="http://schemas.microsoft.com/office/drawing/2014/main" id="{2A01BC84-9517-17D9-F68F-41AEAE927423}"/>
              </a:ext>
            </a:extLst>
          </p:cNvPr>
          <p:cNvSpPr/>
          <p:nvPr/>
        </p:nvSpPr>
        <p:spPr>
          <a:xfrm>
            <a:off x="188495" y="824195"/>
            <a:ext cx="16147312" cy="7032694"/>
          </a:xfrm>
          <a:prstGeom prst="rect">
            <a:avLst/>
          </a:prstGeom>
        </p:spPr>
        <p:txBody>
          <a:bodyPr wrap="square" lIns="0" tIns="0" rIns="0" bIns="0">
            <a:spAutoFit/>
          </a:bodyPr>
          <a:lstStyle/>
          <a:p>
            <a:r>
              <a:rPr lang="en-US" sz="2400" b="1" dirty="0">
                <a:latin typeface="Times New Roman" panose="02020603050405020304" pitchFamily="18" charset="0"/>
                <a:cs typeface="Times New Roman" panose="02020603050405020304" pitchFamily="18" charset="0"/>
              </a:rPr>
              <a:t>Determine</a:t>
            </a:r>
            <a:r>
              <a:rPr lang="en-US" sz="2400" dirty="0">
                <a:latin typeface="Times New Roman" panose="02020603050405020304" pitchFamily="18" charset="0"/>
                <a:cs typeface="Times New Roman" panose="02020603050405020304" pitchFamily="18" charset="0"/>
              </a:rPr>
              <a:t> the output of the following program. </a:t>
            </a:r>
            <a:r>
              <a:rPr lang="en-US" sz="2400" b="1" dirty="0">
                <a:latin typeface="Times New Roman" panose="02020603050405020304" pitchFamily="18" charset="0"/>
                <a:cs typeface="Times New Roman" panose="02020603050405020304" pitchFamily="18" charset="0"/>
              </a:rPr>
              <a:t>Compute</a:t>
            </a:r>
            <a:r>
              <a:rPr lang="en-US" sz="2400" dirty="0">
                <a:latin typeface="Times New Roman" panose="02020603050405020304" pitchFamily="18" charset="0"/>
                <a:cs typeface="Times New Roman" panose="02020603050405020304" pitchFamily="18" charset="0"/>
              </a:rPr>
              <a:t> power and energy consumption during the ON and OFF conditions as well as SLEEP modes in idle and power down states. </a:t>
            </a:r>
            <a:r>
              <a:rPr lang="en-US" sz="2400" b="1" dirty="0">
                <a:latin typeface="Times New Roman" panose="02020603050405020304" pitchFamily="18" charset="0"/>
                <a:cs typeface="Times New Roman" panose="02020603050405020304" pitchFamily="18" charset="0"/>
              </a:rPr>
              <a:t>Compute</a:t>
            </a:r>
            <a:r>
              <a:rPr lang="en-US" sz="2400" dirty="0">
                <a:latin typeface="Times New Roman" panose="02020603050405020304" pitchFamily="18" charset="0"/>
                <a:cs typeface="Times New Roman" panose="02020603050405020304" pitchFamily="18" charset="0"/>
              </a:rPr>
              <a:t> power savings.</a:t>
            </a:r>
          </a:p>
          <a:p>
            <a:r>
              <a:rPr lang="en-US" sz="1200" dirty="0"/>
              <a:t> </a:t>
            </a:r>
            <a:endParaRPr lang="en-US" sz="1000" dirty="0"/>
          </a:p>
          <a:p>
            <a:r>
              <a:rPr lang="en-US" sz="2000" dirty="0">
                <a:latin typeface="Amasis MT Pro" panose="02040504050005020304" pitchFamily="18" charset="0"/>
              </a:rPr>
              <a:t>#include “</a:t>
            </a:r>
            <a:r>
              <a:rPr lang="en-US" sz="2000" dirty="0" err="1">
                <a:latin typeface="Amasis MT Pro" panose="02040504050005020304" pitchFamily="18" charset="0"/>
              </a:rPr>
              <a:t>LowPower.h</a:t>
            </a:r>
            <a:r>
              <a:rPr lang="en-US" sz="2000" dirty="0">
                <a:latin typeface="Amasis MT Pro" panose="02040504050005020304" pitchFamily="18" charset="0"/>
              </a:rPr>
              <a:t>”</a:t>
            </a:r>
          </a:p>
          <a:p>
            <a:r>
              <a:rPr lang="en-US" sz="1000" dirty="0">
                <a:latin typeface="Amasis MT Pro" panose="02040504050005020304" pitchFamily="18" charset="0"/>
              </a:rPr>
              <a:t> </a:t>
            </a:r>
          </a:p>
          <a:p>
            <a:r>
              <a:rPr lang="en-US" sz="2000" dirty="0">
                <a:latin typeface="Amasis MT Pro" panose="02040504050005020304" pitchFamily="18" charset="0"/>
              </a:rPr>
              <a:t>void loop() {</a:t>
            </a:r>
          </a:p>
          <a:p>
            <a:pPr lvl="1"/>
            <a:r>
              <a:rPr lang="en-US" sz="2000" dirty="0">
                <a:latin typeface="Amasis MT Pro" panose="02040504050005020304" pitchFamily="18" charset="0"/>
              </a:rPr>
              <a:t>  </a:t>
            </a:r>
            <a:r>
              <a:rPr lang="en-US" sz="2000" dirty="0" err="1">
                <a:latin typeface="Amasis MT Pro" panose="02040504050005020304" pitchFamily="18" charset="0"/>
              </a:rPr>
              <a:t>pinMode</a:t>
            </a:r>
            <a:r>
              <a:rPr lang="en-US" sz="2000" dirty="0">
                <a:latin typeface="Amasis MT Pro" panose="02040504050005020304" pitchFamily="18" charset="0"/>
              </a:rPr>
              <a:t>(3, OUTPUT);  }</a:t>
            </a:r>
          </a:p>
          <a:p>
            <a:r>
              <a:rPr lang="en-US" sz="1400" dirty="0">
                <a:latin typeface="Amasis MT Pro" panose="02040504050005020304" pitchFamily="18" charset="0"/>
              </a:rPr>
              <a:t> </a:t>
            </a:r>
            <a:endParaRPr lang="en-US" sz="1200" dirty="0">
              <a:latin typeface="Amasis MT Pro" panose="02040504050005020304" pitchFamily="18" charset="0"/>
            </a:endParaRPr>
          </a:p>
          <a:p>
            <a:r>
              <a:rPr lang="en-US" sz="2000" dirty="0">
                <a:latin typeface="Amasis MT Pro" panose="02040504050005020304" pitchFamily="18" charset="0"/>
              </a:rPr>
              <a:t>void setup() {</a:t>
            </a:r>
          </a:p>
          <a:p>
            <a:pPr lvl="1"/>
            <a:r>
              <a:rPr lang="en-US" sz="2000" dirty="0">
                <a:latin typeface="Amasis MT Pro" panose="02040504050005020304" pitchFamily="18" charset="0"/>
              </a:rPr>
              <a:t>  </a:t>
            </a:r>
            <a:r>
              <a:rPr lang="en-US" sz="2000" dirty="0" err="1">
                <a:latin typeface="Amasis MT Pro" panose="02040504050005020304" pitchFamily="18" charset="0"/>
              </a:rPr>
              <a:t>digitalWrite</a:t>
            </a:r>
            <a:r>
              <a:rPr lang="en-US" sz="2000" dirty="0">
                <a:latin typeface="Amasis MT Pro" panose="02040504050005020304" pitchFamily="18" charset="0"/>
              </a:rPr>
              <a:t>(3, HIGH);</a:t>
            </a:r>
          </a:p>
          <a:p>
            <a:pPr lvl="1"/>
            <a:r>
              <a:rPr lang="en-US" sz="2000" dirty="0">
                <a:latin typeface="Amasis MT Pro" panose="02040504050005020304" pitchFamily="18" charset="0"/>
              </a:rPr>
              <a:t>  delay(4000);   // USB Meter readings = 4.971 V, 0.758 A)</a:t>
            </a:r>
          </a:p>
          <a:p>
            <a:pPr lvl="1"/>
            <a:r>
              <a:rPr lang="en-US" sz="2000" dirty="0">
                <a:latin typeface="Amasis MT Pro" panose="02040504050005020304" pitchFamily="18" charset="0"/>
              </a:rPr>
              <a:t>  </a:t>
            </a:r>
            <a:r>
              <a:rPr lang="en-US" sz="2000" dirty="0" err="1">
                <a:latin typeface="Amasis MT Pro" panose="02040504050005020304" pitchFamily="18" charset="0"/>
              </a:rPr>
              <a:t>digitalWrite</a:t>
            </a:r>
            <a:r>
              <a:rPr lang="en-US" sz="2000" dirty="0">
                <a:latin typeface="Amasis MT Pro" panose="02040504050005020304" pitchFamily="18" charset="0"/>
              </a:rPr>
              <a:t>(3, LOW);</a:t>
            </a:r>
          </a:p>
          <a:p>
            <a:pPr lvl="1"/>
            <a:r>
              <a:rPr lang="en-US" sz="2000" dirty="0">
                <a:latin typeface="Amasis MT Pro" panose="02040504050005020304" pitchFamily="18" charset="0"/>
              </a:rPr>
              <a:t>  delay(2000); // USB Meter readings = 5.017 V, 0.125 A)</a:t>
            </a:r>
          </a:p>
          <a:p>
            <a:pPr lvl="1"/>
            <a:r>
              <a:rPr lang="en-US" sz="2000" dirty="0">
                <a:latin typeface="Amasis MT Pro" panose="02040504050005020304" pitchFamily="18" charset="0"/>
              </a:rPr>
              <a:t>  </a:t>
            </a:r>
            <a:r>
              <a:rPr lang="en-US" sz="2000" dirty="0" err="1">
                <a:latin typeface="Amasis MT Pro" panose="02040504050005020304" pitchFamily="18" charset="0"/>
              </a:rPr>
              <a:t>LowPower.idle</a:t>
            </a:r>
            <a:r>
              <a:rPr lang="en-US" sz="2000" dirty="0">
                <a:latin typeface="Amasis MT Pro" panose="02040504050005020304" pitchFamily="18" charset="0"/>
              </a:rPr>
              <a:t>(SLEEP_8S, ADC_OFF, SPI_OFF); // USB Meter readings = 5.15 V, 0.001 A)</a:t>
            </a:r>
          </a:p>
          <a:p>
            <a:pPr lvl="1">
              <a:spcAft>
                <a:spcPts val="600"/>
              </a:spcAft>
            </a:pPr>
            <a:r>
              <a:rPr lang="en-US" sz="2000" dirty="0">
                <a:latin typeface="Amasis MT Pro" panose="02040504050005020304" pitchFamily="18" charset="0"/>
              </a:rPr>
              <a:t>  </a:t>
            </a:r>
            <a:r>
              <a:rPr lang="en-US" sz="2000" dirty="0" err="1">
                <a:latin typeface="Amasis MT Pro" panose="02040504050005020304" pitchFamily="18" charset="0"/>
              </a:rPr>
              <a:t>LowPower.powerDown</a:t>
            </a:r>
            <a:r>
              <a:rPr lang="en-US" sz="2000" dirty="0">
                <a:latin typeface="Amasis MT Pro" panose="02040504050005020304" pitchFamily="18" charset="0"/>
              </a:rPr>
              <a:t>(SLEEP2S, WDT_OFF, BOD_OFF); // USB Meter readings = 5.08 V, 0.005 A)   </a:t>
            </a:r>
            <a:r>
              <a:rPr lang="en-US" sz="2000" dirty="0"/>
              <a:t>}</a:t>
            </a:r>
            <a:endParaRPr lang="en-US" sz="2000" i="1" dirty="0"/>
          </a:p>
          <a:p>
            <a:r>
              <a:rPr lang="en-US" sz="2400" b="1" dirty="0">
                <a:solidFill>
                  <a:srgbClr val="FF0000"/>
                </a:solidFill>
                <a:latin typeface="Times New Roman" panose="02020603050405020304" pitchFamily="18" charset="0"/>
                <a:cs typeface="Times New Roman" panose="02020603050405020304" pitchFamily="18" charset="0"/>
              </a:rPr>
              <a:t>Solution:</a:t>
            </a:r>
            <a:endParaRPr lang="en-US" sz="2400" i="1"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If the above program is run then the time for which the LED is ON is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or 4 s because the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 function sends a ‘HIGH’ signal to pin 3 where an LED is connected and then the delay() function makes a delay of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After that, the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 function sends a ‘LOW’ signal to pin 3. After that, there is a delay() function, so the LED is turned OFF for 2000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or 2 s. Then the device goes into idle mode for 8 s. Finally, the device goes into power-down mode for 2 s. As such, the duration that the Arduino blinks an LED connected to pin 3 is every 16 s, that is, the LED is ON for 4 s and OFF for 2 + 8 + 2 = 12 s, and this loop continues.</a:t>
            </a:r>
            <a:endParaRPr lang="en-US" sz="2400" i="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1278DC2-C037-A3BC-5D13-CFDB6CED7282}"/>
              </a:ext>
            </a:extLst>
          </p:cNvPr>
          <p:cNvPicPr>
            <a:picLocks noChangeAspect="1"/>
          </p:cNvPicPr>
          <p:nvPr/>
        </p:nvPicPr>
        <p:blipFill rotWithShape="1">
          <a:blip r:embed="rId3"/>
          <a:srcRect r="1074" b="2572"/>
          <a:stretch/>
        </p:blipFill>
        <p:spPr>
          <a:xfrm>
            <a:off x="10375900" y="1524000"/>
            <a:ext cx="5921174" cy="2883461"/>
          </a:xfrm>
          <a:prstGeom prst="rect">
            <a:avLst/>
          </a:prstGeom>
        </p:spPr>
      </p:pic>
      <p:sp>
        <p:nvSpPr>
          <p:cNvPr id="11" name="Rectangle 10">
            <a:extLst>
              <a:ext uri="{FF2B5EF4-FFF2-40B4-BE49-F238E27FC236}">
                <a16:creationId xmlns:a16="http://schemas.microsoft.com/office/drawing/2014/main" id="{BB6C7F6C-24CC-DC98-4640-22835B606EA4}"/>
              </a:ext>
            </a:extLst>
          </p:cNvPr>
          <p:cNvSpPr/>
          <p:nvPr/>
        </p:nvSpPr>
        <p:spPr>
          <a:xfrm>
            <a:off x="10375900" y="2705100"/>
            <a:ext cx="5876636" cy="1778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
        <p:nvSpPr>
          <p:cNvPr id="12" name="Rectangle 11">
            <a:extLst>
              <a:ext uri="{FF2B5EF4-FFF2-40B4-BE49-F238E27FC236}">
                <a16:creationId xmlns:a16="http://schemas.microsoft.com/office/drawing/2014/main" id="{D7584C10-8151-5E14-A178-22BD8DBA6479}"/>
              </a:ext>
            </a:extLst>
          </p:cNvPr>
          <p:cNvSpPr/>
          <p:nvPr/>
        </p:nvSpPr>
        <p:spPr>
          <a:xfrm>
            <a:off x="10388600" y="3179907"/>
            <a:ext cx="5876636" cy="1778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Tree>
    <p:extLst>
      <p:ext uri="{BB962C8B-B14F-4D97-AF65-F5344CB8AC3E}">
        <p14:creationId xmlns:p14="http://schemas.microsoft.com/office/powerpoint/2010/main" val="3073674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heel(1)">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heel(1)">
                                      <p:cBhvr>
                                        <p:cTn id="21"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9F03-B5A4-603F-9E5C-01F7B7E17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BCD88-FD6E-A530-23FE-9EAC6A7F4CB5}"/>
              </a:ext>
            </a:extLst>
          </p:cNvPr>
          <p:cNvSpPr>
            <a:spLocks noGrp="1"/>
          </p:cNvSpPr>
          <p:nvPr>
            <p:ph type="title"/>
          </p:nvPr>
        </p:nvSpPr>
        <p:spPr>
          <a:xfrm>
            <a:off x="264695" y="215648"/>
            <a:ext cx="15695741" cy="859790"/>
          </a:xfrm>
        </p:spPr>
        <p:txBody>
          <a:bodyPr>
            <a:normAutofit/>
          </a:bodyPr>
          <a:lstStyle/>
          <a:p>
            <a:pPr algn="just"/>
            <a:r>
              <a:rPr lang="en-US" sz="4800" b="1" u="sng" dirty="0">
                <a:solidFill>
                  <a:srgbClr val="FF0000"/>
                </a:solidFill>
                <a:latin typeface="+mn-lt"/>
              </a:rPr>
              <a:t>Example 3</a:t>
            </a:r>
          </a:p>
        </p:txBody>
      </p:sp>
      <p:sp>
        <p:nvSpPr>
          <p:cNvPr id="4" name="Date Placeholder 3">
            <a:extLst>
              <a:ext uri="{FF2B5EF4-FFF2-40B4-BE49-F238E27FC236}">
                <a16:creationId xmlns:a16="http://schemas.microsoft.com/office/drawing/2014/main" id="{16749ED2-25A8-4355-1575-00DF82CD15C6}"/>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58F6EAE4-7BF7-8646-5712-2DAF51E0D991}"/>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23B05314-01BE-151D-494E-15A1A713777F}"/>
              </a:ext>
            </a:extLst>
          </p:cNvPr>
          <p:cNvSpPr>
            <a:spLocks noGrp="1"/>
          </p:cNvSpPr>
          <p:nvPr>
            <p:ph type="sldNum" sz="quarter" idx="12"/>
          </p:nvPr>
        </p:nvSpPr>
        <p:spPr/>
        <p:txBody>
          <a:bodyPr/>
          <a:lstStyle/>
          <a:p>
            <a:fld id="{5D99DD2A-B520-4620-9B43-64B657BA2D42}" type="slidenum">
              <a:rPr lang="en-US" noProof="0" smtClean="0"/>
              <a:t>43</a:t>
            </a:fld>
            <a:endParaRPr lang="en-US" noProof="0" dirty="0"/>
          </a:p>
        </p:txBody>
      </p:sp>
      <p:sp>
        <p:nvSpPr>
          <p:cNvPr id="8" name="Text Placeholder 3">
            <a:extLst>
              <a:ext uri="{FF2B5EF4-FFF2-40B4-BE49-F238E27FC236}">
                <a16:creationId xmlns:a16="http://schemas.microsoft.com/office/drawing/2014/main" id="{847937B4-96DE-CD4E-90DE-B64DC672054D}"/>
              </a:ext>
            </a:extLst>
          </p:cNvPr>
          <p:cNvSpPr txBox="1">
            <a:spLocks/>
          </p:cNvSpPr>
          <p:nvPr/>
        </p:nvSpPr>
        <p:spPr bwMode="white">
          <a:xfrm>
            <a:off x="8021782" y="49011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399B514-6D3F-E00B-70CC-A2868B24C982}"/>
                  </a:ext>
                </a:extLst>
              </p:cNvPr>
              <p:cNvSpPr/>
              <p:nvPr/>
            </p:nvSpPr>
            <p:spPr>
              <a:xfrm>
                <a:off x="264695" y="1090895"/>
                <a:ext cx="15941841" cy="6854890"/>
              </a:xfrm>
              <a:prstGeom prst="rect">
                <a:avLst/>
              </a:prstGeom>
            </p:spPr>
            <p:txBody>
              <a:bodyPr wrap="square" lIns="0" tIns="0" rIns="0" bIns="0">
                <a:spAutoFit/>
              </a:bodyPr>
              <a:lstStyle/>
              <a:p>
                <a:pPr>
                  <a:tabLst>
                    <a:tab pos="9601200" algn="l"/>
                  </a:tabLst>
                </a:pPr>
                <a:r>
                  <a:rPr lang="en-US" sz="2800" dirty="0">
                    <a:latin typeface="Times New Roman" panose="02020603050405020304" pitchFamily="18" charset="0"/>
                    <a:cs typeface="Times New Roman" panose="02020603050405020304" pitchFamily="18" charset="0"/>
                  </a:rPr>
                  <a:t>According to the comments in the code, the USB meter readings are provided.</a:t>
                </a:r>
              </a:p>
              <a:p>
                <a:r>
                  <a:rPr lang="en-US" sz="2800" dirty="0">
                    <a:latin typeface="Times New Roman" panose="02020603050405020304" pitchFamily="18" charset="0"/>
                    <a:cs typeface="Times New Roman" panose="02020603050405020304" pitchFamily="18" charset="0"/>
                  </a:rPr>
                  <a:t>Initially, when the device is in the HIGH state and the LED is ON, it draws 0.758 A current at a voltage of 4.971 V for a duration of 4 s. Hence, it consumes a power of P</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 V</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I</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 4.971×0.758 = 3.768 W and an energy of E</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 P</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t</a:t>
                </a:r>
                <a:r>
                  <a:rPr lang="en-US" sz="2800" baseline="-25000"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 3.768×4 = 15.072 J.</a:t>
                </a:r>
              </a:p>
              <a:p>
                <a:r>
                  <a:rPr lang="en-US" sz="2800" dirty="0">
                    <a:latin typeface="Times New Roman" panose="02020603050405020304" pitchFamily="18" charset="0"/>
                    <a:cs typeface="Times New Roman" panose="02020603050405020304" pitchFamily="18" charset="0"/>
                  </a:rPr>
                  <a:t>When the device is in the LOW state and the LED is OFF, it draws 0.125 A of current at a voltage of 5.017 V for a duration of 2 s. Hence, it consumes a power of P</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V</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I</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5.017×0.125 = 0.627 W and an energy of E</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P</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t</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0.627×2 = 1.254 J.</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When the device is in the idle mode and the LED is OFF, it draws 0.001 A of current at a voltage of 5.15 V for a duration of 8 s. Hence, it consumes a power of P</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 = V</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I</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 = 5.15×0.001 A = 0.00515 W and an energy of E</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 = P</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t</a:t>
                </a:r>
                <a:r>
                  <a:rPr lang="en-US" sz="2800" baseline="-25000" dirty="0">
                    <a:latin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cs typeface="Times New Roman" panose="02020603050405020304" pitchFamily="18" charset="0"/>
                  </a:rPr>
                  <a:t>= 0.00515×8 = 0.0412 J.</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When the device is in the low-power power-down mode, it draws 0.005 A of current at a voltage of 5.07 V for a duration of 2 s. Hence, it consumes a power of P</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 = V</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I</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 = 5.08×0.005 A = 0.0254 W and an energy of E</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 = P</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t</a:t>
                </a:r>
                <a:r>
                  <a:rPr lang="en-US" sz="2800" baseline="-25000" dirty="0">
                    <a:latin typeface="Times New Roman" panose="02020603050405020304" pitchFamily="18" charset="0"/>
                    <a:cs typeface="Times New Roman" panose="02020603050405020304" pitchFamily="18" charset="0"/>
                  </a:rPr>
                  <a:t>4 </a:t>
                </a:r>
                <a:r>
                  <a:rPr lang="en-US" sz="2800" dirty="0">
                    <a:latin typeface="Times New Roman" panose="02020603050405020304" pitchFamily="18" charset="0"/>
                    <a:cs typeface="Times New Roman" panose="02020603050405020304" pitchFamily="18" charset="0"/>
                  </a:rPr>
                  <a:t>= 0.0254×2 = 0.0508 J.</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So, the amount of energy that is saved by the Arduino during the </a:t>
                </a:r>
                <a:r>
                  <a:rPr lang="en-US" sz="2800" dirty="0">
                    <a:solidFill>
                      <a:srgbClr val="FF0000"/>
                    </a:solidFill>
                    <a:latin typeface="Times New Roman" panose="02020603050405020304" pitchFamily="18" charset="0"/>
                    <a:cs typeface="Times New Roman" panose="02020603050405020304" pitchFamily="18" charset="0"/>
                  </a:rPr>
                  <a:t>idle</a:t>
                </a:r>
                <a:r>
                  <a:rPr lang="en-US" sz="2800" dirty="0">
                    <a:latin typeface="Times New Roman" panose="02020603050405020304" pitchFamily="18" charset="0"/>
                    <a:cs typeface="Times New Roman" panose="02020603050405020304" pitchFamily="18" charset="0"/>
                  </a:rPr>
                  <a:t> and </a:t>
                </a:r>
                <a:r>
                  <a:rPr lang="en-US" sz="2800" dirty="0">
                    <a:solidFill>
                      <a:srgbClr val="7030A0"/>
                    </a:solidFill>
                    <a:latin typeface="Times New Roman" panose="02020603050405020304" pitchFamily="18" charset="0"/>
                    <a:cs typeface="Times New Roman" panose="02020603050405020304" pitchFamily="18" charset="0"/>
                  </a:rPr>
                  <a:t>low-power power-down mode </a:t>
                </a:r>
                <a:r>
                  <a:rPr lang="en-US" sz="2800" dirty="0">
                    <a:latin typeface="Times New Roman" panose="02020603050405020304" pitchFamily="18" charset="0"/>
                    <a:cs typeface="Times New Roman" panose="02020603050405020304" pitchFamily="18" charset="0"/>
                  </a:rPr>
                  <a:t>from the LOW state are </a:t>
                </a:r>
                <a14:m>
                  <m:oMath xmlns:m="http://schemas.openxmlformats.org/officeDocument/2006/math">
                    <m:f>
                      <m:fPr>
                        <m:ctrlPr>
                          <a:rPr lang="en-US" sz="2800" i="1" dirty="0">
                            <a:latin typeface="Cambria Math" panose="02040503050406030204" pitchFamily="18" charset="0"/>
                            <a:cs typeface="Times New Roman" panose="02020603050405020304" pitchFamily="18" charset="0"/>
                          </a:rPr>
                        </m:ctrlPr>
                      </m:fPr>
                      <m:num>
                        <m:r>
                          <m:rPr>
                            <m:nor/>
                          </m:rPr>
                          <a:rPr lang="en-US" sz="2800" dirty="0">
                            <a:latin typeface="Times New Roman" panose="02020603050405020304" pitchFamily="18" charset="0"/>
                            <a:cs typeface="Times New Roman" panose="02020603050405020304" pitchFamily="18" charset="0"/>
                          </a:rPr>
                          <m:t>1.254−</m:t>
                        </m:r>
                        <m:r>
                          <m:rPr>
                            <m:nor/>
                          </m:rPr>
                          <a:rPr lang="en-US" sz="2800" dirty="0">
                            <a:latin typeface="Cambria Math" panose="02040503050406030204" pitchFamily="18" charset="0"/>
                            <a:cs typeface="Times New Roman" panose="02020603050405020304" pitchFamily="18" charset="0"/>
                          </a:rPr>
                          <m:t>0.</m:t>
                        </m:r>
                        <m:r>
                          <m:rPr>
                            <m:nor/>
                          </m:rPr>
                          <a:rPr lang="en-US" sz="2800" b="0" i="0" dirty="0" smtClean="0">
                            <a:latin typeface="Cambria Math" panose="02040503050406030204" pitchFamily="18" charset="0"/>
                            <a:cs typeface="Times New Roman" panose="02020603050405020304" pitchFamily="18" charset="0"/>
                          </a:rPr>
                          <m:t>0412</m:t>
                        </m:r>
                      </m:num>
                      <m:den>
                        <m:r>
                          <m:rPr>
                            <m:nor/>
                          </m:rPr>
                          <a:rPr lang="en-US" sz="2800" dirty="0">
                            <a:latin typeface="Times New Roman" panose="02020603050405020304" pitchFamily="18" charset="0"/>
                            <a:cs typeface="Times New Roman" panose="02020603050405020304" pitchFamily="18" charset="0"/>
                          </a:rPr>
                          <m:t>1.254</m:t>
                        </m:r>
                      </m:den>
                    </m:f>
                    <m:r>
                      <a:rPr lang="en-US" sz="2800" i="1" dirty="0">
                        <a:latin typeface="Cambria Math" panose="02040503050406030204" pitchFamily="18" charset="0"/>
                        <a:ea typeface="Cambria Math" panose="02040503050406030204" pitchFamily="18" charset="0"/>
                        <a:cs typeface="Times New Roman" panose="02020603050405020304" pitchFamily="18" charset="0"/>
                      </a:rPr>
                      <m:t>×100%=</m:t>
                    </m:r>
                    <m:r>
                      <a:rPr lang="en-US" sz="280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9</m:t>
                    </m:r>
                    <m:r>
                      <a:rPr lang="en-US" sz="2800" b="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6</m:t>
                    </m:r>
                    <m:r>
                      <a:rPr lang="en-US" sz="28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800" b="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72</m:t>
                    </m:r>
                    <m:r>
                      <a:rPr lang="en-US" sz="28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2800" dirty="0">
                    <a:latin typeface="Times New Roman" panose="02020603050405020304" pitchFamily="18" charset="0"/>
                    <a:cs typeface="Times New Roman" panose="02020603050405020304" pitchFamily="18" charset="0"/>
                  </a:rPr>
                  <a:t> and </a:t>
                </a:r>
                <a14:m>
                  <m:oMath xmlns:m="http://schemas.openxmlformats.org/officeDocument/2006/math">
                    <m:f>
                      <m:fPr>
                        <m:ctrlPr>
                          <a:rPr lang="en-US" sz="2800" i="1" dirty="0" smtClean="0">
                            <a:latin typeface="Cambria Math" panose="02040503050406030204" pitchFamily="18" charset="0"/>
                            <a:cs typeface="Times New Roman" panose="02020603050405020304" pitchFamily="18" charset="0"/>
                          </a:rPr>
                        </m:ctrlPr>
                      </m:fPr>
                      <m:num>
                        <m:r>
                          <m:rPr>
                            <m:nor/>
                          </m:rPr>
                          <a:rPr lang="en-US" sz="2800" dirty="0">
                            <a:latin typeface="Times New Roman" panose="02020603050405020304" pitchFamily="18" charset="0"/>
                            <a:cs typeface="Times New Roman" panose="02020603050405020304" pitchFamily="18" charset="0"/>
                          </a:rPr>
                          <m:t>1.254</m:t>
                        </m:r>
                        <m:r>
                          <m:rPr>
                            <m:nor/>
                          </m:rPr>
                          <a:rPr lang="en-US" sz="2800" b="0" i="0" dirty="0" smtClean="0">
                            <a:latin typeface="Times New Roman" panose="02020603050405020304" pitchFamily="18" charset="0"/>
                            <a:cs typeface="Times New Roman" panose="02020603050405020304" pitchFamily="18" charset="0"/>
                          </a:rPr>
                          <m:t>−</m:t>
                        </m:r>
                        <m:r>
                          <m:rPr>
                            <m:nor/>
                          </m:rPr>
                          <a:rPr lang="en-US" sz="2800" b="0" i="0" dirty="0" smtClean="0">
                            <a:latin typeface="Cambria Math" panose="02040503050406030204" pitchFamily="18" charset="0"/>
                            <a:cs typeface="Times New Roman" panose="02020603050405020304" pitchFamily="18" charset="0"/>
                          </a:rPr>
                          <m:t>0.0508</m:t>
                        </m:r>
                      </m:num>
                      <m:den>
                        <m:r>
                          <m:rPr>
                            <m:nor/>
                          </m:rPr>
                          <a:rPr lang="en-US" sz="2800" dirty="0">
                            <a:latin typeface="Times New Roman" panose="02020603050405020304" pitchFamily="18" charset="0"/>
                            <a:cs typeface="Times New Roman" panose="02020603050405020304" pitchFamily="18" charset="0"/>
                          </a:rPr>
                          <m:t>1.254</m:t>
                        </m:r>
                      </m:den>
                    </m:f>
                    <m:r>
                      <a:rPr lang="en-US" sz="28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sz="2800" b="0" i="1" dirty="0" smtClean="0">
                        <a:latin typeface="Cambria Math" panose="02040503050406030204" pitchFamily="18" charset="0"/>
                        <a:ea typeface="Cambria Math" panose="02040503050406030204" pitchFamily="18" charset="0"/>
                        <a:cs typeface="Times New Roman" panose="02020603050405020304" pitchFamily="18" charset="0"/>
                      </a:rPr>
                      <m:t>100%=</m:t>
                    </m:r>
                    <m:r>
                      <a:rPr lang="en-US" sz="2800" b="0" i="1" dirty="0" smtClean="0">
                        <a:solidFill>
                          <a:srgbClr val="7030A0"/>
                        </a:solidFill>
                        <a:latin typeface="Cambria Math" panose="02040503050406030204" pitchFamily="18" charset="0"/>
                        <a:ea typeface="Cambria Math" panose="02040503050406030204" pitchFamily="18" charset="0"/>
                        <a:cs typeface="Times New Roman" panose="02020603050405020304" pitchFamily="18" charset="0"/>
                      </a:rPr>
                      <m:t>95.95%</m:t>
                    </m:r>
                  </m:oMath>
                </a14:m>
                <a:r>
                  <a:rPr lang="en-US" sz="2800" dirty="0">
                    <a:latin typeface="Times New Roman" panose="02020603050405020304" pitchFamily="18" charset="0"/>
                    <a:cs typeface="Times New Roman" panose="02020603050405020304" pitchFamily="18" charset="0"/>
                  </a:rPr>
                  <a:t>, respectively.</a:t>
                </a:r>
                <a:endParaRPr lang="en-US" sz="2800" i="1" dirty="0">
                  <a:latin typeface="Times New Roman" panose="02020603050405020304" pitchFamily="18"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0399B514-6D3F-E00B-70CC-A2868B24C982}"/>
                  </a:ext>
                </a:extLst>
              </p:cNvPr>
              <p:cNvSpPr>
                <a:spLocks noRot="1" noChangeAspect="1" noMove="1" noResize="1" noEditPoints="1" noAdjustHandles="1" noChangeArrowheads="1" noChangeShapeType="1" noTextEdit="1"/>
              </p:cNvSpPr>
              <p:nvPr/>
            </p:nvSpPr>
            <p:spPr>
              <a:xfrm>
                <a:off x="264695" y="1090895"/>
                <a:ext cx="15941841" cy="6854890"/>
              </a:xfrm>
              <a:prstGeom prst="rect">
                <a:avLst/>
              </a:prstGeom>
              <a:blipFill>
                <a:blip r:embed="rId3"/>
                <a:stretch>
                  <a:fillRect l="-1338" t="-1601" r="-1873"/>
                </a:stretch>
              </a:blipFill>
            </p:spPr>
            <p:txBody>
              <a:bodyPr/>
              <a:lstStyle/>
              <a:p>
                <a:r>
                  <a:rPr lang="en-US">
                    <a:noFill/>
                  </a:rPr>
                  <a:t> </a:t>
                </a:r>
              </a:p>
            </p:txBody>
          </p:sp>
        </mc:Fallback>
      </mc:AlternateContent>
    </p:spTree>
    <p:extLst>
      <p:ext uri="{BB962C8B-B14F-4D97-AF65-F5344CB8AC3E}">
        <p14:creationId xmlns:p14="http://schemas.microsoft.com/office/powerpoint/2010/main" val="3421467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 calcmode="lin" valueType="num">
                                      <p:cBhvr additive="base">
                                        <p:cTn id="1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 calcmode="lin" valueType="num">
                                      <p:cBhvr additive="base">
                                        <p:cTn id="1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 calcmode="lin" valueType="num">
                                      <p:cBhvr additive="base">
                                        <p:cTn id="2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 calcmode="lin" valueType="num">
                                      <p:cBhvr additive="base">
                                        <p:cTn id="2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 calcmode="lin" valueType="num">
                                      <p:cBhvr additive="base">
                                        <p:cTn id="3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xEl>
                                              <p:pRg st="5" end="5"/>
                                            </p:txEl>
                                          </p:spTgt>
                                        </p:tgtEl>
                                        <p:attrNameLst>
                                          <p:attrName>style.visibility</p:attrName>
                                        </p:attrNameLst>
                                      </p:cBhvr>
                                      <p:to>
                                        <p:strVal val="visible"/>
                                      </p:to>
                                    </p:set>
                                    <p:anim calcmode="lin" valueType="num">
                                      <p:cBhvr additive="base">
                                        <p:cTn id="3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B2D5-B338-B0A6-C102-DFCBAF8BC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52EF8-28BB-40F9-6D6C-52F4063390B8}"/>
              </a:ext>
            </a:extLst>
          </p:cNvPr>
          <p:cNvSpPr>
            <a:spLocks noGrp="1"/>
          </p:cNvSpPr>
          <p:nvPr>
            <p:ph type="title"/>
          </p:nvPr>
        </p:nvSpPr>
        <p:spPr>
          <a:xfrm>
            <a:off x="123393" y="152148"/>
            <a:ext cx="16147312" cy="698752"/>
          </a:xfrm>
        </p:spPr>
        <p:txBody>
          <a:bodyPr>
            <a:normAutofit/>
          </a:bodyPr>
          <a:lstStyle/>
          <a:p>
            <a:pPr algn="just"/>
            <a:r>
              <a:rPr lang="en-US" sz="4400" b="1" u="sng" dirty="0">
                <a:solidFill>
                  <a:srgbClr val="FF0000"/>
                </a:solidFill>
                <a:latin typeface="+mn-lt"/>
              </a:rPr>
              <a:t>Example 4</a:t>
            </a:r>
          </a:p>
        </p:txBody>
      </p:sp>
      <p:sp>
        <p:nvSpPr>
          <p:cNvPr id="4" name="Date Placeholder 3">
            <a:extLst>
              <a:ext uri="{FF2B5EF4-FFF2-40B4-BE49-F238E27FC236}">
                <a16:creationId xmlns:a16="http://schemas.microsoft.com/office/drawing/2014/main" id="{7A60C3E4-956C-0E55-9CD8-38C67541552B}"/>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2142AF50-1A6F-EA69-5087-EE4188E6E4BF}"/>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96B34449-34B8-0181-CE71-51AF7B4C9701}"/>
              </a:ext>
            </a:extLst>
          </p:cNvPr>
          <p:cNvSpPr>
            <a:spLocks noGrp="1"/>
          </p:cNvSpPr>
          <p:nvPr>
            <p:ph type="sldNum" sz="quarter" idx="12"/>
          </p:nvPr>
        </p:nvSpPr>
        <p:spPr/>
        <p:txBody>
          <a:bodyPr/>
          <a:lstStyle/>
          <a:p>
            <a:fld id="{5D99DD2A-B520-4620-9B43-64B657BA2D42}" type="slidenum">
              <a:rPr lang="en-US" noProof="0" smtClean="0"/>
              <a:t>44</a:t>
            </a:fld>
            <a:endParaRPr lang="en-US" noProof="0" dirty="0"/>
          </a:p>
        </p:txBody>
      </p:sp>
      <p:sp>
        <p:nvSpPr>
          <p:cNvPr id="8" name="Text Placeholder 3">
            <a:extLst>
              <a:ext uri="{FF2B5EF4-FFF2-40B4-BE49-F238E27FC236}">
                <a16:creationId xmlns:a16="http://schemas.microsoft.com/office/drawing/2014/main" id="{E2902BF5-B3F7-89F2-1865-25BCAF0F325F}"/>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a:extLst>
              <a:ext uri="{FF2B5EF4-FFF2-40B4-BE49-F238E27FC236}">
                <a16:creationId xmlns:a16="http://schemas.microsoft.com/office/drawing/2014/main" id="{6401D39A-8219-22AD-C978-4D8DD0675288}"/>
              </a:ext>
            </a:extLst>
          </p:cNvPr>
          <p:cNvSpPr/>
          <p:nvPr/>
        </p:nvSpPr>
        <p:spPr>
          <a:xfrm>
            <a:off x="188495" y="824195"/>
            <a:ext cx="16147312" cy="6771084"/>
          </a:xfrm>
          <a:prstGeom prst="rect">
            <a:avLst/>
          </a:prstGeom>
        </p:spPr>
        <p:txBody>
          <a:bodyPr wrap="square" lIns="0" tIns="0" rIns="0" bIns="0">
            <a:spAutoFit/>
          </a:bodyPr>
          <a:lstStyle/>
          <a:p>
            <a:r>
              <a:rPr lang="en-US" sz="3200" b="1" dirty="0">
                <a:latin typeface="Times New Roman" panose="02020603050405020304" pitchFamily="18" charset="0"/>
                <a:cs typeface="Times New Roman" panose="02020603050405020304" pitchFamily="18" charset="0"/>
              </a:rPr>
              <a:t>Compute</a:t>
            </a:r>
            <a:r>
              <a:rPr lang="en-US" sz="3200" dirty="0">
                <a:latin typeface="Times New Roman" panose="02020603050405020304" pitchFamily="18" charset="0"/>
                <a:cs typeface="Times New Roman" panose="02020603050405020304" pitchFamily="18" charset="0"/>
              </a:rPr>
              <a:t> power and energy consumption during the ON, OFF, and SLEEP modes, according to the following USB meter readings. </a:t>
            </a:r>
            <a:r>
              <a:rPr lang="en-US" sz="3200" b="1" dirty="0">
                <a:latin typeface="Times New Roman" panose="02020603050405020304" pitchFamily="18" charset="0"/>
                <a:cs typeface="Times New Roman" panose="02020603050405020304" pitchFamily="18" charset="0"/>
              </a:rPr>
              <a:t>Compute</a:t>
            </a:r>
            <a:r>
              <a:rPr lang="en-US" sz="3200" dirty="0">
                <a:latin typeface="Times New Roman" panose="02020603050405020304" pitchFamily="18" charset="0"/>
                <a:cs typeface="Times New Roman" panose="02020603050405020304" pitchFamily="18" charset="0"/>
              </a:rPr>
              <a:t> the percentage of power and energy savings for the OFF and SLEEP conditions if the device stays in all modes are in for 4 s.</a:t>
            </a:r>
          </a:p>
          <a:p>
            <a:r>
              <a:rPr lang="en-US" sz="1600" dirty="0">
                <a:latin typeface="Times New Roman" panose="02020603050405020304" pitchFamily="18" charset="0"/>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endParaRPr lang="en-US" sz="2800" i="1" dirty="0">
              <a:latin typeface="Times New Roman" panose="02020603050405020304" pitchFamily="18" charset="0"/>
              <a:cs typeface="Times New Roman" panose="02020603050405020304" pitchFamily="18" charset="0"/>
            </a:endParaRPr>
          </a:p>
          <a:p>
            <a:r>
              <a:rPr lang="en-US" sz="3200" b="1" dirty="0">
                <a:solidFill>
                  <a:srgbClr val="FF0000"/>
                </a:solidFill>
                <a:latin typeface="Times New Roman" panose="02020603050405020304" pitchFamily="18" charset="0"/>
                <a:cs typeface="Times New Roman" panose="02020603050405020304" pitchFamily="18" charset="0"/>
              </a:rPr>
              <a:t>Solution:</a:t>
            </a:r>
            <a:endParaRPr lang="en-US" sz="3200" i="1" dirty="0">
              <a:solidFill>
                <a:srgbClr val="FF0000"/>
              </a:solidFill>
              <a:latin typeface="Times New Roman" panose="02020603050405020304" pitchFamily="18" charset="0"/>
              <a:cs typeface="Times New Roman" panose="02020603050405020304" pitchFamily="18" charset="0"/>
            </a:endParaRPr>
          </a:p>
          <a:p>
            <a:pPr>
              <a:tabLst>
                <a:tab pos="9601200" algn="l"/>
              </a:tabLst>
            </a:pPr>
            <a:r>
              <a:rPr lang="en-US" sz="3200" dirty="0">
                <a:latin typeface="Times New Roman" panose="02020603050405020304" pitchFamily="18" charset="0"/>
                <a:cs typeface="Times New Roman" panose="02020603050405020304" pitchFamily="18" charset="0"/>
              </a:rPr>
              <a:t>According to the USB meter readings:</a:t>
            </a:r>
          </a:p>
          <a:p>
            <a:r>
              <a:rPr lang="en-US" sz="3200" dirty="0">
                <a:latin typeface="Times New Roman" panose="02020603050405020304" pitchFamily="18" charset="0"/>
                <a:cs typeface="Times New Roman" panose="02020603050405020304" pitchFamily="18" charset="0"/>
              </a:rPr>
              <a:t>When the LED is in the ON state, it draws a 0.117 A current at a voltage of 5.002 V for a duration of 4 s. Hence, it consumes a power of P</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 V</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I</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 5.002×0.117 = 0.58523 W and an energy of E</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 P</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t</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 0. 58523×4 = 2.341 J.</a:t>
            </a:r>
          </a:p>
        </p:txBody>
      </p:sp>
      <p:sp>
        <p:nvSpPr>
          <p:cNvPr id="10" name="TextBox 9">
            <a:extLst>
              <a:ext uri="{FF2B5EF4-FFF2-40B4-BE49-F238E27FC236}">
                <a16:creationId xmlns:a16="http://schemas.microsoft.com/office/drawing/2014/main" id="{67A4C21D-957C-BE70-1317-B34C6BFCDA1A}"/>
              </a:ext>
            </a:extLst>
          </p:cNvPr>
          <p:cNvSpPr txBox="1"/>
          <p:nvPr/>
        </p:nvSpPr>
        <p:spPr>
          <a:xfrm>
            <a:off x="1313180" y="4652284"/>
            <a:ext cx="3340099"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LED ON Mode</a:t>
            </a:r>
          </a:p>
        </p:txBody>
      </p:sp>
      <p:sp>
        <p:nvSpPr>
          <p:cNvPr id="11" name="TextBox 10">
            <a:extLst>
              <a:ext uri="{FF2B5EF4-FFF2-40B4-BE49-F238E27FC236}">
                <a16:creationId xmlns:a16="http://schemas.microsoft.com/office/drawing/2014/main" id="{C93AA94B-1889-B08E-6DAD-300FA0CB4685}"/>
              </a:ext>
            </a:extLst>
          </p:cNvPr>
          <p:cNvSpPr txBox="1"/>
          <p:nvPr/>
        </p:nvSpPr>
        <p:spPr>
          <a:xfrm>
            <a:off x="6442339" y="4732663"/>
            <a:ext cx="3639623"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LED SLEEP Mode</a:t>
            </a:r>
          </a:p>
        </p:txBody>
      </p:sp>
      <p:sp>
        <p:nvSpPr>
          <p:cNvPr id="13" name="TextBox 12">
            <a:extLst>
              <a:ext uri="{FF2B5EF4-FFF2-40B4-BE49-F238E27FC236}">
                <a16:creationId xmlns:a16="http://schemas.microsoft.com/office/drawing/2014/main" id="{746858E8-85DB-92AE-CD07-08BF58D30FCB}"/>
              </a:ext>
            </a:extLst>
          </p:cNvPr>
          <p:cNvSpPr txBox="1"/>
          <p:nvPr/>
        </p:nvSpPr>
        <p:spPr>
          <a:xfrm>
            <a:off x="11475720" y="4740926"/>
            <a:ext cx="4000499"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LED OFF Mode</a:t>
            </a:r>
          </a:p>
        </p:txBody>
      </p:sp>
      <p:pic>
        <p:nvPicPr>
          <p:cNvPr id="14" name="Picture 13">
            <a:extLst>
              <a:ext uri="{FF2B5EF4-FFF2-40B4-BE49-F238E27FC236}">
                <a16:creationId xmlns:a16="http://schemas.microsoft.com/office/drawing/2014/main" id="{05A4DA10-F530-E835-9140-8CEEE3F61CA8}"/>
              </a:ext>
            </a:extLst>
          </p:cNvPr>
          <p:cNvPicPr>
            <a:picLocks noChangeAspect="1"/>
          </p:cNvPicPr>
          <p:nvPr/>
        </p:nvPicPr>
        <p:blipFill>
          <a:blip r:embed="rId3" cstate="screen">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a:ext>
            </a:extLst>
          </a:blip>
          <a:srcRect/>
          <a:stretch>
            <a:fillRect/>
          </a:stretch>
        </p:blipFill>
        <p:spPr>
          <a:xfrm>
            <a:off x="404033" y="2853766"/>
            <a:ext cx="4942668" cy="1798518"/>
          </a:xfrm>
          <a:prstGeom prst="rect">
            <a:avLst/>
          </a:prstGeom>
        </p:spPr>
      </p:pic>
      <p:pic>
        <p:nvPicPr>
          <p:cNvPr id="16" name="Picture 15">
            <a:extLst>
              <a:ext uri="{FF2B5EF4-FFF2-40B4-BE49-F238E27FC236}">
                <a16:creationId xmlns:a16="http://schemas.microsoft.com/office/drawing/2014/main" id="{F3A89EE1-0152-65D2-532B-85B5A7DAF23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5664134" y="2853766"/>
            <a:ext cx="5041965" cy="1798518"/>
          </a:xfrm>
          <a:prstGeom prst="rect">
            <a:avLst/>
          </a:prstGeom>
        </p:spPr>
      </p:pic>
      <p:pic>
        <p:nvPicPr>
          <p:cNvPr id="17" name="Picture 16">
            <a:extLst>
              <a:ext uri="{FF2B5EF4-FFF2-40B4-BE49-F238E27FC236}">
                <a16:creationId xmlns:a16="http://schemas.microsoft.com/office/drawing/2014/main" id="{AB337963-3F9D-9A52-8143-06985F17A9C0}"/>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10985622" y="2851793"/>
            <a:ext cx="4980694" cy="1798518"/>
          </a:xfrm>
          <a:prstGeom prst="rect">
            <a:avLst/>
          </a:prstGeom>
        </p:spPr>
      </p:pic>
    </p:spTree>
    <p:extLst>
      <p:ext uri="{BB962C8B-B14F-4D97-AF65-F5344CB8AC3E}">
        <p14:creationId xmlns:p14="http://schemas.microsoft.com/office/powerpoint/2010/main" val="31667692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9">
                                            <p:txEl>
                                              <p:pRg st="8" end="8"/>
                                            </p:txEl>
                                          </p:spTgt>
                                        </p:tgtEl>
                                        <p:attrNameLst>
                                          <p:attrName>style.visibility</p:attrName>
                                        </p:attrNameLst>
                                      </p:cBhvr>
                                      <p:to>
                                        <p:strVal val="visible"/>
                                      </p:to>
                                    </p:set>
                                    <p:animEffect transition="in" filter="fade">
                                      <p:cBhvr>
                                        <p:cTn id="65" dur="1000"/>
                                        <p:tgtEl>
                                          <p:spTgt spid="9">
                                            <p:txEl>
                                              <p:pRg st="8" end="8"/>
                                            </p:txEl>
                                          </p:spTgt>
                                        </p:tgtEl>
                                      </p:cBhvr>
                                    </p:animEffect>
                                    <p:anim calcmode="lin" valueType="num">
                                      <p:cBhvr>
                                        <p:cTn id="66"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67" dur="1000" fill="hold"/>
                                        <p:tgtEl>
                                          <p:spTgt spid="9">
                                            <p:txEl>
                                              <p:pRg st="8" end="8"/>
                                            </p:txEl>
                                          </p:spTgt>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9">
                                            <p:txEl>
                                              <p:pRg st="9" end="9"/>
                                            </p:txEl>
                                          </p:spTgt>
                                        </p:tgtEl>
                                        <p:attrNameLst>
                                          <p:attrName>style.visibility</p:attrName>
                                        </p:attrNameLst>
                                      </p:cBhvr>
                                      <p:to>
                                        <p:strVal val="visible"/>
                                      </p:to>
                                    </p:set>
                                    <p:animEffect transition="in" filter="fade">
                                      <p:cBhvr>
                                        <p:cTn id="70" dur="1000"/>
                                        <p:tgtEl>
                                          <p:spTgt spid="9">
                                            <p:txEl>
                                              <p:pRg st="9" end="9"/>
                                            </p:txEl>
                                          </p:spTgt>
                                        </p:tgtEl>
                                      </p:cBhvr>
                                    </p:animEffect>
                                    <p:anim calcmode="lin" valueType="num">
                                      <p:cBhvr>
                                        <p:cTn id="71"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9">
                                            <p:txEl>
                                              <p:pRg st="9" end="9"/>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9">
                                            <p:txEl>
                                              <p:pRg st="10" end="10"/>
                                            </p:txEl>
                                          </p:spTgt>
                                        </p:tgtEl>
                                        <p:attrNameLst>
                                          <p:attrName>style.visibility</p:attrName>
                                        </p:attrNameLst>
                                      </p:cBhvr>
                                      <p:to>
                                        <p:strVal val="visible"/>
                                      </p:to>
                                    </p:set>
                                    <p:animEffect transition="in" filter="fade">
                                      <p:cBhvr>
                                        <p:cTn id="75" dur="1000"/>
                                        <p:tgtEl>
                                          <p:spTgt spid="9">
                                            <p:txEl>
                                              <p:pRg st="10" end="10"/>
                                            </p:txEl>
                                          </p:spTgt>
                                        </p:tgtEl>
                                      </p:cBhvr>
                                    </p:animEffect>
                                    <p:anim calcmode="lin" valueType="num">
                                      <p:cBhvr>
                                        <p:cTn id="76"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p:bldP spid="11"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73155-2BCE-C259-06AF-93ADEFDB7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497E9-0DE3-D9E5-7CAA-272F9D70FC07}"/>
              </a:ext>
            </a:extLst>
          </p:cNvPr>
          <p:cNvSpPr>
            <a:spLocks noGrp="1"/>
          </p:cNvSpPr>
          <p:nvPr>
            <p:ph type="title"/>
          </p:nvPr>
        </p:nvSpPr>
        <p:spPr>
          <a:xfrm>
            <a:off x="264695" y="215648"/>
            <a:ext cx="15695741" cy="859790"/>
          </a:xfrm>
        </p:spPr>
        <p:txBody>
          <a:bodyPr>
            <a:normAutofit/>
          </a:bodyPr>
          <a:lstStyle/>
          <a:p>
            <a:pPr algn="just"/>
            <a:r>
              <a:rPr lang="en-US" sz="4800" b="1" u="sng" dirty="0">
                <a:solidFill>
                  <a:srgbClr val="FF0000"/>
                </a:solidFill>
                <a:latin typeface="+mn-lt"/>
              </a:rPr>
              <a:t>Example 4</a:t>
            </a:r>
          </a:p>
        </p:txBody>
      </p:sp>
      <p:sp>
        <p:nvSpPr>
          <p:cNvPr id="4" name="Date Placeholder 3">
            <a:extLst>
              <a:ext uri="{FF2B5EF4-FFF2-40B4-BE49-F238E27FC236}">
                <a16:creationId xmlns:a16="http://schemas.microsoft.com/office/drawing/2014/main" id="{9FABC112-DE8B-A6BB-5AAC-0BF2ABD9C5C7}"/>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E471B47A-B8E8-D184-2128-7186BA46FE61}"/>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a:extLst>
              <a:ext uri="{FF2B5EF4-FFF2-40B4-BE49-F238E27FC236}">
                <a16:creationId xmlns:a16="http://schemas.microsoft.com/office/drawing/2014/main" id="{6032EB9F-2CBE-9CFB-7635-556A1D18D826}"/>
              </a:ext>
            </a:extLst>
          </p:cNvPr>
          <p:cNvSpPr>
            <a:spLocks noGrp="1"/>
          </p:cNvSpPr>
          <p:nvPr>
            <p:ph type="sldNum" sz="quarter" idx="12"/>
          </p:nvPr>
        </p:nvSpPr>
        <p:spPr/>
        <p:txBody>
          <a:bodyPr/>
          <a:lstStyle/>
          <a:p>
            <a:fld id="{5D99DD2A-B520-4620-9B43-64B657BA2D42}" type="slidenum">
              <a:rPr lang="en-US" noProof="0" smtClean="0"/>
              <a:t>45</a:t>
            </a:fld>
            <a:endParaRPr lang="en-US" noProof="0" dirty="0"/>
          </a:p>
        </p:txBody>
      </p:sp>
      <p:sp>
        <p:nvSpPr>
          <p:cNvPr id="8" name="Text Placeholder 3">
            <a:extLst>
              <a:ext uri="{FF2B5EF4-FFF2-40B4-BE49-F238E27FC236}">
                <a16:creationId xmlns:a16="http://schemas.microsoft.com/office/drawing/2014/main" id="{C98CDECF-BF48-D75B-1535-FFF09CC5D826}"/>
              </a:ext>
            </a:extLst>
          </p:cNvPr>
          <p:cNvSpPr txBox="1">
            <a:spLocks/>
          </p:cNvSpPr>
          <p:nvPr/>
        </p:nvSpPr>
        <p:spPr bwMode="white">
          <a:xfrm>
            <a:off x="8021782" y="49011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67F7CCD-BB9E-7BA1-ECCD-2BE966E4E63C}"/>
                  </a:ext>
                </a:extLst>
              </p:cNvPr>
              <p:cNvSpPr/>
              <p:nvPr/>
            </p:nvSpPr>
            <p:spPr>
              <a:xfrm>
                <a:off x="264695" y="1090895"/>
                <a:ext cx="16029405" cy="6565900"/>
              </a:xfrm>
              <a:prstGeom prst="rect">
                <a:avLst/>
              </a:prstGeom>
            </p:spPr>
            <p:txBody>
              <a:bodyPr wrap="square" lIns="0" tIns="0" rIns="0" bIns="0">
                <a:spAutoFit/>
              </a:bodyPr>
              <a:lstStyle/>
              <a:p>
                <a:r>
                  <a:rPr lang="en-US" sz="3200" dirty="0">
                    <a:latin typeface="Times New Roman" panose="02020603050405020304" pitchFamily="18" charset="0"/>
                    <a:cs typeface="Times New Roman" panose="02020603050405020304" pitchFamily="18" charset="0"/>
                  </a:rPr>
                  <a:t>When the LED is in SLEEP mode, it draws a 0.008 A current at a voltage of 5.069 V for a duration of 4 s. Thus, it consumes a power of P</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 V</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I</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 5.069×0.008 = 0.04055 W and an energy of E</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 P</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t</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 0.04055×4 = 0.1622 J.</a:t>
                </a:r>
              </a:p>
              <a:p>
                <a:endParaRPr lang="en-US" sz="24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When the LED is in the OFF state, it draws a 0.019 A current at a voltage of 5.063 V for a duration of 4 s. So, it consumes a power of P</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 = V</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I</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 = 5.063×0.019 = 0.0962 W and an energy of E</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 = P</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t</a:t>
                </a:r>
                <a:r>
                  <a:rPr lang="en-US" sz="3200" baseline="-25000"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 = 0.0962×4 = 0.3848 J.</a:t>
                </a:r>
              </a:p>
              <a:p>
                <a:endParaRPr lang="en-US" sz="24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So, the amount of </a:t>
                </a:r>
                <a:r>
                  <a:rPr lang="en-US" sz="3200" dirty="0">
                    <a:solidFill>
                      <a:srgbClr val="FF0000"/>
                    </a:solidFill>
                    <a:latin typeface="Times New Roman" panose="02020603050405020304" pitchFamily="18" charset="0"/>
                    <a:cs typeface="Times New Roman" panose="02020603050405020304" pitchFamily="18" charset="0"/>
                  </a:rPr>
                  <a:t>power</a:t>
                </a:r>
                <a:r>
                  <a:rPr lang="en-US" sz="3200" dirty="0">
                    <a:latin typeface="Times New Roman" panose="02020603050405020304" pitchFamily="18" charset="0"/>
                    <a:cs typeface="Times New Roman" panose="02020603050405020304" pitchFamily="18" charset="0"/>
                  </a:rPr>
                  <a:t> that is saved by the Arduino during the </a:t>
                </a:r>
                <a:r>
                  <a:rPr lang="en-US" sz="3200" dirty="0">
                    <a:solidFill>
                      <a:srgbClr val="00B050"/>
                    </a:solidFill>
                    <a:latin typeface="Times New Roman" panose="02020603050405020304" pitchFamily="18" charset="0"/>
                    <a:cs typeface="Times New Roman" panose="02020603050405020304" pitchFamily="18" charset="0"/>
                  </a:rPr>
                  <a:t>SLEEP mode </a:t>
                </a:r>
                <a:r>
                  <a:rPr lang="en-US" sz="3200" dirty="0">
                    <a:latin typeface="Times New Roman" panose="02020603050405020304" pitchFamily="18" charset="0"/>
                    <a:cs typeface="Times New Roman" panose="02020603050405020304" pitchFamily="18" charset="0"/>
                  </a:rPr>
                  <a:t>from the </a:t>
                </a:r>
                <a:r>
                  <a:rPr lang="en-US" sz="3200" dirty="0">
                    <a:solidFill>
                      <a:srgbClr val="00B050"/>
                    </a:solidFill>
                    <a:latin typeface="Times New Roman" panose="02020603050405020304" pitchFamily="18" charset="0"/>
                    <a:cs typeface="Times New Roman" panose="02020603050405020304" pitchFamily="18" charset="0"/>
                  </a:rPr>
                  <a:t>LOW</a:t>
                </a:r>
                <a:r>
                  <a:rPr lang="en-US" sz="3200" dirty="0">
                    <a:latin typeface="Times New Roman" panose="02020603050405020304" pitchFamily="18" charset="0"/>
                    <a:cs typeface="Times New Roman" panose="02020603050405020304" pitchFamily="18" charset="0"/>
                  </a:rPr>
                  <a:t> state is </a:t>
                </a:r>
                <a14:m>
                  <m:oMath xmlns:m="http://schemas.openxmlformats.org/officeDocument/2006/math">
                    <m:f>
                      <m:fPr>
                        <m:ctrlPr>
                          <a:rPr lang="en-US" sz="3200" i="1" dirty="0">
                            <a:latin typeface="Cambria Math" panose="02040503050406030204" pitchFamily="18" charset="0"/>
                            <a:cs typeface="Times New Roman" panose="02020603050405020304" pitchFamily="18" charset="0"/>
                          </a:rPr>
                        </m:ctrlPr>
                      </m:fPr>
                      <m:num>
                        <m:r>
                          <m:rPr>
                            <m:nor/>
                          </m:rPr>
                          <a:rPr lang="en-US" sz="3200" dirty="0">
                            <a:latin typeface="Times New Roman" panose="02020603050405020304" pitchFamily="18" charset="0"/>
                            <a:cs typeface="Times New Roman" panose="02020603050405020304" pitchFamily="18" charset="0"/>
                          </a:rPr>
                          <m:t>0.0962−0.04055</m:t>
                        </m:r>
                      </m:num>
                      <m:den>
                        <m:r>
                          <m:rPr>
                            <m:nor/>
                          </m:rPr>
                          <a:rPr lang="en-US" sz="3200" dirty="0">
                            <a:latin typeface="Times New Roman" panose="02020603050405020304" pitchFamily="18" charset="0"/>
                            <a:cs typeface="Times New Roman" panose="02020603050405020304" pitchFamily="18" charset="0"/>
                          </a:rPr>
                          <m:t>0.0962</m:t>
                        </m:r>
                      </m:den>
                    </m:f>
                    <m:r>
                      <a:rPr lang="en-US" sz="3200" i="1" dirty="0">
                        <a:latin typeface="Cambria Math" panose="02040503050406030204" pitchFamily="18" charset="0"/>
                        <a:ea typeface="Cambria Math" panose="02040503050406030204" pitchFamily="18" charset="0"/>
                        <a:cs typeface="Times New Roman" panose="02020603050405020304" pitchFamily="18" charset="0"/>
                      </a:rPr>
                      <m:t>×100%=</m:t>
                    </m:r>
                    <m:r>
                      <a:rPr lang="en-US" sz="320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5</m:t>
                    </m:r>
                    <m:r>
                      <a:rPr lang="en-US" sz="3200" b="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7</m:t>
                    </m:r>
                    <m:r>
                      <a:rPr lang="en-US" sz="32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85</m:t>
                    </m:r>
                    <m:r>
                      <a:rPr lang="en-US" sz="3200" i="1"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sz="32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And, the amount of </a:t>
                </a:r>
                <a:r>
                  <a:rPr lang="en-US" sz="3200" dirty="0">
                    <a:solidFill>
                      <a:srgbClr val="00B050"/>
                    </a:solidFill>
                    <a:latin typeface="Times New Roman" panose="02020603050405020304" pitchFamily="18" charset="0"/>
                    <a:cs typeface="Times New Roman" panose="02020603050405020304" pitchFamily="18" charset="0"/>
                  </a:rPr>
                  <a:t>energy</a:t>
                </a:r>
                <a:r>
                  <a:rPr lang="en-US" sz="3200" dirty="0">
                    <a:latin typeface="Times New Roman" panose="02020603050405020304" pitchFamily="18" charset="0"/>
                    <a:cs typeface="Times New Roman" panose="02020603050405020304" pitchFamily="18" charset="0"/>
                  </a:rPr>
                  <a:t> that is saved by the Arduino during the </a:t>
                </a:r>
                <a:r>
                  <a:rPr lang="en-US" sz="3200" dirty="0">
                    <a:solidFill>
                      <a:srgbClr val="00B050"/>
                    </a:solidFill>
                    <a:latin typeface="Times New Roman" panose="02020603050405020304" pitchFamily="18" charset="0"/>
                    <a:cs typeface="Times New Roman" panose="02020603050405020304" pitchFamily="18" charset="0"/>
                  </a:rPr>
                  <a:t>SLEEP mode </a:t>
                </a:r>
                <a:r>
                  <a:rPr lang="en-US" sz="3200" dirty="0">
                    <a:latin typeface="Times New Roman" panose="02020603050405020304" pitchFamily="18" charset="0"/>
                    <a:cs typeface="Times New Roman" panose="02020603050405020304" pitchFamily="18" charset="0"/>
                  </a:rPr>
                  <a:t>from the </a:t>
                </a:r>
                <a:r>
                  <a:rPr lang="en-US" sz="3200" dirty="0">
                    <a:solidFill>
                      <a:srgbClr val="00B050"/>
                    </a:solidFill>
                    <a:latin typeface="Times New Roman" panose="02020603050405020304" pitchFamily="18" charset="0"/>
                    <a:cs typeface="Times New Roman" panose="02020603050405020304" pitchFamily="18" charset="0"/>
                  </a:rPr>
                  <a:t>LOW</a:t>
                </a:r>
                <a:r>
                  <a:rPr lang="en-US" sz="3200" dirty="0">
                    <a:latin typeface="Times New Roman" panose="02020603050405020304" pitchFamily="18" charset="0"/>
                    <a:cs typeface="Times New Roman" panose="02020603050405020304" pitchFamily="18" charset="0"/>
                  </a:rPr>
                  <a:t> state is </a:t>
                </a:r>
                <a14:m>
                  <m:oMath xmlns:m="http://schemas.openxmlformats.org/officeDocument/2006/math">
                    <m:f>
                      <m:fPr>
                        <m:ctrlPr>
                          <a:rPr lang="en-US" sz="3200" i="1" dirty="0">
                            <a:latin typeface="Cambria Math" panose="02040503050406030204" pitchFamily="18" charset="0"/>
                            <a:cs typeface="Times New Roman" panose="02020603050405020304" pitchFamily="18" charset="0"/>
                          </a:rPr>
                        </m:ctrlPr>
                      </m:fPr>
                      <m:num>
                        <m:r>
                          <m:rPr>
                            <m:nor/>
                          </m:rPr>
                          <a:rPr lang="en-US" sz="3200" dirty="0">
                            <a:latin typeface="Times New Roman" panose="02020603050405020304" pitchFamily="18" charset="0"/>
                            <a:cs typeface="Times New Roman" panose="02020603050405020304" pitchFamily="18" charset="0"/>
                          </a:rPr>
                          <m:t>0.3848−0.1622</m:t>
                        </m:r>
                      </m:num>
                      <m:den>
                        <m:r>
                          <m:rPr>
                            <m:nor/>
                          </m:rPr>
                          <a:rPr lang="en-US" sz="3200" dirty="0">
                            <a:latin typeface="Times New Roman" panose="02020603050405020304" pitchFamily="18" charset="0"/>
                            <a:cs typeface="Times New Roman" panose="02020603050405020304" pitchFamily="18" charset="0"/>
                          </a:rPr>
                          <m:t>0.3848</m:t>
                        </m:r>
                      </m:den>
                    </m:f>
                    <m:r>
                      <a:rPr lang="en-US" sz="3200" i="1" dirty="0">
                        <a:latin typeface="Cambria Math" panose="02040503050406030204" pitchFamily="18" charset="0"/>
                        <a:ea typeface="Cambria Math" panose="02040503050406030204" pitchFamily="18" charset="0"/>
                        <a:cs typeface="Times New Roman" panose="02020603050405020304" pitchFamily="18" charset="0"/>
                      </a:rPr>
                      <m:t>×100%=</m:t>
                    </m:r>
                    <m:r>
                      <a:rPr lang="en-US" sz="3200" i="1" dirty="0" smtClean="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57</m:t>
                    </m:r>
                    <m:r>
                      <a:rPr lang="en-US" sz="3200" i="1" dirty="0">
                        <a:solidFill>
                          <a:srgbClr val="00B050"/>
                        </a:solidFill>
                        <a:latin typeface="Cambria Math" panose="02040503050406030204" pitchFamily="18" charset="0"/>
                        <a:ea typeface="Cambria Math" panose="02040503050406030204" pitchFamily="18" charset="0"/>
                        <a:cs typeface="Times New Roman" panose="02020603050405020304" pitchFamily="18" charset="0"/>
                      </a:rPr>
                      <m:t>.85%</m:t>
                    </m:r>
                  </m:oMath>
                </a14:m>
                <a:r>
                  <a:rPr lang="en-US" sz="3200" dirty="0">
                    <a:latin typeface="Times New Roman" panose="02020603050405020304" pitchFamily="18" charset="0"/>
                    <a:cs typeface="Times New Roman" panose="02020603050405020304" pitchFamily="18" charset="0"/>
                  </a:rPr>
                  <a:t>.</a:t>
                </a:r>
                <a:endParaRPr lang="en-US" sz="3200" i="1" dirty="0">
                  <a:latin typeface="Times New Roman" panose="02020603050405020304" pitchFamily="18"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A67F7CCD-BB9E-7BA1-ECCD-2BE966E4E63C}"/>
                  </a:ext>
                </a:extLst>
              </p:cNvPr>
              <p:cNvSpPr>
                <a:spLocks noRot="1" noChangeAspect="1" noMove="1" noResize="1" noEditPoints="1" noAdjustHandles="1" noChangeArrowheads="1" noChangeShapeType="1" noTextEdit="1"/>
              </p:cNvSpPr>
              <p:nvPr/>
            </p:nvSpPr>
            <p:spPr>
              <a:xfrm>
                <a:off x="264695" y="1090895"/>
                <a:ext cx="16029405" cy="6565900"/>
              </a:xfrm>
              <a:prstGeom prst="rect">
                <a:avLst/>
              </a:prstGeom>
              <a:blipFill>
                <a:blip r:embed="rId3"/>
                <a:stretch>
                  <a:fillRect l="-1521" t="-2043" r="-2091" b="-1857"/>
                </a:stretch>
              </a:blipFill>
            </p:spPr>
            <p:txBody>
              <a:bodyPr/>
              <a:lstStyle/>
              <a:p>
                <a:r>
                  <a:rPr lang="en-US">
                    <a:noFill/>
                  </a:rPr>
                  <a:t> </a:t>
                </a:r>
              </a:p>
            </p:txBody>
          </p:sp>
        </mc:Fallback>
      </mc:AlternateContent>
    </p:spTree>
    <p:extLst>
      <p:ext uri="{BB962C8B-B14F-4D97-AF65-F5344CB8AC3E}">
        <p14:creationId xmlns:p14="http://schemas.microsoft.com/office/powerpoint/2010/main" val="10462342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 calcmode="lin" valueType="num">
                                      <p:cBhvr additive="base">
                                        <p:cTn id="1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 calcmode="lin" valueType="num">
                                      <p:cBhvr additive="base">
                                        <p:cTn id="2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PRR: Power Reduction Register:</a:t>
            </a:r>
          </a:p>
        </p:txBody>
      </p:sp>
      <p:sp>
        <p:nvSpPr>
          <p:cNvPr id="4" name="Date Placeholder 3">
            <a:extLst>
              <a:ext uri="{FF2B5EF4-FFF2-40B4-BE49-F238E27FC236}">
                <a16:creationId xmlns:a16="http://schemas.microsoft.com/office/drawing/2014/main" id="{25C68D80-A6A3-94F3-E710-92026690F9B1}"/>
              </a:ext>
            </a:extLst>
          </p:cNvPr>
          <p:cNvSpPr>
            <a:spLocks noGrp="1"/>
          </p:cNvSpPr>
          <p:nvPr>
            <p:ph type="dt" sz="half" idx="10"/>
          </p:nvPr>
        </p:nvSpPr>
        <p:spPr/>
        <p:txBody>
          <a:bodyPr/>
          <a:lstStyle/>
          <a:p>
            <a:fld id="{D187B1D9-7A43-47C3-8F64-DAA1E4FC8A6D}" type="datetime3">
              <a:rPr lang="en-US" noProof="0" smtClean="0"/>
              <a:t>15 June 2026</a:t>
            </a:fld>
            <a:endParaRPr lang="en-US" noProof="0" dirty="0"/>
          </a:p>
        </p:txBody>
      </p:sp>
      <p:sp>
        <p:nvSpPr>
          <p:cNvPr id="5" name="Footer Placeholder 4">
            <a:extLst>
              <a:ext uri="{FF2B5EF4-FFF2-40B4-BE49-F238E27FC236}">
                <a16:creationId xmlns:a16="http://schemas.microsoft.com/office/drawing/2014/main" id="{CEEF204A-A4E2-E567-A80A-2142B5A5B339}"/>
              </a:ext>
            </a:extLst>
          </p:cNvPr>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46</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241793" y="2884276"/>
            <a:ext cx="15718643" cy="5009356"/>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7 - PRTWI: Power Reduction TWI</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6 - PRTIM2: Power Reduction Timer/Counter2</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5 - PRTIM0: Power Reduction Timer/Counter0</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4 - Res: Reserved bit</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3 - PRTIM1: Power Reduction Timer/Counter1</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2 - PRSPI: Power Reduction Serial Peripheral Interface</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1 - PRUSART0: Power Reduction USART0</a:t>
            </a:r>
          </a:p>
          <a:p>
            <a:pPr marL="571500" indent="-571500" algn="l">
              <a:spcAft>
                <a:spcPts val="600"/>
              </a:spcAft>
              <a:buFont typeface="Wingdings" panose="05000000000000000000" pitchFamily="2" charset="2"/>
              <a:buChar char="Ø"/>
            </a:pPr>
            <a:r>
              <a:rPr lang="en-CA" sz="3600" dirty="0">
                <a:latin typeface="Times New Roman" panose="02020603050405020304" pitchFamily="18" charset="0"/>
                <a:cs typeface="Times New Roman" panose="02020603050405020304" pitchFamily="18" charset="0"/>
              </a:rPr>
              <a:t>Bit 0 - PRADC: Power Reduction ADC</a:t>
            </a:r>
          </a:p>
          <a:p>
            <a:pPr algn="l">
              <a:spcAft>
                <a:spcPts val="600"/>
              </a:spcAft>
            </a:pPr>
            <a:br>
              <a:rPr lang="en-CA" sz="3600" dirty="0">
                <a:latin typeface="Times New Roman" panose="02020603050405020304" pitchFamily="18" charset="0"/>
                <a:cs typeface="Times New Roman" panose="02020603050405020304" pitchFamily="18" charset="0"/>
              </a:rPr>
            </a:br>
            <a:r>
              <a:rPr lang="en-CA" sz="3600" dirty="0">
                <a:latin typeface="Times New Roman" panose="02020603050405020304" pitchFamily="18" charset="0"/>
                <a:cs typeface="Times New Roman" panose="02020603050405020304" pitchFamily="18" charset="0"/>
              </a:rPr>
              <a:t> </a:t>
            </a:r>
            <a:br>
              <a:rPr lang="en-CA"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6" name="Picture 5"/>
          <p:cNvPicPr>
            <a:picLocks noChangeAspect="1"/>
          </p:cNvPicPr>
          <p:nvPr/>
        </p:nvPicPr>
        <p:blipFill rotWithShape="1">
          <a:blip r:embed="rId3"/>
          <a:srcRect l="2937" t="9808" r="1506" b="14868"/>
          <a:stretch/>
        </p:blipFill>
        <p:spPr>
          <a:xfrm>
            <a:off x="230219" y="1075438"/>
            <a:ext cx="16075234" cy="1839212"/>
          </a:xfrm>
          <a:prstGeom prst="rect">
            <a:avLst/>
          </a:prstGeom>
        </p:spPr>
      </p:pic>
      <p:sp>
        <p:nvSpPr>
          <p:cNvPr id="7" name="TextBox 6">
            <a:extLst>
              <a:ext uri="{FF2B5EF4-FFF2-40B4-BE49-F238E27FC236}">
                <a16:creationId xmlns:a16="http://schemas.microsoft.com/office/drawing/2014/main" id="{15AB0363-820E-5150-1E91-449D0FDEB591}"/>
              </a:ext>
            </a:extLst>
          </p:cNvPr>
          <p:cNvSpPr txBox="1"/>
          <p:nvPr/>
        </p:nvSpPr>
        <p:spPr>
          <a:xfrm>
            <a:off x="1985211" y="1389965"/>
            <a:ext cx="1720516" cy="707886"/>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EAA188A-0470-DF95-CC16-AA5FFB9D4E08}"/>
              </a:ext>
            </a:extLst>
          </p:cNvPr>
          <p:cNvSpPr txBox="1"/>
          <p:nvPr/>
        </p:nvSpPr>
        <p:spPr>
          <a:xfrm>
            <a:off x="3616158" y="1389965"/>
            <a:ext cx="1637632" cy="707886"/>
          </a:xfrm>
          <a:prstGeom prst="rect">
            <a:avLst/>
          </a:prstGeom>
          <a:noFill/>
          <a:ln w="57150">
            <a:solidFill>
              <a:srgbClr val="0070C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FD170AB-4688-7B93-196D-ACE0F319E9F6}"/>
              </a:ext>
            </a:extLst>
          </p:cNvPr>
          <p:cNvSpPr txBox="1"/>
          <p:nvPr/>
        </p:nvSpPr>
        <p:spPr>
          <a:xfrm>
            <a:off x="5106737" y="1389965"/>
            <a:ext cx="1720515" cy="707886"/>
          </a:xfrm>
          <a:prstGeom prst="rect">
            <a:avLst/>
          </a:prstGeom>
          <a:noFill/>
          <a:ln w="57150">
            <a:solidFill>
              <a:srgbClr val="80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4857186-4D08-EA89-1A28-D2BAFF10CACC}"/>
              </a:ext>
            </a:extLst>
          </p:cNvPr>
          <p:cNvSpPr txBox="1"/>
          <p:nvPr/>
        </p:nvSpPr>
        <p:spPr>
          <a:xfrm>
            <a:off x="8317831" y="1389965"/>
            <a:ext cx="1720516" cy="707886"/>
          </a:xfrm>
          <a:prstGeom prst="rect">
            <a:avLst/>
          </a:prstGeom>
          <a:noFill/>
          <a:ln w="57150">
            <a:solidFill>
              <a:srgbClr val="00B0F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7AC15C5-A04B-64F1-EDCE-20129749B82E}"/>
              </a:ext>
            </a:extLst>
          </p:cNvPr>
          <p:cNvSpPr txBox="1"/>
          <p:nvPr/>
        </p:nvSpPr>
        <p:spPr>
          <a:xfrm>
            <a:off x="9873247" y="1389965"/>
            <a:ext cx="1720516" cy="707886"/>
          </a:xfrm>
          <a:prstGeom prst="rect">
            <a:avLst/>
          </a:prstGeom>
          <a:noFill/>
          <a:ln w="5715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5D57D6C-5CB3-81E4-6C42-3ECC0278E401}"/>
              </a:ext>
            </a:extLst>
          </p:cNvPr>
          <p:cNvSpPr txBox="1"/>
          <p:nvPr/>
        </p:nvSpPr>
        <p:spPr>
          <a:xfrm>
            <a:off x="11528927" y="1389965"/>
            <a:ext cx="2136274" cy="707886"/>
          </a:xfrm>
          <a:prstGeom prst="rect">
            <a:avLst/>
          </a:prstGeom>
          <a:noFill/>
          <a:ln w="57150">
            <a:solidFill>
              <a:srgbClr val="FFC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EF8B278-A5F4-F4DA-F894-C24C7E57F73E}"/>
              </a:ext>
            </a:extLst>
          </p:cNvPr>
          <p:cNvSpPr txBox="1"/>
          <p:nvPr/>
        </p:nvSpPr>
        <p:spPr>
          <a:xfrm>
            <a:off x="13595299" y="1389965"/>
            <a:ext cx="1720516" cy="707886"/>
          </a:xfrm>
          <a:prstGeom prst="rect">
            <a:avLst/>
          </a:prstGeom>
          <a:noFill/>
          <a:ln w="57150">
            <a:solidFill>
              <a:srgbClr val="CC0099"/>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9616409-09A0-E13E-4BA6-951FE63ABF70}"/>
              </a:ext>
            </a:extLst>
          </p:cNvPr>
          <p:cNvSpPr txBox="1"/>
          <p:nvPr/>
        </p:nvSpPr>
        <p:spPr>
          <a:xfrm>
            <a:off x="11825098" y="2884276"/>
            <a:ext cx="4211810" cy="3046988"/>
          </a:xfrm>
          <a:prstGeom prst="rect">
            <a:avLst/>
          </a:prstGeom>
          <a:noFill/>
          <a:ln>
            <a:solidFill>
              <a:schemeClr val="accent1"/>
            </a:solidFill>
          </a:ln>
        </p:spPr>
        <p:txBody>
          <a:bodyPr wrap="square" rtlCol="0">
            <a:spAutoFit/>
          </a:bodyPr>
          <a:lstStyle/>
          <a:p>
            <a:r>
              <a:rPr lang="en-US" sz="3200" dirty="0"/>
              <a:t>Setting up PRR using Assembly Language:</a:t>
            </a:r>
          </a:p>
          <a:p>
            <a:r>
              <a:rPr lang="en-US" sz="3200" dirty="0"/>
              <a:t>0b10101100 =0xAC</a:t>
            </a:r>
          </a:p>
          <a:p>
            <a:r>
              <a:rPr lang="en-US" sz="3200" dirty="0"/>
              <a:t>LDI R10, 0xAC;</a:t>
            </a:r>
          </a:p>
          <a:p>
            <a:r>
              <a:rPr lang="en-US" sz="3200" dirty="0"/>
              <a:t>OUT PRR, R10;</a:t>
            </a:r>
          </a:p>
          <a:p>
            <a:r>
              <a:rPr lang="en-US" sz="3200" dirty="0"/>
              <a:t>IN R10, PRR;</a:t>
            </a:r>
          </a:p>
        </p:txBody>
      </p:sp>
    </p:spTree>
    <p:extLst>
      <p:ext uri="{BB962C8B-B14F-4D97-AF65-F5344CB8AC3E}">
        <p14:creationId xmlns:p14="http://schemas.microsoft.com/office/powerpoint/2010/main" val="498430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heel(1)">
                                      <p:cBhvr>
                                        <p:cTn id="18" dur="2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mph" presetSubtype="0" fill="hold" nodeType="clickEffect">
                                  <p:stCondLst>
                                    <p:cond delay="0"/>
                                  </p:stCondLst>
                                  <p:iterate type="lt">
                                    <p:tmPct val="4000"/>
                                  </p:iterate>
                                  <p:childTnLst>
                                    <p:set>
                                      <p:cBhvr override="childStyle">
                                        <p:cTn id="22" dur="500" fill="hold"/>
                                        <p:tgtEl>
                                          <p:spTgt spid="8">
                                            <p:txEl>
                                              <p:pRg st="0" end="0"/>
                                            </p:txEl>
                                          </p:spTgt>
                                        </p:tgtEl>
                                        <p:attrNameLst>
                                          <p:attrName>style.color</p:attrName>
                                        </p:attrNameLst>
                                      </p:cBhvr>
                                      <p:to>
                                        <p:clrVal>
                                          <a:srgbClr val="00B050"/>
                                        </p:clrVal>
                                      </p:to>
                                    </p:set>
                                    <p:set>
                                      <p:cBhvr>
                                        <p:cTn id="23" dur="500" fill="hold"/>
                                        <p:tgtEl>
                                          <p:spTgt spid="8">
                                            <p:txEl>
                                              <p:pRg st="0" end="0"/>
                                            </p:txEl>
                                          </p:spTgt>
                                        </p:tgtEl>
                                        <p:attrNameLst>
                                          <p:attrName>fillcolor</p:attrName>
                                        </p:attrNameLst>
                                      </p:cBhvr>
                                      <p:to>
                                        <p:clrVal>
                                          <a:srgbClr val="00B050"/>
                                        </p:clrVal>
                                      </p:to>
                                    </p:set>
                                    <p:set>
                                      <p:cBhvr>
                                        <p:cTn id="24" dur="500" fill="hold"/>
                                        <p:tgtEl>
                                          <p:spTgt spid="8">
                                            <p:txEl>
                                              <p:pRg st="0" end="0"/>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heel(1)">
                                      <p:cBhvr>
                                        <p:cTn id="29" dur="20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mph" presetSubtype="0" fill="hold" nodeType="clickEffect">
                                  <p:stCondLst>
                                    <p:cond delay="0"/>
                                  </p:stCondLst>
                                  <p:iterate type="lt">
                                    <p:tmPct val="4000"/>
                                  </p:iterate>
                                  <p:childTnLst>
                                    <p:set>
                                      <p:cBhvr override="childStyle">
                                        <p:cTn id="33" dur="500" fill="hold"/>
                                        <p:tgtEl>
                                          <p:spTgt spid="8">
                                            <p:txEl>
                                              <p:pRg st="1" end="1"/>
                                            </p:txEl>
                                          </p:spTgt>
                                        </p:tgtEl>
                                        <p:attrNameLst>
                                          <p:attrName>style.color</p:attrName>
                                        </p:attrNameLst>
                                      </p:cBhvr>
                                      <p:to>
                                        <p:clrVal>
                                          <a:srgbClr val="0070C0"/>
                                        </p:clrVal>
                                      </p:to>
                                    </p:set>
                                    <p:set>
                                      <p:cBhvr>
                                        <p:cTn id="34" dur="500" fill="hold"/>
                                        <p:tgtEl>
                                          <p:spTgt spid="8">
                                            <p:txEl>
                                              <p:pRg st="1" end="1"/>
                                            </p:txEl>
                                          </p:spTgt>
                                        </p:tgtEl>
                                        <p:attrNameLst>
                                          <p:attrName>fillcolor</p:attrName>
                                        </p:attrNameLst>
                                      </p:cBhvr>
                                      <p:to>
                                        <p:clrVal>
                                          <a:srgbClr val="0070C0"/>
                                        </p:clrVal>
                                      </p:to>
                                    </p:set>
                                    <p:set>
                                      <p:cBhvr>
                                        <p:cTn id="35" dur="500" fill="hold"/>
                                        <p:tgtEl>
                                          <p:spTgt spid="8">
                                            <p:txEl>
                                              <p:pRg st="1" end="1"/>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heel(1)">
                                      <p:cBhvr>
                                        <p:cTn id="40" dur="20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mph" presetSubtype="0" fill="hold" nodeType="clickEffect">
                                  <p:stCondLst>
                                    <p:cond delay="0"/>
                                  </p:stCondLst>
                                  <p:iterate type="lt">
                                    <p:tmPct val="4000"/>
                                  </p:iterate>
                                  <p:childTnLst>
                                    <p:set>
                                      <p:cBhvr override="childStyle">
                                        <p:cTn id="44" dur="500" fill="hold"/>
                                        <p:tgtEl>
                                          <p:spTgt spid="8">
                                            <p:txEl>
                                              <p:pRg st="2" end="2"/>
                                            </p:txEl>
                                          </p:spTgt>
                                        </p:tgtEl>
                                        <p:attrNameLst>
                                          <p:attrName>style.color</p:attrName>
                                        </p:attrNameLst>
                                      </p:cBhvr>
                                      <p:to>
                                        <p:clrVal>
                                          <a:srgbClr val="800000"/>
                                        </p:clrVal>
                                      </p:to>
                                    </p:set>
                                    <p:set>
                                      <p:cBhvr>
                                        <p:cTn id="45" dur="500" fill="hold"/>
                                        <p:tgtEl>
                                          <p:spTgt spid="8">
                                            <p:txEl>
                                              <p:pRg st="2" end="2"/>
                                            </p:txEl>
                                          </p:spTgt>
                                        </p:tgtEl>
                                        <p:attrNameLst>
                                          <p:attrName>fillcolor</p:attrName>
                                        </p:attrNameLst>
                                      </p:cBhvr>
                                      <p:to>
                                        <p:clrVal>
                                          <a:srgbClr val="800000"/>
                                        </p:clrVal>
                                      </p:to>
                                    </p:set>
                                    <p:set>
                                      <p:cBhvr>
                                        <p:cTn id="46" dur="500" fill="hold"/>
                                        <p:tgtEl>
                                          <p:spTgt spid="8">
                                            <p:txEl>
                                              <p:pRg st="2" end="2"/>
                                            </p:txEl>
                                          </p:spTgt>
                                        </p:tgtEl>
                                        <p:attrNameLst>
                                          <p:attrName>fill.type</p:attrName>
                                        </p:attrNameLst>
                                      </p:cBhvr>
                                      <p:to>
                                        <p:strVal val="solid"/>
                                      </p:to>
                                    </p:se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heel(1)">
                                      <p:cBhvr>
                                        <p:cTn id="51" dur="20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mph" presetSubtype="0" fill="hold" nodeType="clickEffect">
                                  <p:stCondLst>
                                    <p:cond delay="0"/>
                                  </p:stCondLst>
                                  <p:iterate type="lt">
                                    <p:tmPct val="4000"/>
                                  </p:iterate>
                                  <p:childTnLst>
                                    <p:set>
                                      <p:cBhvr override="childStyle">
                                        <p:cTn id="55" dur="500" fill="hold"/>
                                        <p:tgtEl>
                                          <p:spTgt spid="8">
                                            <p:txEl>
                                              <p:pRg st="4" end="4"/>
                                            </p:txEl>
                                          </p:spTgt>
                                        </p:tgtEl>
                                        <p:attrNameLst>
                                          <p:attrName>style.color</p:attrName>
                                        </p:attrNameLst>
                                      </p:cBhvr>
                                      <p:to>
                                        <p:clrVal>
                                          <a:srgbClr val="00B0F0"/>
                                        </p:clrVal>
                                      </p:to>
                                    </p:set>
                                    <p:set>
                                      <p:cBhvr>
                                        <p:cTn id="56" dur="500" fill="hold"/>
                                        <p:tgtEl>
                                          <p:spTgt spid="8">
                                            <p:txEl>
                                              <p:pRg st="4" end="4"/>
                                            </p:txEl>
                                          </p:spTgt>
                                        </p:tgtEl>
                                        <p:attrNameLst>
                                          <p:attrName>fillcolor</p:attrName>
                                        </p:attrNameLst>
                                      </p:cBhvr>
                                      <p:to>
                                        <p:clrVal>
                                          <a:srgbClr val="00B0F0"/>
                                        </p:clrVal>
                                      </p:to>
                                    </p:set>
                                    <p:set>
                                      <p:cBhvr>
                                        <p:cTn id="57" dur="500" fill="hold"/>
                                        <p:tgtEl>
                                          <p:spTgt spid="8">
                                            <p:txEl>
                                              <p:pRg st="4" end="4"/>
                                            </p:txEl>
                                          </p:spTgt>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heel(1)">
                                      <p:cBhvr>
                                        <p:cTn id="62" dur="20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mph" presetSubtype="0" fill="hold" nodeType="clickEffect">
                                  <p:stCondLst>
                                    <p:cond delay="0"/>
                                  </p:stCondLst>
                                  <p:iterate type="lt">
                                    <p:tmPct val="4000"/>
                                  </p:iterate>
                                  <p:childTnLst>
                                    <p:set>
                                      <p:cBhvr override="childStyle">
                                        <p:cTn id="66" dur="500" fill="hold"/>
                                        <p:tgtEl>
                                          <p:spTgt spid="8">
                                            <p:txEl>
                                              <p:pRg st="5" end="5"/>
                                            </p:txEl>
                                          </p:spTgt>
                                        </p:tgtEl>
                                        <p:attrNameLst>
                                          <p:attrName>style.color</p:attrName>
                                        </p:attrNameLst>
                                      </p:cBhvr>
                                      <p:to>
                                        <p:clrVal>
                                          <a:srgbClr val="FF0000"/>
                                        </p:clrVal>
                                      </p:to>
                                    </p:set>
                                    <p:set>
                                      <p:cBhvr>
                                        <p:cTn id="67" dur="500" fill="hold"/>
                                        <p:tgtEl>
                                          <p:spTgt spid="8">
                                            <p:txEl>
                                              <p:pRg st="5" end="5"/>
                                            </p:txEl>
                                          </p:spTgt>
                                        </p:tgtEl>
                                        <p:attrNameLst>
                                          <p:attrName>fillcolor</p:attrName>
                                        </p:attrNameLst>
                                      </p:cBhvr>
                                      <p:to>
                                        <p:clrVal>
                                          <a:srgbClr val="FF0000"/>
                                        </p:clrVal>
                                      </p:to>
                                    </p:set>
                                    <p:set>
                                      <p:cBhvr>
                                        <p:cTn id="68" dur="500" fill="hold"/>
                                        <p:tgtEl>
                                          <p:spTgt spid="8">
                                            <p:txEl>
                                              <p:pRg st="5" end="5"/>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21" presetClass="entr" presetSubtype="1"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heel(1)">
                                      <p:cBhvr>
                                        <p:cTn id="73" dur="2000"/>
                                        <p:tgtEl>
                                          <p:spTgt spid="13"/>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mph" presetSubtype="0" fill="hold" nodeType="clickEffect">
                                  <p:stCondLst>
                                    <p:cond delay="0"/>
                                  </p:stCondLst>
                                  <p:iterate type="lt">
                                    <p:tmPct val="4000"/>
                                  </p:iterate>
                                  <p:childTnLst>
                                    <p:set>
                                      <p:cBhvr override="childStyle">
                                        <p:cTn id="77" dur="500" fill="hold"/>
                                        <p:tgtEl>
                                          <p:spTgt spid="8">
                                            <p:txEl>
                                              <p:pRg st="6" end="6"/>
                                            </p:txEl>
                                          </p:spTgt>
                                        </p:tgtEl>
                                        <p:attrNameLst>
                                          <p:attrName>style.color</p:attrName>
                                        </p:attrNameLst>
                                      </p:cBhvr>
                                      <p:to>
                                        <p:clrVal>
                                          <a:srgbClr val="FFC000"/>
                                        </p:clrVal>
                                      </p:to>
                                    </p:set>
                                    <p:set>
                                      <p:cBhvr>
                                        <p:cTn id="78" dur="500" fill="hold"/>
                                        <p:tgtEl>
                                          <p:spTgt spid="8">
                                            <p:txEl>
                                              <p:pRg st="6" end="6"/>
                                            </p:txEl>
                                          </p:spTgt>
                                        </p:tgtEl>
                                        <p:attrNameLst>
                                          <p:attrName>fillcolor</p:attrName>
                                        </p:attrNameLst>
                                      </p:cBhvr>
                                      <p:to>
                                        <p:clrVal>
                                          <a:srgbClr val="FFC000"/>
                                        </p:clrVal>
                                      </p:to>
                                    </p:set>
                                    <p:set>
                                      <p:cBhvr>
                                        <p:cTn id="79" dur="500" fill="hold"/>
                                        <p:tgtEl>
                                          <p:spTgt spid="8">
                                            <p:txEl>
                                              <p:pRg st="6" end="6"/>
                                            </p:txEl>
                                          </p:spTgt>
                                        </p:tgtEl>
                                        <p:attrNameLst>
                                          <p:attrName>fill.type</p:attrName>
                                        </p:attrNameLst>
                                      </p:cBhvr>
                                      <p:to>
                                        <p:strVal val="solid"/>
                                      </p:to>
                                    </p:set>
                                  </p:childTnLst>
                                </p:cTn>
                              </p:par>
                            </p:childTnLst>
                          </p:cTn>
                        </p:par>
                      </p:childTnLst>
                    </p:cTn>
                  </p:par>
                  <p:par>
                    <p:cTn id="80" fill="hold">
                      <p:stCondLst>
                        <p:cond delay="indefinite"/>
                      </p:stCondLst>
                      <p:childTnLst>
                        <p:par>
                          <p:cTn id="81" fill="hold">
                            <p:stCondLst>
                              <p:cond delay="0"/>
                            </p:stCondLst>
                            <p:childTnLst>
                              <p:par>
                                <p:cTn id="82" presetID="21" presetClass="entr" presetSubtype="1"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heel(1)">
                                      <p:cBhvr>
                                        <p:cTn id="84" dur="2000"/>
                                        <p:tgtEl>
                                          <p:spTgt spid="14"/>
                                        </p:tgtEl>
                                      </p:cBhvr>
                                    </p:animEffect>
                                  </p:childTnLst>
                                </p:cTn>
                              </p:par>
                            </p:childTnLst>
                          </p:cTn>
                        </p:par>
                      </p:childTnLst>
                    </p:cTn>
                  </p:par>
                  <p:par>
                    <p:cTn id="85" fill="hold">
                      <p:stCondLst>
                        <p:cond delay="indefinite"/>
                      </p:stCondLst>
                      <p:childTnLst>
                        <p:par>
                          <p:cTn id="86" fill="hold">
                            <p:stCondLst>
                              <p:cond delay="0"/>
                            </p:stCondLst>
                            <p:childTnLst>
                              <p:par>
                                <p:cTn id="87" presetID="16" presetClass="emph" presetSubtype="0" fill="hold" nodeType="clickEffect">
                                  <p:stCondLst>
                                    <p:cond delay="0"/>
                                  </p:stCondLst>
                                  <p:iterate type="lt">
                                    <p:tmPct val="4000"/>
                                  </p:iterate>
                                  <p:childTnLst>
                                    <p:set>
                                      <p:cBhvr override="childStyle">
                                        <p:cTn id="88" dur="500" fill="hold"/>
                                        <p:tgtEl>
                                          <p:spTgt spid="8">
                                            <p:txEl>
                                              <p:pRg st="7" end="7"/>
                                            </p:txEl>
                                          </p:spTgt>
                                        </p:tgtEl>
                                        <p:attrNameLst>
                                          <p:attrName>style.color</p:attrName>
                                        </p:attrNameLst>
                                      </p:cBhvr>
                                      <p:to>
                                        <p:clrVal>
                                          <a:srgbClr val="CC0099"/>
                                        </p:clrVal>
                                      </p:to>
                                    </p:set>
                                    <p:set>
                                      <p:cBhvr>
                                        <p:cTn id="89" dur="500" fill="hold"/>
                                        <p:tgtEl>
                                          <p:spTgt spid="8">
                                            <p:txEl>
                                              <p:pRg st="7" end="7"/>
                                            </p:txEl>
                                          </p:spTgt>
                                        </p:tgtEl>
                                        <p:attrNameLst>
                                          <p:attrName>fillcolor</p:attrName>
                                        </p:attrNameLst>
                                      </p:cBhvr>
                                      <p:to>
                                        <p:clrVal>
                                          <a:srgbClr val="CC0099"/>
                                        </p:clrVal>
                                      </p:to>
                                    </p:set>
                                    <p:set>
                                      <p:cBhvr>
                                        <p:cTn id="90" dur="500" fill="hold"/>
                                        <p:tgtEl>
                                          <p:spTgt spid="8">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P spid="9" grpId="0" animBg="1"/>
      <p:bldP spid="10" grpId="0" animBg="1"/>
      <p:bldP spid="11" grpId="0" animBg="1"/>
      <p:bldP spid="12" grpId="0" animBg="1"/>
      <p:bldP spid="13" grpId="0" animBg="1"/>
      <p:bldP spid="14" grpId="0" animBg="1"/>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1378976" y="276287"/>
            <a:ext cx="13142422" cy="1191665"/>
          </a:xfrm>
        </p:spPr>
        <p:txBody>
          <a:bodyPr>
            <a:normAutofit/>
          </a:bodyPr>
          <a:lstStyle/>
          <a:p>
            <a:r>
              <a:rPr lang="en-US" sz="7200" b="1" dirty="0">
                <a:solidFill>
                  <a:srgbClr val="FF0000"/>
                </a:solidFill>
                <a:latin typeface="+mn-lt"/>
              </a:rPr>
              <a:t>Thanks for Attending….</a:t>
            </a:r>
          </a:p>
        </p:txBody>
      </p:sp>
      <p:sp>
        <p:nvSpPr>
          <p:cNvPr id="3" name="Date Placeholder 2"/>
          <p:cNvSpPr>
            <a:spLocks noGrp="1"/>
          </p:cNvSpPr>
          <p:nvPr>
            <p:ph type="dt" sz="half" idx="10"/>
          </p:nvPr>
        </p:nvSpPr>
        <p:spPr/>
        <p:txBody>
          <a:bodyPr/>
          <a:lstStyle/>
          <a:p>
            <a:fld id="{984B4290-91D6-4925-A859-CE6D5B1817AA}" type="datetime3">
              <a:rPr lang="en-US" noProof="0" smtClean="0"/>
              <a:t>15 June 2026</a:t>
            </a:fld>
            <a:endParaRPr lang="en-US" noProof="0" dirty="0"/>
          </a:p>
        </p:txBody>
      </p:sp>
      <p:sp>
        <p:nvSpPr>
          <p:cNvPr id="4" name="Footer Placeholder 3"/>
          <p:cNvSpPr>
            <a:spLocks noGrp="1"/>
          </p:cNvSpPr>
          <p:nvPr>
            <p:ph type="ftr" sz="quarter" idx="11"/>
          </p:nvPr>
        </p:nvSpPr>
        <p:spPr/>
        <p:txBody>
          <a:bodyPr/>
          <a:lstStyle/>
          <a:p>
            <a:r>
              <a:rPr lang="en-US" noProof="0" dirty="0"/>
              <a:t>Course Teacher: Prof. Dr. Engr. Muhibul Haque Bhuyan</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47</a:t>
            </a:fld>
            <a:endParaRPr lang="en-US" noProof="0" dirty="0"/>
          </a:p>
        </p:txBody>
      </p:sp>
      <p:grpSp>
        <p:nvGrpSpPr>
          <p:cNvPr id="5" name="Group 6"/>
          <p:cNvGrpSpPr>
            <a:grpSpLocks/>
          </p:cNvGrpSpPr>
          <p:nvPr/>
        </p:nvGrpSpPr>
        <p:grpSpPr bwMode="auto">
          <a:xfrm>
            <a:off x="6633556" y="1363980"/>
            <a:ext cx="7015943" cy="6350923"/>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11" name="TextBox 10">
            <a:extLst>
              <a:ext uri="{FF2B5EF4-FFF2-40B4-BE49-F238E27FC236}">
                <a16:creationId xmlns:a16="http://schemas.microsoft.com/office/drawing/2014/main" id="{BE5794C7-E77D-05F3-D508-E72EF5C12FDC}"/>
              </a:ext>
            </a:extLst>
          </p:cNvPr>
          <p:cNvSpPr txBox="1"/>
          <p:nvPr/>
        </p:nvSpPr>
        <p:spPr>
          <a:xfrm>
            <a:off x="421105" y="6898189"/>
            <a:ext cx="6212451" cy="646331"/>
          </a:xfrm>
          <a:prstGeom prst="rect">
            <a:avLst/>
          </a:prstGeom>
          <a:noFill/>
        </p:spPr>
        <p:txBody>
          <a:bodyPr wrap="square">
            <a:spAutoFit/>
          </a:bodyPr>
          <a:lstStyle/>
          <a:p>
            <a:r>
              <a:rPr lang="en-US" dirty="0">
                <a:hlinkClick r:id="rId3"/>
              </a:rPr>
              <a:t>(6) Reducing Arduino's Power Consumption Part 1 – YouTube</a:t>
            </a:r>
            <a:endParaRPr lang="en-US" dirty="0"/>
          </a:p>
          <a:p>
            <a:r>
              <a:rPr lang="en-US" dirty="0">
                <a:hlinkClick r:id="rId3"/>
              </a:rPr>
              <a:t>https://www.youtube.com/watch?v=ktvUunBQQD0</a:t>
            </a:r>
            <a:r>
              <a:rPr lang="en-US" dirty="0"/>
              <a:t> </a:t>
            </a:r>
          </a:p>
        </p:txBody>
      </p:sp>
    </p:spTree>
    <p:extLst>
      <p:ext uri="{BB962C8B-B14F-4D97-AF65-F5344CB8AC3E}">
        <p14:creationId xmlns:p14="http://schemas.microsoft.com/office/powerpoint/2010/main" val="2641001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C94942-C689-461B-8649-1FD863C6BA2B}">
  <ds:schemaRefs>
    <ds:schemaRef ds:uri="http://purl.org/dc/elements/1.1/"/>
    <ds:schemaRef ds:uri="http://schemas.openxmlformats.org/package/2006/metadata/core-properties"/>
    <ds:schemaRef ds:uri="http://schemas.microsoft.com/office/2006/documentManagement/types"/>
    <ds:schemaRef ds:uri="71af3243-3dd4-4a8d-8c0d-dd76da1f02a5"/>
    <ds:schemaRef ds:uri="16c05727-aa75-4e4a-9b5f-8a80a1165891"/>
    <ds:schemaRef ds:uri="http://purl.org/dc/terms/"/>
    <ds:schemaRef ds:uri="http://schemas.microsoft.com/office/2006/metadata/properti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8C25A74-1E0C-4362-AFA3-6197BD285F3A}">
  <ds:schemaRefs>
    <ds:schemaRef ds:uri="http://schemas.microsoft.com/sharepoint/v3/contenttype/forms"/>
  </ds:schemaRefs>
</ds:datastoreItem>
</file>

<file path=customXml/itemProps3.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2928</TotalTime>
  <Words>6317</Words>
  <Application>Microsoft Office PowerPoint</Application>
  <PresentationFormat>Custom</PresentationFormat>
  <Paragraphs>631</Paragraphs>
  <Slides>47</Slides>
  <Notes>42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47</vt:i4>
      </vt:variant>
    </vt:vector>
  </HeadingPairs>
  <TitlesOfParts>
    <vt:vector size="60" baseType="lpstr">
      <vt:lpstr>Algerian</vt:lpstr>
      <vt:lpstr>Amasis MT Pro</vt:lpstr>
      <vt:lpstr>Arial</vt:lpstr>
      <vt:lpstr>Arial Black</vt:lpstr>
      <vt:lpstr>Book Antiqua</vt:lpstr>
      <vt:lpstr>Calibri</vt:lpstr>
      <vt:lpstr>Calibri Light</vt:lpstr>
      <vt:lpstr>Cambria Math</vt:lpstr>
      <vt:lpstr>Elephant</vt:lpstr>
      <vt:lpstr>Symbol</vt:lpstr>
      <vt:lpstr>Times New Roman</vt:lpstr>
      <vt:lpstr>Wingdings</vt:lpstr>
      <vt:lpstr>Office Theme</vt:lpstr>
      <vt:lpstr>Lecture # 05M:</vt:lpstr>
      <vt:lpstr>Introduction:</vt:lpstr>
      <vt:lpstr>Introduction:</vt:lpstr>
      <vt:lpstr>PowerPoint Presentation</vt:lpstr>
      <vt:lpstr>Clock Sources:</vt:lpstr>
      <vt:lpstr>Default Clock Source:</vt:lpstr>
      <vt:lpstr>Low Power Crystal Oscillator:</vt:lpstr>
      <vt:lpstr>Full-Swing Crystal Oscillator:</vt:lpstr>
      <vt:lpstr>Low-Frequency Crystal Oscillator:</vt:lpstr>
      <vt:lpstr>Low-Frequency Crystal Oscillator:</vt:lpstr>
      <vt:lpstr>Calibrated Internal RC Oscillator:</vt:lpstr>
      <vt:lpstr>128 kHz Internal Oscillator:</vt:lpstr>
      <vt:lpstr>External Clock:</vt:lpstr>
      <vt:lpstr>Timer/Counter Oscillator:</vt:lpstr>
      <vt:lpstr>System Clock Pre-Scalar:</vt:lpstr>
      <vt:lpstr>Register Description:</vt:lpstr>
      <vt:lpstr>Register Description:</vt:lpstr>
      <vt:lpstr>Register Description: Clock Pre-Scaler Select</vt:lpstr>
      <vt:lpstr>Power Management and Sleep Modes:</vt:lpstr>
      <vt:lpstr>Power Management and Sleep Modes:</vt:lpstr>
      <vt:lpstr>Power Management and Sleep Modes:</vt:lpstr>
      <vt:lpstr>Register Description:</vt:lpstr>
      <vt:lpstr>Register Description:</vt:lpstr>
      <vt:lpstr>Idle Mode:</vt:lpstr>
      <vt:lpstr>ADC Noise Reduction Mode:</vt:lpstr>
      <vt:lpstr>Power-Down Mode:</vt:lpstr>
      <vt:lpstr>Standard Low Power Example:</vt:lpstr>
      <vt:lpstr>Low Power-Power Down Mode Example:</vt:lpstr>
      <vt:lpstr>Arduino Code for Power-Down Periodic Mode:</vt:lpstr>
      <vt:lpstr>PowerPoint Presentation</vt:lpstr>
      <vt:lpstr>Arduino Codes for Low Power Modes:</vt:lpstr>
      <vt:lpstr>Practical Application with a DHT11 Sensor:</vt:lpstr>
      <vt:lpstr>Code Explanation</vt:lpstr>
      <vt:lpstr>Code Explanation</vt:lpstr>
      <vt:lpstr>Code Explanation</vt:lpstr>
      <vt:lpstr>Code Explanation</vt:lpstr>
      <vt:lpstr>Code Explanation</vt:lpstr>
      <vt:lpstr>Code Explanation</vt:lpstr>
      <vt:lpstr>Experimental Setup with USB Meter</vt:lpstr>
      <vt:lpstr>Example 1</vt:lpstr>
      <vt:lpstr>Example 2</vt:lpstr>
      <vt:lpstr>Example 3</vt:lpstr>
      <vt:lpstr>Example 3</vt:lpstr>
      <vt:lpstr>Example 4</vt:lpstr>
      <vt:lpstr>Example 4</vt:lpstr>
      <vt:lpstr>PRR: Power Reduction Register:</vt:lpstr>
      <vt:lpstr>Thanks for Attending….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Muhibul Haque Bhuyan</dc:creator>
  <cp:lastModifiedBy>Md. Shaoran Sayem</cp:lastModifiedBy>
  <cp:revision>52</cp:revision>
  <dcterms:created xsi:type="dcterms:W3CDTF">2022-05-17T14:56:55Z</dcterms:created>
  <dcterms:modified xsi:type="dcterms:W3CDTF">2026-06-15T06:10:41Z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