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gif" ContentType="image/gif"/>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3"/>
    <p:sldId id="257" r:id="rId4"/>
    <p:sldId id="284" r:id="rId5"/>
    <p:sldId id="266" r:id="rId6"/>
    <p:sldId id="277" r:id="rId7"/>
    <p:sldId id="272" r:id="rId8"/>
    <p:sldId id="267" r:id="rId9"/>
    <p:sldId id="273" r:id="rId10"/>
    <p:sldId id="278" r:id="rId11"/>
    <p:sldId id="285" r:id="rId12"/>
    <p:sldId id="269" r:id="rId13"/>
    <p:sldId id="279" r:id="rId14"/>
    <p:sldId id="274" r:id="rId16"/>
    <p:sldId id="270" r:id="rId17"/>
    <p:sldId id="275" r:id="rId18"/>
    <p:sldId id="271" r:id="rId19"/>
    <p:sldId id="265" r:id="rId20"/>
    <p:sldId id="280"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4765"/>
  </p:normalViewPr>
  <p:slideViewPr>
    <p:cSldViewPr snapToGrid="0" snapToObjects="1" showGuides="1">
      <p:cViewPr varScale="1">
        <p:scale>
          <a:sx n="89" d="100"/>
          <a:sy n="89" d="100"/>
        </p:scale>
        <p:origin x="1744"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customXml" Target="../customXml/item3.xml"/><Relationship Id="rId26" Type="http://schemas.openxmlformats.org/officeDocument/2006/relationships/customXml" Target="../customXml/item2.xml"/><Relationship Id="rId25" Type="http://schemas.openxmlformats.org/officeDocument/2006/relationships/customXml" Target="../customXml/item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FBDE879-47F6-4B61-9B2A-1D0CACC1A68B}"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0523E5-E5BC-4A61-8AC5-F62FD8408BD2}"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0523E5-E5BC-4A61-8AC5-F62FD8408BD2}"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38864DF-D9A6-46C3-98F6-3AED4DFA1FA7}"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lang="fi-FI"/>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anose="05000000000000000000"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pic>
        <p:nvPicPr>
          <p:cNvPr id="1026" name="Picture 2" descr="Image result for AIUB logo"/>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p>
            <a:r>
              <a:rPr lang="fi-FI"/>
              <a:t>Click to edit Master title style</a:t>
            </a:r>
            <a:endParaRPr lang="fi-FI"/>
          </a:p>
        </p:txBody>
      </p:sp>
      <p:sp>
        <p:nvSpPr>
          <p:cNvPr id="3" name="Content Placeholder 2"/>
          <p:cNvSpPr>
            <a:spLocks noGrp="1"/>
          </p:cNvSpPr>
          <p:nvPr>
            <p:ph idx="1"/>
          </p:nvPr>
        </p:nvSpPr>
        <p:spPr/>
        <p:txBody>
          <a:bodyPr/>
          <a:lstStyle>
            <a:lvl5pPr>
              <a:defRPr/>
            </a:lvl5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
        <p:nvSpPr>
          <p:cNvPr id="8" name="Picture Placeholder 7"/>
          <p:cNvSpPr>
            <a:spLocks noGrp="1"/>
          </p:cNvSpPr>
          <p:nvPr>
            <p:ph type="pic" sz="quarter" idx="13" hasCustomPrompt="1"/>
          </p:nvPr>
        </p:nvSpPr>
        <p:spPr>
          <a:xfrm>
            <a:off x="284162" y="2017058"/>
            <a:ext cx="8574087" cy="4377391"/>
          </a:xfrm>
        </p:spPr>
        <p:txBody>
          <a:bodyPr/>
          <a:lstStyle>
            <a:lvl1pPr>
              <a:buNone/>
              <a:defRPr/>
            </a:lvl1pPr>
          </a:lstStyle>
          <a:p>
            <a:r>
              <a:rPr lang="fi-FI"/>
              <a:t>Drag picture to placeholder or click icon to add</a:t>
            </a:r>
            <a:endParaRPr lang="fi-FI"/>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panose="05000000000000000000"/>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lang="fi-FI"/>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panose="05000000000000000000"/>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lang="fi-FI"/>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anose="05000000000000000000" pitchFamily="2" charset="2"/>
              <a:buNone/>
            </a:pPr>
            <a:r>
              <a:rPr lang="fi-FI"/>
              <a:t>Click to edit Master text styles</a:t>
            </a:r>
            <a:endParaRPr lang="fi-FI"/>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hasCustomPrompt="1"/>
          </p:nvPr>
        </p:nvSpPr>
        <p:spPr>
          <a:xfrm>
            <a:off x="284162" y="443754"/>
            <a:ext cx="8574087" cy="4370293"/>
          </a:xfrm>
        </p:spPr>
        <p:txBody>
          <a:bodyPr/>
          <a:lstStyle>
            <a:lvl1pPr>
              <a:buNone/>
              <a:defRPr/>
            </a:lvl1pPr>
          </a:lstStyle>
          <a:p>
            <a:r>
              <a:rPr lang="fi-FI"/>
              <a:t>Drag picture to placeholder or click icon to add</a:t>
            </a:r>
            <a:endParaRPr lang="fi-FI"/>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panose="05000000000000000000"/>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lang="fi-FI"/>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endParaRPr lang="fi-FI"/>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p>
            <a:r>
              <a:rPr lang="fi-FI"/>
              <a:t>Click to edit Master title style</a:t>
            </a:r>
            <a:endParaRPr lang="fi-FI"/>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lvl1pPr>
              <a:defRPr/>
            </a:lvl1pPr>
          </a:lstStyle>
          <a:p>
            <a:r>
              <a:rPr lang="fi-FI"/>
              <a:t>Click to edit Master title style</a:t>
            </a:r>
            <a:endParaRPr lang="fi-FI"/>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endParaRPr lang="fi-FI"/>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endParaRPr lang="fi-FI"/>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p>
            <a:r>
              <a:rPr lang="fi-FI"/>
              <a:t>Click to edit Master title style</a:t>
            </a:r>
            <a:endParaRPr lang="fi-FI"/>
          </a:p>
        </p:txBody>
      </p:sp>
      <p:sp>
        <p:nvSpPr>
          <p:cNvPr id="3" name="Date Placeholder 2"/>
          <p:cNvSpPr>
            <a:spLocks noGrp="1"/>
          </p:cNvSpPr>
          <p:nvPr>
            <p:ph type="dt" sz="half" idx="10"/>
          </p:nvPr>
        </p:nvSpPr>
        <p:spPr/>
        <p:txBody>
          <a:bodyPr/>
          <a:lstStyle/>
          <a:p>
            <a:fld id="{4251665B-C24A-4702-B522-6A4334602E03}"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pic>
        <p:nvPicPr>
          <p:cNvPr id="2050" name="Picture 2" descr="Image result for AIUB logo"/>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lang="fi-FI"/>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lang="fi-FI"/>
          </a:p>
        </p:txBody>
      </p:sp>
      <p:sp>
        <p:nvSpPr>
          <p:cNvPr id="3" name="Picture Placeholder 2"/>
          <p:cNvSpPr>
            <a:spLocks noGrp="1"/>
          </p:cNvSpPr>
          <p:nvPr>
            <p:ph type="pic" idx="1" hasCustomPrompt="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lang="fi-FI"/>
          </a:p>
        </p:txBody>
      </p:sp>
      <p:sp>
        <p:nvSpPr>
          <p:cNvPr id="3" name="Picture Placeholder 2"/>
          <p:cNvSpPr>
            <a:spLocks noGrp="1"/>
          </p:cNvSpPr>
          <p:nvPr>
            <p:ph type="pic" idx="1" hasCustomPrompt="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lang="fi-FI"/>
          </a:p>
        </p:txBody>
      </p:sp>
      <p:sp>
        <p:nvSpPr>
          <p:cNvPr id="14" name="Picture Placeholder 13"/>
          <p:cNvSpPr>
            <a:spLocks noGrp="1"/>
          </p:cNvSpPr>
          <p:nvPr>
            <p:ph type="pic" sz="quarter" idx="13" hasCustomPrompt="1"/>
          </p:nvPr>
        </p:nvSpPr>
        <p:spPr>
          <a:xfrm>
            <a:off x="284164" y="594360"/>
            <a:ext cx="2743200" cy="3675888"/>
          </a:xfrm>
        </p:spPr>
        <p:txBody>
          <a:bodyPr/>
          <a:lstStyle>
            <a:lvl1pPr>
              <a:buNone/>
              <a:defRPr/>
            </a:lvl1pPr>
          </a:lstStyle>
          <a:p>
            <a:r>
              <a:rPr lang="fi-FI"/>
              <a:t>Drag picture to placeholder or click icon to add</a:t>
            </a:r>
            <a:endParaRPr lang="fi-FI"/>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lang="fi-FI"/>
          </a:p>
        </p:txBody>
      </p:sp>
      <p:sp>
        <p:nvSpPr>
          <p:cNvPr id="3" name="Picture Placeholder 2"/>
          <p:cNvSpPr>
            <a:spLocks noGrp="1"/>
          </p:cNvSpPr>
          <p:nvPr>
            <p:ph type="pic" idx="1" hasCustomPrompt="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endParaRPr lang="fi-FI"/>
          </a:p>
        </p:txBody>
      </p:sp>
      <p:sp>
        <p:nvSpPr>
          <p:cNvPr id="5" name="Date Placeholder 4"/>
          <p:cNvSpPr>
            <a:spLocks noGrp="1"/>
          </p:cNvSpPr>
          <p:nvPr>
            <p:ph type="dt" sz="half" idx="10"/>
          </p:nvPr>
        </p:nvSpPr>
        <p:spPr/>
        <p:txBody>
          <a:bodyPr/>
          <a:lstStyle/>
          <a:p>
            <a:fld id="{4251665B-C24A-4702-B522-6A4334602E03}"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fld>
            <a:endParaRPr lang="en-US"/>
          </a:p>
        </p:txBody>
      </p:sp>
      <p:sp>
        <p:nvSpPr>
          <p:cNvPr id="13" name="Picture Placeholder 2"/>
          <p:cNvSpPr>
            <a:spLocks noGrp="1"/>
          </p:cNvSpPr>
          <p:nvPr>
            <p:ph type="pic" idx="13" hasCustomPrompt="1"/>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
        <p:nvSpPr>
          <p:cNvPr id="14" name="Picture Placeholder 2"/>
          <p:cNvSpPr>
            <a:spLocks noGrp="1"/>
          </p:cNvSpPr>
          <p:nvPr>
            <p:ph type="pic" idx="14" hasCustomPrompt="1"/>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lang="fi-FI"/>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
        <p:nvSpPr>
          <p:cNvPr id="2" name="Title 1"/>
          <p:cNvSpPr>
            <a:spLocks noGrp="1"/>
          </p:cNvSpPr>
          <p:nvPr>
            <p:ph type="title"/>
          </p:nvPr>
        </p:nvSpPr>
        <p:spPr/>
        <p:txBody>
          <a:bodyPr/>
          <a:lstStyle/>
          <a:p>
            <a:r>
              <a:rPr lang="fi-FI"/>
              <a:t>Click to edit Master title style</a:t>
            </a:r>
            <a:endParaRPr lang="fi-FI"/>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lang="fi-FI"/>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p>
          </p:txBody>
        </p:sp>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endParaRPr lang="fi-FI"/>
          </a:p>
          <a:p>
            <a:pPr lvl="1"/>
            <a:r>
              <a:rPr lang="fi-FI"/>
              <a:t>Second level</a:t>
            </a:r>
            <a:endParaRPr lang="fi-FI"/>
          </a:p>
          <a:p>
            <a:pPr lvl="2"/>
            <a:r>
              <a:rPr lang="fi-FI"/>
              <a:t>Third level</a:t>
            </a:r>
            <a:endParaRPr lang="fi-FI"/>
          </a:p>
          <a:p>
            <a:pPr lvl="3"/>
            <a:r>
              <a:rPr lang="fi-FI"/>
              <a:t>Fourth level</a:t>
            </a:r>
            <a:endParaRPr lang="fi-FI"/>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lang="fi-FI"/>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9.xml"/><Relationship Id="rId1" Type="http://schemas.openxmlformats.org/officeDocument/2006/relationships/image" Target="../media/image3.GIF"/></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5.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endParaRPr lang="en-US" sz="2000" b="1" dirty="0">
              <a:solidFill>
                <a:srgbClr val="0070C0"/>
              </a:solidFill>
              <a:latin typeface="Arial" panose="020B0604020202020204" pitchFamily="34" charset="0"/>
              <a:cs typeface="Arial" panose="020B0604020202020204" pitchFamily="34" charset="0"/>
            </a:endParaRP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p:cNvGraphicFramePr>
            <a:graphicFrameLocks noGrp="1"/>
          </p:cNvGraphicFramePr>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gridCol w="1397725"/>
                <a:gridCol w="1227909"/>
                <a:gridCol w="1541417"/>
                <a:gridCol w="1240971"/>
                <a:gridCol w="1444552"/>
              </a:tblGrid>
              <a:tr h="378736">
                <a:tc>
                  <a:txBody>
                    <a:bodyPr/>
                    <a:lstStyle/>
                    <a:p>
                      <a:r>
                        <a:rPr lang="en-US" dirty="0"/>
                        <a:t>Lecturer No:</a:t>
                      </a:r>
                      <a:endParaRPr lang="en-US" dirty="0"/>
                    </a:p>
                  </a:txBody>
                  <a:tcPr/>
                </a:tc>
                <a:tc>
                  <a:txBody>
                    <a:bodyPr/>
                    <a:lstStyle/>
                    <a:p>
                      <a:r>
                        <a:rPr lang="en-US" dirty="0"/>
                        <a:t>4</a:t>
                      </a:r>
                      <a:endParaRPr lang="en-US" dirty="0"/>
                    </a:p>
                  </a:txBody>
                  <a:tcPr/>
                </a:tc>
                <a:tc>
                  <a:txBody>
                    <a:bodyPr/>
                    <a:lstStyle/>
                    <a:p>
                      <a:r>
                        <a:rPr lang="en-US" dirty="0"/>
                        <a:t>Week No:</a:t>
                      </a:r>
                      <a:endParaRPr lang="en-US" dirty="0"/>
                    </a:p>
                  </a:txBody>
                  <a:tcPr/>
                </a:tc>
                <a:tc>
                  <a:txBody>
                    <a:bodyPr/>
                    <a:lstStyle/>
                    <a:p>
                      <a:r>
                        <a:rPr lang="en-US" dirty="0"/>
                        <a:t>4</a:t>
                      </a:r>
                      <a:endParaRPr lang="en-US" dirty="0"/>
                    </a:p>
                  </a:txBody>
                  <a:tcPr/>
                </a:tc>
                <a:tc>
                  <a:txBody>
                    <a:bodyPr/>
                    <a:lstStyle/>
                    <a:p>
                      <a:r>
                        <a:rPr lang="en-US" dirty="0"/>
                        <a:t>Semester:</a:t>
                      </a:r>
                      <a:endParaRPr lang="en-US" dirty="0"/>
                    </a:p>
                  </a:txBody>
                  <a:tcPr/>
                </a:tc>
                <a:tc>
                  <a:txBody>
                    <a:bodyPr/>
                    <a:lstStyle/>
                    <a:p>
                      <a:r>
                        <a:rPr lang="en-US" dirty="0"/>
                        <a:t>Summer</a:t>
                      </a:r>
                      <a:endParaRPr lang="en-US" dirty="0"/>
                    </a:p>
                  </a:txBody>
                  <a:tcPr/>
                </a:tc>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endParaRPr kumimoji="0" lang="en-US" sz="1800" b="1" i="0" u="none" strike="noStrike" kern="1200" cap="none" spc="0" normalizeH="0" baseline="0" noProof="0" dirty="0">
                        <a:ln>
                          <a:noFill/>
                        </a:ln>
                        <a:solidFill>
                          <a:prstClr val="black"/>
                        </a:solidFill>
                        <a:effectLst/>
                        <a:uLnTx/>
                        <a:uFillTx/>
                        <a:latin typeface="+mn-lt"/>
                        <a:ea typeface="+mn-ea"/>
                        <a:cs typeface="+mn-cs"/>
                      </a:endParaRPr>
                    </a:p>
                  </a:txBody>
                  <a:tcPr/>
                </a:tc>
                <a:tc gridSpan="5">
                  <a:txBody>
                    <a:bodyPr/>
                    <a:lstStyle/>
                    <a:p>
                      <a:endParaRPr lang="en-US" i="1" dirty="0"/>
                    </a:p>
                  </a:txBody>
                  <a:tcPr/>
                </a:tc>
                <a:tc hMerge="1">
                  <a:tcPr/>
                </a:tc>
                <a:tc hMerge="1">
                  <a:tcPr/>
                </a:tc>
                <a:tc hMerge="1">
                  <a:tcPr/>
                </a:tc>
                <a:tc hMerge="1">
                  <a:tcPr/>
                </a:tc>
              </a:tr>
            </a:tbl>
          </a:graphicData>
        </a:graphic>
      </p:graphicFrame>
      <p:sp>
        <p:nvSpPr>
          <p:cNvPr id="11" name="Subtitle 2"/>
          <p:cNvSpPr txBox="1"/>
          <p:nvPr/>
        </p:nvSpPr>
        <p:spPr>
          <a:xfrm>
            <a:off x="373214" y="1419111"/>
            <a:ext cx="278950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anose="05000000000000000000"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anose="05000000000000000000"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9pPr>
          </a:lstStyle>
          <a:p>
            <a:r>
              <a:rPr lang="en-US" dirty="0"/>
              <a:t>Course Code: CSC3220</a:t>
            </a:r>
            <a:endParaRPr lang="en-US" dirty="0"/>
          </a:p>
        </p:txBody>
      </p:sp>
      <p:sp>
        <p:nvSpPr>
          <p:cNvPr id="12" name="Subtitle 2"/>
          <p:cNvSpPr txBox="1"/>
          <p:nvPr/>
        </p:nvSpPr>
        <p:spPr>
          <a:xfrm>
            <a:off x="3356672" y="1381186"/>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anose="05000000000000000000"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anose="05000000000000000000"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anose="05000000000000000000"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anose="05000000000000000000" pitchFamily="2" charset="2"/>
              <a:buNone/>
              <a:defRPr lang="en-US" sz="1800" kern="1200">
                <a:solidFill>
                  <a:schemeClr val="tx1">
                    <a:tint val="75000"/>
                  </a:schemeClr>
                </a:solidFill>
                <a:latin typeface="+mn-lt"/>
                <a:ea typeface="+mn-ea"/>
                <a:cs typeface="+mn-cs"/>
              </a:defRPr>
            </a:lvl9pPr>
          </a:lstStyle>
          <a:p>
            <a:r>
              <a:rPr lang="en-US" dirty="0"/>
              <a:t>Course Title: Compiler Design</a:t>
            </a:r>
            <a:endParaRPr lang="en-US" dirty="0"/>
          </a:p>
        </p:txBody>
      </p:sp>
      <p:sp>
        <p:nvSpPr>
          <p:cNvPr id="13" name="Title 1"/>
          <p:cNvSpPr txBox="1"/>
          <p:nvPr/>
        </p:nvSpPr>
        <p:spPr>
          <a:xfrm>
            <a:off x="373214" y="15869"/>
            <a:ext cx="7808976" cy="1088136"/>
          </a:xfrm>
          <a:prstGeom prst="rect">
            <a:avLst/>
          </a:prstGeom>
          <a:noFill/>
        </p:spPr>
        <p:txBody>
          <a:bodyPr vert="horz" lIns="91440" tIns="45720" rIns="91440" bIns="45720" rtlCol="0" anchor="b" anchorCtr="0">
            <a:no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en-US" sz="3200" b="1" dirty="0"/>
              <a:t>A </a:t>
            </a:r>
            <a:r>
              <a:rPr lang="en-US" sz="3200" b="1" dirty="0">
                <a:latin typeface="+mn-lt"/>
              </a:rPr>
              <a:t>Simple</a:t>
            </a:r>
            <a:r>
              <a:rPr lang="en-US" sz="3200" b="1" dirty="0"/>
              <a:t> Syntax-Directed Translator</a:t>
            </a:r>
            <a:endParaRPr 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endParaRPr lang="en-US" dirty="0"/>
          </a:p>
        </p:txBody>
      </p:sp>
      <p:sp>
        <p:nvSpPr>
          <p:cNvPr id="3" name="Subtitle 2"/>
          <p:cNvSpPr>
            <a:spLocks noGrp="1"/>
          </p:cNvSpPr>
          <p:nvPr>
            <p:ph type="subTitle" idx="1"/>
          </p:nvPr>
        </p:nvSpPr>
        <p:spPr>
          <a:xfrm>
            <a:off x="486697" y="2075935"/>
            <a:ext cx="7754112" cy="4102443"/>
          </a:xfrm>
        </p:spPr>
        <p:txBody>
          <a:bodyPr>
            <a:normAutofit/>
          </a:bodyPr>
          <a:lstStyle/>
          <a:p>
            <a:pPr marL="457200" indent="-457200">
              <a:buFont typeface="+mj-lt"/>
              <a:buAutoNum type="arabicPeriod"/>
            </a:pPr>
            <a:r>
              <a:rPr lang="en-US" sz="2400" dirty="0">
                <a:solidFill>
                  <a:schemeClr val="tx1"/>
                </a:solidFill>
              </a:rPr>
              <a:t>Quiz1</a:t>
            </a:r>
            <a:endParaRPr lang="en-US" sz="2400" dirty="0">
              <a:solidFill>
                <a:schemeClr val="tx1"/>
              </a:solidFill>
            </a:endParaRPr>
          </a:p>
          <a:p>
            <a:pPr marL="457200" indent="-457200">
              <a:buFont typeface="+mj-lt"/>
              <a:buAutoNum type="arabicPeriod"/>
            </a:pPr>
            <a:r>
              <a:rPr lang="en-US" sz="2400" dirty="0">
                <a:solidFill>
                  <a:schemeClr val="tx1"/>
                </a:solidFill>
              </a:rPr>
              <a:t>Learning Objectives</a:t>
            </a:r>
            <a:endParaRPr lang="en-US" sz="2400" dirty="0">
              <a:solidFill>
                <a:schemeClr val="tx1"/>
              </a:solidFill>
            </a:endParaRPr>
          </a:p>
          <a:p>
            <a:pPr marL="457200" indent="-457200">
              <a:buFont typeface="+mj-lt"/>
              <a:buAutoNum type="arabicPeriod"/>
            </a:pPr>
            <a:r>
              <a:rPr lang="en-US" sz="2400" dirty="0">
                <a:solidFill>
                  <a:schemeClr val="tx1"/>
                </a:solidFill>
              </a:rPr>
              <a:t>Context-free grammar​</a:t>
            </a:r>
            <a:endParaRPr lang="en-US" sz="2400" dirty="0">
              <a:solidFill>
                <a:schemeClr val="tx1"/>
              </a:solidFill>
            </a:endParaRPr>
          </a:p>
          <a:p>
            <a:pPr marL="457200" indent="-457200">
              <a:buFont typeface="+mj-lt"/>
              <a:buAutoNum type="arabicPeriod"/>
            </a:pPr>
            <a:r>
              <a:rPr lang="en-US" sz="2400" dirty="0">
                <a:solidFill>
                  <a:schemeClr val="tx1"/>
                </a:solidFill>
              </a:rPr>
              <a:t>Derivation</a:t>
            </a:r>
            <a:endParaRPr lang="en-US" sz="2400" dirty="0">
              <a:solidFill>
                <a:schemeClr val="tx1"/>
              </a:solidFill>
            </a:endParaRPr>
          </a:p>
          <a:p>
            <a:pPr marL="457200" indent="-457200">
              <a:buFont typeface="+mj-lt"/>
              <a:buAutoNum type="arabicPeriod"/>
            </a:pPr>
            <a:r>
              <a:rPr lang="en-US" sz="2400" dirty="0">
                <a:solidFill>
                  <a:schemeClr val="tx1"/>
                </a:solidFill>
              </a:rPr>
              <a:t>Ambiguity</a:t>
            </a:r>
            <a:endParaRPr lang="en-US" sz="2400" dirty="0">
              <a:solidFill>
                <a:schemeClr val="tx1"/>
              </a:solidFill>
            </a:endParaRPr>
          </a:p>
          <a:p>
            <a:pPr marL="457200" indent="-457200">
              <a:buFont typeface="+mj-lt"/>
              <a:buAutoNum type="arabicPeriod"/>
            </a:pPr>
            <a:r>
              <a:rPr lang="en-US" sz="2400" dirty="0">
                <a:solidFill>
                  <a:schemeClr val="tx1"/>
                </a:solidFill>
              </a:rPr>
              <a:t>Associativity of operators</a:t>
            </a:r>
            <a:endParaRPr lang="en-US" sz="2400" dirty="0">
              <a:solidFill>
                <a:schemeClr val="tx1"/>
              </a:solidFill>
            </a:endParaRPr>
          </a:p>
          <a:p>
            <a:pPr marL="457200" indent="-457200">
              <a:buFont typeface="+mj-lt"/>
              <a:buAutoNum type="arabicPeriod"/>
            </a:pPr>
            <a:r>
              <a:rPr lang="en-US" sz="2400" dirty="0">
                <a:solidFill>
                  <a:schemeClr val="tx1"/>
                </a:solidFill>
              </a:rPr>
              <a:t>Precedence of operators</a:t>
            </a:r>
            <a:endParaRPr lang="en-US" sz="2400" dirty="0">
              <a:solidFill>
                <a:schemeClr val="tx1"/>
              </a:solidFill>
            </a:endParaRPr>
          </a:p>
          <a:p>
            <a:pPr marL="457200" indent="-457200">
              <a:buFont typeface="+mj-lt"/>
              <a:buAutoNum type="arabicPeriod"/>
            </a:pPr>
            <a:r>
              <a:rPr lang="en-US" sz="2400" dirty="0">
                <a:solidFill>
                  <a:schemeClr val="tx1"/>
                </a:solidFill>
              </a:rPr>
              <a:t>Books and References</a:t>
            </a:r>
            <a:endParaRPr lang="en-US" sz="2400" dirty="0">
              <a:solidFill>
                <a:schemeClr val="tx1"/>
              </a:solidFill>
            </a:endParaRPr>
          </a:p>
          <a:p>
            <a:pPr lvl="2" algn="l">
              <a:buClr>
                <a:prstClr val="black">
                  <a:lumMod val="75000"/>
                  <a:lumOff val="25000"/>
                </a:prstClr>
              </a:buClr>
            </a:pPr>
            <a:endParaRPr lang="en-US" sz="3400" b="1" dirty="0">
              <a:solidFill>
                <a:schemeClr val="tx1"/>
              </a:solidFill>
            </a:endParaRPr>
          </a:p>
          <a:p>
            <a:pPr lvl="2" algn="l">
              <a:buClr>
                <a:prstClr val="black">
                  <a:lumMod val="75000"/>
                  <a:lumOff val="25000"/>
                </a:prstClr>
              </a:buClr>
            </a:pPr>
            <a:endParaRPr lang="en-US" sz="3400" b="1"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Objective and Outcome</a:t>
            </a:r>
            <a:endParaRPr lang="en-US" dirty="0"/>
          </a:p>
        </p:txBody>
      </p:sp>
      <p:sp>
        <p:nvSpPr>
          <p:cNvPr id="3" name="Subtitle 2"/>
          <p:cNvSpPr>
            <a:spLocks noGrp="1"/>
          </p:cNvSpPr>
          <p:nvPr>
            <p:ph type="subTitle" idx="1"/>
          </p:nvPr>
        </p:nvSpPr>
        <p:spPr>
          <a:xfrm>
            <a:off x="420513" y="2237318"/>
            <a:ext cx="8302973" cy="3853992"/>
          </a:xfrm>
        </p:spPr>
        <p:txBody>
          <a:bodyPr>
            <a:normAutofit/>
          </a:bodyPr>
          <a:lstStyle/>
          <a:p>
            <a:r>
              <a:rPr lang="en-US" sz="2400" dirty="0">
                <a:solidFill>
                  <a:srgbClr val="FF0000"/>
                </a:solidFill>
              </a:rPr>
              <a:t>Objective: </a:t>
            </a:r>
            <a:endParaRPr lang="en-US" sz="2400" dirty="0">
              <a:solidFill>
                <a:srgbClr val="FF0000"/>
              </a:solidFill>
            </a:endParaRPr>
          </a:p>
          <a:p>
            <a:pPr marL="285750" indent="-285750">
              <a:buFont typeface="Arial" panose="020B0604020202020204" pitchFamily="34" charset="0"/>
              <a:buChar char="•"/>
            </a:pPr>
            <a:r>
              <a:rPr lang="en-US" dirty="0">
                <a:solidFill>
                  <a:schemeClr val="tx1"/>
                </a:solidFill>
              </a:rPr>
              <a:t>To explain the Context Free Grammar (CFG) with example.</a:t>
            </a:r>
            <a:endParaRPr lang="en-US" dirty="0">
              <a:solidFill>
                <a:schemeClr val="tx1"/>
              </a:solidFill>
            </a:endParaRPr>
          </a:p>
          <a:p>
            <a:pPr marL="285750" indent="-285750">
              <a:buFont typeface="Arial" panose="020B0604020202020204" pitchFamily="34" charset="0"/>
              <a:buChar char="•"/>
            </a:pPr>
            <a:r>
              <a:rPr lang="en-US" dirty="0">
                <a:solidFill>
                  <a:schemeClr val="tx1"/>
                </a:solidFill>
              </a:rPr>
              <a:t>To demonstrate derivation or derivation tree from a CFG</a:t>
            </a:r>
            <a:endParaRPr lang="en-US" dirty="0">
              <a:solidFill>
                <a:schemeClr val="tx1"/>
              </a:solidFill>
            </a:endParaRPr>
          </a:p>
          <a:p>
            <a:pPr marL="285750" indent="-285750">
              <a:buFont typeface="Arial" panose="020B0604020202020204" pitchFamily="34" charset="0"/>
              <a:buChar char="•"/>
            </a:pPr>
            <a:r>
              <a:rPr lang="en-US" dirty="0">
                <a:solidFill>
                  <a:schemeClr val="tx1"/>
                </a:solidFill>
              </a:rPr>
              <a:t>To elaborate ambiguity and ambiguous grammar.   </a:t>
            </a:r>
            <a:endParaRPr lang="en-US" dirty="0">
              <a:solidFill>
                <a:schemeClr val="tx1"/>
              </a:solidFill>
            </a:endParaRPr>
          </a:p>
          <a:p>
            <a:pPr marL="285750" indent="-285750">
              <a:buFont typeface="Arial" panose="020B0604020202020204" pitchFamily="34" charset="0"/>
              <a:buChar char="•"/>
            </a:pPr>
            <a:r>
              <a:rPr lang="en-US" dirty="0">
                <a:solidFill>
                  <a:schemeClr val="tx1"/>
                </a:solidFill>
              </a:rPr>
              <a:t>To explain associativity and precedence of operator</a:t>
            </a: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a:p>
            <a:r>
              <a:rPr lang="en-US" sz="2400" dirty="0">
                <a:solidFill>
                  <a:srgbClr val="FF0000"/>
                </a:solidFill>
              </a:rPr>
              <a:t>Outcome: </a:t>
            </a:r>
            <a:endParaRPr lang="en-US" sz="2400" dirty="0">
              <a:solidFill>
                <a:srgbClr val="FF0000"/>
              </a:solidFill>
            </a:endParaRPr>
          </a:p>
          <a:p>
            <a:pPr marL="285750" indent="-285750">
              <a:buFont typeface="Arial" panose="020B0604020202020204" pitchFamily="34" charset="0"/>
              <a:buChar char="•"/>
            </a:pPr>
            <a:r>
              <a:rPr lang="en-US" dirty="0">
                <a:solidFill>
                  <a:schemeClr val="tx1"/>
                </a:solidFill>
              </a:rPr>
              <a:t>After this lecture the student will able to demonstrate CFG</a:t>
            </a:r>
            <a:endParaRPr lang="en-US" dirty="0">
              <a:solidFill>
                <a:schemeClr val="tx1"/>
              </a:solidFill>
            </a:endParaRPr>
          </a:p>
          <a:p>
            <a:pPr marL="285750" indent="-285750">
              <a:buFont typeface="Arial" panose="020B0604020202020204" pitchFamily="34" charset="0"/>
              <a:buChar char="•"/>
            </a:pPr>
            <a:r>
              <a:rPr lang="en-US" dirty="0">
                <a:solidFill>
                  <a:schemeClr val="tx1"/>
                </a:solidFill>
              </a:rPr>
              <a:t>Student will be capable of derivation from CFG</a:t>
            </a:r>
            <a:endParaRPr lang="en-US" dirty="0">
              <a:solidFill>
                <a:schemeClr val="tx1"/>
              </a:solidFill>
            </a:endParaRPr>
          </a:p>
          <a:p>
            <a:pPr marL="285750" indent="-285750">
              <a:buFont typeface="Arial" panose="020B0604020202020204" pitchFamily="34" charset="0"/>
              <a:buChar char="•"/>
            </a:pPr>
            <a:r>
              <a:rPr lang="en-US" dirty="0">
                <a:solidFill>
                  <a:schemeClr val="tx1"/>
                </a:solidFill>
              </a:rPr>
              <a:t>Student will be able to differentiate if a grammar is ambiguous or not.</a:t>
            </a:r>
            <a:endParaRPr lang="en-US" dirty="0">
              <a:solidFill>
                <a:schemeClr val="tx1"/>
              </a:solidFill>
            </a:endParaRPr>
          </a:p>
          <a:p>
            <a:pPr marL="285750" indent="-285750">
              <a:buFont typeface="Arial" panose="020B0604020202020204" pitchFamily="34" charset="0"/>
              <a:buChar char="•"/>
            </a:pPr>
            <a:r>
              <a:rPr lang="en-US" dirty="0">
                <a:solidFill>
                  <a:schemeClr val="tx1"/>
                </a:solidFill>
              </a:rPr>
              <a:t>After this lecture student will learn associativity and precedence of operator</a:t>
            </a:r>
            <a:endParaRPr lang="en-US" dirty="0">
              <a:solidFill>
                <a:schemeClr val="tx1"/>
              </a:solidFill>
            </a:endParaRPr>
          </a:p>
          <a:p>
            <a:pPr marL="285750" indent="-285750">
              <a:buFont typeface="Arial" panose="020B0604020202020204" pitchFamily="34" charset="0"/>
              <a:buChar char="•"/>
            </a:pPr>
            <a:endParaRPr lang="en-US"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cs typeface="Times New Roman" panose="02020603050405020304" pitchFamily="18" charset="0"/>
              </a:rPr>
              <a:t>Context-free grammar</a:t>
            </a:r>
            <a:endParaRPr lang="en-US" dirty="0"/>
          </a:p>
        </p:txBody>
      </p:sp>
      <p:sp>
        <p:nvSpPr>
          <p:cNvPr id="5" name="Subtitle 4"/>
          <p:cNvSpPr>
            <a:spLocks noGrp="1"/>
          </p:cNvSpPr>
          <p:nvPr>
            <p:ph type="subTitle" idx="1"/>
          </p:nvPr>
        </p:nvSpPr>
        <p:spPr/>
        <p:txBody>
          <a:bodyPr/>
          <a:lstStyle/>
          <a:p>
            <a:r>
              <a:rPr lang="en-GB" dirty="0"/>
              <a:t> </a:t>
            </a:r>
            <a:endParaRPr lang="x-none" dirty="0"/>
          </a:p>
        </p:txBody>
      </p:sp>
      <p:sp>
        <p:nvSpPr>
          <p:cNvPr id="6" name="TextBox 5"/>
          <p:cNvSpPr txBox="1"/>
          <p:nvPr/>
        </p:nvSpPr>
        <p:spPr>
          <a:xfrm>
            <a:off x="783773" y="2435897"/>
            <a:ext cx="8131628" cy="1938992"/>
          </a:xfrm>
          <a:prstGeom prst="rect">
            <a:avLst/>
          </a:prstGeom>
          <a:noFill/>
        </p:spPr>
        <p:txBody>
          <a:bodyPr wrap="square" rtlCol="0">
            <a:spAutoFit/>
          </a:bodyPr>
          <a:lstStyle/>
          <a:p>
            <a:pPr marL="285750" indent="-285750">
              <a:buFont typeface="Arial" panose="020B0604020202020204" pitchFamily="34" charset="0"/>
              <a:buChar char="•"/>
            </a:pPr>
            <a:r>
              <a:rPr lang="en-US" sz="2000" dirty="0"/>
              <a:t>In this section, we introduce a notation — the </a:t>
            </a:r>
            <a:r>
              <a:rPr lang="en-US" sz="2000" b="1" dirty="0"/>
              <a:t>"context-free grammar," </a:t>
            </a:r>
            <a:r>
              <a:rPr lang="en-US" sz="2000" dirty="0"/>
              <a:t>or</a:t>
            </a:r>
            <a:endParaRPr lang="en-US" sz="2000" dirty="0"/>
          </a:p>
          <a:p>
            <a:r>
              <a:rPr lang="en-US" sz="2000" b="1" dirty="0"/>
              <a:t>"grammar" </a:t>
            </a:r>
            <a:r>
              <a:rPr lang="en-US" sz="2000" dirty="0"/>
              <a:t>for short — that is used to specify the syntax of a language. </a:t>
            </a:r>
            <a:endParaRPr lang="en-US" sz="2000" dirty="0"/>
          </a:p>
          <a:p>
            <a:pPr marL="285750" indent="-285750">
              <a:buFont typeface="Arial" panose="020B0604020202020204" pitchFamily="34" charset="0"/>
              <a:buChar char="•"/>
            </a:pPr>
            <a:r>
              <a:rPr lang="en-US" sz="2000" dirty="0"/>
              <a:t>A grammar naturally describes the hierarchical structure of most programming language constructs. </a:t>
            </a:r>
            <a:endParaRPr lang="en-US" sz="2000" dirty="0"/>
          </a:p>
          <a:p>
            <a:pPr marL="285750" indent="-285750">
              <a:buFont typeface="Arial" panose="020B0604020202020204" pitchFamily="34" charset="0"/>
              <a:buChar char="•"/>
            </a:pPr>
            <a:r>
              <a:rPr lang="en-US" sz="2000" dirty="0"/>
              <a:t>For example, an if-else statement in Java can have the form</a:t>
            </a:r>
            <a:endParaRPr lang="en-US" sz="2000" dirty="0"/>
          </a:p>
          <a:p>
            <a:pPr lvl="2"/>
            <a:r>
              <a:rPr lang="en-US" sz="2000" dirty="0"/>
              <a:t>if ( expression ) statement else statement</a:t>
            </a:r>
            <a:endParaRPr lang="x-none"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Definition</a:t>
            </a:r>
            <a:endParaRPr lang="en-US" sz="2600" b="1" dirty="0">
              <a:solidFill>
                <a:schemeClr val="tx1"/>
              </a:solidFill>
            </a:endParaRPr>
          </a:p>
        </p:txBody>
      </p:sp>
      <p:sp>
        <p:nvSpPr>
          <p:cNvPr id="5" name="TextBox 4"/>
          <p:cNvSpPr txBox="1"/>
          <p:nvPr/>
        </p:nvSpPr>
        <p:spPr>
          <a:xfrm>
            <a:off x="335495" y="1795817"/>
            <a:ext cx="8487230" cy="2123658"/>
          </a:xfrm>
          <a:prstGeom prst="rect">
            <a:avLst/>
          </a:prstGeom>
          <a:noFill/>
        </p:spPr>
        <p:txBody>
          <a:bodyPr wrap="square" rtlCol="0">
            <a:spAutoFit/>
          </a:bodyPr>
          <a:lstStyle/>
          <a:p>
            <a:r>
              <a:rPr lang="en-US" sz="2400" dirty="0"/>
              <a:t>A grammar consists of: </a:t>
            </a:r>
            <a:endParaRPr lang="en-US" sz="2400" dirty="0"/>
          </a:p>
          <a:p>
            <a:pPr marL="285750" indent="-285750">
              <a:buFont typeface="Arial" panose="020B0604020202020204" pitchFamily="34" charset="0"/>
              <a:buChar char="•"/>
            </a:pPr>
            <a:r>
              <a:rPr lang="en-US" dirty="0"/>
              <a:t>a set of variables (also called non terminals), one of which is designated the start variable; It is customary to use upper-case letters for variables; </a:t>
            </a:r>
            <a:endParaRPr lang="en-US" dirty="0"/>
          </a:p>
          <a:p>
            <a:pPr marL="285750" indent="-285750">
              <a:buFont typeface="Arial" panose="020B0604020202020204" pitchFamily="34" charset="0"/>
              <a:buChar char="•"/>
            </a:pPr>
            <a:r>
              <a:rPr lang="en-US" dirty="0"/>
              <a:t>a set of terminals (from the alphabet); and </a:t>
            </a:r>
            <a:endParaRPr lang="en-US" dirty="0"/>
          </a:p>
          <a:p>
            <a:pPr marL="285750" indent="-285750">
              <a:buFont typeface="Arial" panose="020B0604020202020204" pitchFamily="34" charset="0"/>
              <a:buChar char="•"/>
            </a:pPr>
            <a:r>
              <a:rPr lang="en-US" dirty="0"/>
              <a:t>a list of productions (also called rules).</a:t>
            </a:r>
            <a:endParaRPr lang="en-US" dirty="0"/>
          </a:p>
          <a:p>
            <a:pPr marL="285750" indent="-285750">
              <a:buFont typeface="Arial" panose="020B0604020202020204" pitchFamily="34" charset="0"/>
              <a:buChar char="•"/>
            </a:pPr>
            <a:r>
              <a:rPr lang="en-US" dirty="0"/>
              <a:t>A designation of one of the non terminals as the </a:t>
            </a:r>
            <a:r>
              <a:rPr lang="en-US" i="1" dirty="0"/>
              <a:t>start </a:t>
            </a:r>
            <a:r>
              <a:rPr lang="en-US" dirty="0"/>
              <a:t>symbol.</a:t>
            </a:r>
            <a:br>
              <a:rPr lang="en-US" dirty="0"/>
            </a:b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Formal Definition</a:t>
            </a:r>
            <a:endParaRPr lang="en-US" sz="2600" b="1" dirty="0">
              <a:solidFill>
                <a:schemeClr val="tx1"/>
              </a:solidFill>
            </a:endParaRPr>
          </a:p>
        </p:txBody>
      </p:sp>
      <p:sp>
        <p:nvSpPr>
          <p:cNvPr id="5" name="TextBox 4"/>
          <p:cNvSpPr txBox="1"/>
          <p:nvPr/>
        </p:nvSpPr>
        <p:spPr>
          <a:xfrm>
            <a:off x="335495" y="1795817"/>
            <a:ext cx="8487230" cy="1754326"/>
          </a:xfrm>
          <a:prstGeom prst="rect">
            <a:avLst/>
          </a:prstGeom>
          <a:noFill/>
        </p:spPr>
        <p:txBody>
          <a:bodyPr wrap="square" rtlCol="0">
            <a:spAutoFit/>
          </a:bodyPr>
          <a:lstStyle/>
          <a:p>
            <a:r>
              <a:rPr lang="en-US" dirty="0"/>
              <a:t>One can provide a formal definition of a context free grammar. It is a 4-tuple (V, Σ, S, P) where:</a:t>
            </a:r>
            <a:endParaRPr lang="en-US" dirty="0"/>
          </a:p>
          <a:p>
            <a:r>
              <a:rPr lang="en-US" dirty="0"/>
              <a:t>• V is a finite set of variables;</a:t>
            </a:r>
            <a:endParaRPr lang="en-US" dirty="0"/>
          </a:p>
          <a:p>
            <a:r>
              <a:rPr lang="en-US" dirty="0"/>
              <a:t>• Σ is a finite alphabet of terminals;</a:t>
            </a:r>
            <a:endParaRPr lang="en-US" dirty="0"/>
          </a:p>
          <a:p>
            <a:r>
              <a:rPr lang="en-US" dirty="0"/>
              <a:t>• S is the start variable; and</a:t>
            </a:r>
            <a:endParaRPr lang="en-US" dirty="0"/>
          </a:p>
          <a:p>
            <a:r>
              <a:rPr lang="en-US" dirty="0"/>
              <a:t>• P is the finite set of productions. Each production has the form V → (V ∪ Σ)∗</a:t>
            </a:r>
            <a:endParaRPr lang="en-US" dirty="0"/>
          </a:p>
        </p:txBody>
      </p:sp>
      <p:sp>
        <p:nvSpPr>
          <p:cNvPr id="4" name="TextBox 3"/>
          <p:cNvSpPr txBox="1"/>
          <p:nvPr/>
        </p:nvSpPr>
        <p:spPr>
          <a:xfrm>
            <a:off x="335494" y="4473473"/>
            <a:ext cx="8487230" cy="1200329"/>
          </a:xfrm>
          <a:prstGeom prst="rect">
            <a:avLst/>
          </a:prstGeom>
          <a:noFill/>
        </p:spPr>
        <p:txBody>
          <a:bodyPr wrap="square" rtlCol="0">
            <a:spAutoFit/>
          </a:bodyPr>
          <a:lstStyle/>
          <a:p>
            <a:r>
              <a:rPr lang="en-US" dirty="0"/>
              <a:t>Example: 0ⁿ1ⁿ Here is a grammar: </a:t>
            </a:r>
            <a:endParaRPr lang="en-US" dirty="0"/>
          </a:p>
          <a:p>
            <a:r>
              <a:rPr lang="en-US" dirty="0"/>
              <a:t>S → 0S1 </a:t>
            </a:r>
            <a:endParaRPr lang="en-US" dirty="0"/>
          </a:p>
          <a:p>
            <a:r>
              <a:rPr lang="en-US" dirty="0"/>
              <a:t>S → ε </a:t>
            </a:r>
            <a:endParaRPr lang="en-US" dirty="0"/>
          </a:p>
          <a:p>
            <a:r>
              <a:rPr lang="en-US" dirty="0"/>
              <a:t>S is the only variable. The terminals are 0 and 1. There are two productions.</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Derivation</a:t>
            </a:r>
            <a:endParaRPr lang="en-US" dirty="0"/>
          </a:p>
        </p:txBody>
      </p:sp>
      <p:sp>
        <p:nvSpPr>
          <p:cNvPr id="5" name="Subtitle 4"/>
          <p:cNvSpPr>
            <a:spLocks noGrp="1"/>
          </p:cNvSpPr>
          <p:nvPr>
            <p:ph type="subTitle" idx="1"/>
          </p:nvPr>
        </p:nvSpPr>
        <p:spPr/>
        <p:txBody>
          <a:bodyPr/>
          <a:lstStyle/>
          <a:p>
            <a:r>
              <a:rPr lang="en-US" dirty="0"/>
              <a:t> </a:t>
            </a:r>
            <a:endParaRPr lang="x-none" dirty="0"/>
          </a:p>
        </p:txBody>
      </p:sp>
      <p:sp>
        <p:nvSpPr>
          <p:cNvPr id="4" name="TextBox 3"/>
          <p:cNvSpPr txBox="1"/>
          <p:nvPr/>
        </p:nvSpPr>
        <p:spPr>
          <a:xfrm>
            <a:off x="476205" y="2435897"/>
            <a:ext cx="8334163" cy="1200329"/>
          </a:xfrm>
          <a:prstGeom prst="rect">
            <a:avLst/>
          </a:prstGeom>
          <a:noFill/>
        </p:spPr>
        <p:txBody>
          <a:bodyPr wrap="square" rtlCol="0">
            <a:spAutoFit/>
          </a:bodyPr>
          <a:lstStyle/>
          <a:p>
            <a:pPr marL="342900" indent="-342900">
              <a:buFont typeface="Arial" panose="020B0604020202020204" pitchFamily="34" charset="0"/>
              <a:buChar char="•"/>
            </a:pPr>
            <a:r>
              <a:rPr lang="en-US" dirty="0"/>
              <a:t>A grammar derives strings by beginning with the start symbol and repeatedly replacing a nonterminal by the body of a production for that nonterminal. </a:t>
            </a:r>
            <a:endParaRPr lang="en-US" dirty="0"/>
          </a:p>
          <a:p>
            <a:pPr marL="342900" indent="-342900">
              <a:buFont typeface="Arial" panose="020B0604020202020204" pitchFamily="34" charset="0"/>
              <a:buChar char="•"/>
            </a:pPr>
            <a:r>
              <a:rPr lang="en-US" dirty="0"/>
              <a:t>The terminal strings that can be derived from the start symbol form the language defined by the grammar.</a:t>
            </a:r>
            <a:endParaRPr lang="x-none"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Derivation</a:t>
            </a:r>
            <a:endParaRPr lang="en-US" sz="2600" b="1" dirty="0">
              <a:solidFill>
                <a:schemeClr val="tx1"/>
              </a:solidFill>
            </a:endParaRPr>
          </a:p>
        </p:txBody>
      </p:sp>
      <p:sp>
        <p:nvSpPr>
          <p:cNvPr id="5" name="TextBox 4"/>
          <p:cNvSpPr txBox="1"/>
          <p:nvPr/>
        </p:nvSpPr>
        <p:spPr>
          <a:xfrm>
            <a:off x="498574" y="1400400"/>
            <a:ext cx="7780451" cy="2862322"/>
          </a:xfrm>
          <a:prstGeom prst="rect">
            <a:avLst/>
          </a:prstGeom>
          <a:noFill/>
        </p:spPr>
        <p:txBody>
          <a:bodyPr wrap="square" rtlCol="0">
            <a:spAutoFit/>
          </a:bodyPr>
          <a:lstStyle/>
          <a:p>
            <a:r>
              <a:rPr lang="en-US" dirty="0"/>
              <a:t>S → 0S1</a:t>
            </a:r>
            <a:endParaRPr lang="en-US" dirty="0"/>
          </a:p>
          <a:p>
            <a:r>
              <a:rPr lang="en-US" dirty="0"/>
              <a:t>S → ε</a:t>
            </a:r>
            <a:endParaRPr lang="en-US" dirty="0"/>
          </a:p>
          <a:p>
            <a:endParaRPr lang="en-US" dirty="0"/>
          </a:p>
          <a:p>
            <a:r>
              <a:rPr lang="en-US" dirty="0"/>
              <a:t>The string 0011 is in the language generated.</a:t>
            </a:r>
            <a:endParaRPr lang="en-US" dirty="0"/>
          </a:p>
          <a:p>
            <a:endParaRPr lang="en-US" dirty="0"/>
          </a:p>
          <a:p>
            <a:r>
              <a:rPr lang="en-US" dirty="0"/>
              <a:t>The derivation is:</a:t>
            </a:r>
            <a:endParaRPr lang="en-US" dirty="0"/>
          </a:p>
          <a:p>
            <a:r>
              <a:rPr lang="en-US" dirty="0"/>
              <a:t>S =⇒ 0S1 =⇒ 00S11 =⇒ 0011</a:t>
            </a:r>
            <a:endParaRPr lang="en-US" dirty="0"/>
          </a:p>
          <a:p>
            <a:r>
              <a:rPr lang="en-US" dirty="0"/>
              <a:t>For compactness, we write</a:t>
            </a:r>
            <a:endParaRPr lang="en-US" dirty="0"/>
          </a:p>
          <a:p>
            <a:r>
              <a:rPr lang="en-US" dirty="0"/>
              <a:t>S → 0S1 | ε</a:t>
            </a:r>
            <a:endParaRPr lang="en-US" dirty="0"/>
          </a:p>
          <a:p>
            <a:r>
              <a:rPr lang="en-US" dirty="0"/>
              <a:t>where the vertical bar means or.</a:t>
            </a:r>
            <a:endParaRPr lang="x-none" dirty="0"/>
          </a:p>
        </p:txBody>
      </p:sp>
      <p:sp>
        <p:nvSpPr>
          <p:cNvPr id="4" name="TextBox 3"/>
          <p:cNvSpPr txBox="1"/>
          <p:nvPr/>
        </p:nvSpPr>
        <p:spPr>
          <a:xfrm>
            <a:off x="498574" y="4718936"/>
            <a:ext cx="7780451" cy="1477328"/>
          </a:xfrm>
          <a:prstGeom prst="rect">
            <a:avLst/>
          </a:prstGeom>
          <a:noFill/>
        </p:spPr>
        <p:txBody>
          <a:bodyPr wrap="square" rtlCol="0">
            <a:spAutoFit/>
          </a:bodyPr>
          <a:lstStyle/>
          <a:p>
            <a:r>
              <a:rPr lang="en-US" dirty="0"/>
              <a:t>Consider the CFG</a:t>
            </a:r>
            <a:endParaRPr lang="en-US" dirty="0"/>
          </a:p>
          <a:p>
            <a:r>
              <a:rPr lang="en-US" dirty="0"/>
              <a:t>S → 0S1S | 1S0S | ε</a:t>
            </a:r>
            <a:endParaRPr lang="en-US" dirty="0"/>
          </a:p>
          <a:p>
            <a:r>
              <a:rPr lang="en-US" dirty="0"/>
              <a:t>The string 011100 is generated:</a:t>
            </a:r>
            <a:endParaRPr lang="en-US" dirty="0"/>
          </a:p>
          <a:p>
            <a:r>
              <a:rPr lang="en-US" dirty="0"/>
              <a:t>S =⇒ 0S1S =⇒ 01S =⇒ 011S0S =⇒ 0111S0S0S</a:t>
            </a:r>
            <a:endParaRPr lang="en-US" dirty="0"/>
          </a:p>
          <a:p>
            <a:r>
              <a:rPr lang="en-US" dirty="0"/>
              <a:t>=⇒ 01110S0S =⇒ 011100S =⇒ 011100</a:t>
            </a:r>
            <a:endParaRPr lang="x-none"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Derivation</a:t>
            </a:r>
            <a:endParaRPr lang="en-US" sz="2600" b="1" dirty="0">
              <a:solidFill>
                <a:schemeClr val="tx1"/>
              </a:solidFill>
            </a:endParaRPr>
          </a:p>
        </p:txBody>
      </p:sp>
      <p:sp>
        <p:nvSpPr>
          <p:cNvPr id="5" name="TextBox 4"/>
          <p:cNvSpPr txBox="1"/>
          <p:nvPr/>
        </p:nvSpPr>
        <p:spPr>
          <a:xfrm>
            <a:off x="498574" y="1400400"/>
            <a:ext cx="7780451" cy="2862322"/>
          </a:xfrm>
          <a:prstGeom prst="rect">
            <a:avLst/>
          </a:prstGeom>
          <a:noFill/>
        </p:spPr>
        <p:txBody>
          <a:bodyPr wrap="square" rtlCol="0">
            <a:spAutoFit/>
          </a:bodyPr>
          <a:lstStyle/>
          <a:p>
            <a:pPr marL="285750" indent="-285750">
              <a:buFont typeface="Arial" panose="020B0604020202020204" pitchFamily="34" charset="0"/>
              <a:buChar char="•"/>
            </a:pPr>
            <a:r>
              <a:rPr lang="en-US" dirty="0"/>
              <a:t>This CFG generates sentences as composed of noun- and verb-phrases:</a:t>
            </a:r>
            <a:endParaRPr lang="en-US" dirty="0"/>
          </a:p>
          <a:p>
            <a:endParaRPr lang="en-US" dirty="0"/>
          </a:p>
          <a:p>
            <a:r>
              <a:rPr lang="en-US" dirty="0"/>
              <a:t>S → NP VP</a:t>
            </a:r>
            <a:endParaRPr lang="en-US" dirty="0"/>
          </a:p>
          <a:p>
            <a:r>
              <a:rPr lang="en-US" dirty="0"/>
              <a:t>NP → the N</a:t>
            </a:r>
            <a:endParaRPr lang="en-US" dirty="0"/>
          </a:p>
          <a:p>
            <a:r>
              <a:rPr lang="en-US" dirty="0"/>
              <a:t>VP → V NP</a:t>
            </a:r>
            <a:endParaRPr lang="en-US" dirty="0"/>
          </a:p>
          <a:p>
            <a:r>
              <a:rPr lang="en-US" dirty="0"/>
              <a:t>V → sings | eats</a:t>
            </a:r>
            <a:endParaRPr lang="en-US" dirty="0"/>
          </a:p>
          <a:p>
            <a:r>
              <a:rPr lang="en-US" dirty="0"/>
              <a:t>N → cat | song | canary</a:t>
            </a:r>
            <a:endParaRPr lang="en-US" dirty="0"/>
          </a:p>
          <a:p>
            <a:endParaRPr lang="en-US" dirty="0"/>
          </a:p>
          <a:p>
            <a:r>
              <a:rPr lang="en-US" dirty="0"/>
              <a:t>This generates “the canary sings the song”, but also “the song eats the cat”.</a:t>
            </a:r>
            <a:endParaRPr lang="en-US" dirty="0"/>
          </a:p>
          <a:p>
            <a:r>
              <a:rPr lang="en-US" dirty="0"/>
              <a:t>This CFG generates all “legal” sentences, not just meaningful ones.</a:t>
            </a:r>
            <a:endParaRPr lang="x-none"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Derivation Exercise</a:t>
            </a:r>
            <a:endParaRPr lang="en-US" sz="2600" b="1" dirty="0">
              <a:solidFill>
                <a:schemeClr val="tx1"/>
              </a:solidFill>
            </a:endParaRPr>
          </a:p>
        </p:txBody>
      </p:sp>
      <p:sp>
        <p:nvSpPr>
          <p:cNvPr id="5" name="TextBox 4"/>
          <p:cNvSpPr txBox="1"/>
          <p:nvPr/>
        </p:nvSpPr>
        <p:spPr>
          <a:xfrm>
            <a:off x="508734" y="1400400"/>
            <a:ext cx="7780451" cy="1753235"/>
          </a:xfrm>
          <a:prstGeom prst="rect">
            <a:avLst/>
          </a:prstGeom>
          <a:noFill/>
        </p:spPr>
        <p:txBody>
          <a:bodyPr wrap="square" rtlCol="0">
            <a:spAutoFit/>
          </a:bodyPr>
          <a:lstStyle/>
          <a:p>
            <a:pPr marL="285750" indent="-285750">
              <a:buFont typeface="Arial" panose="020B0604020202020204" pitchFamily="34" charset="0"/>
              <a:buChar char="•"/>
            </a:pPr>
            <a:r>
              <a:rPr lang="en-US" altLang="x-none" dirty="0"/>
              <a:t>0</a:t>
            </a:r>
            <a:r>
              <a:rPr lang="en-US" altLang="x-none" baseline="30000" dirty="0"/>
              <a:t>n </a:t>
            </a:r>
            <a:r>
              <a:rPr lang="en-US" altLang="x-none" dirty="0"/>
              <a:t>1</a:t>
            </a:r>
            <a:r>
              <a:rPr lang="en-US" altLang="x-none" baseline="30000" dirty="0"/>
              <a:t>n </a:t>
            </a:r>
            <a:r>
              <a:rPr lang="en-US" altLang="x-none" dirty="0"/>
              <a:t>,n&gt;=1</a:t>
            </a:r>
            <a:endParaRPr lang="en-US" altLang="x-none" dirty="0"/>
          </a:p>
          <a:p>
            <a:pPr marL="285750" indent="-285750">
              <a:buFont typeface="Arial" panose="020B0604020202020204" pitchFamily="34" charset="0"/>
              <a:buChar char="•"/>
            </a:pPr>
            <a:r>
              <a:rPr lang="en-US" altLang="x-none" dirty="0">
                <a:sym typeface="+mn-ea"/>
              </a:rPr>
              <a:t>0</a:t>
            </a:r>
            <a:r>
              <a:rPr lang="en-US" altLang="x-none" baseline="30000" dirty="0">
                <a:sym typeface="+mn-ea"/>
              </a:rPr>
              <a:t>n </a:t>
            </a:r>
            <a:r>
              <a:rPr lang="en-US" altLang="x-none" dirty="0">
                <a:sym typeface="+mn-ea"/>
              </a:rPr>
              <a:t>1</a:t>
            </a:r>
            <a:r>
              <a:rPr lang="en-US" altLang="x-none" baseline="30000" dirty="0">
                <a:sym typeface="+mn-ea"/>
              </a:rPr>
              <a:t>n+2 </a:t>
            </a:r>
            <a:r>
              <a:rPr lang="en-US" altLang="x-none" dirty="0">
                <a:sym typeface="+mn-ea"/>
              </a:rPr>
              <a:t>,n&gt;=0</a:t>
            </a:r>
            <a:endParaRPr lang="en-US" altLang="x-none" dirty="0"/>
          </a:p>
          <a:p>
            <a:pPr marL="285750" indent="-285750">
              <a:buFont typeface="Arial" panose="020B0604020202020204" pitchFamily="34" charset="0"/>
              <a:buChar char="•"/>
            </a:pPr>
            <a:r>
              <a:rPr lang="en-US" altLang="x-none" dirty="0">
                <a:sym typeface="+mn-ea"/>
              </a:rPr>
              <a:t>0</a:t>
            </a:r>
            <a:r>
              <a:rPr lang="en-US" altLang="x-none" baseline="30000" dirty="0">
                <a:sym typeface="+mn-ea"/>
              </a:rPr>
              <a:t> 2n</a:t>
            </a:r>
            <a:r>
              <a:rPr lang="en-US" altLang="x-none" dirty="0">
                <a:sym typeface="+mn-ea"/>
              </a:rPr>
              <a:t>1</a:t>
            </a:r>
            <a:r>
              <a:rPr lang="en-US" altLang="x-none" baseline="30000" dirty="0">
                <a:sym typeface="+mn-ea"/>
              </a:rPr>
              <a:t>n </a:t>
            </a:r>
            <a:r>
              <a:rPr lang="en-US" altLang="x-none" dirty="0">
                <a:sym typeface="+mn-ea"/>
              </a:rPr>
              <a:t>,n&gt;=0</a:t>
            </a:r>
            <a:endParaRPr lang="en-US" altLang="x-none" dirty="0">
              <a:sym typeface="+mn-ea"/>
            </a:endParaRPr>
          </a:p>
          <a:p>
            <a:pPr marL="285750" indent="-285750">
              <a:buFont typeface="Arial" panose="020B0604020202020204" pitchFamily="34" charset="0"/>
              <a:buChar char="•"/>
            </a:pPr>
            <a:r>
              <a:rPr lang="en-US" altLang="x-none" dirty="0">
                <a:sym typeface="+mn-ea"/>
              </a:rPr>
              <a:t>0</a:t>
            </a:r>
            <a:r>
              <a:rPr lang="en-US" altLang="x-none" baseline="30000" dirty="0">
                <a:sym typeface="+mn-ea"/>
              </a:rPr>
              <a:t> 2n+2</a:t>
            </a:r>
            <a:r>
              <a:rPr lang="en-US" altLang="x-none" dirty="0">
                <a:sym typeface="+mn-ea"/>
              </a:rPr>
              <a:t>1</a:t>
            </a:r>
            <a:r>
              <a:rPr lang="en-US" altLang="x-none" baseline="30000" dirty="0">
                <a:sym typeface="+mn-ea"/>
              </a:rPr>
              <a:t>n </a:t>
            </a:r>
            <a:r>
              <a:rPr lang="en-US" altLang="x-none" dirty="0">
                <a:sym typeface="+mn-ea"/>
              </a:rPr>
              <a:t>,n&gt;=0</a:t>
            </a:r>
            <a:endParaRPr lang="en-US" altLang="x-none" dirty="0"/>
          </a:p>
          <a:p>
            <a:pPr marL="285750" indent="-285750">
              <a:buFont typeface="Arial" panose="020B0604020202020204" pitchFamily="34" charset="0"/>
              <a:buChar char="•"/>
            </a:pPr>
            <a:endParaRPr lang="en-US" altLang="x-none" dirty="0"/>
          </a:p>
          <a:p>
            <a:pPr marL="285750" indent="-285750">
              <a:buFont typeface="Arial" panose="020B0604020202020204" pitchFamily="34" charset="0"/>
              <a:buChar char="•"/>
            </a:pPr>
            <a:endParaRPr lang="en-US" altLang="x-none"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cs typeface="Times New Roman" panose="02020603050405020304" pitchFamily="18" charset="0"/>
              </a:rPr>
              <a:t>Parse Trees and Ambiguity</a:t>
            </a:r>
            <a:endParaRPr lang="en-US" dirty="0"/>
          </a:p>
        </p:txBody>
      </p:sp>
      <p:sp>
        <p:nvSpPr>
          <p:cNvPr id="5" name="Subtitle 4"/>
          <p:cNvSpPr>
            <a:spLocks noGrp="1"/>
          </p:cNvSpPr>
          <p:nvPr>
            <p:ph type="subTitle" idx="1"/>
          </p:nvPr>
        </p:nvSpPr>
        <p:spPr/>
        <p:txBody>
          <a:bodyPr/>
          <a:lstStyle/>
          <a:p>
            <a:r>
              <a:rPr lang="en-US" dirty="0"/>
              <a:t> </a:t>
            </a:r>
            <a:endParaRPr lang="x-none" dirty="0"/>
          </a:p>
        </p:txBody>
      </p:sp>
      <p:sp>
        <p:nvSpPr>
          <p:cNvPr id="4" name="TextBox 3"/>
          <p:cNvSpPr txBox="1"/>
          <p:nvPr/>
        </p:nvSpPr>
        <p:spPr>
          <a:xfrm>
            <a:off x="598420" y="2435897"/>
            <a:ext cx="7400616" cy="1200329"/>
          </a:xfrm>
          <a:prstGeom prst="rect">
            <a:avLst/>
          </a:prstGeom>
          <a:noFill/>
        </p:spPr>
        <p:txBody>
          <a:bodyPr wrap="none" rtlCol="0">
            <a:spAutoFit/>
          </a:bodyPr>
          <a:lstStyle/>
          <a:p>
            <a:pPr marL="285750" indent="-285750">
              <a:buFont typeface="Arial" panose="020B0604020202020204" pitchFamily="34" charset="0"/>
              <a:buChar char="•"/>
            </a:pPr>
            <a:r>
              <a:rPr lang="en-US" dirty="0"/>
              <a:t>A parse tree pictorially shows how the start symbol of a grammar derives a</a:t>
            </a:r>
            <a:endParaRPr lang="en-US" dirty="0"/>
          </a:p>
          <a:p>
            <a:r>
              <a:rPr lang="en-US" dirty="0"/>
              <a:t>string in the language. If nonterminal A has a production A -&gt; XYZ, then a</a:t>
            </a:r>
            <a:endParaRPr lang="en-US" dirty="0"/>
          </a:p>
          <a:p>
            <a:r>
              <a:rPr lang="en-US" dirty="0"/>
              <a:t>parse tree may have an interior node labeled A with three children labeled X,</a:t>
            </a:r>
            <a:endParaRPr lang="en-US" dirty="0"/>
          </a:p>
          <a:p>
            <a:r>
              <a:rPr lang="en-US" dirty="0"/>
              <a:t>Y, and Z, from left to right.</a:t>
            </a:r>
            <a:endParaRPr lang="x-none" dirty="0"/>
          </a:p>
        </p:txBody>
      </p:sp>
      <p:sp>
        <p:nvSpPr>
          <p:cNvPr id="6" name="TextBox 5"/>
          <p:cNvSpPr txBox="1"/>
          <p:nvPr/>
        </p:nvSpPr>
        <p:spPr>
          <a:xfrm>
            <a:off x="598419" y="4055064"/>
            <a:ext cx="7278401" cy="646331"/>
          </a:xfrm>
          <a:prstGeom prst="rect">
            <a:avLst/>
          </a:prstGeom>
          <a:noFill/>
        </p:spPr>
        <p:txBody>
          <a:bodyPr wrap="square" rtlCol="0">
            <a:spAutoFit/>
          </a:bodyPr>
          <a:lstStyle/>
          <a:p>
            <a:pPr marL="285750" indent="-285750">
              <a:buFont typeface="Arial" panose="020B0604020202020204" pitchFamily="34" charset="0"/>
              <a:buChar char="•"/>
            </a:pPr>
            <a:r>
              <a:rPr lang="en-US" dirty="0"/>
              <a:t>A grammar can have more than one parse tree generating a given string of terminals. Such a grammar is said to be ambiguous.</a:t>
            </a:r>
            <a:endParaRPr lang="x-none"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Derivation</a:t>
            </a:r>
            <a:endParaRPr lang="en-US" sz="2600" b="1" dirty="0">
              <a:solidFill>
                <a:schemeClr val="tx1"/>
              </a:solidFill>
            </a:endParaRPr>
          </a:p>
        </p:txBody>
      </p:sp>
      <p:pic>
        <p:nvPicPr>
          <p:cNvPr id="1027" name="Picture 3" descr="C:\Users\teacher\Desktop\Compiler design\fig-2-3 (1).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66875" y="2195513"/>
            <a:ext cx="5810250" cy="246697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1136822" y="1450030"/>
            <a:ext cx="7105136" cy="369332"/>
          </a:xfrm>
          <a:prstGeom prst="rect">
            <a:avLst/>
          </a:prstGeom>
        </p:spPr>
        <p:txBody>
          <a:bodyPr wrap="square">
            <a:spAutoFit/>
          </a:bodyPr>
          <a:lstStyle/>
          <a:p>
            <a:r>
              <a:rPr lang="en-US" i="1" dirty="0"/>
              <a:t>string</a:t>
            </a:r>
            <a:r>
              <a:rPr lang="en-US" dirty="0"/>
              <a:t> -&gt;</a:t>
            </a:r>
            <a:r>
              <a:rPr lang="en-US" i="1" dirty="0"/>
              <a:t>string</a:t>
            </a:r>
            <a:r>
              <a:rPr lang="en-US" dirty="0"/>
              <a:t> + </a:t>
            </a:r>
            <a:r>
              <a:rPr lang="en-US" i="1" dirty="0"/>
              <a:t>string</a:t>
            </a:r>
            <a:r>
              <a:rPr lang="en-US" dirty="0"/>
              <a:t> | </a:t>
            </a:r>
            <a:r>
              <a:rPr lang="en-US" i="1" dirty="0"/>
              <a:t>string</a:t>
            </a:r>
            <a:r>
              <a:rPr lang="en-US" dirty="0"/>
              <a:t> - </a:t>
            </a:r>
            <a:r>
              <a:rPr lang="en-US" i="1" dirty="0"/>
              <a:t>string </a:t>
            </a:r>
            <a:r>
              <a:rPr lang="en-US" dirty="0"/>
              <a:t>| 0 | 1 | 2 | 3 | 4 | 5 | 6 | 7 | 8 | 9</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182880" y="731162"/>
            <a:ext cx="7413674" cy="845548"/>
          </a:xfrm>
          <a:prstGeom prst="rect">
            <a:avLst/>
          </a:prstGeom>
        </p:spPr>
        <p:txBody>
          <a:bodyPr>
            <a:no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Check if the given grammar G is ambiguous or not.</a:t>
            </a:r>
            <a:endParaRPr lang="en-US" sz="2600" b="1" dirty="0">
              <a:solidFill>
                <a:schemeClr val="tx1"/>
              </a:solidFill>
            </a:endParaRPr>
          </a:p>
        </p:txBody>
      </p:sp>
      <p:sp>
        <p:nvSpPr>
          <p:cNvPr id="5" name="TextBox 4"/>
          <p:cNvSpPr txBox="1"/>
          <p:nvPr/>
        </p:nvSpPr>
        <p:spPr>
          <a:xfrm>
            <a:off x="1066987" y="1795817"/>
            <a:ext cx="1471878" cy="646331"/>
          </a:xfrm>
          <a:prstGeom prst="rect">
            <a:avLst/>
          </a:prstGeom>
          <a:noFill/>
        </p:spPr>
        <p:txBody>
          <a:bodyPr wrap="none" rtlCol="0">
            <a:spAutoFit/>
          </a:bodyPr>
          <a:lstStyle/>
          <a:p>
            <a:r>
              <a:rPr lang="en-US" dirty="0"/>
              <a:t>S → </a:t>
            </a:r>
            <a:r>
              <a:rPr lang="en-US" dirty="0" err="1"/>
              <a:t>aSb</a:t>
            </a:r>
            <a:r>
              <a:rPr lang="en-US" dirty="0"/>
              <a:t> | SS  </a:t>
            </a:r>
            <a:endParaRPr lang="en-US" dirty="0"/>
          </a:p>
          <a:p>
            <a:r>
              <a:rPr lang="en-US" dirty="0"/>
              <a:t>S → ε </a:t>
            </a:r>
            <a:endParaRPr lang="x-none" dirty="0"/>
          </a:p>
        </p:txBody>
      </p:sp>
      <p:sp>
        <p:nvSpPr>
          <p:cNvPr id="4" name="TextBox 3"/>
          <p:cNvSpPr txBox="1"/>
          <p:nvPr/>
        </p:nvSpPr>
        <p:spPr>
          <a:xfrm>
            <a:off x="918706" y="2678636"/>
            <a:ext cx="6815520" cy="369332"/>
          </a:xfrm>
          <a:prstGeom prst="rect">
            <a:avLst/>
          </a:prstGeom>
          <a:noFill/>
        </p:spPr>
        <p:txBody>
          <a:bodyPr wrap="none" rtlCol="0">
            <a:spAutoFit/>
          </a:bodyPr>
          <a:lstStyle/>
          <a:p>
            <a:r>
              <a:rPr lang="en-US" dirty="0"/>
              <a:t>For the string "</a:t>
            </a:r>
            <a:r>
              <a:rPr lang="en-US" dirty="0" err="1"/>
              <a:t>aabb</a:t>
            </a:r>
            <a:r>
              <a:rPr lang="en-US" dirty="0"/>
              <a:t>" the above grammar can generate two parse trees</a:t>
            </a:r>
            <a:endParaRPr lang="x-none" dirty="0"/>
          </a:p>
        </p:txBody>
      </p:sp>
      <p:pic>
        <p:nvPicPr>
          <p:cNvPr id="1026" name="Picture 2" descr="C:\Users\teacher\Desktop\Compiler design\automata-ambiguity-in-grammar-solution3.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76914" y="3298501"/>
            <a:ext cx="3695700" cy="215265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335494" y="5846084"/>
            <a:ext cx="8337475" cy="369332"/>
          </a:xfrm>
          <a:prstGeom prst="rect">
            <a:avLst/>
          </a:prstGeom>
          <a:noFill/>
        </p:spPr>
        <p:txBody>
          <a:bodyPr wrap="none" rtlCol="0">
            <a:spAutoFit/>
          </a:bodyPr>
          <a:lstStyle/>
          <a:p>
            <a:r>
              <a:rPr lang="en-US" dirty="0"/>
              <a:t>Since there are two parse trees for a single string "</a:t>
            </a:r>
            <a:r>
              <a:rPr lang="en-US" dirty="0" err="1"/>
              <a:t>aabb</a:t>
            </a:r>
            <a:r>
              <a:rPr lang="en-US" dirty="0"/>
              <a:t>", the grammar G is ambiguous.</a:t>
            </a:r>
            <a:endParaRPr lang="x-none"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cs typeface="Times New Roman" panose="02020603050405020304" pitchFamily="18" charset="0"/>
              </a:rPr>
              <a:t>Associativity of operators</a:t>
            </a:r>
            <a:r>
              <a:rPr lang="en-US" sz="4400" dirty="0">
                <a:latin typeface="Times New Roman" panose="02020603050405020304" pitchFamily="18" charset="0"/>
                <a:cs typeface="Times New Roman" panose="02020603050405020304" pitchFamily="18" charset="0"/>
              </a:rPr>
              <a:t>​</a:t>
            </a:r>
            <a:endParaRPr lang="en-US" dirty="0"/>
          </a:p>
        </p:txBody>
      </p:sp>
      <p:sp>
        <p:nvSpPr>
          <p:cNvPr id="5" name="Subtitle 4"/>
          <p:cNvSpPr>
            <a:spLocks noGrp="1"/>
          </p:cNvSpPr>
          <p:nvPr>
            <p:ph type="subTitle" idx="1"/>
          </p:nvPr>
        </p:nvSpPr>
        <p:spPr/>
        <p:txBody>
          <a:bodyPr/>
          <a:lstStyle/>
          <a:p>
            <a:r>
              <a:rPr lang="en-US" dirty="0"/>
              <a:t> left-associative</a:t>
            </a:r>
            <a:endParaRPr lang="x-none" dirty="0"/>
          </a:p>
        </p:txBody>
      </p:sp>
      <p:sp>
        <p:nvSpPr>
          <p:cNvPr id="4" name="TextBox 3"/>
          <p:cNvSpPr txBox="1"/>
          <p:nvPr/>
        </p:nvSpPr>
        <p:spPr>
          <a:xfrm>
            <a:off x="309237" y="2168611"/>
            <a:ext cx="8539341" cy="2031325"/>
          </a:xfrm>
          <a:prstGeom prst="rect">
            <a:avLst/>
          </a:prstGeom>
          <a:noFill/>
        </p:spPr>
        <p:txBody>
          <a:bodyPr wrap="square" rtlCol="0">
            <a:spAutoFit/>
          </a:bodyPr>
          <a:lstStyle/>
          <a:p>
            <a:pPr marL="342900" indent="-342900">
              <a:buFont typeface="Arial" panose="020B0604020202020204" pitchFamily="34" charset="0"/>
              <a:buChar char="•"/>
            </a:pPr>
            <a:r>
              <a:rPr lang="en-US" dirty="0"/>
              <a:t>By convention, 9+5+2 is equivalent to (9+5)+2 and 9 - 5 - 2 is equivalent to ( 9 - 5 ) - 2 . </a:t>
            </a:r>
            <a:endParaRPr lang="en-US" dirty="0"/>
          </a:p>
          <a:p>
            <a:pPr marL="342900" indent="-342900">
              <a:buFont typeface="Arial" panose="020B0604020202020204" pitchFamily="34" charset="0"/>
              <a:buChar char="•"/>
            </a:pPr>
            <a:r>
              <a:rPr lang="en-US" dirty="0"/>
              <a:t>When an operand like 5 has operators to its left and right, conventions are needed for deciding which operator applies to that operand. </a:t>
            </a:r>
            <a:endParaRPr lang="en-US" dirty="0"/>
          </a:p>
          <a:p>
            <a:pPr marL="342900" indent="-342900">
              <a:buFont typeface="Arial" panose="020B0604020202020204" pitchFamily="34" charset="0"/>
              <a:buChar char="•"/>
            </a:pPr>
            <a:r>
              <a:rPr lang="en-US" dirty="0"/>
              <a:t>We say that the operator + associates to the left, because an operand with plus signs on both sides of it belongs to the operator to its left. In most programming languages the four arithmetic operators, addition, subtraction, multiplication, and division are left-associative.</a:t>
            </a:r>
            <a:endParaRPr lang="x-none"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p:nvPr/>
        </p:nvSpPr>
        <p:spPr>
          <a:xfrm>
            <a:off x="335494" y="731162"/>
            <a:ext cx="6543608"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Right-associative </a:t>
            </a:r>
            <a:endParaRPr lang="en-US" sz="2600" b="1" dirty="0">
              <a:solidFill>
                <a:schemeClr val="tx1"/>
              </a:solidFill>
            </a:endParaRPr>
          </a:p>
        </p:txBody>
      </p:sp>
      <p:sp>
        <p:nvSpPr>
          <p:cNvPr id="5" name="TextBox 4"/>
          <p:cNvSpPr txBox="1"/>
          <p:nvPr/>
        </p:nvSpPr>
        <p:spPr>
          <a:xfrm>
            <a:off x="203293" y="1199463"/>
            <a:ext cx="8737413" cy="2862322"/>
          </a:xfrm>
          <a:prstGeom prst="rect">
            <a:avLst/>
          </a:prstGeom>
          <a:noFill/>
        </p:spPr>
        <p:txBody>
          <a:bodyPr wrap="square" rtlCol="0">
            <a:spAutoFit/>
          </a:bodyPr>
          <a:lstStyle/>
          <a:p>
            <a:pPr marL="285750" indent="-285750">
              <a:buFont typeface="Arial" panose="020B0604020202020204" pitchFamily="34" charset="0"/>
              <a:buChar char="•"/>
            </a:pPr>
            <a:r>
              <a:rPr lang="en-US" dirty="0"/>
              <a:t>Some common operators such as exponentiation are right-associative. </a:t>
            </a:r>
            <a:endParaRPr lang="en-US" dirty="0"/>
          </a:p>
          <a:p>
            <a:pPr marL="285750" indent="-285750">
              <a:buFont typeface="Arial" panose="020B0604020202020204" pitchFamily="34" charset="0"/>
              <a:buChar char="•"/>
            </a:pPr>
            <a:r>
              <a:rPr lang="en-US" dirty="0"/>
              <a:t>As another example, the assignment operator = in C and its descendants is right associative; that is, the expression a=b=c is treated in the same way as the expression a=(b=c).</a:t>
            </a:r>
            <a:endParaRPr lang="en-US" dirty="0"/>
          </a:p>
          <a:p>
            <a:pPr marL="285750" indent="-285750">
              <a:buFont typeface="Arial" panose="020B0604020202020204" pitchFamily="34" charset="0"/>
              <a:buChar char="•"/>
            </a:pPr>
            <a:r>
              <a:rPr lang="en-US" dirty="0"/>
              <a:t>Strings like a=b=c with a right-associative operator are generated by the following grammar:</a:t>
            </a:r>
            <a:endParaRPr lang="en-US" dirty="0"/>
          </a:p>
          <a:p>
            <a:r>
              <a:rPr lang="en-US" b="1" dirty="0"/>
              <a:t>list</a:t>
            </a:r>
            <a:r>
              <a:rPr lang="en-US" b="1" dirty="0">
                <a:sym typeface="Wingdings" panose="05000000000000000000" pitchFamily="2" charset="2"/>
              </a:rPr>
              <a:t> list -</a:t>
            </a:r>
            <a:r>
              <a:rPr lang="en-US" b="1" dirty="0" err="1">
                <a:sym typeface="Wingdings" panose="05000000000000000000" pitchFamily="2" charset="2"/>
              </a:rPr>
              <a:t>digit|letter|digit</a:t>
            </a:r>
            <a:endParaRPr lang="en-US" b="1" dirty="0">
              <a:sym typeface="Wingdings" panose="05000000000000000000" pitchFamily="2" charset="2"/>
            </a:endParaRPr>
          </a:p>
          <a:p>
            <a:r>
              <a:rPr lang="en-US" b="1" dirty="0">
                <a:sym typeface="Wingdings" panose="05000000000000000000" pitchFamily="2" charset="2"/>
              </a:rPr>
              <a:t>d</a:t>
            </a:r>
            <a:r>
              <a:rPr lang="en-US" b="1">
                <a:sym typeface="Wingdings" panose="05000000000000000000" pitchFamily="2" charset="2"/>
              </a:rPr>
              <a:t>igit</a:t>
            </a:r>
            <a:r>
              <a:rPr lang="en-US" b="1" dirty="0">
                <a:sym typeface="Wingdings" panose="05000000000000000000" pitchFamily="2" charset="2"/>
              </a:rPr>
              <a:t> 0|1|2|……9|0</a:t>
            </a:r>
            <a:endParaRPr lang="en-US" b="1" dirty="0"/>
          </a:p>
          <a:p>
            <a:r>
              <a:rPr lang="en-US" b="1" dirty="0"/>
              <a:t>right -&gt;• letter = right | letter</a:t>
            </a:r>
            <a:endParaRPr lang="en-US" b="1" dirty="0"/>
          </a:p>
          <a:p>
            <a:r>
              <a:rPr lang="en-US" b="1" dirty="0"/>
              <a:t>letter -&gt; a | b | • • • | z</a:t>
            </a:r>
            <a:endParaRPr lang="x-none" b="1" dirty="0"/>
          </a:p>
        </p:txBody>
      </p:sp>
      <p:pic>
        <p:nvPicPr>
          <p:cNvPr id="2051" name="Picture 3" descr="C:\Users\teacher\Desktop\Compiler design\fig-2-4.gif"/>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50491" y="3759673"/>
            <a:ext cx="5676900" cy="28479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marL="285750" indent="-285750"/>
            <a:r>
              <a:rPr lang="en-US" dirty="0">
                <a:cs typeface="Times New Roman" panose="02020603050405020304" pitchFamily="18" charset="0"/>
              </a:rPr>
              <a:t>Precedence of operators</a:t>
            </a:r>
            <a:endParaRPr lang="en-US" dirty="0">
              <a:cs typeface="Times New Roman" panose="02020603050405020304" pitchFamily="18" charset="0"/>
            </a:endParaRPr>
          </a:p>
        </p:txBody>
      </p:sp>
      <p:sp>
        <p:nvSpPr>
          <p:cNvPr id="5" name="Subtitle 4"/>
          <p:cNvSpPr>
            <a:spLocks noGrp="1"/>
          </p:cNvSpPr>
          <p:nvPr>
            <p:ph type="subTitle" idx="1"/>
          </p:nvPr>
        </p:nvSpPr>
        <p:spPr/>
        <p:txBody>
          <a:bodyPr/>
          <a:lstStyle/>
          <a:p>
            <a:r>
              <a:rPr lang="en-US" dirty="0"/>
              <a:t> </a:t>
            </a:r>
            <a:endParaRPr lang="x-none" dirty="0"/>
          </a:p>
        </p:txBody>
      </p:sp>
      <p:sp>
        <p:nvSpPr>
          <p:cNvPr id="4" name="TextBox 3"/>
          <p:cNvSpPr txBox="1"/>
          <p:nvPr/>
        </p:nvSpPr>
        <p:spPr>
          <a:xfrm>
            <a:off x="476205" y="2224882"/>
            <a:ext cx="8174877" cy="2031325"/>
          </a:xfrm>
          <a:prstGeom prst="rect">
            <a:avLst/>
          </a:prstGeom>
          <a:noFill/>
        </p:spPr>
        <p:txBody>
          <a:bodyPr wrap="square" rtlCol="0">
            <a:spAutoFit/>
          </a:bodyPr>
          <a:lstStyle/>
          <a:p>
            <a:pPr marL="342900" indent="-342900">
              <a:buFont typeface="Arial" panose="020B0604020202020204" pitchFamily="34" charset="0"/>
              <a:buChar char="•"/>
            </a:pPr>
            <a:r>
              <a:rPr lang="en-US" dirty="0"/>
              <a:t>Consider the expression 9+5*2. </a:t>
            </a:r>
            <a:endParaRPr lang="en-US" dirty="0"/>
          </a:p>
          <a:p>
            <a:pPr marL="342900" indent="-342900">
              <a:buFont typeface="Arial" panose="020B0604020202020204" pitchFamily="34" charset="0"/>
              <a:buChar char="•"/>
            </a:pPr>
            <a:r>
              <a:rPr lang="en-US" dirty="0"/>
              <a:t>There are two possible interpretations of this expression: (9+5)*2 or 9+(5*2). </a:t>
            </a:r>
            <a:endParaRPr lang="en-US" dirty="0"/>
          </a:p>
          <a:p>
            <a:pPr marL="342900" indent="-342900">
              <a:buFont typeface="Arial" panose="020B0604020202020204" pitchFamily="34" charset="0"/>
              <a:buChar char="•"/>
            </a:pPr>
            <a:r>
              <a:rPr lang="en-US" dirty="0"/>
              <a:t>The associativity rules for + and * apply to occurrences of the same operator, so they do not resolve this ambiguity.</a:t>
            </a:r>
            <a:endParaRPr lang="en-US" dirty="0"/>
          </a:p>
          <a:p>
            <a:pPr marL="342900" indent="-342900">
              <a:buFont typeface="Arial" panose="020B0604020202020204" pitchFamily="34" charset="0"/>
              <a:buChar char="•"/>
            </a:pPr>
            <a:r>
              <a:rPr lang="en-US" dirty="0"/>
              <a:t>We say that * has higher precedence than + if * takes its operands before + does.</a:t>
            </a:r>
            <a:endParaRPr lang="en-US" dirty="0"/>
          </a:p>
          <a:p>
            <a:pPr marL="342900" indent="-342900">
              <a:buFont typeface="Arial" panose="020B0604020202020204" pitchFamily="34" charset="0"/>
              <a:buChar char="•"/>
            </a:pPr>
            <a:r>
              <a:rPr lang="en-US" dirty="0"/>
              <a:t> In ordinary arithmetic, multiplication and division have higher precedence than addition and subtraction. Therefore, 5 is taken by * in 9+5*2.</a:t>
            </a:r>
            <a:endParaRPr lang="x-none"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Lecture References</a:t>
            </a:r>
            <a:endParaRPr lang="en-US" sz="2600" b="1" dirty="0">
              <a:solidFill>
                <a:schemeClr val="tx1"/>
              </a:solidFill>
            </a:endParaRPr>
          </a:p>
        </p:txBody>
      </p:sp>
      <p:sp>
        <p:nvSpPr>
          <p:cNvPr id="2" name="Rectangle 1"/>
          <p:cNvSpPr/>
          <p:nvPr/>
        </p:nvSpPr>
        <p:spPr>
          <a:xfrm>
            <a:off x="393895" y="1811607"/>
            <a:ext cx="8356209" cy="369332"/>
          </a:xfrm>
          <a:prstGeom prst="rect">
            <a:avLst/>
          </a:prstGeom>
        </p:spPr>
        <p:txBody>
          <a:bodyPr wrap="square">
            <a:spAutoFit/>
          </a:bodyPr>
          <a:lstStyle/>
          <a:p>
            <a:r>
              <a:rPr lang="en-US" dirty="0"/>
              <a:t>1. Compilers-Principles, techniques and tools (2nd Edition) </a:t>
            </a:r>
            <a:r>
              <a:rPr lang="en-US" i="1" dirty="0"/>
              <a:t>V. </a:t>
            </a:r>
            <a:r>
              <a:rPr lang="en-US" i="1" dirty="0" err="1"/>
              <a:t>Aho</a:t>
            </a:r>
            <a:r>
              <a:rPr lang="en-US" i="1" dirty="0"/>
              <a:t>, </a:t>
            </a:r>
            <a:r>
              <a:rPr lang="en-US" i="1" dirty="0" err="1"/>
              <a:t>Sethi</a:t>
            </a:r>
            <a:r>
              <a:rPr lang="en-US" i="1" dirty="0"/>
              <a:t> and D. Ullman </a:t>
            </a:r>
            <a:endParaRPr lang="en-US" i="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anose="05000000000000000000"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anose="05000000000000000000"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4pPr>
            <a:lvl5pPr marL="1939925" indent="-332105" algn="l" defTabSz="914400" rtl="0" eaLnBrk="1" latinLnBrk="0" hangingPunct="1">
              <a:spcBef>
                <a:spcPts val="600"/>
              </a:spcBef>
              <a:buClr>
                <a:schemeClr val="bg1">
                  <a:lumMod val="65000"/>
                </a:schemeClr>
              </a:buClr>
              <a:buSzPct val="90000"/>
              <a:buFont typeface="Wingdings" panose="05000000000000000000" pitchFamily="2" charset="2"/>
              <a:buChar char=""/>
              <a:defRPr sz="1800" kern="1200">
                <a:solidFill>
                  <a:schemeClr val="tx1">
                    <a:lumMod val="85000"/>
                    <a:lumOff val="15000"/>
                  </a:schemeClr>
                </a:solidFill>
                <a:latin typeface="+mn-lt"/>
                <a:ea typeface="+mn-ea"/>
                <a:cs typeface="+mn-cs"/>
              </a:defRPr>
            </a:lvl5pPr>
            <a:lvl6pPr marL="229108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6pPr>
            <a:lvl7pPr marL="2625725"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7pPr>
            <a:lvl8pPr marL="2970530" indent="-344805" algn="l" defTabSz="914400" rtl="0" eaLnBrk="1" latinLnBrk="0" hangingPunct="1">
              <a:spcBef>
                <a:spcPts val="600"/>
              </a:spcBef>
              <a:buClr>
                <a:schemeClr val="tx1">
                  <a:lumMod val="75000"/>
                  <a:lumOff val="25000"/>
                </a:schemeClr>
              </a:buClr>
              <a:buSzPct val="90000"/>
              <a:buFont typeface="Wingdings" panose="05000000000000000000" pitchFamily="2" charset="2"/>
              <a:buChar char=""/>
              <a:defRPr lang="en-US" sz="1800" kern="1200" dirty="0" smtClean="0">
                <a:solidFill>
                  <a:schemeClr val="tx1">
                    <a:lumMod val="85000"/>
                    <a:lumOff val="15000"/>
                  </a:schemeClr>
                </a:solidFill>
                <a:latin typeface="+mn-lt"/>
                <a:ea typeface="+mn-ea"/>
                <a:cs typeface="+mn-cs"/>
              </a:defRPr>
            </a:lvl8pPr>
            <a:lvl9pPr marL="3313430" indent="-344805" algn="l" defTabSz="914400" rtl="0" eaLnBrk="1" latinLnBrk="0" hangingPunct="1">
              <a:spcBef>
                <a:spcPts val="600"/>
              </a:spcBef>
              <a:buClr>
                <a:schemeClr val="bg1">
                  <a:lumMod val="65000"/>
                </a:schemeClr>
              </a:buClr>
              <a:buSzPct val="90000"/>
              <a:buFont typeface="Wingdings" panose="05000000000000000000"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 Books</a:t>
            </a:r>
            <a:endParaRPr lang="en-US" sz="2600" b="1" dirty="0">
              <a:solidFill>
                <a:schemeClr val="tx1"/>
              </a:solidFill>
            </a:endParaRPr>
          </a:p>
        </p:txBody>
      </p:sp>
      <p:sp>
        <p:nvSpPr>
          <p:cNvPr id="8" name="Rectangle 7"/>
          <p:cNvSpPr/>
          <p:nvPr/>
        </p:nvSpPr>
        <p:spPr>
          <a:xfrm>
            <a:off x="335494" y="1583158"/>
            <a:ext cx="7809700" cy="1477328"/>
          </a:xfrm>
          <a:prstGeom prst="rect">
            <a:avLst/>
          </a:prstGeom>
        </p:spPr>
        <p:txBody>
          <a:bodyPr wrap="square">
            <a:spAutoFit/>
          </a:bodyPr>
          <a:lstStyle/>
          <a:p>
            <a:endParaRPr lang="en-US" dirty="0"/>
          </a:p>
          <a:p>
            <a:r>
              <a:rPr lang="en-US" dirty="0"/>
              <a:t>1. Compilers-Principles, techniques and tools (2nd Edition) </a:t>
            </a:r>
            <a:r>
              <a:rPr lang="en-US" i="1" dirty="0"/>
              <a:t>V. </a:t>
            </a:r>
            <a:r>
              <a:rPr lang="en-US" i="1" dirty="0" err="1"/>
              <a:t>Aho</a:t>
            </a:r>
            <a:r>
              <a:rPr lang="en-US" i="1" dirty="0"/>
              <a:t>, </a:t>
            </a:r>
            <a:r>
              <a:rPr lang="en-US" i="1" dirty="0" err="1"/>
              <a:t>Sethi</a:t>
            </a:r>
            <a:r>
              <a:rPr lang="en-US" i="1" dirty="0"/>
              <a:t> and D. Ullman </a:t>
            </a:r>
            <a:endParaRPr lang="en-US" i="1" dirty="0"/>
          </a:p>
          <a:p>
            <a:r>
              <a:rPr lang="en-US" dirty="0"/>
              <a:t>2. Principles of Compiler Design (2nd Revised Edition 2009) </a:t>
            </a:r>
            <a:r>
              <a:rPr lang="en-US" i="1" dirty="0"/>
              <a:t>A. A. Puntambekar </a:t>
            </a:r>
            <a:endParaRPr lang="en-US" i="1" dirty="0"/>
          </a:p>
          <a:p>
            <a:r>
              <a:rPr lang="en-US" dirty="0"/>
              <a:t>3. Basics of Compiler Design  </a:t>
            </a:r>
            <a:r>
              <a:rPr lang="en-US" i="1" dirty="0"/>
              <a:t>Torben </a:t>
            </a:r>
            <a:r>
              <a:rPr lang="en-US" i="1" dirty="0" err="1"/>
              <a:t>Mogensen</a:t>
            </a:r>
            <a:r>
              <a:rPr lang="en-US" i="1" dirty="0"/>
              <a:t> </a:t>
            </a:r>
            <a:endParaRPr lang="en-US" i="1" dirty="0"/>
          </a:p>
        </p:txBody>
      </p:sp>
    </p:spTree>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F810BBF67D7AB47AE77F6C7A7504E11" ma:contentTypeVersion="0" ma:contentTypeDescription="Create a new document." ma:contentTypeScope="" ma:versionID="a248ef2cc14f185a9cb0052211741135">
  <xsd:schema xmlns:xsd="http://www.w3.org/2001/XMLSchema" xmlns:xs="http://www.w3.org/2001/XMLSchema" xmlns:p="http://schemas.microsoft.com/office/2006/metadata/properties" targetNamespace="http://schemas.microsoft.com/office/2006/metadata/properties" ma:root="true" ma:fieldsID="d413257cd9829394d17656a545d5fa4e">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BFA46F4-8CD0-4F90-BF63-01436B93FE11}">
  <ds:schemaRefs/>
</ds:datastoreItem>
</file>

<file path=customXml/itemProps2.xml><?xml version="1.0" encoding="utf-8"?>
<ds:datastoreItem xmlns:ds="http://schemas.openxmlformats.org/officeDocument/2006/customXml" ds:itemID="{EFAF77D4-6ECF-4378-8E25-B6840ABDCB4D}">
  <ds:schemaRefs/>
</ds:datastoreItem>
</file>

<file path=customXml/itemProps3.xml><?xml version="1.0" encoding="utf-8"?>
<ds:datastoreItem xmlns:ds="http://schemas.openxmlformats.org/officeDocument/2006/customXml" ds:itemID="{C710CD23-F85D-4715-96B1-8BD2FAE1E5F3}">
  <ds:schemaRefs/>
</ds:datastoreItem>
</file>

<file path=docProps/app.xml><?xml version="1.0" encoding="utf-8"?>
<Properties xmlns="http://schemas.openxmlformats.org/officeDocument/2006/extended-properties" xmlns:vt="http://schemas.openxmlformats.org/officeDocument/2006/docPropsVTypes">
  <Template>Spectrum.thmx</Template>
  <TotalTime>0</TotalTime>
  <Words>5437</Words>
  <Application>WPS Presentation</Application>
  <PresentationFormat>On-screen Show (4:3)</PresentationFormat>
  <Paragraphs>194</Paragraphs>
  <Slides>18</Slides>
  <Notes>2</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18</vt:i4>
      </vt:variant>
    </vt:vector>
  </HeadingPairs>
  <TitlesOfParts>
    <vt:vector size="28" baseType="lpstr">
      <vt:lpstr>Arial</vt:lpstr>
      <vt:lpstr>SimSun</vt:lpstr>
      <vt:lpstr>Wingdings</vt:lpstr>
      <vt:lpstr>Wingdings</vt:lpstr>
      <vt:lpstr>Times New Roman</vt:lpstr>
      <vt:lpstr>Corbel</vt:lpstr>
      <vt:lpstr>Calibri</vt:lpstr>
      <vt:lpstr>Microsoft YaHei</vt:lpstr>
      <vt:lpstr>Arial Unicode MS</vt:lpstr>
      <vt:lpstr>Spectrum</vt:lpstr>
      <vt:lpstr>PowerPoint 演示文稿</vt:lpstr>
      <vt:lpstr>Lecture Outline</vt:lpstr>
      <vt:lpstr>Objective and Outcome</vt:lpstr>
      <vt:lpstr>Context-free grammar</vt:lpstr>
      <vt:lpstr>PowerPoint 演示文稿</vt:lpstr>
      <vt:lpstr>PowerPoint 演示文稿</vt:lpstr>
      <vt:lpstr>Derivation</vt:lpstr>
      <vt:lpstr>PowerPoint 演示文稿</vt:lpstr>
      <vt:lpstr>PowerPoint 演示文稿</vt:lpstr>
      <vt:lpstr>PowerPoint 演示文稿</vt:lpstr>
      <vt:lpstr>Parse Trees and Ambiguity</vt:lpstr>
      <vt:lpstr>PowerPoint 演示文稿</vt:lpstr>
      <vt:lpstr>PowerPoint 演示文稿</vt:lpstr>
      <vt:lpstr>Associativity of operators​</vt:lpstr>
      <vt:lpstr>PowerPoint 演示文稿</vt:lpstr>
      <vt:lpstr>Precedence of operators</vt:lpstr>
      <vt:lpstr>PowerPoint 演示文稿</vt:lpstr>
      <vt:lpstr>PowerPoint 演示文稿</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Teacher</cp:lastModifiedBy>
  <cp:revision>69</cp:revision>
  <dcterms:created xsi:type="dcterms:W3CDTF">2018-12-10T17:20:00Z</dcterms:created>
  <dcterms:modified xsi:type="dcterms:W3CDTF">2025-07-22T08:46:20Z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0x0101001F810BBF67D7AB47AE77F6C7A7504E11</vt:lpwstr>
  </property>
  <property fmtid="{D5CDD505-2E9C-101B-9397-08002B2CF9AE}" pid="3" name="ICV">
    <vt:lpwstr>A0061FA3B02C4E97897ED4F9E55D83AC_12</vt:lpwstr>
  </property>
  <property fmtid="{D5CDD505-2E9C-101B-9397-08002B2CF9AE}" pid="4" name="KSOProductBuildVer">
    <vt:lpwstr>2057-12.2.0.21936</vt:lpwstr>
  </property>
</Properties>
</file>