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89" r:id="rId5"/>
    <p:sldId id="277" r:id="rId6"/>
    <p:sldId id="287" r:id="rId7"/>
    <p:sldId id="281" r:id="rId8"/>
    <p:sldId id="282" r:id="rId9"/>
    <p:sldId id="283" r:id="rId10"/>
    <p:sldId id="284" r:id="rId11"/>
    <p:sldId id="285" r:id="rId12"/>
    <p:sldId id="286" r:id="rId13"/>
    <p:sldId id="264" r:id="rId14"/>
    <p:sldId id="265"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224" autoAdjust="0"/>
  </p:normalViewPr>
  <p:slideViewPr>
    <p:cSldViewPr snapToGrid="0" snapToObjects="1" showGuides="1">
      <p:cViewPr varScale="1">
        <p:scale>
          <a:sx n="89" d="100"/>
          <a:sy n="89" d="100"/>
        </p:scale>
        <p:origin x="1744" y="16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lang="fi-FI"/>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anose="05000000000000000000"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pic>
        <p:nvPicPr>
          <p:cNvPr id="1026" name="Picture 2" descr="Image result for AIUB logo"/>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p>
            <a:r>
              <a:rPr lang="fi-FI"/>
              <a:t>Click to edit Master title style</a:t>
            </a:r>
            <a:endParaRPr lang="fi-FI"/>
          </a:p>
        </p:txBody>
      </p:sp>
      <p:sp>
        <p:nvSpPr>
          <p:cNvPr id="3" name="Content Placeholder 2"/>
          <p:cNvSpPr>
            <a:spLocks noGrp="1"/>
          </p:cNvSpPr>
          <p:nvPr>
            <p:ph idx="1"/>
          </p:nvPr>
        </p:nvSpPr>
        <p:spPr/>
        <p:txBody>
          <a:bodyPr/>
          <a:lstStyle>
            <a:lvl5pPr>
              <a:defRPr/>
            </a:lvl5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
        <p:nvSpPr>
          <p:cNvPr id="8" name="Picture Placeholder 7"/>
          <p:cNvSpPr>
            <a:spLocks noGrp="1"/>
          </p:cNvSpPr>
          <p:nvPr>
            <p:ph type="pic" sz="quarter" idx="13" hasCustomPrompt="1"/>
          </p:nvPr>
        </p:nvSpPr>
        <p:spPr>
          <a:xfrm>
            <a:off x="284162" y="2017058"/>
            <a:ext cx="8574087" cy="4377391"/>
          </a:xfrm>
        </p:spPr>
        <p:txBody>
          <a:bodyPr/>
          <a:lstStyle>
            <a:lvl1pPr>
              <a:buNone/>
              <a:defRPr/>
            </a:lvl1pPr>
          </a:lstStyle>
          <a:p>
            <a:r>
              <a:rPr lang="fi-FI"/>
              <a:t>Drag picture to placeholder or click icon to add</a:t>
            </a:r>
            <a:endParaRPr lang="fi-FI"/>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panose="05000000000000000000"/>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lang="fi-FI"/>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panose="05000000000000000000"/>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lang="fi-FI"/>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anose="05000000000000000000" pitchFamily="2" charset="2"/>
              <a:buNone/>
            </a:pPr>
            <a:r>
              <a:rPr lang="fi-FI"/>
              <a:t>Click to edit Master text styles</a:t>
            </a:r>
            <a:endParaRPr lang="fi-FI"/>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hasCustomPrompt="1"/>
          </p:nvPr>
        </p:nvSpPr>
        <p:spPr>
          <a:xfrm>
            <a:off x="284162" y="443754"/>
            <a:ext cx="8574087" cy="4370293"/>
          </a:xfrm>
        </p:spPr>
        <p:txBody>
          <a:bodyPr/>
          <a:lstStyle>
            <a:lvl1pPr>
              <a:buNone/>
              <a:defRPr/>
            </a:lvl1pPr>
          </a:lstStyle>
          <a:p>
            <a:r>
              <a:rPr lang="fi-FI"/>
              <a:t>Drag picture to placeholder or click icon to add</a:t>
            </a:r>
            <a:endParaRPr lang="fi-FI"/>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panose="05000000000000000000"/>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lang="fi-FI"/>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endParaRPr lang="fi-FI"/>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p>
            <a:r>
              <a:rPr lang="fi-FI"/>
              <a:t>Click to edit Master title style</a:t>
            </a:r>
            <a:endParaRPr lang="fi-FI"/>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lvl1pPr>
              <a:defRPr/>
            </a:lvl1pPr>
          </a:lstStyle>
          <a:p>
            <a:r>
              <a:rPr lang="fi-FI"/>
              <a:t>Click to edit Master title style</a:t>
            </a:r>
            <a:endParaRPr lang="fi-FI"/>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endParaRPr lang="fi-FI"/>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endParaRPr lang="fi-FI"/>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p>
            <a:r>
              <a:rPr lang="fi-FI"/>
              <a:t>Click to edit Master title style</a:t>
            </a:r>
            <a:endParaRPr lang="fi-FI"/>
          </a:p>
        </p:txBody>
      </p:sp>
      <p:sp>
        <p:nvSpPr>
          <p:cNvPr id="3" name="Date Placeholder 2"/>
          <p:cNvSpPr>
            <a:spLocks noGrp="1"/>
          </p:cNvSpPr>
          <p:nvPr>
            <p:ph type="dt" sz="half" idx="10"/>
          </p:nvPr>
        </p:nvSpPr>
        <p:spPr/>
        <p:txBody>
          <a:bodyPr/>
          <a:lstStyle/>
          <a:p>
            <a:fld id="{4251665B-C24A-4702-B522-6A4334602E03}"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pic>
        <p:nvPicPr>
          <p:cNvPr id="2050" name="Picture 2" descr="Image result for AIUB logo"/>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lang="fi-FI"/>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lang="fi-FI"/>
          </a:p>
        </p:txBody>
      </p:sp>
      <p:sp>
        <p:nvSpPr>
          <p:cNvPr id="3" name="Picture Placeholder 2"/>
          <p:cNvSpPr>
            <a:spLocks noGrp="1"/>
          </p:cNvSpPr>
          <p:nvPr>
            <p:ph type="pic" idx="1" hasCustomPrompt="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lang="fi-FI"/>
          </a:p>
        </p:txBody>
      </p:sp>
      <p:sp>
        <p:nvSpPr>
          <p:cNvPr id="3" name="Picture Placeholder 2"/>
          <p:cNvSpPr>
            <a:spLocks noGrp="1"/>
          </p:cNvSpPr>
          <p:nvPr>
            <p:ph type="pic" idx="1" hasCustomPrompt="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lang="fi-FI"/>
          </a:p>
        </p:txBody>
      </p:sp>
      <p:sp>
        <p:nvSpPr>
          <p:cNvPr id="14" name="Picture Placeholder 13"/>
          <p:cNvSpPr>
            <a:spLocks noGrp="1"/>
          </p:cNvSpPr>
          <p:nvPr>
            <p:ph type="pic" sz="quarter" idx="13" hasCustomPrompt="1"/>
          </p:nvPr>
        </p:nvSpPr>
        <p:spPr>
          <a:xfrm>
            <a:off x="284164" y="594360"/>
            <a:ext cx="2743200" cy="3675888"/>
          </a:xfrm>
        </p:spPr>
        <p:txBody>
          <a:bodyPr/>
          <a:lstStyle>
            <a:lvl1pPr>
              <a:buNone/>
              <a:defRPr/>
            </a:lvl1pPr>
          </a:lstStyle>
          <a:p>
            <a:r>
              <a:rPr lang="fi-FI"/>
              <a:t>Drag picture to placeholder or click icon to add</a:t>
            </a:r>
            <a:endParaRPr lang="fi-FI"/>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lang="fi-FI"/>
          </a:p>
        </p:txBody>
      </p:sp>
      <p:sp>
        <p:nvSpPr>
          <p:cNvPr id="3" name="Picture Placeholder 2"/>
          <p:cNvSpPr>
            <a:spLocks noGrp="1"/>
          </p:cNvSpPr>
          <p:nvPr>
            <p:ph type="pic" idx="1" hasCustomPrompt="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
        <p:nvSpPr>
          <p:cNvPr id="13" name="Picture Placeholder 2"/>
          <p:cNvSpPr>
            <a:spLocks noGrp="1"/>
          </p:cNvSpPr>
          <p:nvPr>
            <p:ph type="pic" idx="13" hasCustomPrompt="1"/>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
        <p:nvSpPr>
          <p:cNvPr id="14" name="Picture Placeholder 2"/>
          <p:cNvSpPr>
            <a:spLocks noGrp="1"/>
          </p:cNvSpPr>
          <p:nvPr>
            <p:ph type="pic" idx="14" hasCustomPrompt="1"/>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p>
            <a:r>
              <a:rPr lang="fi-FI"/>
              <a:t>Click to edit Master title style</a:t>
            </a:r>
            <a:endParaRPr lang="fi-FI"/>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lang="fi-FI"/>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lang="fi-FI"/>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Compiler</a:t>
            </a:r>
            <a:endParaRPr lang="en-US" dirty="0"/>
          </a:p>
        </p:txBody>
      </p:sp>
      <p:sp>
        <p:nvSpPr>
          <p:cNvPr id="3" name="Subtitle 2"/>
          <p:cNvSpPr>
            <a:spLocks noGrp="1"/>
          </p:cNvSpPr>
          <p:nvPr>
            <p:ph type="subTitle" idx="1"/>
          </p:nvPr>
        </p:nvSpPr>
        <p:spPr>
          <a:xfrm>
            <a:off x="476205" y="1532427"/>
            <a:ext cx="2789509" cy="484632"/>
          </a:xfrm>
        </p:spPr>
        <p:txBody>
          <a:bodyPr/>
          <a:lstStyle/>
          <a:p>
            <a:r>
              <a:rPr lang="en-US" dirty="0"/>
              <a:t>Course Code: CSC 3220</a:t>
            </a:r>
            <a:endParaRPr lang="en-US" dirty="0"/>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endParaRPr lang="en-US" sz="2000" b="1" dirty="0">
              <a:solidFill>
                <a:srgbClr val="0070C0"/>
              </a:solidFill>
              <a:latin typeface="Arial" panose="020B0604020202020204" pitchFamily="34" charset="0"/>
              <a:cs typeface="Arial" panose="020B0604020202020204" pitchFamily="34" charset="0"/>
            </a:endParaRP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p:cNvGraphicFramePr>
            <a:graphicFrameLocks noGrp="1"/>
          </p:cNvGraphicFramePr>
          <p:nvPr/>
        </p:nvGraphicFramePr>
        <p:xfrm>
          <a:off x="476205" y="5186042"/>
          <a:ext cx="8335798" cy="1018816"/>
        </p:xfrm>
        <a:graphic>
          <a:graphicData uri="http://schemas.openxmlformats.org/drawingml/2006/table">
            <a:tbl>
              <a:tblPr firstRow="1" bandRow="1">
                <a:tableStyleId>{D7AC3CCA-C797-4891-BE02-D94E43425B78}</a:tableStyleId>
              </a:tblPr>
              <a:tblGrid>
                <a:gridCol w="1483224"/>
                <a:gridCol w="1397725"/>
                <a:gridCol w="1227909"/>
                <a:gridCol w="1541417"/>
                <a:gridCol w="1240971"/>
                <a:gridCol w="1444552"/>
              </a:tblGrid>
              <a:tr h="378736">
                <a:tc>
                  <a:txBody>
                    <a:bodyPr/>
                    <a:lstStyle/>
                    <a:p>
                      <a:r>
                        <a:rPr lang="en-US" dirty="0"/>
                        <a:t>Lecture No:</a:t>
                      </a:r>
                      <a:endParaRPr lang="en-US" dirty="0"/>
                    </a:p>
                  </a:txBody>
                  <a:tcPr/>
                </a:tc>
                <a:tc>
                  <a:txBody>
                    <a:bodyPr/>
                    <a:lstStyle/>
                    <a:p>
                      <a:r>
                        <a:rPr lang="en-US" dirty="0"/>
                        <a:t>3</a:t>
                      </a:r>
                      <a:endParaRPr lang="en-US" dirty="0"/>
                    </a:p>
                  </a:txBody>
                  <a:tcPr/>
                </a:tc>
                <a:tc>
                  <a:txBody>
                    <a:bodyPr/>
                    <a:lstStyle/>
                    <a:p>
                      <a:r>
                        <a:rPr lang="en-US" dirty="0"/>
                        <a:t>Week No:</a:t>
                      </a:r>
                      <a:endParaRPr lang="en-US" dirty="0"/>
                    </a:p>
                  </a:txBody>
                  <a:tcPr/>
                </a:tc>
                <a:tc>
                  <a:txBody>
                    <a:bodyPr/>
                    <a:lstStyle/>
                    <a:p>
                      <a:r>
                        <a:rPr lang="en-US" dirty="0"/>
                        <a:t>2</a:t>
                      </a:r>
                      <a:endParaRPr lang="en-US" dirty="0"/>
                    </a:p>
                  </a:txBody>
                  <a:tcPr/>
                </a:tc>
                <a:tc>
                  <a:txBody>
                    <a:bodyPr/>
                    <a:lstStyle/>
                    <a:p>
                      <a:r>
                        <a:rPr lang="en-US" dirty="0"/>
                        <a:t>Semester:</a:t>
                      </a:r>
                      <a:endParaRPr lang="en-US" dirty="0"/>
                    </a:p>
                  </a:txBody>
                  <a:tcPr/>
                </a:tc>
                <a:tc>
                  <a:txBody>
                    <a:bodyPr/>
                    <a:lstStyle/>
                    <a:p>
                      <a:r>
                        <a:rPr lang="en-US" dirty="0"/>
                        <a:t>Summer</a:t>
                      </a:r>
                      <a:endParaRPr lang="en-US" dirty="0"/>
                    </a:p>
                  </a:txBody>
                  <a:tcPr/>
                </a:tc>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endParaRPr kumimoji="0" lang="en-US" sz="1800" b="1" i="0" u="none" strike="noStrike" kern="1200" cap="none" spc="0" normalizeH="0" baseline="0" noProof="0" dirty="0">
                        <a:ln>
                          <a:noFill/>
                        </a:ln>
                        <a:solidFill>
                          <a:prstClr val="black"/>
                        </a:solidFill>
                        <a:effectLst/>
                        <a:uLnTx/>
                        <a:uFillTx/>
                        <a:latin typeface="+mn-lt"/>
                        <a:ea typeface="+mn-ea"/>
                        <a:cs typeface="+mn-cs"/>
                      </a:endParaRPr>
                    </a:p>
                  </a:txBody>
                  <a:tcPr/>
                </a:tc>
                <a:tc gridSpan="5">
                  <a:txBody>
                    <a:bodyPr/>
                    <a:lstStyle/>
                    <a:p>
                      <a:r>
                        <a:rPr lang="en-US" i="1" dirty="0"/>
                        <a:t>Atkia Akila karim</a:t>
                      </a:r>
                      <a:endParaRPr lang="en-US" i="1" dirty="0"/>
                    </a:p>
                  </a:txBody>
                  <a:tcPr/>
                </a:tc>
                <a:tc hMerge="1">
                  <a:tcPr/>
                </a:tc>
                <a:tc hMerge="1">
                  <a:tcPr/>
                </a:tc>
                <a:tc hMerge="1">
                  <a:tcPr/>
                </a:tc>
                <a:tc hMerge="1">
                  <a:tcPr/>
                </a:tc>
              </a:tr>
            </a:tbl>
          </a:graphicData>
        </a:graphic>
      </p:graphicFrame>
      <p:sp>
        <p:nvSpPr>
          <p:cNvPr id="8" name="Subtitle 2"/>
          <p:cNvSpPr txBox="1"/>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anose="05000000000000000000"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anose="05000000000000000000"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9pPr>
          </a:lstStyle>
          <a:p>
            <a:r>
              <a:rPr lang="en-US" dirty="0"/>
              <a:t>Course Title: Compiler Design</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endParaRPr lang="en-US" dirty="0"/>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a:solidFill>
                  <a:schemeClr val="tx1"/>
                </a:solidFill>
              </a:rPr>
              <a:t>Linker and Loader</a:t>
            </a:r>
            <a:endParaRPr lang="en-US" sz="2400" dirty="0">
              <a:solidFill>
                <a:schemeClr val="tx1"/>
              </a:solidFill>
            </a:endParaRPr>
          </a:p>
          <a:p>
            <a:pPr marL="342900" indent="-342900">
              <a:buAutoNum type="arabicPeriod"/>
            </a:pPr>
            <a:r>
              <a:rPr lang="en-US" sz="2400" dirty="0">
                <a:solidFill>
                  <a:schemeClr val="tx1"/>
                </a:solidFill>
              </a:rPr>
              <a:t>Front end and Back end of a compiler</a:t>
            </a:r>
            <a:endParaRPr lang="en-US" sz="2400" dirty="0">
              <a:solidFill>
                <a:schemeClr val="tx1"/>
              </a:solidFill>
            </a:endParaRPr>
          </a:p>
          <a:p>
            <a:pPr marL="342900" indent="-342900">
              <a:buAutoNum type="arabicPeriod"/>
            </a:pPr>
            <a:r>
              <a:rPr lang="en-US" sz="2400" dirty="0">
                <a:solidFill>
                  <a:schemeClr val="tx1"/>
                </a:solidFill>
              </a:rPr>
              <a:t>Symbol Table Management</a:t>
            </a:r>
            <a:endParaRPr lang="en-US" sz="2400" dirty="0">
              <a:solidFill>
                <a:schemeClr val="tx1"/>
              </a:solidFill>
            </a:endParaRPr>
          </a:p>
          <a:p>
            <a:pPr marL="342900" indent="-342900">
              <a:buAutoNum type="arabicPeriod"/>
            </a:pPr>
            <a:r>
              <a:rPr lang="en-US" sz="2400" dirty="0">
                <a:solidFill>
                  <a:schemeClr val="tx1"/>
                </a:solidFill>
              </a:rPr>
              <a:t>Error Handler</a:t>
            </a:r>
            <a:endParaRPr lang="en-US" sz="2400" dirty="0">
              <a:solidFill>
                <a:schemeClr val="tx1"/>
              </a:solidFill>
            </a:endParaRPr>
          </a:p>
          <a:p>
            <a:pPr marL="342900" indent="-342900">
              <a:buAutoNum type="arabicPeriod"/>
            </a:pPr>
            <a:endParaRPr lang="en-US" sz="24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Objectives and Outcomes</a:t>
            </a:r>
            <a:endParaRPr lang="en-US" dirty="0"/>
          </a:p>
        </p:txBody>
      </p:sp>
      <p:sp>
        <p:nvSpPr>
          <p:cNvPr id="6" name="TextBox 5"/>
          <p:cNvSpPr txBox="1"/>
          <p:nvPr/>
        </p:nvSpPr>
        <p:spPr>
          <a:xfrm>
            <a:off x="421341" y="2112340"/>
            <a:ext cx="8525711" cy="4985980"/>
          </a:xfrm>
          <a:prstGeom prst="rect">
            <a:avLst/>
          </a:prstGeom>
          <a:noFill/>
        </p:spPr>
        <p:txBody>
          <a:bodyPr wrap="square" rtlCol="0">
            <a:spAutoFit/>
          </a:bodyPr>
          <a:lstStyle/>
          <a:p>
            <a:pPr algn="just"/>
            <a:endParaRPr lang="en-US" sz="2000" b="1" dirty="0"/>
          </a:p>
          <a:p>
            <a:pPr algn="just"/>
            <a:r>
              <a:rPr lang="en-US" sz="2000" b="1" dirty="0"/>
              <a:t>Objectives:</a:t>
            </a:r>
            <a:endParaRPr lang="en-US" sz="2000" b="1" dirty="0"/>
          </a:p>
          <a:p>
            <a:pPr marL="742950" lvl="1" indent="-285750" algn="just">
              <a:buFont typeface="Wingdings" panose="05000000000000000000" pitchFamily="2" charset="2"/>
              <a:buChar char="Ø"/>
            </a:pPr>
            <a:r>
              <a:rPr lang="en-US" b="1" dirty="0"/>
              <a:t> </a:t>
            </a:r>
            <a:r>
              <a:rPr lang="en-US" dirty="0"/>
              <a:t>Understand the Structure of a compiler</a:t>
            </a:r>
            <a:endParaRPr lang="en-US" dirty="0"/>
          </a:p>
          <a:p>
            <a:pPr marL="742950" lvl="1" indent="-285750" algn="just">
              <a:buFont typeface="Wingdings" panose="05000000000000000000" pitchFamily="2" charset="2"/>
              <a:buChar char="Ø"/>
            </a:pPr>
            <a:r>
              <a:rPr lang="en-US" dirty="0"/>
              <a:t>Understand the tools involved( Scanner generator, Parser generator, </a:t>
            </a:r>
            <a:r>
              <a:rPr lang="en-US" dirty="0" err="1"/>
              <a:t>etc</a:t>
            </a:r>
            <a:r>
              <a:rPr lang="en-US" dirty="0"/>
              <a:t>)</a:t>
            </a:r>
            <a:endParaRPr lang="en-US" dirty="0"/>
          </a:p>
          <a:p>
            <a:pPr lvl="1" algn="just"/>
            <a:endParaRPr lang="en-US" dirty="0"/>
          </a:p>
          <a:p>
            <a:pPr lvl="1" algn="just"/>
            <a:endParaRPr lang="en-US" dirty="0"/>
          </a:p>
          <a:p>
            <a:pPr algn="just"/>
            <a:r>
              <a:rPr lang="en-US" sz="2000" b="1" dirty="0"/>
              <a:t>Outcome:</a:t>
            </a:r>
            <a:endParaRPr lang="en-US" sz="2000" b="1" dirty="0"/>
          </a:p>
          <a:p>
            <a:pPr marL="800100" lvl="1" indent="-342900" algn="just">
              <a:buFont typeface="Wingdings" panose="05000000000000000000" pitchFamily="2" charset="2"/>
              <a:buChar char="Ø"/>
            </a:pPr>
            <a:r>
              <a:rPr lang="en-US" dirty="0"/>
              <a:t>Students will be able to represent the simulation of all phases of a compiler for inputs.</a:t>
            </a:r>
            <a:endParaRPr lang="en-US" dirty="0"/>
          </a:p>
          <a:p>
            <a:pPr lvl="1" algn="just"/>
            <a:endParaRPr lang="en-US" sz="2000" dirty="0"/>
          </a:p>
          <a:p>
            <a:endParaRPr lang="en-US" b="1" dirty="0"/>
          </a:p>
          <a:p>
            <a:endParaRPr lang="en-US" b="1" dirty="0"/>
          </a:p>
          <a:p>
            <a:endParaRPr lang="en-US" b="1" dirty="0"/>
          </a:p>
          <a:p>
            <a:endParaRPr lang="en-US" b="1" dirty="0"/>
          </a:p>
          <a:p>
            <a:endParaRPr lang="en-US" b="1" dirty="0"/>
          </a:p>
          <a:p>
            <a:endParaRPr lang="en-US" b="1" dirty="0"/>
          </a:p>
          <a:p>
            <a:r>
              <a:rPr lang="en-US" b="1" dirty="0"/>
              <a:t>                                                                                                                             </a:t>
            </a:r>
            <a:endParaRPr lang="en-US"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Linker and Loader</a:t>
            </a:r>
            <a:endParaRPr lang="en-US" dirty="0"/>
          </a:p>
        </p:txBody>
      </p:sp>
      <p:sp>
        <p:nvSpPr>
          <p:cNvPr id="6" name="TextBox 5"/>
          <p:cNvSpPr txBox="1"/>
          <p:nvPr/>
        </p:nvSpPr>
        <p:spPr>
          <a:xfrm>
            <a:off x="421341" y="2112340"/>
            <a:ext cx="8525711" cy="4031873"/>
          </a:xfrm>
          <a:prstGeom prst="rect">
            <a:avLst/>
          </a:prstGeom>
          <a:noFill/>
        </p:spPr>
        <p:txBody>
          <a:bodyPr wrap="square" rtlCol="0">
            <a:spAutoFit/>
          </a:bodyPr>
          <a:lstStyle/>
          <a:p>
            <a:pPr algn="just"/>
            <a:endParaRPr lang="en-US" sz="2000" b="1" dirty="0"/>
          </a:p>
          <a:p>
            <a:pPr algn="just"/>
            <a:r>
              <a:rPr lang="en-US" sz="2000" b="1" dirty="0"/>
              <a:t>Linker</a:t>
            </a:r>
            <a:r>
              <a:rPr lang="en-US" b="1" dirty="0"/>
              <a:t>:  </a:t>
            </a:r>
            <a:r>
              <a:rPr lang="en-US" dirty="0"/>
              <a:t>A linker, also called link editor or binder, is a program that combines the object modules to form an executable program. In general , in case of a large program, programmers prefer to break the code in to smaller modules, as this simplifies the programming task. Eventually, when the source code of all the modules has been converted in to object code, all the modules need to be put together, which is done by the linker</a:t>
            </a:r>
            <a:endParaRPr lang="en-US" b="1" dirty="0"/>
          </a:p>
          <a:p>
            <a:endParaRPr lang="en-US" b="1" dirty="0"/>
          </a:p>
          <a:p>
            <a:endParaRPr lang="en-US" b="1" dirty="0"/>
          </a:p>
          <a:p>
            <a:endParaRPr lang="en-US" b="1" dirty="0"/>
          </a:p>
          <a:p>
            <a:endParaRPr lang="en-US" b="1" dirty="0"/>
          </a:p>
          <a:p>
            <a:endParaRPr lang="en-US" b="1" dirty="0"/>
          </a:p>
          <a:p>
            <a:endParaRPr lang="en-US" b="1" dirty="0"/>
          </a:p>
          <a:p>
            <a:r>
              <a:rPr lang="en-US" b="1" dirty="0"/>
              <a:t>                                                                                                                             </a:t>
            </a:r>
            <a:endParaRPr lang="en-US"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633046" y="1390659"/>
            <a:ext cx="7512148" cy="494398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Loader</a:t>
            </a:r>
            <a:endParaRPr lang="en-US" sz="2600" b="1" dirty="0">
              <a:solidFill>
                <a:schemeClr val="tx1"/>
              </a:solidFill>
            </a:endParaRPr>
          </a:p>
        </p:txBody>
      </p:sp>
      <p:sp>
        <p:nvSpPr>
          <p:cNvPr id="3" name="TextBox 2"/>
          <p:cNvSpPr txBox="1"/>
          <p:nvPr/>
        </p:nvSpPr>
        <p:spPr>
          <a:xfrm>
            <a:off x="994491" y="1718131"/>
            <a:ext cx="7556508" cy="1815882"/>
          </a:xfrm>
          <a:prstGeom prst="rect">
            <a:avLst/>
          </a:prstGeom>
          <a:noFill/>
        </p:spPr>
        <p:txBody>
          <a:bodyPr wrap="square" rtlCol="0">
            <a:spAutoFit/>
          </a:bodyPr>
          <a:lstStyle/>
          <a:p>
            <a:pPr algn="just"/>
            <a:endParaRPr lang="en-US" sz="2000" b="1" dirty="0"/>
          </a:p>
          <a:p>
            <a:pPr algn="just"/>
            <a:r>
              <a:rPr lang="en-US" dirty="0"/>
              <a:t>A loader is a special type of a program that copies programs from a storage device to the main memory, where they can be executed.</a:t>
            </a:r>
            <a:r>
              <a:rPr lang="en-US" sz="2000" b="1" dirty="0"/>
              <a:t> </a:t>
            </a:r>
            <a:r>
              <a:rPr lang="en-US" dirty="0"/>
              <a:t>	</a:t>
            </a:r>
            <a:endParaRPr lang="en-US" dirty="0"/>
          </a:p>
          <a:p>
            <a:pPr lvl="1"/>
            <a:endParaRPr lang="en-US" dirty="0"/>
          </a:p>
          <a:p>
            <a:pPr lvl="1"/>
            <a:endParaRPr lang="en-US" dirty="0"/>
          </a:p>
          <a:p>
            <a:pPr lvl="1"/>
            <a:r>
              <a:rPr lang="en-US" dirty="0"/>
              <a:t>        </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83009"/>
            <a:ext cx="7808976" cy="1088136"/>
          </a:xfrm>
        </p:spPr>
        <p:txBody>
          <a:bodyPr>
            <a:normAutofit fontScale="90000"/>
          </a:bodyPr>
          <a:lstStyle/>
          <a:p>
            <a:br>
              <a:rPr lang="en-US" dirty="0"/>
            </a:br>
            <a:br>
              <a:rPr lang="en-US" dirty="0"/>
            </a:br>
            <a:br>
              <a:rPr lang="en-US" dirty="0"/>
            </a:br>
            <a:r>
              <a:rPr lang="en-US" dirty="0"/>
              <a:t>Front end and Back end of a </a:t>
            </a:r>
            <a:br>
              <a:rPr lang="en-US" dirty="0"/>
            </a:br>
            <a:r>
              <a:rPr lang="en-US" dirty="0"/>
              <a:t>Compiler</a:t>
            </a:r>
            <a:endParaRPr lang="en-US" dirty="0"/>
          </a:p>
        </p:txBody>
      </p:sp>
      <p:sp>
        <p:nvSpPr>
          <p:cNvPr id="6" name="TextBox 5"/>
          <p:cNvSpPr txBox="1"/>
          <p:nvPr/>
        </p:nvSpPr>
        <p:spPr>
          <a:xfrm>
            <a:off x="421341" y="2112340"/>
            <a:ext cx="8525711" cy="4062651"/>
          </a:xfrm>
          <a:prstGeom prst="rect">
            <a:avLst/>
          </a:prstGeom>
          <a:noFill/>
        </p:spPr>
        <p:txBody>
          <a:bodyPr wrap="square" rtlCol="0">
            <a:spAutoFit/>
          </a:bodyPr>
          <a:lstStyle/>
          <a:p>
            <a:endParaRPr lang="en-US" sz="2000" b="1" dirty="0"/>
          </a:p>
          <a:p>
            <a:r>
              <a:rPr lang="en-US" sz="2000" b="1" dirty="0"/>
              <a:t>Front end:  </a:t>
            </a:r>
            <a:endParaRPr lang="en-US" sz="2000" b="1" dirty="0"/>
          </a:p>
          <a:p>
            <a:pPr marL="857250" lvl="1" indent="-400050">
              <a:buFont typeface="+mj-lt"/>
              <a:buAutoNum type="romanUcPeriod"/>
            </a:pPr>
            <a:r>
              <a:rPr lang="en-US" dirty="0"/>
              <a:t>Lexical Analyzer</a:t>
            </a:r>
            <a:endParaRPr lang="en-US" dirty="0"/>
          </a:p>
          <a:p>
            <a:pPr marL="857250" lvl="1" indent="-400050">
              <a:buFont typeface="+mj-lt"/>
              <a:buAutoNum type="romanUcPeriod"/>
            </a:pPr>
            <a:r>
              <a:rPr lang="en-US" dirty="0"/>
              <a:t>Syntax Analyzer</a:t>
            </a:r>
            <a:endParaRPr lang="en-US" dirty="0"/>
          </a:p>
          <a:p>
            <a:pPr marL="857250" lvl="1" indent="-400050">
              <a:buFont typeface="+mj-lt"/>
              <a:buAutoNum type="romanUcPeriod"/>
            </a:pPr>
            <a:r>
              <a:rPr lang="en-US" dirty="0"/>
              <a:t>Semantic Analyzer</a:t>
            </a:r>
            <a:endParaRPr lang="en-US" dirty="0"/>
          </a:p>
          <a:p>
            <a:pPr marL="857250" lvl="1" indent="-400050">
              <a:buFont typeface="+mj-lt"/>
              <a:buAutoNum type="romanUcPeriod"/>
            </a:pPr>
            <a:r>
              <a:rPr lang="en-US" dirty="0"/>
              <a:t>Intermediate Code Generator</a:t>
            </a:r>
            <a:endParaRPr lang="en-US" dirty="0"/>
          </a:p>
          <a:p>
            <a:endParaRPr lang="en-US" dirty="0"/>
          </a:p>
          <a:p>
            <a:endParaRPr lang="en-US" dirty="0"/>
          </a:p>
          <a:p>
            <a:r>
              <a:rPr lang="en-US" sz="2000" b="1" dirty="0"/>
              <a:t>Back end :</a:t>
            </a:r>
            <a:endParaRPr lang="en-US" sz="2000" b="1" dirty="0"/>
          </a:p>
          <a:p>
            <a:r>
              <a:rPr lang="en-US" dirty="0"/>
              <a:t>        V. Code Optimizer</a:t>
            </a:r>
            <a:endParaRPr lang="en-US" dirty="0"/>
          </a:p>
          <a:p>
            <a:r>
              <a:rPr lang="en-US" dirty="0"/>
              <a:t>        VI. Code Generator</a:t>
            </a:r>
            <a:endParaRPr lang="en-US" b="1" dirty="0"/>
          </a:p>
          <a:p>
            <a:endParaRPr lang="en-US" b="1" dirty="0"/>
          </a:p>
          <a:p>
            <a:endParaRPr lang="en-US" b="1" dirty="0"/>
          </a:p>
          <a:p>
            <a:r>
              <a:rPr lang="en-US" b="1" dirty="0"/>
              <a:t>                                                                                                                             </a:t>
            </a:r>
            <a:endParaRPr lang="en-US"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Advantages of Using Front-end and Back- end </a:t>
            </a:r>
            <a:endParaRPr lang="en-US" sz="2600" b="1" dirty="0">
              <a:solidFill>
                <a:schemeClr val="tx1"/>
              </a:solidFill>
            </a:endParaRPr>
          </a:p>
        </p:txBody>
      </p:sp>
      <p:sp>
        <p:nvSpPr>
          <p:cNvPr id="3" name="TextBox 2"/>
          <p:cNvSpPr txBox="1"/>
          <p:nvPr/>
        </p:nvSpPr>
        <p:spPr>
          <a:xfrm>
            <a:off x="994491" y="1718131"/>
            <a:ext cx="7556508" cy="4001095"/>
          </a:xfrm>
          <a:prstGeom prst="rect">
            <a:avLst/>
          </a:prstGeom>
          <a:noFill/>
        </p:spPr>
        <p:txBody>
          <a:bodyPr wrap="square" rtlCol="0">
            <a:spAutoFit/>
          </a:bodyPr>
          <a:lstStyle/>
          <a:p>
            <a:pPr algn="just"/>
            <a:endParaRPr lang="en-US" sz="2400" b="1" dirty="0"/>
          </a:p>
          <a:p>
            <a:pPr algn="just"/>
            <a:endParaRPr lang="en-US" sz="2400" b="1" dirty="0"/>
          </a:p>
          <a:p>
            <a:pPr algn="just"/>
            <a:r>
              <a:rPr lang="en-US" sz="2000" b="1" dirty="0"/>
              <a:t>Retargeting: </a:t>
            </a:r>
            <a:r>
              <a:rPr lang="en-US" dirty="0"/>
              <a:t>Build a compiler for a new machine by attaching a new code generator to an existing front-end</a:t>
            </a:r>
            <a:endParaRPr lang="en-US" dirty="0"/>
          </a:p>
          <a:p>
            <a:pPr algn="just"/>
            <a:endParaRPr lang="en-US" sz="2000" b="1" dirty="0"/>
          </a:p>
          <a:p>
            <a:pPr algn="just"/>
            <a:endParaRPr lang="en-US" sz="2000" b="1" dirty="0"/>
          </a:p>
          <a:p>
            <a:pPr algn="just"/>
            <a:r>
              <a:rPr lang="en-US" sz="2000" b="1" dirty="0"/>
              <a:t>Optimization: </a:t>
            </a:r>
            <a:r>
              <a:rPr lang="en-US" dirty="0"/>
              <a:t>Reuse intermediate code optimizers in compilers for different languages and different machines. </a:t>
            </a:r>
            <a:endParaRPr lang="en-US" sz="2000" b="1" dirty="0"/>
          </a:p>
          <a:p>
            <a:pPr lvl="1"/>
            <a:endParaRPr lang="en-US" dirty="0"/>
          </a:p>
          <a:p>
            <a:pPr lvl="1"/>
            <a:r>
              <a:rPr lang="en-US" dirty="0"/>
              <a:t>        </a:t>
            </a:r>
            <a:endParaRPr lang="en-US" dirty="0"/>
          </a:p>
          <a:p>
            <a:pPr lvl="1"/>
            <a:endParaRPr lang="en-US" dirty="0"/>
          </a:p>
          <a:p>
            <a:pPr lvl="1"/>
            <a:endParaRPr lang="en-US" dirty="0"/>
          </a:p>
          <a:p>
            <a:pPr lvl="1"/>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Symbol Table Management</a:t>
            </a:r>
            <a:endParaRPr lang="en-US" dirty="0"/>
          </a:p>
        </p:txBody>
      </p:sp>
      <p:sp>
        <p:nvSpPr>
          <p:cNvPr id="6" name="TextBox 5"/>
          <p:cNvSpPr txBox="1"/>
          <p:nvPr/>
        </p:nvSpPr>
        <p:spPr>
          <a:xfrm>
            <a:off x="421341" y="2112340"/>
            <a:ext cx="8525711" cy="4278094"/>
          </a:xfrm>
          <a:prstGeom prst="rect">
            <a:avLst/>
          </a:prstGeom>
          <a:noFill/>
        </p:spPr>
        <p:txBody>
          <a:bodyPr wrap="square" rtlCol="0">
            <a:spAutoFit/>
          </a:bodyPr>
          <a:lstStyle/>
          <a:p>
            <a:pPr algn="just"/>
            <a:endParaRPr lang="en-US" sz="2000" b="1" dirty="0"/>
          </a:p>
          <a:p>
            <a:pPr algn="just"/>
            <a:r>
              <a:rPr lang="en-US" dirty="0"/>
              <a:t>A symbol table is a data structure containing all the identifiers (i.e. names of variables, procedures etc.) of a source program together with all the attributes of each identifier.</a:t>
            </a:r>
            <a:endParaRPr lang="en-US" b="1" dirty="0"/>
          </a:p>
          <a:p>
            <a:pPr algn="just"/>
            <a:endParaRPr lang="en-US" b="1" dirty="0"/>
          </a:p>
          <a:p>
            <a:r>
              <a:rPr lang="en-US" dirty="0"/>
              <a:t>For variables, typical attributes include:</a:t>
            </a:r>
            <a:endParaRPr lang="en-US" dirty="0"/>
          </a:p>
          <a:p>
            <a:pPr marL="742950" lvl="1" indent="-285750">
              <a:buFont typeface="Wingdings" panose="05000000000000000000" pitchFamily="2" charset="2"/>
              <a:buChar char="Ø"/>
            </a:pPr>
            <a:r>
              <a:rPr lang="en-US" dirty="0"/>
              <a:t>its type,</a:t>
            </a:r>
            <a:endParaRPr lang="en-US" dirty="0"/>
          </a:p>
          <a:p>
            <a:pPr marL="742950" lvl="1" indent="-285750">
              <a:buFont typeface="Wingdings" panose="05000000000000000000" pitchFamily="2" charset="2"/>
              <a:buChar char="Ø"/>
            </a:pPr>
            <a:r>
              <a:rPr lang="en-US" dirty="0"/>
              <a:t>how much memory it occupies,</a:t>
            </a:r>
            <a:endParaRPr lang="en-US" dirty="0"/>
          </a:p>
          <a:p>
            <a:pPr marL="742950" lvl="1" indent="-285750">
              <a:buFont typeface="Wingdings" panose="05000000000000000000" pitchFamily="2" charset="2"/>
              <a:buChar char="Ø"/>
            </a:pPr>
            <a:r>
              <a:rPr lang="en-US" dirty="0"/>
              <a:t>its scope.</a:t>
            </a:r>
            <a:endParaRPr lang="en-US" dirty="0"/>
          </a:p>
          <a:p>
            <a:endParaRPr lang="en-US" b="1" dirty="0"/>
          </a:p>
          <a:p>
            <a:r>
              <a:rPr lang="en-US" dirty="0"/>
              <a:t>For procedures and functions, typical attributes include:</a:t>
            </a:r>
            <a:endParaRPr lang="en-US" dirty="0"/>
          </a:p>
          <a:p>
            <a:pPr marL="742950" lvl="1" indent="-285750">
              <a:buFont typeface="Wingdings" panose="05000000000000000000" pitchFamily="2" charset="2"/>
              <a:buChar char="Ø"/>
            </a:pPr>
            <a:r>
              <a:rPr lang="en-US" dirty="0"/>
              <a:t>the number and type of each argument (if any),</a:t>
            </a:r>
            <a:endParaRPr lang="en-US" dirty="0"/>
          </a:p>
          <a:p>
            <a:pPr marL="742950" lvl="1" indent="-285750">
              <a:buFont typeface="Wingdings" panose="05000000000000000000" pitchFamily="2" charset="2"/>
              <a:buChar char="Ø"/>
            </a:pPr>
            <a:r>
              <a:rPr lang="en-US" dirty="0"/>
              <a:t>the method of passing each argument, and</a:t>
            </a:r>
            <a:endParaRPr lang="en-US" dirty="0"/>
          </a:p>
          <a:p>
            <a:pPr marL="742950" lvl="1" indent="-285750">
              <a:buFont typeface="Wingdings" panose="05000000000000000000" pitchFamily="2" charset="2"/>
              <a:buChar char="Ø"/>
            </a:pPr>
            <a:r>
              <a:rPr lang="en-US" dirty="0"/>
              <a:t>the type of value returned (if any).</a:t>
            </a:r>
            <a:endParaRPr lang="en-US" b="1" dirty="0"/>
          </a:p>
          <a:p>
            <a:endParaRPr lang="en-US" b="1" dirty="0"/>
          </a:p>
          <a:p>
            <a:r>
              <a:rPr lang="en-US" b="1" dirty="0"/>
              <a:t>                                                                                                                             </a:t>
            </a:r>
            <a:endParaRPr lang="en-US"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Symbol Table Management</a:t>
            </a:r>
            <a:endParaRPr lang="en-US" dirty="0"/>
          </a:p>
        </p:txBody>
      </p:sp>
      <p:sp>
        <p:nvSpPr>
          <p:cNvPr id="6" name="TextBox 5"/>
          <p:cNvSpPr txBox="1"/>
          <p:nvPr/>
        </p:nvSpPr>
        <p:spPr>
          <a:xfrm>
            <a:off x="421341" y="2112340"/>
            <a:ext cx="8525711" cy="1785104"/>
          </a:xfrm>
          <a:prstGeom prst="rect">
            <a:avLst/>
          </a:prstGeom>
          <a:noFill/>
        </p:spPr>
        <p:txBody>
          <a:bodyPr wrap="square" rtlCol="0">
            <a:spAutoFit/>
          </a:bodyPr>
          <a:lstStyle/>
          <a:p>
            <a:pPr algn="just"/>
            <a:endParaRPr lang="en-US" sz="2000" b="1" dirty="0"/>
          </a:p>
          <a:p>
            <a:pPr algn="just"/>
            <a:r>
              <a:rPr lang="en-US" dirty="0"/>
              <a:t>The purpose of the symbol table is to provide quick and uniform access to identifier attributes throughout the compilation process. Information is usually put into the symbol table throughout the analysis phase and used for the synthesis phase.</a:t>
            </a:r>
            <a:endParaRPr lang="en-US" dirty="0"/>
          </a:p>
          <a:p>
            <a:pPr algn="just"/>
            <a:endParaRPr lang="en-US" b="1" dirty="0"/>
          </a:p>
          <a:p>
            <a:pPr algn="just"/>
            <a:r>
              <a:rPr lang="en-US" b="1" dirty="0"/>
              <a:t>                                                                                                                             </a:t>
            </a:r>
            <a:endParaRPr lang="en-US"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Error Handler</a:t>
            </a:r>
            <a:endParaRPr lang="en-US" dirty="0"/>
          </a:p>
        </p:txBody>
      </p:sp>
      <p:sp>
        <p:nvSpPr>
          <p:cNvPr id="6" name="TextBox 5"/>
          <p:cNvSpPr txBox="1"/>
          <p:nvPr/>
        </p:nvSpPr>
        <p:spPr>
          <a:xfrm>
            <a:off x="421341" y="2112340"/>
            <a:ext cx="8525711" cy="2646878"/>
          </a:xfrm>
          <a:prstGeom prst="rect">
            <a:avLst/>
          </a:prstGeom>
          <a:noFill/>
        </p:spPr>
        <p:txBody>
          <a:bodyPr wrap="square" rtlCol="0">
            <a:spAutoFit/>
          </a:bodyPr>
          <a:lstStyle/>
          <a:p>
            <a:pPr algn="just"/>
            <a:endParaRPr lang="en-US" sz="2000" b="1" dirty="0"/>
          </a:p>
          <a:p>
            <a:pPr algn="just"/>
            <a:endParaRPr lang="en-US" sz="2000" b="1" dirty="0"/>
          </a:p>
          <a:p>
            <a:r>
              <a:rPr lang="en-US" dirty="0"/>
              <a:t>Each of the six phases (but mainly the analysis phases) of a compiler can encounter errors. On detecting an error the compiler must:</a:t>
            </a:r>
            <a:endParaRPr lang="en-US" dirty="0"/>
          </a:p>
          <a:p>
            <a:endParaRPr lang="en-US" b="1" dirty="0"/>
          </a:p>
          <a:p>
            <a:pPr marL="742950" lvl="1" indent="-285750">
              <a:buFont typeface="Wingdings" panose="05000000000000000000" pitchFamily="2" charset="2"/>
              <a:buChar char="Ø"/>
            </a:pPr>
            <a:r>
              <a:rPr lang="en-US" dirty="0"/>
              <a:t>report the error in a helpful way,</a:t>
            </a:r>
            <a:endParaRPr lang="en-US" dirty="0"/>
          </a:p>
          <a:p>
            <a:pPr marL="742950" lvl="1" indent="-285750">
              <a:buFont typeface="Wingdings" panose="05000000000000000000" pitchFamily="2" charset="2"/>
              <a:buChar char="Ø"/>
            </a:pPr>
            <a:r>
              <a:rPr lang="en-US" dirty="0"/>
              <a:t>correct the error if possible, and</a:t>
            </a:r>
            <a:endParaRPr lang="en-US" dirty="0"/>
          </a:p>
          <a:p>
            <a:pPr marL="742950" lvl="1" indent="-285750">
              <a:buFont typeface="Wingdings" panose="05000000000000000000" pitchFamily="2" charset="2"/>
              <a:buChar char="Ø"/>
            </a:pPr>
            <a:r>
              <a:rPr lang="en-US" dirty="0"/>
              <a:t>continue processing (if possible) after the error to look for further errors.</a:t>
            </a:r>
            <a:endParaRPr lang="en-US" b="1" dirty="0"/>
          </a:p>
          <a:p>
            <a:pPr algn="just"/>
            <a:r>
              <a:rPr lang="en-US" b="1" dirty="0"/>
              <a:t>                                                                                                                             </a:t>
            </a:r>
            <a:endParaRPr lang="en-US"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Lecture References</a:t>
            </a:r>
            <a:endParaRPr lang="en-US" sz="2600" b="1" dirty="0">
              <a:solidFill>
                <a:schemeClr val="tx1"/>
              </a:solidFill>
            </a:endParaRPr>
          </a:p>
        </p:txBody>
      </p:sp>
      <p:sp>
        <p:nvSpPr>
          <p:cNvPr id="5" name="TextBox 4"/>
          <p:cNvSpPr txBox="1"/>
          <p:nvPr/>
        </p:nvSpPr>
        <p:spPr>
          <a:xfrm>
            <a:off x="783772" y="2435897"/>
            <a:ext cx="7151958" cy="1200329"/>
          </a:xfrm>
          <a:prstGeom prst="rect">
            <a:avLst/>
          </a:prstGeom>
          <a:noFill/>
        </p:spPr>
        <p:txBody>
          <a:bodyPr wrap="none" rtlCol="0">
            <a:spAutoFit/>
          </a:bodyPr>
          <a:lstStyle/>
          <a:p>
            <a:r>
              <a:rPr lang="en-US" dirty="0"/>
              <a:t>A. </a:t>
            </a:r>
            <a:r>
              <a:rPr lang="en-US" dirty="0" err="1"/>
              <a:t>Aho</a:t>
            </a:r>
            <a:r>
              <a:rPr lang="en-US" dirty="0"/>
              <a:t>, R. </a:t>
            </a:r>
            <a:r>
              <a:rPr lang="en-US" dirty="0" err="1"/>
              <a:t>Sethi</a:t>
            </a:r>
            <a:r>
              <a:rPr lang="en-US" dirty="0"/>
              <a:t> and J. Ullman, </a:t>
            </a:r>
            <a:r>
              <a:rPr lang="en-US" b="1" i="1" dirty="0"/>
              <a:t>Compilers: Principles, Techniques and Tools</a:t>
            </a:r>
            <a:endParaRPr lang="en-US" b="1" i="1" dirty="0"/>
          </a:p>
          <a:p>
            <a:r>
              <a:rPr lang="en-US" i="1" dirty="0"/>
              <a:t>(</a:t>
            </a:r>
            <a:r>
              <a:rPr lang="en-US" dirty="0"/>
              <a:t>The Dragon Book</a:t>
            </a:r>
            <a:r>
              <a:rPr lang="en-US" i="1" dirty="0"/>
              <a:t>)</a:t>
            </a:r>
            <a:r>
              <a:rPr lang="en-US" dirty="0"/>
              <a:t>,   [ Second Edition]</a:t>
            </a:r>
            <a:endParaRPr lang="en-US" dirty="0"/>
          </a:p>
          <a:p>
            <a:endParaRPr lang="en-US" dirty="0"/>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endParaRPr lang="en-US" sz="2600" b="1" dirty="0">
              <a:solidFill>
                <a:schemeClr val="tx1"/>
              </a:solidFill>
            </a:endParaRPr>
          </a:p>
        </p:txBody>
      </p:sp>
      <p:sp>
        <p:nvSpPr>
          <p:cNvPr id="3" name="TextBox 2"/>
          <p:cNvSpPr txBox="1"/>
          <p:nvPr/>
        </p:nvSpPr>
        <p:spPr>
          <a:xfrm>
            <a:off x="783772" y="2435897"/>
            <a:ext cx="184731" cy="369332"/>
          </a:xfrm>
          <a:prstGeom prst="rect">
            <a:avLst/>
          </a:prstGeom>
          <a:noFill/>
        </p:spPr>
        <p:txBody>
          <a:bodyPr wrap="none" rtlCol="0">
            <a:spAutoFit/>
          </a:bodyPr>
          <a:lstStyle/>
          <a:p>
            <a:endParaRPr lang="en-US" dirty="0"/>
          </a:p>
        </p:txBody>
      </p:sp>
      <p:sp>
        <p:nvSpPr>
          <p:cNvPr id="2" name="Rectangle 1"/>
          <p:cNvSpPr/>
          <p:nvPr/>
        </p:nvSpPr>
        <p:spPr>
          <a:xfrm>
            <a:off x="783771" y="2235816"/>
            <a:ext cx="6925323" cy="2308324"/>
          </a:xfrm>
          <a:prstGeom prst="rect">
            <a:avLst/>
          </a:prstGeom>
        </p:spPr>
        <p:txBody>
          <a:bodyPr wrap="square">
            <a:spAutoFit/>
          </a:bodyPr>
          <a:lstStyle/>
          <a:p>
            <a:pPr marL="342900" indent="-342900">
              <a:buFont typeface="+mj-lt"/>
              <a:buAutoNum type="arabicPeriod"/>
            </a:pPr>
            <a:r>
              <a:rPr lang="en-US" dirty="0"/>
              <a:t>A. </a:t>
            </a:r>
            <a:r>
              <a:rPr lang="en-US" dirty="0" err="1"/>
              <a:t>Aho</a:t>
            </a:r>
            <a:r>
              <a:rPr lang="en-US" dirty="0"/>
              <a:t>, R. </a:t>
            </a:r>
            <a:r>
              <a:rPr lang="en-US" dirty="0" err="1"/>
              <a:t>Sethi</a:t>
            </a:r>
            <a:r>
              <a:rPr lang="en-US" dirty="0"/>
              <a:t> and J. Ullman, </a:t>
            </a:r>
            <a:r>
              <a:rPr lang="en-US" b="1" i="1" dirty="0"/>
              <a:t>Compilers: Principles, Techniques and Tools</a:t>
            </a:r>
            <a:r>
              <a:rPr lang="en-US" i="1" dirty="0"/>
              <a:t>(</a:t>
            </a:r>
            <a:r>
              <a:rPr lang="en-US" dirty="0"/>
              <a:t>The Dragon Book</a:t>
            </a:r>
            <a:r>
              <a:rPr lang="en-US" i="1" dirty="0"/>
              <a:t>)</a:t>
            </a:r>
            <a:r>
              <a:rPr lang="en-US" dirty="0"/>
              <a:t>,   [ Second Edition]</a:t>
            </a:r>
            <a:endParaRPr lang="en-US" dirty="0"/>
          </a:p>
          <a:p>
            <a:pPr marL="342900" indent="-342900">
              <a:buFont typeface="+mj-lt"/>
              <a:buAutoNum type="arabicPeriod"/>
            </a:pPr>
            <a:endParaRPr lang="en-US" dirty="0"/>
          </a:p>
          <a:p>
            <a:pPr marL="342900" indent="-342900">
              <a:buFont typeface="+mj-lt"/>
              <a:buAutoNum type="arabicPeriod"/>
            </a:pPr>
            <a:r>
              <a:rPr lang="en-US" b="1" dirty="0"/>
              <a:t>Principles of Compiler Design </a:t>
            </a:r>
            <a:r>
              <a:rPr lang="en-US" dirty="0"/>
              <a:t>(2nd Revised Edition 2009) A. A. Puntambekar</a:t>
            </a:r>
            <a:endParaRPr lang="en-US" dirty="0"/>
          </a:p>
          <a:p>
            <a:pPr marL="342900" indent="-342900">
              <a:buFont typeface="+mj-lt"/>
              <a:buAutoNum type="arabicPeriod"/>
            </a:pPr>
            <a:endParaRPr lang="en-US" dirty="0"/>
          </a:p>
          <a:p>
            <a:pPr marL="342900" indent="-342900">
              <a:buFont typeface="+mj-lt"/>
              <a:buAutoNum type="arabicPeriod"/>
            </a:pPr>
            <a:r>
              <a:rPr lang="en-US" dirty="0">
                <a:solidFill>
                  <a:prstClr val="black"/>
                </a:solidFill>
              </a:rPr>
              <a:t>Basics of Compiler Design Torben </a:t>
            </a:r>
            <a:r>
              <a:rPr lang="en-US" dirty="0" err="1">
                <a:solidFill>
                  <a:prstClr val="black"/>
                </a:solidFill>
              </a:rPr>
              <a:t>Mogensen</a:t>
            </a:r>
            <a:endParaRPr lang="en-US" dirty="0">
              <a:solidFill>
                <a:prstClr val="black"/>
              </a:solidFill>
            </a:endParaRPr>
          </a:p>
          <a:p>
            <a:endParaRPr lang="en-US" dirty="0"/>
          </a:p>
        </p:txBody>
      </p:sp>
    </p:spTree>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Spectrum.thmx</Template>
  <TotalTime>0</TotalTime>
  <Words>3814</Words>
  <Application>WPS Presentation</Application>
  <PresentationFormat>On-screen Show (4:3)</PresentationFormat>
  <Paragraphs>156</Paragraphs>
  <Slides>13</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13</vt:i4>
      </vt:variant>
    </vt:vector>
  </HeadingPairs>
  <TitlesOfParts>
    <vt:vector size="24" baseType="lpstr">
      <vt:lpstr>Arial</vt:lpstr>
      <vt:lpstr>SimSun</vt:lpstr>
      <vt:lpstr>Wingdings</vt:lpstr>
      <vt:lpstr>Wingdings</vt:lpstr>
      <vt:lpstr>Courier New</vt:lpstr>
      <vt:lpstr>Times New Roman</vt:lpstr>
      <vt:lpstr>Corbel</vt:lpstr>
      <vt:lpstr>Calibri</vt:lpstr>
      <vt:lpstr>Microsoft YaHei</vt:lpstr>
      <vt:lpstr>Arial Unicode MS</vt:lpstr>
      <vt:lpstr>Spectrum</vt:lpstr>
      <vt:lpstr>Introduction To Compiler</vt:lpstr>
      <vt:lpstr>Lecture Outline</vt:lpstr>
      <vt:lpstr>Objectives and Outcomes</vt:lpstr>
      <vt:lpstr>Linker and Loader</vt:lpstr>
      <vt:lpstr>PowerPoint 演示文稿</vt:lpstr>
      <vt:lpstr>PowerPoint 演示文稿</vt:lpstr>
      <vt:lpstr>   Front end and Back end of a  Compiler</vt:lpstr>
      <vt:lpstr>PowerPoint 演示文稿</vt:lpstr>
      <vt:lpstr>Symbol Table Management</vt:lpstr>
      <vt:lpstr>Symbol Table Management</vt:lpstr>
      <vt:lpstr>Error Handler</vt:lpstr>
      <vt:lpstr>PowerPoint 演示文稿</vt:lpstr>
      <vt:lpstr>PowerPoint 演示文稿</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Teacher</cp:lastModifiedBy>
  <cp:revision>105</cp:revision>
  <dcterms:created xsi:type="dcterms:W3CDTF">2018-12-10T17:20:00Z</dcterms:created>
  <dcterms:modified xsi:type="dcterms:W3CDTF">2025-07-16T07:35:32Z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3CB681BCAD084E688CA3BF7ADAF55994_12</vt:lpwstr>
  </property>
  <property fmtid="{D5CDD505-2E9C-101B-9397-08002B2CF9AE}" pid="3" name="KSOProductBuildVer">
    <vt:lpwstr>2057-12.2.0.21936</vt:lpwstr>
  </property>
</Properties>
</file>