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89" r:id="rId5"/>
    <p:sldId id="274" r:id="rId6"/>
    <p:sldId id="258" r:id="rId7"/>
    <p:sldId id="275" r:id="rId8"/>
    <p:sldId id="276" r:id="rId9"/>
    <p:sldId id="277" r:id="rId10"/>
    <p:sldId id="281" r:id="rId11"/>
    <p:sldId id="278" r:id="rId12"/>
    <p:sldId id="280" r:id="rId13"/>
    <p:sldId id="282" r:id="rId14"/>
    <p:sldId id="270" r:id="rId15"/>
    <p:sldId id="269" r:id="rId16"/>
    <p:sldId id="290" r:id="rId17"/>
    <p:sldId id="291" r:id="rId18"/>
    <p:sldId id="292" r:id="rId19"/>
    <p:sldId id="293" r:id="rId20"/>
    <p:sldId id="294" r:id="rId21"/>
    <p:sldId id="295" r:id="rId22"/>
    <p:sldId id="296" r:id="rId23"/>
    <p:sldId id="297" r:id="rId24"/>
    <p:sldId id="264" r:id="rId25"/>
    <p:sldId id="265"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65"/>
  </p:normalViewPr>
  <p:slideViewPr>
    <p:cSldViewPr snapToGrid="0" snapToObjects="1" showGuides="1">
      <p:cViewPr varScale="1">
        <p:scale>
          <a:sx n="89" d="100"/>
          <a:sy n="89" d="100"/>
        </p:scale>
        <p:origin x="174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lang="fi-FI"/>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pic>
        <p:nvPicPr>
          <p:cNvPr id="1026"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idx="1"/>
          </p:nvPr>
        </p:nvSpPr>
        <p:spPr/>
        <p:txBody>
          <a:bodyPr/>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8" name="Picture Placeholder 7"/>
          <p:cNvSpPr>
            <a:spLocks noGrp="1"/>
          </p:cNvSpPr>
          <p:nvPr>
            <p:ph type="pic" sz="quarter" idx="13" hasCustomPrompt="1"/>
          </p:nvPr>
        </p:nvSpPr>
        <p:spPr>
          <a:xfrm>
            <a:off x="284162" y="2017058"/>
            <a:ext cx="8574087" cy="4377391"/>
          </a:xfrm>
        </p:spPr>
        <p:txBody>
          <a:bodyPr/>
          <a:lstStyle>
            <a:lvl1pPr>
              <a:buNone/>
              <a:defRPr/>
            </a:lvl1pPr>
          </a:lstStyle>
          <a:p>
            <a:r>
              <a:rPr lang="fi-FI"/>
              <a:t>Drag picture to placeholder or click icon to add</a:t>
            </a:r>
            <a:endParaRPr lang="fi-FI"/>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lang="fi-FI"/>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anose="05000000000000000000" pitchFamily="2" charset="2"/>
              <a:buNone/>
            </a:pPr>
            <a:r>
              <a:rPr lang="fi-FI"/>
              <a:t>Click to edit Master text styles</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hasCustomPrompt="1"/>
          </p:nvPr>
        </p:nvSpPr>
        <p:spPr>
          <a:xfrm>
            <a:off x="284162" y="443754"/>
            <a:ext cx="8574087" cy="4370293"/>
          </a:xfrm>
        </p:spPr>
        <p:txBody>
          <a:bodyPr/>
          <a:lstStyle>
            <a:lvl1pPr>
              <a:buNone/>
              <a:defRPr/>
            </a:lvl1pPr>
          </a:lstStyle>
          <a:p>
            <a:r>
              <a:rPr lang="fi-FI"/>
              <a:t>Drag picture to placeholder or click icon to add</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lang="fi-FI"/>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endParaRPr lang="fi-FI"/>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lvl1pPr>
              <a:defRPr/>
            </a:lvl1pPr>
          </a:lstStyle>
          <a:p>
            <a:r>
              <a:rPr lang="fi-FI"/>
              <a:t>Click to edit Master title style</a:t>
            </a:r>
            <a:endParaRPr lang="fi-FI"/>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Date Placeholder 2"/>
          <p:cNvSpPr>
            <a:spLocks noGrp="1"/>
          </p:cNvSpPr>
          <p:nvPr>
            <p:ph type="dt" sz="half" idx="10"/>
          </p:nvPr>
        </p:nvSpPr>
        <p:spPr/>
        <p:txBody>
          <a:bodyPr/>
          <a:lstStyle/>
          <a:p>
            <a:fld id="{4251665B-C24A-4702-B522-6A4334602E0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pic>
        <p:nvPicPr>
          <p:cNvPr id="2050"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lang="fi-FI"/>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lang="fi-FI"/>
          </a:p>
        </p:txBody>
      </p:sp>
      <p:sp>
        <p:nvSpPr>
          <p:cNvPr id="14" name="Picture Placeholder 13"/>
          <p:cNvSpPr>
            <a:spLocks noGrp="1"/>
          </p:cNvSpPr>
          <p:nvPr>
            <p:ph type="pic" sz="quarter" idx="13" hasCustomPrompt="1"/>
          </p:nvPr>
        </p:nvSpPr>
        <p:spPr>
          <a:xfrm>
            <a:off x="284164" y="594360"/>
            <a:ext cx="2743200" cy="3675888"/>
          </a:xfrm>
        </p:spPr>
        <p:txBody>
          <a:bodyPr/>
          <a:lstStyle>
            <a:lvl1pPr>
              <a:buNone/>
              <a:defRPr/>
            </a:lvl1pPr>
          </a:lstStyle>
          <a:p>
            <a:r>
              <a:rPr lang="fi-FI"/>
              <a:t>Drag picture to placeholder or click icon to add</a:t>
            </a:r>
            <a:endParaRPr lang="fi-FI"/>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3" name="Picture Placeholder 2"/>
          <p:cNvSpPr>
            <a:spLocks noGrp="1"/>
          </p:cNvSpPr>
          <p:nvPr>
            <p:ph type="pic" idx="13" hasCustomPrompt="1"/>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14" name="Picture Placeholder 2"/>
          <p:cNvSpPr>
            <a:spLocks noGrp="1"/>
          </p:cNvSpPr>
          <p:nvPr>
            <p:ph type="pic" idx="14" hasCustomPrompt="1"/>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lang="fi-FI"/>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lang="fi-F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Compiler</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CSC 3220</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endParaRPr lang="en-US" sz="2000" b="1" dirty="0">
              <a:solidFill>
                <a:srgbClr val="0070C0"/>
              </a:solidFill>
              <a:latin typeface="Arial" panose="020B0604020202020204" pitchFamily="34" charset="0"/>
              <a:cs typeface="Arial" panose="020B0604020202020204" pitchFamily="34" charset="0"/>
            </a:endParaRP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476205" y="5186042"/>
          <a:ext cx="8335798" cy="1018816"/>
        </p:xfrm>
        <a:graphic>
          <a:graphicData uri="http://schemas.openxmlformats.org/drawingml/2006/table">
            <a:tbl>
              <a:tblPr firstRow="1" bandRow="1">
                <a:tableStyleId>{D7AC3CCA-C797-4891-BE02-D94E43425B78}</a:tableStyleId>
              </a:tblPr>
              <a:tblGrid>
                <a:gridCol w="1483224"/>
                <a:gridCol w="1397725"/>
                <a:gridCol w="1227909"/>
                <a:gridCol w="1541417"/>
                <a:gridCol w="1240971"/>
                <a:gridCol w="1444552"/>
              </a:tblGrid>
              <a:tr h="378736">
                <a:tc>
                  <a:txBody>
                    <a:bodyPr/>
                    <a:lstStyle/>
                    <a:p>
                      <a:r>
                        <a:rPr lang="en-US" dirty="0"/>
                        <a:t>Lecture No:</a:t>
                      </a:r>
                      <a:endParaRPr lang="en-US" dirty="0"/>
                    </a:p>
                  </a:txBody>
                  <a:tcPr/>
                </a:tc>
                <a:tc>
                  <a:txBody>
                    <a:bodyPr/>
                    <a:lstStyle/>
                    <a:p>
                      <a:r>
                        <a:rPr lang="en-US" dirty="0"/>
                        <a:t>2</a:t>
                      </a:r>
                      <a:endParaRPr lang="en-US" dirty="0"/>
                    </a:p>
                  </a:txBody>
                  <a:tcPr/>
                </a:tc>
                <a:tc>
                  <a:txBody>
                    <a:bodyPr/>
                    <a:lstStyle/>
                    <a:p>
                      <a:r>
                        <a:rPr lang="en-US" dirty="0"/>
                        <a:t>Week No:</a:t>
                      </a:r>
                      <a:endParaRPr lang="en-US" dirty="0"/>
                    </a:p>
                  </a:txBody>
                  <a:tcPr/>
                </a:tc>
                <a:tc>
                  <a:txBody>
                    <a:bodyPr/>
                    <a:lstStyle/>
                    <a:p>
                      <a:r>
                        <a:rPr lang="en-US" dirty="0"/>
                        <a:t>2</a:t>
                      </a:r>
                      <a:endParaRPr lang="en-US" dirty="0"/>
                    </a:p>
                  </a:txBody>
                  <a:tcPr/>
                </a:tc>
                <a:tc>
                  <a:txBody>
                    <a:bodyPr/>
                    <a:lstStyle/>
                    <a:p>
                      <a:r>
                        <a:rPr lang="en-US" dirty="0"/>
                        <a:t>Semester:</a:t>
                      </a:r>
                      <a:endParaRPr lang="en-US" dirty="0"/>
                    </a:p>
                  </a:txBody>
                  <a:tcPr/>
                </a:tc>
                <a:tc>
                  <a:txBody>
                    <a:bodyPr/>
                    <a:lstStyle/>
                    <a:p>
                      <a:r>
                        <a:rPr lang="en-US" dirty="0"/>
                        <a:t>Summer</a:t>
                      </a:r>
                      <a:endParaRPr lang="en-US" dirty="0"/>
                    </a:p>
                  </a:txBody>
                  <a:tcPr/>
                </a:tc>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endParaRPr kumimoji="0" lang="en-US" sz="1800" b="1" i="0" u="none" strike="noStrike" kern="1200" cap="none" spc="0" normalizeH="0" baseline="0" noProof="0" dirty="0">
                        <a:ln>
                          <a:noFill/>
                        </a:ln>
                        <a:solidFill>
                          <a:prstClr val="black"/>
                        </a:solidFill>
                        <a:effectLst/>
                        <a:uLnTx/>
                        <a:uFillTx/>
                        <a:latin typeface="+mn-lt"/>
                        <a:ea typeface="+mn-ea"/>
                        <a:cs typeface="+mn-cs"/>
                      </a:endParaRPr>
                    </a:p>
                  </a:txBody>
                  <a:tcPr/>
                </a:tc>
                <a:tc gridSpan="5">
                  <a:txBody>
                    <a:bodyPr/>
                    <a:lstStyle/>
                    <a:p>
                      <a:r>
                        <a:rPr lang="en-US" i="1" dirty="0"/>
                        <a:t>Atkia Akila Karim</a:t>
                      </a:r>
                      <a:endParaRPr lang="en-US" i="1" dirty="0"/>
                    </a:p>
                  </a:txBody>
                  <a:tcPr/>
                </a:tc>
                <a:tc hMerge="1">
                  <a:tcPr/>
                </a:tc>
                <a:tc hMerge="1">
                  <a:tcPr/>
                </a:tc>
                <a:tc hMerge="1">
                  <a:tcPr/>
                </a:tc>
                <a:tc hMerge="1">
                  <a:tcPr/>
                </a:tc>
              </a:tr>
            </a:tbl>
          </a:graphicData>
        </a:graphic>
      </p:graphicFrame>
      <p:sp>
        <p:nvSpPr>
          <p:cNvPr id="8" name="Subtitle 2"/>
          <p:cNvSpPr txBox="1"/>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r>
              <a:rPr lang="en-US" dirty="0"/>
              <a:t>Course Title: Compiler Design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endParaRPr lang="en-US" dirty="0"/>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Language Processing System</a:t>
            </a:r>
            <a:endParaRPr lang="en-US" sz="2400" dirty="0">
              <a:solidFill>
                <a:schemeClr val="tx1"/>
              </a:solidFill>
            </a:endParaRPr>
          </a:p>
          <a:p>
            <a:pPr marL="342900" indent="-342900">
              <a:buAutoNum type="arabicPeriod"/>
            </a:pPr>
            <a:r>
              <a:rPr lang="en-US" sz="2400" dirty="0">
                <a:solidFill>
                  <a:schemeClr val="tx1"/>
                </a:solidFill>
              </a:rPr>
              <a:t>Different Phases of a Compiler</a:t>
            </a:r>
            <a:endParaRPr lang="en-US" sz="2400"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Objectives and Outcomes</a:t>
            </a:r>
            <a:endParaRPr lang="en-US" dirty="0"/>
          </a:p>
        </p:txBody>
      </p:sp>
      <p:sp>
        <p:nvSpPr>
          <p:cNvPr id="6" name="TextBox 5"/>
          <p:cNvSpPr txBox="1"/>
          <p:nvPr/>
        </p:nvSpPr>
        <p:spPr>
          <a:xfrm>
            <a:off x="421341" y="2112340"/>
            <a:ext cx="8525711" cy="5478423"/>
          </a:xfrm>
          <a:prstGeom prst="rect">
            <a:avLst/>
          </a:prstGeom>
          <a:noFill/>
        </p:spPr>
        <p:txBody>
          <a:bodyPr wrap="square" rtlCol="0">
            <a:spAutoFit/>
          </a:bodyPr>
          <a:lstStyle/>
          <a:p>
            <a:pPr algn="just"/>
            <a:endParaRPr lang="en-US" sz="2000" b="1" dirty="0"/>
          </a:p>
          <a:p>
            <a:pPr algn="just"/>
            <a:r>
              <a:rPr lang="en-US" sz="2000" b="1" dirty="0"/>
              <a:t>Objectives:</a:t>
            </a:r>
            <a:endParaRPr lang="en-US" sz="2000" b="1" dirty="0"/>
          </a:p>
          <a:p>
            <a:pPr marL="742950" lvl="1" indent="-285750" algn="just">
              <a:buFont typeface="Wingdings" panose="05000000000000000000" pitchFamily="2" charset="2"/>
              <a:buChar char="Ø"/>
            </a:pPr>
            <a:r>
              <a:rPr lang="en-US" dirty="0"/>
              <a:t>Understand the structure of a language processing system.</a:t>
            </a:r>
            <a:endParaRPr lang="en-US" dirty="0"/>
          </a:p>
          <a:p>
            <a:pPr marL="742950" lvl="1" indent="-285750" algn="just">
              <a:buFont typeface="Wingdings" panose="05000000000000000000" pitchFamily="2" charset="2"/>
              <a:buChar char="Ø"/>
            </a:pPr>
            <a:r>
              <a:rPr lang="en-US" dirty="0"/>
              <a:t>Understand the structure of a compiler.</a:t>
            </a:r>
            <a:endParaRPr lang="en-US" dirty="0"/>
          </a:p>
          <a:p>
            <a:pPr marL="742950" lvl="1" indent="-285750" algn="just">
              <a:buFont typeface="Wingdings" panose="05000000000000000000" pitchFamily="2" charset="2"/>
              <a:buChar char="Ø"/>
            </a:pPr>
            <a:r>
              <a:rPr lang="en-US" dirty="0"/>
              <a:t>Understand the tools involved( Scanner generator, Parser generator, </a:t>
            </a:r>
            <a:r>
              <a:rPr lang="en-US" dirty="0" err="1"/>
              <a:t>etc</a:t>
            </a:r>
            <a:r>
              <a:rPr lang="en-US" dirty="0"/>
              <a:t>)</a:t>
            </a:r>
            <a:endParaRPr lang="en-US" dirty="0"/>
          </a:p>
          <a:p>
            <a:pPr lvl="1" algn="just"/>
            <a:endParaRPr lang="en-US" dirty="0"/>
          </a:p>
          <a:p>
            <a:pPr lvl="1" algn="just"/>
            <a:endParaRPr lang="en-US" dirty="0"/>
          </a:p>
          <a:p>
            <a:pPr algn="just"/>
            <a:r>
              <a:rPr lang="en-US" sz="2000" b="1" dirty="0"/>
              <a:t>Outcomes:</a:t>
            </a:r>
            <a:endParaRPr lang="en-US" sz="2000" b="1" dirty="0"/>
          </a:p>
          <a:p>
            <a:pPr marL="800100" lvl="1" indent="-342900" algn="just">
              <a:buFont typeface="Wingdings" panose="05000000000000000000" pitchFamily="2" charset="2"/>
              <a:buChar char="Ø"/>
            </a:pPr>
            <a:r>
              <a:rPr lang="en-US" dirty="0"/>
              <a:t>Students should be able to understand how a language is processed step by step.</a:t>
            </a:r>
            <a:endParaRPr lang="en-US" dirty="0"/>
          </a:p>
          <a:p>
            <a:pPr marL="800100" lvl="1" indent="-342900" algn="just">
              <a:buFont typeface="Wingdings" panose="05000000000000000000" pitchFamily="2" charset="2"/>
              <a:buChar char="Ø"/>
            </a:pPr>
            <a:r>
              <a:rPr lang="en-US" dirty="0"/>
              <a:t>Students will analyze the phases of a compiler.</a:t>
            </a:r>
            <a:endParaRPr lang="en-US" dirty="0"/>
          </a:p>
          <a:p>
            <a:pPr marL="800100" lvl="1" indent="-342900" algn="just">
              <a:buFont typeface="Wingdings" panose="05000000000000000000" pitchFamily="2" charset="2"/>
              <a:buChar char="Ø"/>
            </a:pPr>
            <a:endParaRPr lang="en-US" dirty="0"/>
          </a:p>
          <a:p>
            <a:pPr lvl="1" algn="just"/>
            <a:endParaRPr lang="en-US" sz="2000" dirty="0"/>
          </a:p>
          <a:p>
            <a:endParaRPr lang="en-US" b="1" dirty="0"/>
          </a:p>
          <a:p>
            <a:endParaRPr lang="en-US" b="1" dirty="0"/>
          </a:p>
          <a:p>
            <a:endParaRPr lang="en-US" b="1" dirty="0"/>
          </a:p>
          <a:p>
            <a:endParaRPr lang="en-US" b="1" dirty="0"/>
          </a:p>
          <a:p>
            <a:endParaRPr lang="en-US" b="1" dirty="0"/>
          </a:p>
          <a:p>
            <a:endParaRPr lang="en-US" b="1" dirty="0"/>
          </a:p>
          <a:p>
            <a:r>
              <a:rPr lang="en-US" b="1" dirty="0"/>
              <a:t>                                                                                                                             </a:t>
            </a:r>
            <a:endParaRPr 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Language Processing System</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941456" y="1224576"/>
            <a:ext cx="7261087" cy="5570756"/>
          </a:xfrm>
          <a:prstGeom prst="rect">
            <a:avLst/>
          </a:prstGeom>
          <a:noFill/>
        </p:spPr>
        <p:txBody>
          <a:bodyPr wrap="square" rtlCol="0">
            <a:spAutoFit/>
          </a:bodyPr>
          <a:lstStyle/>
          <a:p>
            <a:pPr algn="just"/>
            <a:endParaRPr lang="en-US" dirty="0"/>
          </a:p>
          <a:p>
            <a:pPr algn="just"/>
            <a:endParaRPr lang="en-US" dirty="0"/>
          </a:p>
          <a:p>
            <a:pPr algn="just"/>
            <a:endParaRPr lang="en-US" sz="1400" dirty="0"/>
          </a:p>
          <a:p>
            <a:pPr algn="just"/>
            <a:endParaRPr lang="en-US" dirty="0"/>
          </a:p>
          <a:p>
            <a:pPr algn="just"/>
            <a:r>
              <a:rPr lang="en-US" dirty="0"/>
              <a:t>			</a:t>
            </a:r>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p:sp>
        <p:nvSpPr>
          <p:cNvPr id="10" name="Rectangle: Rounded Corners 9"/>
          <p:cNvSpPr/>
          <p:nvPr/>
        </p:nvSpPr>
        <p:spPr>
          <a:xfrm>
            <a:off x="3144129" y="1261730"/>
            <a:ext cx="1589649" cy="499768"/>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Source Program</a:t>
            </a:r>
            <a:endParaRPr lang="en-US" dirty="0"/>
          </a:p>
        </p:txBody>
      </p:sp>
      <p:cxnSp>
        <p:nvCxnSpPr>
          <p:cNvPr id="11" name="Straight Arrow Connector 10"/>
          <p:cNvCxnSpPr/>
          <p:nvPr/>
        </p:nvCxnSpPr>
        <p:spPr>
          <a:xfrm>
            <a:off x="3931920" y="1769852"/>
            <a:ext cx="7034" cy="2813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Rounded Corners 11"/>
          <p:cNvSpPr/>
          <p:nvPr/>
        </p:nvSpPr>
        <p:spPr>
          <a:xfrm>
            <a:off x="3144129" y="2065728"/>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Preprocessor</a:t>
            </a:r>
            <a:endParaRPr lang="en-US" dirty="0"/>
          </a:p>
        </p:txBody>
      </p:sp>
      <p:cxnSp>
        <p:nvCxnSpPr>
          <p:cNvPr id="13" name="Straight Arrow Connector 12"/>
          <p:cNvCxnSpPr/>
          <p:nvPr/>
        </p:nvCxnSpPr>
        <p:spPr>
          <a:xfrm>
            <a:off x="3931919" y="2549320"/>
            <a:ext cx="7034" cy="4696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353261" y="2723728"/>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Modified source program</a:t>
            </a:r>
            <a:endParaRPr lang="en-US" dirty="0"/>
          </a:p>
        </p:txBody>
      </p:sp>
      <p:sp>
        <p:nvSpPr>
          <p:cNvPr id="15" name="Rectangle: Rounded Corners 14"/>
          <p:cNvSpPr/>
          <p:nvPr/>
        </p:nvSpPr>
        <p:spPr>
          <a:xfrm>
            <a:off x="3179299" y="2998683"/>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Compiler</a:t>
            </a:r>
            <a:endParaRPr lang="en-US" dirty="0"/>
          </a:p>
        </p:txBody>
      </p:sp>
      <p:sp>
        <p:nvSpPr>
          <p:cNvPr id="16" name="Rectangle 15"/>
          <p:cNvSpPr/>
          <p:nvPr/>
        </p:nvSpPr>
        <p:spPr>
          <a:xfrm>
            <a:off x="4353261" y="3780695"/>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Target assembly program</a:t>
            </a:r>
            <a:endParaRPr lang="en-US" dirty="0"/>
          </a:p>
        </p:txBody>
      </p:sp>
      <p:cxnSp>
        <p:nvCxnSpPr>
          <p:cNvPr id="17" name="Straight Arrow Connector 16"/>
          <p:cNvCxnSpPr/>
          <p:nvPr/>
        </p:nvCxnSpPr>
        <p:spPr>
          <a:xfrm>
            <a:off x="3974123" y="3545888"/>
            <a:ext cx="7034" cy="6051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p:cNvSpPr/>
          <p:nvPr/>
        </p:nvSpPr>
        <p:spPr>
          <a:xfrm>
            <a:off x="3158195" y="4155689"/>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Assembler</a:t>
            </a:r>
            <a:endParaRPr lang="en-US" dirty="0"/>
          </a:p>
        </p:txBody>
      </p:sp>
      <p:sp>
        <p:nvSpPr>
          <p:cNvPr id="21" name="Rectangle 20"/>
          <p:cNvSpPr/>
          <p:nvPr/>
        </p:nvSpPr>
        <p:spPr>
          <a:xfrm>
            <a:off x="4325126" y="4956022"/>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Relocatable machine code</a:t>
            </a:r>
            <a:endParaRPr lang="en-US" dirty="0"/>
          </a:p>
        </p:txBody>
      </p:sp>
      <p:cxnSp>
        <p:nvCxnSpPr>
          <p:cNvPr id="24" name="Straight Arrow Connector 23"/>
          <p:cNvCxnSpPr/>
          <p:nvPr/>
        </p:nvCxnSpPr>
        <p:spPr>
          <a:xfrm>
            <a:off x="3950678" y="4639842"/>
            <a:ext cx="7034" cy="6723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Rounded Corners 24"/>
          <p:cNvSpPr/>
          <p:nvPr/>
        </p:nvSpPr>
        <p:spPr>
          <a:xfrm>
            <a:off x="3155853" y="5316444"/>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Linker/ Loader</a:t>
            </a:r>
            <a:endParaRPr lang="en-US" dirty="0"/>
          </a:p>
        </p:txBody>
      </p:sp>
      <p:cxnSp>
        <p:nvCxnSpPr>
          <p:cNvPr id="27" name="Straight Arrow Connector 26"/>
          <p:cNvCxnSpPr/>
          <p:nvPr/>
        </p:nvCxnSpPr>
        <p:spPr>
          <a:xfrm>
            <a:off x="3957712" y="5805291"/>
            <a:ext cx="7034" cy="3935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Rounded Corners 27"/>
          <p:cNvSpPr/>
          <p:nvPr/>
        </p:nvSpPr>
        <p:spPr>
          <a:xfrm>
            <a:off x="3162887" y="6171782"/>
            <a:ext cx="1589649" cy="499768"/>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Target Program</a:t>
            </a:r>
            <a:endParaRPr lang="en-US" dirty="0"/>
          </a:p>
        </p:txBody>
      </p:sp>
      <p:sp>
        <p:nvSpPr>
          <p:cNvPr id="29" name="Rectangle 28"/>
          <p:cNvSpPr/>
          <p:nvPr/>
        </p:nvSpPr>
        <p:spPr>
          <a:xfrm>
            <a:off x="4447205" y="5887066"/>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Absolute machine code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a:p>
            <a:pPr marL="0" indent="0">
              <a:buNone/>
            </a:pPr>
            <a:endParaRPr lang="en-US" sz="2600" b="1" dirty="0">
              <a:solidFill>
                <a:schemeClr val="tx1"/>
              </a:solidFill>
            </a:endParaRPr>
          </a:p>
        </p:txBody>
      </p:sp>
      <p:grpSp>
        <p:nvGrpSpPr>
          <p:cNvPr id="4" name="Group 4"/>
          <p:cNvGrpSpPr/>
          <p:nvPr/>
        </p:nvGrpSpPr>
        <p:grpSpPr bwMode="auto">
          <a:xfrm>
            <a:off x="1828800" y="1066800"/>
            <a:ext cx="6172200" cy="5554663"/>
            <a:chOff x="144" y="816"/>
            <a:chExt cx="3984" cy="4367"/>
          </a:xfrm>
        </p:grpSpPr>
        <p:sp>
          <p:nvSpPr>
            <p:cNvPr id="6" name="Text Box 5"/>
            <p:cNvSpPr txBox="1">
              <a:spLocks noChangeArrowheads="1"/>
            </p:cNvSpPr>
            <p:nvPr/>
          </p:nvSpPr>
          <p:spPr bwMode="auto">
            <a:xfrm>
              <a:off x="1633" y="816"/>
              <a:ext cx="129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Source Program</a:t>
              </a:r>
              <a:endParaRPr lang="en-US" altLang="en-US" sz="1400">
                <a:latin typeface="Times New Roman" panose="02020603050405020304" pitchFamily="18" charset="0"/>
              </a:endParaRPr>
            </a:p>
          </p:txBody>
        </p:sp>
        <p:grpSp>
          <p:nvGrpSpPr>
            <p:cNvPr id="7" name="Group 6"/>
            <p:cNvGrpSpPr/>
            <p:nvPr/>
          </p:nvGrpSpPr>
          <p:grpSpPr bwMode="auto">
            <a:xfrm>
              <a:off x="1487" y="1248"/>
              <a:ext cx="1345" cy="432"/>
              <a:chOff x="1487" y="1248"/>
              <a:chExt cx="1345" cy="432"/>
            </a:xfrm>
          </p:grpSpPr>
          <p:sp>
            <p:nvSpPr>
              <p:cNvPr id="54" name="Rectangle 7"/>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55" name="Text Box 8"/>
              <p:cNvSpPr txBox="1">
                <a:spLocks noChangeArrowheads="1"/>
              </p:cNvSpPr>
              <p:nvPr/>
            </p:nvSpPr>
            <p:spPr bwMode="auto">
              <a:xfrm>
                <a:off x="1681" y="1344"/>
                <a:ext cx="100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dirty="0">
                    <a:latin typeface="Times New Roman" panose="02020603050405020304" pitchFamily="18" charset="0"/>
                  </a:rPr>
                  <a:t>Lexical Analyzer</a:t>
                </a:r>
                <a:endParaRPr lang="en-US" altLang="en-US" sz="1400" dirty="0">
                  <a:latin typeface="Times New Roman" panose="02020603050405020304" pitchFamily="18" charset="0"/>
                </a:endParaRPr>
              </a:p>
            </p:txBody>
          </p:sp>
          <p:sp>
            <p:nvSpPr>
              <p:cNvPr id="56" name="Text Box 9"/>
              <p:cNvSpPr txBox="1">
                <a:spLocks noChangeArrowheads="1"/>
              </p:cNvSpPr>
              <p:nvPr/>
            </p:nvSpPr>
            <p:spPr bwMode="auto">
              <a:xfrm>
                <a:off x="1487" y="1248"/>
                <a:ext cx="14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1</a:t>
                </a:r>
                <a:endParaRPr lang="en-US" altLang="en-US" sz="1400">
                  <a:latin typeface="Times New Roman" panose="02020603050405020304" pitchFamily="18" charset="0"/>
                </a:endParaRPr>
              </a:p>
            </p:txBody>
          </p:sp>
        </p:grpSp>
        <p:grpSp>
          <p:nvGrpSpPr>
            <p:cNvPr id="8" name="Group 10"/>
            <p:cNvGrpSpPr/>
            <p:nvPr/>
          </p:nvGrpSpPr>
          <p:grpSpPr bwMode="auto">
            <a:xfrm>
              <a:off x="1487" y="1824"/>
              <a:ext cx="1345" cy="432"/>
              <a:chOff x="1487" y="1248"/>
              <a:chExt cx="1345" cy="432"/>
            </a:xfrm>
          </p:grpSpPr>
          <p:sp>
            <p:nvSpPr>
              <p:cNvPr id="51" name="Rectangle 11"/>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52" name="Text Box 12"/>
              <p:cNvSpPr txBox="1">
                <a:spLocks noChangeArrowheads="1"/>
              </p:cNvSpPr>
              <p:nvPr/>
            </p:nvSpPr>
            <p:spPr bwMode="auto">
              <a:xfrm>
                <a:off x="1682" y="1346"/>
                <a:ext cx="100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dirty="0">
                    <a:latin typeface="Times New Roman" panose="02020603050405020304" pitchFamily="18" charset="0"/>
                  </a:rPr>
                  <a:t>Syntax Analyzer</a:t>
                </a:r>
                <a:endParaRPr lang="en-US" altLang="en-US" sz="1400" dirty="0">
                  <a:latin typeface="Times New Roman" panose="02020603050405020304" pitchFamily="18" charset="0"/>
                </a:endParaRPr>
              </a:p>
            </p:txBody>
          </p:sp>
          <p:sp>
            <p:nvSpPr>
              <p:cNvPr id="53" name="Text Box 13"/>
              <p:cNvSpPr txBox="1">
                <a:spLocks noChangeArrowheads="1"/>
              </p:cNvSpPr>
              <p:nvPr/>
            </p:nvSpPr>
            <p:spPr bwMode="auto">
              <a:xfrm>
                <a:off x="1487" y="1248"/>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2</a:t>
                </a:r>
                <a:endParaRPr lang="en-US" altLang="en-US" sz="1400">
                  <a:latin typeface="Times New Roman" panose="02020603050405020304" pitchFamily="18" charset="0"/>
                </a:endParaRPr>
              </a:p>
            </p:txBody>
          </p:sp>
        </p:grpSp>
        <p:grpSp>
          <p:nvGrpSpPr>
            <p:cNvPr id="9" name="Group 14"/>
            <p:cNvGrpSpPr/>
            <p:nvPr/>
          </p:nvGrpSpPr>
          <p:grpSpPr bwMode="auto">
            <a:xfrm>
              <a:off x="1487" y="2400"/>
              <a:ext cx="1585" cy="432"/>
              <a:chOff x="1487" y="2400"/>
              <a:chExt cx="1585" cy="432"/>
            </a:xfrm>
          </p:grpSpPr>
          <p:sp>
            <p:nvSpPr>
              <p:cNvPr id="48" name="Rectangle 15"/>
              <p:cNvSpPr>
                <a:spLocks noChangeArrowheads="1"/>
              </p:cNvSpPr>
              <p:nvPr/>
            </p:nvSpPr>
            <p:spPr bwMode="auto">
              <a:xfrm>
                <a:off x="1488" y="2400"/>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9" name="Text Box 16"/>
              <p:cNvSpPr txBox="1">
                <a:spLocks noChangeArrowheads="1"/>
              </p:cNvSpPr>
              <p:nvPr/>
            </p:nvSpPr>
            <p:spPr bwMode="auto">
              <a:xfrm>
                <a:off x="1681" y="2496"/>
                <a:ext cx="139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Semantic Analyzer</a:t>
                </a:r>
                <a:endParaRPr lang="en-US" altLang="en-US" sz="1400">
                  <a:latin typeface="Times New Roman" panose="02020603050405020304" pitchFamily="18" charset="0"/>
                </a:endParaRPr>
              </a:p>
            </p:txBody>
          </p:sp>
          <p:sp>
            <p:nvSpPr>
              <p:cNvPr id="50" name="Text Box 17"/>
              <p:cNvSpPr txBox="1">
                <a:spLocks noChangeArrowheads="1"/>
              </p:cNvSpPr>
              <p:nvPr/>
            </p:nvSpPr>
            <p:spPr bwMode="auto">
              <a:xfrm>
                <a:off x="1487" y="2400"/>
                <a:ext cx="14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3</a:t>
                </a:r>
                <a:endParaRPr lang="en-US" altLang="en-US" sz="1400">
                  <a:latin typeface="Times New Roman" panose="02020603050405020304" pitchFamily="18" charset="0"/>
                </a:endParaRPr>
              </a:p>
            </p:txBody>
          </p:sp>
        </p:grpSp>
        <p:grpSp>
          <p:nvGrpSpPr>
            <p:cNvPr id="10" name="Group 18"/>
            <p:cNvGrpSpPr/>
            <p:nvPr/>
          </p:nvGrpSpPr>
          <p:grpSpPr bwMode="auto">
            <a:xfrm>
              <a:off x="1487" y="3024"/>
              <a:ext cx="1345" cy="454"/>
              <a:chOff x="1487" y="3024"/>
              <a:chExt cx="1345" cy="454"/>
            </a:xfrm>
          </p:grpSpPr>
          <p:sp>
            <p:nvSpPr>
              <p:cNvPr id="45" name="Rectangle 19"/>
              <p:cNvSpPr>
                <a:spLocks noChangeArrowheads="1"/>
              </p:cNvSpPr>
              <p:nvPr/>
            </p:nvSpPr>
            <p:spPr bwMode="auto">
              <a:xfrm>
                <a:off x="1488" y="3024"/>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6" name="Text Box 20"/>
              <p:cNvSpPr txBox="1">
                <a:spLocks noChangeArrowheads="1"/>
              </p:cNvSpPr>
              <p:nvPr/>
            </p:nvSpPr>
            <p:spPr bwMode="auto">
              <a:xfrm>
                <a:off x="1681" y="3071"/>
                <a:ext cx="100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a:latin typeface="Times New Roman" panose="02020603050405020304" pitchFamily="18" charset="0"/>
                  </a:rPr>
                  <a:t>Intermediate Code Generator</a:t>
                </a:r>
                <a:endParaRPr lang="en-US" altLang="en-US" sz="1400">
                  <a:latin typeface="Times New Roman" panose="02020603050405020304" pitchFamily="18" charset="0"/>
                </a:endParaRPr>
              </a:p>
            </p:txBody>
          </p:sp>
          <p:sp>
            <p:nvSpPr>
              <p:cNvPr id="47" name="Text Box 21"/>
              <p:cNvSpPr txBox="1">
                <a:spLocks noChangeArrowheads="1"/>
              </p:cNvSpPr>
              <p:nvPr/>
            </p:nvSpPr>
            <p:spPr bwMode="auto">
              <a:xfrm>
                <a:off x="1487" y="3024"/>
                <a:ext cx="14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4</a:t>
                </a:r>
                <a:endParaRPr lang="en-US" altLang="en-US" sz="1400">
                  <a:latin typeface="Times New Roman" panose="02020603050405020304" pitchFamily="18" charset="0"/>
                </a:endParaRPr>
              </a:p>
            </p:txBody>
          </p:sp>
        </p:grpSp>
        <p:grpSp>
          <p:nvGrpSpPr>
            <p:cNvPr id="11" name="Group 22"/>
            <p:cNvGrpSpPr/>
            <p:nvPr/>
          </p:nvGrpSpPr>
          <p:grpSpPr bwMode="auto">
            <a:xfrm>
              <a:off x="1487" y="3695"/>
              <a:ext cx="1345" cy="433"/>
              <a:chOff x="1487" y="1247"/>
              <a:chExt cx="1345" cy="433"/>
            </a:xfrm>
          </p:grpSpPr>
          <p:sp>
            <p:nvSpPr>
              <p:cNvPr id="42" name="Rectangle 23"/>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3" name="Text Box 24"/>
              <p:cNvSpPr txBox="1">
                <a:spLocks noChangeArrowheads="1"/>
              </p:cNvSpPr>
              <p:nvPr/>
            </p:nvSpPr>
            <p:spPr bwMode="auto">
              <a:xfrm>
                <a:off x="1681" y="1343"/>
                <a:ext cx="100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Code Optimizer</a:t>
                </a:r>
                <a:endParaRPr lang="en-US" altLang="en-US" sz="1400">
                  <a:latin typeface="Times New Roman" panose="02020603050405020304" pitchFamily="18" charset="0"/>
                </a:endParaRPr>
              </a:p>
            </p:txBody>
          </p:sp>
          <p:sp>
            <p:nvSpPr>
              <p:cNvPr id="44" name="Text Box 25"/>
              <p:cNvSpPr txBox="1">
                <a:spLocks noChangeArrowheads="1"/>
              </p:cNvSpPr>
              <p:nvPr/>
            </p:nvSpPr>
            <p:spPr bwMode="auto">
              <a:xfrm>
                <a:off x="1487" y="1247"/>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5</a:t>
                </a:r>
                <a:endParaRPr lang="en-US" altLang="en-US" sz="1400">
                  <a:latin typeface="Times New Roman" panose="02020603050405020304" pitchFamily="18" charset="0"/>
                </a:endParaRPr>
              </a:p>
            </p:txBody>
          </p:sp>
        </p:grpSp>
        <p:grpSp>
          <p:nvGrpSpPr>
            <p:cNvPr id="12" name="Group 26"/>
            <p:cNvGrpSpPr/>
            <p:nvPr/>
          </p:nvGrpSpPr>
          <p:grpSpPr bwMode="auto">
            <a:xfrm>
              <a:off x="1487" y="4320"/>
              <a:ext cx="1345" cy="432"/>
              <a:chOff x="1487" y="1248"/>
              <a:chExt cx="1345" cy="432"/>
            </a:xfrm>
          </p:grpSpPr>
          <p:sp>
            <p:nvSpPr>
              <p:cNvPr id="39" name="Rectangle 27"/>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0" name="Text Box 28"/>
              <p:cNvSpPr txBox="1">
                <a:spLocks noChangeArrowheads="1"/>
              </p:cNvSpPr>
              <p:nvPr/>
            </p:nvSpPr>
            <p:spPr bwMode="auto">
              <a:xfrm>
                <a:off x="1682" y="1346"/>
                <a:ext cx="100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Code Generator</a:t>
                </a:r>
                <a:endParaRPr lang="en-US" altLang="en-US" sz="1400">
                  <a:latin typeface="Times New Roman" panose="02020603050405020304" pitchFamily="18" charset="0"/>
                </a:endParaRPr>
              </a:p>
            </p:txBody>
          </p:sp>
          <p:sp>
            <p:nvSpPr>
              <p:cNvPr id="41" name="Text Box 29"/>
              <p:cNvSpPr txBox="1">
                <a:spLocks noChangeArrowheads="1"/>
              </p:cNvSpPr>
              <p:nvPr/>
            </p:nvSpPr>
            <p:spPr bwMode="auto">
              <a:xfrm>
                <a:off x="1487" y="1251"/>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6</a:t>
                </a:r>
                <a:endParaRPr lang="en-US" altLang="en-US" sz="1400">
                  <a:latin typeface="Times New Roman" panose="02020603050405020304" pitchFamily="18" charset="0"/>
                </a:endParaRPr>
              </a:p>
            </p:txBody>
          </p:sp>
        </p:grpSp>
        <p:sp>
          <p:nvSpPr>
            <p:cNvPr id="13" name="Text Box 30"/>
            <p:cNvSpPr txBox="1">
              <a:spLocks noChangeArrowheads="1"/>
            </p:cNvSpPr>
            <p:nvPr/>
          </p:nvSpPr>
          <p:spPr bwMode="auto">
            <a:xfrm>
              <a:off x="1633" y="4943"/>
              <a:ext cx="129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Target Program</a:t>
              </a:r>
              <a:endParaRPr lang="en-US" altLang="en-US" sz="1400">
                <a:latin typeface="Times New Roman" panose="02020603050405020304" pitchFamily="18" charset="0"/>
              </a:endParaRPr>
            </a:p>
          </p:txBody>
        </p:sp>
        <p:sp>
          <p:nvSpPr>
            <p:cNvPr id="14" name="Line 31"/>
            <p:cNvSpPr>
              <a:spLocks noChangeShapeType="1"/>
            </p:cNvSpPr>
            <p:nvPr/>
          </p:nvSpPr>
          <p:spPr bwMode="auto">
            <a:xfrm>
              <a:off x="2112" y="1056"/>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32"/>
            <p:cNvSpPr>
              <a:spLocks noChangeShapeType="1"/>
            </p:cNvSpPr>
            <p:nvPr/>
          </p:nvSpPr>
          <p:spPr bwMode="auto">
            <a:xfrm>
              <a:off x="2112" y="1680"/>
              <a:ext cx="0"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33"/>
            <p:cNvSpPr>
              <a:spLocks noChangeShapeType="1"/>
            </p:cNvSpPr>
            <p:nvPr/>
          </p:nvSpPr>
          <p:spPr bwMode="auto">
            <a:xfrm>
              <a:off x="2112" y="2256"/>
              <a:ext cx="0"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34"/>
            <p:cNvSpPr>
              <a:spLocks noChangeShapeType="1"/>
            </p:cNvSpPr>
            <p:nvPr/>
          </p:nvSpPr>
          <p:spPr bwMode="auto">
            <a:xfrm>
              <a:off x="2112" y="2832"/>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35"/>
            <p:cNvSpPr>
              <a:spLocks noChangeShapeType="1"/>
            </p:cNvSpPr>
            <p:nvPr/>
          </p:nvSpPr>
          <p:spPr bwMode="auto">
            <a:xfrm>
              <a:off x="2112" y="3456"/>
              <a:ext cx="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36"/>
            <p:cNvSpPr>
              <a:spLocks noChangeShapeType="1"/>
            </p:cNvSpPr>
            <p:nvPr/>
          </p:nvSpPr>
          <p:spPr bwMode="auto">
            <a:xfrm>
              <a:off x="2112" y="4128"/>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37"/>
            <p:cNvSpPr>
              <a:spLocks noChangeShapeType="1"/>
            </p:cNvSpPr>
            <p:nvPr/>
          </p:nvSpPr>
          <p:spPr bwMode="auto">
            <a:xfrm>
              <a:off x="2112" y="4752"/>
              <a:ext cx="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21" name="Group 38"/>
            <p:cNvGrpSpPr/>
            <p:nvPr/>
          </p:nvGrpSpPr>
          <p:grpSpPr bwMode="auto">
            <a:xfrm>
              <a:off x="144" y="2640"/>
              <a:ext cx="1104" cy="576"/>
              <a:chOff x="144" y="2640"/>
              <a:chExt cx="1104" cy="576"/>
            </a:xfrm>
          </p:grpSpPr>
          <p:sp>
            <p:nvSpPr>
              <p:cNvPr id="37" name="Rectangle 39"/>
              <p:cNvSpPr>
                <a:spLocks noChangeArrowheads="1"/>
              </p:cNvSpPr>
              <p:nvPr/>
            </p:nvSpPr>
            <p:spPr bwMode="auto">
              <a:xfrm>
                <a:off x="144" y="2640"/>
                <a:ext cx="1104" cy="576"/>
              </a:xfrm>
              <a:prstGeom prst="rect">
                <a:avLst/>
              </a:prstGeom>
              <a:solidFill>
                <a:srgbClr val="FFFF99"/>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8" name="Text Box 40"/>
              <p:cNvSpPr txBox="1">
                <a:spLocks noChangeArrowheads="1"/>
              </p:cNvSpPr>
              <p:nvPr/>
            </p:nvSpPr>
            <p:spPr bwMode="auto">
              <a:xfrm>
                <a:off x="240" y="2784"/>
                <a:ext cx="91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a:latin typeface="Times New Roman" panose="02020603050405020304" pitchFamily="18" charset="0"/>
                  </a:rPr>
                  <a:t>Symbol-table Manager</a:t>
                </a:r>
                <a:endParaRPr lang="en-US" altLang="en-US" sz="1400">
                  <a:latin typeface="Times New Roman" panose="02020603050405020304" pitchFamily="18" charset="0"/>
                </a:endParaRPr>
              </a:p>
            </p:txBody>
          </p:sp>
        </p:grpSp>
        <p:grpSp>
          <p:nvGrpSpPr>
            <p:cNvPr id="22" name="Group 41"/>
            <p:cNvGrpSpPr/>
            <p:nvPr/>
          </p:nvGrpSpPr>
          <p:grpSpPr bwMode="auto">
            <a:xfrm>
              <a:off x="3024" y="2640"/>
              <a:ext cx="1104" cy="576"/>
              <a:chOff x="144" y="2640"/>
              <a:chExt cx="1104" cy="576"/>
            </a:xfrm>
          </p:grpSpPr>
          <p:sp>
            <p:nvSpPr>
              <p:cNvPr id="35" name="Rectangle 42"/>
              <p:cNvSpPr>
                <a:spLocks noChangeArrowheads="1"/>
              </p:cNvSpPr>
              <p:nvPr/>
            </p:nvSpPr>
            <p:spPr bwMode="auto">
              <a:xfrm>
                <a:off x="144" y="2640"/>
                <a:ext cx="1104" cy="576"/>
              </a:xfrm>
              <a:prstGeom prst="rect">
                <a:avLst/>
              </a:prstGeom>
              <a:solidFill>
                <a:srgbClr val="FFFF99"/>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6" name="Text Box 43"/>
              <p:cNvSpPr txBox="1">
                <a:spLocks noChangeArrowheads="1"/>
              </p:cNvSpPr>
              <p:nvPr/>
            </p:nvSpPr>
            <p:spPr bwMode="auto">
              <a:xfrm>
                <a:off x="240" y="2784"/>
                <a:ext cx="91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a:latin typeface="Times New Roman" panose="02020603050405020304" pitchFamily="18" charset="0"/>
                  </a:rPr>
                  <a:t>Error Handler</a:t>
                </a:r>
                <a:endParaRPr lang="en-US" altLang="en-US" sz="1400">
                  <a:latin typeface="Times New Roman" panose="02020603050405020304" pitchFamily="18" charset="0"/>
                </a:endParaRPr>
              </a:p>
            </p:txBody>
          </p:sp>
        </p:grpSp>
        <p:sp>
          <p:nvSpPr>
            <p:cNvPr id="23" name="Line 44"/>
            <p:cNvSpPr>
              <a:spLocks noChangeShapeType="1"/>
            </p:cNvSpPr>
            <p:nvPr/>
          </p:nvSpPr>
          <p:spPr bwMode="auto">
            <a:xfrm flipH="1">
              <a:off x="384" y="1440"/>
              <a:ext cx="1104"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45"/>
            <p:cNvSpPr>
              <a:spLocks noChangeShapeType="1"/>
            </p:cNvSpPr>
            <p:nvPr/>
          </p:nvSpPr>
          <p:spPr bwMode="auto">
            <a:xfrm flipH="1">
              <a:off x="720" y="2016"/>
              <a:ext cx="768" cy="6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46"/>
            <p:cNvSpPr>
              <a:spLocks noChangeShapeType="1"/>
            </p:cNvSpPr>
            <p:nvPr/>
          </p:nvSpPr>
          <p:spPr bwMode="auto">
            <a:xfrm flipH="1">
              <a:off x="1056" y="2544"/>
              <a:ext cx="43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47"/>
            <p:cNvSpPr>
              <a:spLocks noChangeShapeType="1"/>
            </p:cNvSpPr>
            <p:nvPr/>
          </p:nvSpPr>
          <p:spPr bwMode="auto">
            <a:xfrm flipH="1" flipV="1">
              <a:off x="2832" y="2544"/>
              <a:ext cx="43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48"/>
            <p:cNvSpPr>
              <a:spLocks noChangeShapeType="1"/>
            </p:cNvSpPr>
            <p:nvPr/>
          </p:nvSpPr>
          <p:spPr bwMode="auto">
            <a:xfrm flipH="1" flipV="1">
              <a:off x="2832" y="2016"/>
              <a:ext cx="768" cy="6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49"/>
            <p:cNvSpPr>
              <a:spLocks noChangeShapeType="1"/>
            </p:cNvSpPr>
            <p:nvPr/>
          </p:nvSpPr>
          <p:spPr bwMode="auto">
            <a:xfrm flipH="1" flipV="1">
              <a:off x="2832" y="1440"/>
              <a:ext cx="1104"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50"/>
            <p:cNvSpPr>
              <a:spLocks noChangeShapeType="1"/>
            </p:cNvSpPr>
            <p:nvPr/>
          </p:nvSpPr>
          <p:spPr bwMode="auto">
            <a:xfrm flipV="1">
              <a:off x="2832" y="3216"/>
              <a:ext cx="1104"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51"/>
            <p:cNvSpPr>
              <a:spLocks noChangeShapeType="1"/>
            </p:cNvSpPr>
            <p:nvPr/>
          </p:nvSpPr>
          <p:spPr bwMode="auto">
            <a:xfrm>
              <a:off x="384" y="3216"/>
              <a:ext cx="1104"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52"/>
            <p:cNvSpPr>
              <a:spLocks noChangeShapeType="1"/>
            </p:cNvSpPr>
            <p:nvPr/>
          </p:nvSpPr>
          <p:spPr bwMode="auto">
            <a:xfrm flipV="1">
              <a:off x="2832" y="3216"/>
              <a:ext cx="768" cy="6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53"/>
            <p:cNvSpPr>
              <a:spLocks noChangeShapeType="1"/>
            </p:cNvSpPr>
            <p:nvPr/>
          </p:nvSpPr>
          <p:spPr bwMode="auto">
            <a:xfrm>
              <a:off x="720" y="3216"/>
              <a:ext cx="768" cy="6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54"/>
            <p:cNvSpPr>
              <a:spLocks noChangeShapeType="1"/>
            </p:cNvSpPr>
            <p:nvPr/>
          </p:nvSpPr>
          <p:spPr bwMode="auto">
            <a:xfrm flipV="1">
              <a:off x="2832" y="3216"/>
              <a:ext cx="43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55"/>
            <p:cNvSpPr>
              <a:spLocks noChangeShapeType="1"/>
            </p:cNvSpPr>
            <p:nvPr/>
          </p:nvSpPr>
          <p:spPr bwMode="auto">
            <a:xfrm>
              <a:off x="1056" y="3216"/>
              <a:ext cx="43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Two main Phases of  a Compiler</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7" y="1795817"/>
            <a:ext cx="7626847" cy="4585871"/>
          </a:xfrm>
          <a:prstGeom prst="rect">
            <a:avLst/>
          </a:prstGeom>
          <a:noFill/>
        </p:spPr>
        <p:txBody>
          <a:bodyPr wrap="square" rtlCol="0">
            <a:spAutoFit/>
          </a:bodyPr>
          <a:lstStyle/>
          <a:p>
            <a:pPr marL="457200" indent="-457200" algn="just">
              <a:buAutoNum type="arabicPeriod"/>
            </a:pPr>
            <a:r>
              <a:rPr lang="en-US" sz="2000" b="1" dirty="0"/>
              <a:t>Analysis Phase</a:t>
            </a:r>
            <a:r>
              <a:rPr lang="en-US" dirty="0"/>
              <a:t>: Breaks up a source program into constituent pieces and produces an internal representation of it called intermediate code.</a:t>
            </a:r>
            <a:endParaRPr lang="en-US" dirty="0"/>
          </a:p>
          <a:p>
            <a:pPr marL="1371600" lvl="2" indent="-457200">
              <a:buFont typeface="+mj-lt"/>
              <a:buAutoNum type="romanUcPeriod"/>
            </a:pPr>
            <a:r>
              <a:rPr lang="en-US" dirty="0"/>
              <a:t>Lexical Analyzer</a:t>
            </a:r>
            <a:endParaRPr lang="en-US" dirty="0"/>
          </a:p>
          <a:p>
            <a:pPr marL="1371600" lvl="2" indent="-457200">
              <a:buFont typeface="+mj-lt"/>
              <a:buAutoNum type="romanUcPeriod"/>
            </a:pPr>
            <a:r>
              <a:rPr lang="en-US" dirty="0"/>
              <a:t>Syntax Analyzer</a:t>
            </a:r>
            <a:endParaRPr lang="en-US" dirty="0"/>
          </a:p>
          <a:p>
            <a:pPr marL="1371600" lvl="2" indent="-457200">
              <a:buFont typeface="+mj-lt"/>
              <a:buAutoNum type="romanUcPeriod"/>
            </a:pPr>
            <a:r>
              <a:rPr lang="en-US" dirty="0"/>
              <a:t>Semantic Analyzer</a:t>
            </a:r>
            <a:endParaRPr lang="en-US" dirty="0"/>
          </a:p>
          <a:p>
            <a:pPr marL="1371600" lvl="2" indent="-457200">
              <a:buFont typeface="+mj-lt"/>
              <a:buAutoNum type="romanUcPeriod"/>
            </a:pPr>
            <a:r>
              <a:rPr lang="en-US" dirty="0"/>
              <a:t>Intermediate code generator</a:t>
            </a:r>
            <a:endParaRPr lang="en-US" dirty="0"/>
          </a:p>
          <a:p>
            <a:pPr lvl="2"/>
            <a:endParaRPr lang="en-US" dirty="0"/>
          </a:p>
          <a:p>
            <a:pPr lvl="2"/>
            <a:endParaRPr lang="en-US" dirty="0"/>
          </a:p>
          <a:p>
            <a:pPr marL="342900" indent="-342900" algn="just">
              <a:buAutoNum type="arabicPeriod"/>
            </a:pPr>
            <a:r>
              <a:rPr lang="en-US" sz="2000" b="1" dirty="0"/>
              <a:t>Synthesis Phase</a:t>
            </a:r>
            <a:r>
              <a:rPr lang="en-US" dirty="0"/>
              <a:t>: Translates the intermediate code into the target program.</a:t>
            </a:r>
            <a:endParaRPr lang="en-US" dirty="0"/>
          </a:p>
          <a:p>
            <a:pPr lvl="2" algn="just"/>
            <a:r>
              <a:rPr lang="en-US" dirty="0"/>
              <a:t>V.     Code optimizer</a:t>
            </a:r>
            <a:endParaRPr lang="en-US" dirty="0"/>
          </a:p>
          <a:p>
            <a:pPr lvl="2" algn="just"/>
            <a:r>
              <a:rPr lang="en-US" dirty="0"/>
              <a:t>VI.   Code generator</a:t>
            </a:r>
            <a:endParaRPr lang="en-US" dirty="0"/>
          </a:p>
          <a:p>
            <a:endParaRPr lang="en-US" dirty="0"/>
          </a:p>
          <a:p>
            <a:r>
              <a:rPr lang="en-US" dirty="0"/>
              <a:t>                                                                                                                     </a:t>
            </a:r>
            <a:endParaRPr lang="en-US" dirty="0"/>
          </a:p>
          <a:p>
            <a:r>
              <a:rPr lang="en-US" dirty="0"/>
              <a:t>                                                                                                                                </a:t>
            </a:r>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7" y="1795817"/>
            <a:ext cx="7626847" cy="6771084"/>
          </a:xfrm>
          <a:prstGeom prst="rect">
            <a:avLst/>
          </a:prstGeom>
          <a:noFill/>
        </p:spPr>
        <p:txBody>
          <a:bodyPr wrap="square" rtlCol="0">
            <a:spAutoFit/>
          </a:bodyPr>
          <a:lstStyle/>
          <a:p>
            <a:pPr algn="just"/>
            <a:r>
              <a:rPr lang="en-US" sz="2000" b="1" dirty="0"/>
              <a:t>Lexical Analyzer: </a:t>
            </a:r>
            <a:r>
              <a:rPr lang="en-US" dirty="0"/>
              <a:t>The first phase of a compiler is called lexical analysis or scanning. The lexical analyzer reads the stream of characters making up the source program and groups the characters into meaningful sequences called lexemes. For each lexeme, the lexical analyzer produces as output a token of the form </a:t>
            </a:r>
            <a:r>
              <a:rPr lang="en-US" i="1" dirty="0"/>
              <a:t>(token-name, attribute-value). </a:t>
            </a:r>
            <a:r>
              <a:rPr lang="en-US" dirty="0"/>
              <a:t>For example, suppose a source program contains the assignment statement </a:t>
            </a:r>
            <a:endParaRPr lang="en-US" dirty="0"/>
          </a:p>
          <a:p>
            <a:pPr algn="just"/>
            <a:endParaRPr lang="en-US" b="1" dirty="0"/>
          </a:p>
          <a:p>
            <a:pPr algn="ctr"/>
            <a:r>
              <a:rPr lang="pt-BR" b="1" dirty="0"/>
              <a:t>p o s i t i o n = i n i t i a l + r a t e * 60    </a:t>
            </a:r>
            <a:endParaRPr lang="pt-BR" b="1" dirty="0"/>
          </a:p>
          <a:p>
            <a:pPr algn="ctr"/>
            <a:endParaRPr lang="pt-BR" b="1" dirty="0"/>
          </a:p>
          <a:p>
            <a:pPr algn="just"/>
            <a:r>
              <a:rPr lang="en-US" dirty="0"/>
              <a:t>The characters in this assignment could be grouped into the following lexemes and mapped into the following tokens passed on to the syntax analyzer:</a:t>
            </a:r>
            <a:endParaRPr lang="en-US" dirty="0"/>
          </a:p>
          <a:p>
            <a:pPr algn="just"/>
            <a:endParaRPr lang="en-US" dirty="0"/>
          </a:p>
          <a:p>
            <a:pPr marL="800100" lvl="1" indent="-342900" algn="just">
              <a:buFont typeface="+mj-lt"/>
              <a:buAutoNum type="arabicPeriod"/>
            </a:pPr>
            <a:r>
              <a:rPr lang="en-US" dirty="0"/>
              <a:t>p o s </a:t>
            </a:r>
            <a:r>
              <a:rPr lang="en-US" dirty="0" err="1"/>
              <a:t>i</a:t>
            </a:r>
            <a:r>
              <a:rPr lang="en-US" dirty="0"/>
              <a:t> t </a:t>
            </a:r>
            <a:r>
              <a:rPr lang="en-US" dirty="0" err="1"/>
              <a:t>i</a:t>
            </a:r>
            <a:r>
              <a:rPr lang="en-US" dirty="0"/>
              <a:t> o n is a lexeme that would be mapped into a token </a:t>
            </a:r>
            <a:r>
              <a:rPr lang="en-US" b="1" dirty="0"/>
              <a:t>(id, </a:t>
            </a:r>
            <a:r>
              <a:rPr lang="en-US" dirty="0"/>
              <a:t>1), where </a:t>
            </a:r>
            <a:r>
              <a:rPr lang="en-US" b="1" dirty="0"/>
              <a:t>id </a:t>
            </a:r>
            <a:r>
              <a:rPr lang="en-US" dirty="0"/>
              <a:t>is an abstract symbol standing for </a:t>
            </a:r>
            <a:r>
              <a:rPr lang="en-US" i="1" dirty="0"/>
              <a:t>identifier </a:t>
            </a:r>
            <a:r>
              <a:rPr lang="en-US" dirty="0"/>
              <a:t>and 1 points to the symbol table entry for p o s </a:t>
            </a:r>
            <a:r>
              <a:rPr lang="en-US" dirty="0" err="1"/>
              <a:t>i</a:t>
            </a:r>
            <a:r>
              <a:rPr lang="en-US" dirty="0"/>
              <a:t> t </a:t>
            </a:r>
            <a:r>
              <a:rPr lang="en-US" dirty="0" err="1"/>
              <a:t>i</a:t>
            </a:r>
            <a:r>
              <a:rPr lang="en-US" dirty="0"/>
              <a:t> o n . The symbol-table entry for an identifier holds information about the identifier, such as its name and type.</a:t>
            </a:r>
            <a:endParaRPr lang="en-US" dirty="0"/>
          </a:p>
          <a:p>
            <a:pPr algn="just"/>
            <a:endParaRPr lang="pt-BR" b="1" dirty="0"/>
          </a:p>
          <a:p>
            <a:pPr algn="just"/>
            <a:endParaRPr lang="en-US" dirty="0"/>
          </a:p>
          <a:p>
            <a:pPr lvl="2"/>
            <a:endParaRPr lang="en-US" dirty="0"/>
          </a:p>
          <a:p>
            <a:endParaRPr lang="en-US" dirty="0"/>
          </a:p>
          <a:p>
            <a:r>
              <a:rPr lang="en-US" dirty="0"/>
              <a:t>                                                                                                                     </a:t>
            </a:r>
            <a:endParaRPr lang="en-US" dirty="0"/>
          </a:p>
          <a:p>
            <a:r>
              <a:rPr lang="en-US" dirty="0"/>
              <a:t>                                                                                                                                </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7" y="1528528"/>
            <a:ext cx="7626847" cy="6740307"/>
          </a:xfrm>
          <a:prstGeom prst="rect">
            <a:avLst/>
          </a:prstGeom>
          <a:noFill/>
        </p:spPr>
        <p:txBody>
          <a:bodyPr wrap="square" rtlCol="0">
            <a:spAutoFit/>
          </a:bodyPr>
          <a:lstStyle/>
          <a:p>
            <a:pPr algn="just"/>
            <a:endParaRPr lang="en-US" dirty="0"/>
          </a:p>
          <a:p>
            <a:pPr algn="just"/>
            <a:r>
              <a:rPr lang="en-US" dirty="0"/>
              <a:t>2. The assignment symbol = is a lexeme that is mapped into the token (=).Since this token needs no attribute-value, we have omitted the 	second component. We could have used any abstract symbol such as 	</a:t>
            </a:r>
            <a:r>
              <a:rPr lang="en-US" b="1" dirty="0"/>
              <a:t>assign </a:t>
            </a:r>
            <a:r>
              <a:rPr lang="en-US" dirty="0"/>
              <a:t>for the token-name, but for notational convenience we have 	chosen to use the lexeme itself as the name of the abstract symbol.</a:t>
            </a:r>
            <a:endParaRPr lang="en-US" dirty="0"/>
          </a:p>
          <a:p>
            <a:pPr algn="just"/>
            <a:endParaRPr lang="en-US" b="1" dirty="0"/>
          </a:p>
          <a:p>
            <a:pPr algn="just"/>
            <a:r>
              <a:rPr lang="en-US" dirty="0"/>
              <a:t>3. Initial is a lexeme that is mapped into the token </a:t>
            </a:r>
            <a:r>
              <a:rPr lang="en-US" b="1" dirty="0"/>
              <a:t>(id, </a:t>
            </a:r>
            <a:r>
              <a:rPr lang="en-US" dirty="0"/>
              <a:t>2), where 2 points to the symbol-table entry for </a:t>
            </a:r>
            <a:r>
              <a:rPr lang="en-US" dirty="0" err="1"/>
              <a:t>i</a:t>
            </a:r>
            <a:r>
              <a:rPr lang="en-US" dirty="0"/>
              <a:t> n </a:t>
            </a:r>
            <a:r>
              <a:rPr lang="en-US" dirty="0" err="1"/>
              <a:t>i</a:t>
            </a:r>
            <a:r>
              <a:rPr lang="en-US" dirty="0"/>
              <a:t> t </a:t>
            </a:r>
            <a:r>
              <a:rPr lang="en-US" dirty="0" err="1"/>
              <a:t>i</a:t>
            </a:r>
            <a:r>
              <a:rPr lang="en-US" dirty="0"/>
              <a:t> a l .</a:t>
            </a:r>
            <a:endParaRPr lang="en-US" dirty="0"/>
          </a:p>
          <a:p>
            <a:pPr algn="just"/>
            <a:endParaRPr lang="en-US" dirty="0"/>
          </a:p>
          <a:p>
            <a:pPr algn="just"/>
            <a:r>
              <a:rPr lang="en-US" dirty="0"/>
              <a:t>4. + is a lexeme that is mapped into the token (+).</a:t>
            </a:r>
            <a:endParaRPr lang="en-US" dirty="0"/>
          </a:p>
          <a:p>
            <a:pPr algn="just"/>
            <a:endParaRPr lang="en-US" dirty="0"/>
          </a:p>
          <a:p>
            <a:pPr algn="just"/>
            <a:r>
              <a:rPr lang="en-US" dirty="0"/>
              <a:t>5. r a t e is a lexeme that is mapped into the token </a:t>
            </a:r>
            <a:r>
              <a:rPr lang="en-US" b="1" dirty="0"/>
              <a:t>(id, </a:t>
            </a:r>
            <a:r>
              <a:rPr lang="en-US" dirty="0"/>
              <a:t>3), where 3 points to the symbol-table entry for r a t e .</a:t>
            </a:r>
            <a:endParaRPr lang="en-US" dirty="0"/>
          </a:p>
          <a:p>
            <a:pPr algn="just"/>
            <a:endParaRPr lang="en-US" dirty="0"/>
          </a:p>
          <a:p>
            <a:pPr algn="just"/>
            <a:r>
              <a:rPr lang="en-US" dirty="0"/>
              <a:t>6. * is a lexeme that is mapped into the token (*).</a:t>
            </a:r>
            <a:endParaRPr lang="en-US" dirty="0"/>
          </a:p>
          <a:p>
            <a:pPr algn="just"/>
            <a:endParaRPr lang="en-US" dirty="0"/>
          </a:p>
          <a:p>
            <a:pPr algn="just"/>
            <a:r>
              <a:rPr lang="en-US" dirty="0"/>
              <a:t>7. 60 is a lexeme that is mapped into the token (60).</a:t>
            </a:r>
            <a:endParaRPr lang="pt-BR" dirty="0"/>
          </a:p>
          <a:p>
            <a:pPr algn="just"/>
            <a:endParaRPr lang="en-US" dirty="0"/>
          </a:p>
          <a:p>
            <a:pPr lvl="2" algn="just"/>
            <a:endParaRPr lang="en-US" dirty="0"/>
          </a:p>
          <a:p>
            <a:pPr algn="just"/>
            <a:endParaRPr lang="en-US" dirty="0"/>
          </a:p>
          <a:p>
            <a:r>
              <a:rPr lang="en-US" dirty="0"/>
              <a:t>                                                                                                                     </a:t>
            </a:r>
            <a:endParaRPr lang="en-US" dirty="0"/>
          </a:p>
          <a:p>
            <a:r>
              <a:rPr lang="en-US" dirty="0"/>
              <a:t>                                                                                                                                </a:t>
            </a:r>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7" y="1528528"/>
            <a:ext cx="7626847" cy="3693319"/>
          </a:xfrm>
          <a:prstGeom prst="rect">
            <a:avLst/>
          </a:prstGeom>
          <a:noFill/>
        </p:spPr>
        <p:txBody>
          <a:bodyPr wrap="square" rtlCol="0">
            <a:spAutoFit/>
          </a:bodyPr>
          <a:lstStyle/>
          <a:p>
            <a:pPr algn="just"/>
            <a:endParaRPr lang="en-US" dirty="0"/>
          </a:p>
          <a:p>
            <a:pPr algn="just"/>
            <a:r>
              <a:rPr lang="en-US" dirty="0"/>
              <a:t>After lexical analyzer compiled the above expression the output of lexical analyzer would be </a:t>
            </a:r>
            <a:endParaRPr lang="en-US" dirty="0"/>
          </a:p>
          <a:p>
            <a:pPr algn="ctr"/>
            <a:r>
              <a:rPr lang="nn-NO" b="1" dirty="0"/>
              <a:t>&lt;i d , l </a:t>
            </a:r>
            <a:r>
              <a:rPr lang="nn-NO" b="1"/>
              <a:t>&gt; </a:t>
            </a:r>
            <a:r>
              <a:rPr lang="nn-NO" b="1">
                <a:sym typeface="Wingdings" panose="05000000000000000000" pitchFamily="2" charset="2"/>
              </a:rPr>
              <a:t>&lt;=&gt;</a:t>
            </a:r>
            <a:r>
              <a:rPr lang="nn-NO" b="1"/>
              <a:t> </a:t>
            </a:r>
            <a:r>
              <a:rPr lang="nn-NO" b="1" dirty="0"/>
              <a:t>&lt;</a:t>
            </a:r>
            <a:r>
              <a:rPr lang="nn-NO" b="1"/>
              <a:t>id, </a:t>
            </a:r>
            <a:r>
              <a:rPr lang="nn-NO"/>
              <a:t>2&gt; &lt;+&gt; </a:t>
            </a:r>
            <a:r>
              <a:rPr lang="nn-NO" b="1" dirty="0"/>
              <a:t>&lt;</a:t>
            </a:r>
            <a:r>
              <a:rPr lang="nn-NO" b="1"/>
              <a:t>id, </a:t>
            </a:r>
            <a:r>
              <a:rPr lang="nn-NO"/>
              <a:t>3&gt; &lt;*&gt; &lt;60</a:t>
            </a:r>
            <a:r>
              <a:rPr lang="nn-NO" dirty="0"/>
              <a:t>&gt;</a:t>
            </a:r>
            <a:endParaRPr lang="nn-NO" dirty="0"/>
          </a:p>
          <a:p>
            <a:pPr algn="just"/>
            <a:r>
              <a:rPr lang="en-US" dirty="0"/>
              <a:t> </a:t>
            </a:r>
            <a:endParaRPr lang="en-US" dirty="0"/>
          </a:p>
          <a:p>
            <a:pPr algn="just"/>
            <a:endParaRPr lang="en-US" dirty="0"/>
          </a:p>
          <a:p>
            <a:r>
              <a:rPr lang="en-US" sz="2000" b="1" dirty="0"/>
              <a:t>Lexical Errors</a:t>
            </a:r>
            <a:r>
              <a:rPr lang="en-US" b="1" dirty="0"/>
              <a:t>: </a:t>
            </a:r>
            <a:r>
              <a:rPr lang="en-US" dirty="0"/>
              <a:t>A lexical error is a mistake in a lexeme, for examples, typing </a:t>
            </a:r>
            <a:r>
              <a:rPr lang="en-US" b="1" dirty="0" err="1"/>
              <a:t>tehn</a:t>
            </a:r>
            <a:r>
              <a:rPr lang="en-US" dirty="0"/>
              <a:t> instead of </a:t>
            </a:r>
            <a:r>
              <a:rPr lang="en-US" b="1" dirty="0"/>
              <a:t>then</a:t>
            </a:r>
            <a:r>
              <a:rPr lang="en-US" dirty="0"/>
              <a:t>, or missing off one of the quotes in a literal.</a:t>
            </a:r>
            <a:endParaRPr lang="en-US" b="1" dirty="0"/>
          </a:p>
          <a:p>
            <a:pPr lvl="2" algn="just"/>
            <a:endParaRPr lang="en-US" dirty="0"/>
          </a:p>
          <a:p>
            <a:pPr algn="just"/>
            <a:endParaRPr lang="en-US" dirty="0"/>
          </a:p>
          <a:p>
            <a:r>
              <a:rPr lang="en-US" dirty="0"/>
              <a:t>                                                                                                                     </a:t>
            </a:r>
            <a:endParaRPr lang="en-US" dirty="0"/>
          </a:p>
          <a:p>
            <a:r>
              <a:rPr lang="en-US" dirty="0"/>
              <a:t>                                                                                                                                </a:t>
            </a:r>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7" y="1219032"/>
            <a:ext cx="7626847" cy="5386090"/>
          </a:xfrm>
          <a:prstGeom prst="rect">
            <a:avLst/>
          </a:prstGeom>
          <a:noFill/>
        </p:spPr>
        <p:txBody>
          <a:bodyPr wrap="square" rtlCol="0">
            <a:spAutoFit/>
          </a:bodyPr>
          <a:lstStyle/>
          <a:p>
            <a:pPr algn="just"/>
            <a:endParaRPr lang="en-US" dirty="0"/>
          </a:p>
          <a:p>
            <a:endParaRPr lang="nn-NO" dirty="0"/>
          </a:p>
          <a:p>
            <a:pPr algn="just"/>
            <a:r>
              <a:rPr lang="nn-NO" sz="2000" b="1" dirty="0"/>
              <a:t>Syntax Analyzer:  </a:t>
            </a:r>
            <a:r>
              <a:rPr lang="en-US" dirty="0"/>
              <a:t>The second phase of the compiler is syntax analysis or parsing. The parser uses the first components of the tokens produced by the lexical analyzer to create a tree-like intermediate representation that depicts the grammatical structure of the token stream. A typical representation is a syntax tree in which each interior node represents an operation and the children of the node represent the arguments of the operation. A syntax tree for the token stream ( obtain from lexical analyzer) is shown below as the output of this phase.</a:t>
            </a:r>
            <a:endParaRPr lang="en-US" dirty="0"/>
          </a:p>
          <a:p>
            <a:pPr algn="just"/>
            <a:endParaRPr lang="en-US" dirty="0"/>
          </a:p>
          <a:p>
            <a:pPr algn="just"/>
            <a:r>
              <a:rPr lang="en-US" dirty="0"/>
              <a:t>		 </a:t>
            </a:r>
            <a:endParaRPr lang="nn-NO" sz="2000" b="1" dirty="0"/>
          </a:p>
          <a:p>
            <a:pPr algn="just"/>
            <a:endParaRPr lang="nn-NO" dirty="0"/>
          </a:p>
          <a:p>
            <a:pPr algn="just"/>
            <a:endParaRPr lang="en-US" dirty="0"/>
          </a:p>
          <a:p>
            <a:pPr lvl="2" algn="just"/>
            <a:endParaRPr lang="en-US" dirty="0"/>
          </a:p>
          <a:p>
            <a:pPr algn="just"/>
            <a:endParaRPr lang="en-US" dirty="0"/>
          </a:p>
          <a:p>
            <a:r>
              <a:rPr lang="en-US" dirty="0"/>
              <a:t>                                                                                                                     </a:t>
            </a:r>
            <a:endParaRPr lang="en-US" dirty="0"/>
          </a:p>
          <a:p>
            <a:r>
              <a:rPr lang="en-US" dirty="0"/>
              <a:t>                                                                                                                                </a:t>
            </a:r>
            <a:endParaRPr lang="en-US" dirty="0"/>
          </a:p>
          <a:p>
            <a:endParaRPr lang="en-US" dirty="0"/>
          </a:p>
        </p:txBody>
      </p:sp>
      <p:grpSp>
        <p:nvGrpSpPr>
          <p:cNvPr id="4" name="Group 40"/>
          <p:cNvGrpSpPr/>
          <p:nvPr/>
        </p:nvGrpSpPr>
        <p:grpSpPr bwMode="auto">
          <a:xfrm>
            <a:off x="3200400" y="4836936"/>
            <a:ext cx="2743200" cy="1585913"/>
            <a:chOff x="192" y="2160"/>
            <a:chExt cx="1728" cy="999"/>
          </a:xfrm>
        </p:grpSpPr>
        <p:sp>
          <p:nvSpPr>
            <p:cNvPr id="6" name="Text Box 41"/>
            <p:cNvSpPr txBox="1">
              <a:spLocks noChangeArrowheads="1"/>
            </p:cNvSpPr>
            <p:nvPr/>
          </p:nvSpPr>
          <p:spPr bwMode="auto">
            <a:xfrm>
              <a:off x="192" y="2352"/>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dirty="0">
                  <a:latin typeface="Times New Roman" panose="02020603050405020304" pitchFamily="18" charset="0"/>
                </a:rPr>
                <a:t>(id, 1)</a:t>
              </a:r>
              <a:endParaRPr lang="en-US" altLang="en-US" sz="1800" dirty="0">
                <a:latin typeface="Times New Roman" panose="02020603050405020304" pitchFamily="18" charset="0"/>
              </a:endParaRPr>
            </a:p>
          </p:txBody>
        </p:sp>
        <p:sp>
          <p:nvSpPr>
            <p:cNvPr id="7" name="Text Box 42"/>
            <p:cNvSpPr txBox="1">
              <a:spLocks noChangeArrowheads="1"/>
            </p:cNvSpPr>
            <p:nvPr/>
          </p:nvSpPr>
          <p:spPr bwMode="auto">
            <a:xfrm>
              <a:off x="528" y="2640"/>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(id,2)</a:t>
              </a:r>
              <a:endParaRPr lang="en-US" altLang="en-US" sz="1800" dirty="0">
                <a:latin typeface="Times New Roman" panose="02020603050405020304" pitchFamily="18" charset="0"/>
              </a:endParaRPr>
            </a:p>
          </p:txBody>
        </p:sp>
        <p:sp>
          <p:nvSpPr>
            <p:cNvPr id="8" name="Text Box 43"/>
            <p:cNvSpPr txBox="1">
              <a:spLocks noChangeArrowheads="1"/>
            </p:cNvSpPr>
            <p:nvPr/>
          </p:nvSpPr>
          <p:spPr bwMode="auto">
            <a:xfrm>
              <a:off x="912" y="2928"/>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(id,3)</a:t>
              </a:r>
              <a:endParaRPr lang="en-US" altLang="en-US" sz="1800" dirty="0">
                <a:latin typeface="Times New Roman" panose="02020603050405020304" pitchFamily="18" charset="0"/>
              </a:endParaRPr>
            </a:p>
          </p:txBody>
        </p:sp>
        <p:sp>
          <p:nvSpPr>
            <p:cNvPr id="9" name="Text Box 44"/>
            <p:cNvSpPr txBox="1">
              <a:spLocks noChangeArrowheads="1"/>
            </p:cNvSpPr>
            <p:nvPr/>
          </p:nvSpPr>
          <p:spPr bwMode="auto">
            <a:xfrm>
              <a:off x="720" y="2160"/>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endParaRPr lang="en-US" altLang="en-US" sz="1800">
                <a:latin typeface="Times New Roman" panose="02020603050405020304" pitchFamily="18" charset="0"/>
              </a:endParaRPr>
            </a:p>
          </p:txBody>
        </p:sp>
        <p:sp>
          <p:nvSpPr>
            <p:cNvPr id="10" name="Text Box 45"/>
            <p:cNvSpPr txBox="1">
              <a:spLocks noChangeArrowheads="1"/>
            </p:cNvSpPr>
            <p:nvPr/>
          </p:nvSpPr>
          <p:spPr bwMode="auto">
            <a:xfrm>
              <a:off x="960" y="2352"/>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  +</a:t>
              </a:r>
              <a:endParaRPr lang="en-US" altLang="en-US" sz="1800" dirty="0">
                <a:latin typeface="Times New Roman" panose="02020603050405020304" pitchFamily="18" charset="0"/>
              </a:endParaRPr>
            </a:p>
          </p:txBody>
        </p:sp>
        <p:sp>
          <p:nvSpPr>
            <p:cNvPr id="11" name="Text Box 46"/>
            <p:cNvSpPr txBox="1">
              <a:spLocks noChangeArrowheads="1"/>
            </p:cNvSpPr>
            <p:nvPr/>
          </p:nvSpPr>
          <p:spPr bwMode="auto">
            <a:xfrm>
              <a:off x="1248" y="2640"/>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   *</a:t>
              </a:r>
              <a:endParaRPr lang="en-US" altLang="en-US" sz="1800" dirty="0">
                <a:latin typeface="Times New Roman" panose="02020603050405020304" pitchFamily="18" charset="0"/>
              </a:endParaRPr>
            </a:p>
          </p:txBody>
        </p:sp>
        <p:sp>
          <p:nvSpPr>
            <p:cNvPr id="12" name="Text Box 47"/>
            <p:cNvSpPr txBox="1">
              <a:spLocks noChangeArrowheads="1"/>
            </p:cNvSpPr>
            <p:nvPr/>
          </p:nvSpPr>
          <p:spPr bwMode="auto">
            <a:xfrm>
              <a:off x="1536" y="2928"/>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endParaRPr lang="en-US" altLang="en-US" sz="1800">
                <a:latin typeface="Times New Roman" panose="02020603050405020304" pitchFamily="18" charset="0"/>
              </a:endParaRPr>
            </a:p>
          </p:txBody>
        </p:sp>
        <p:sp>
          <p:nvSpPr>
            <p:cNvPr id="13" name="Line 48"/>
            <p:cNvSpPr>
              <a:spLocks noChangeShapeType="1"/>
            </p:cNvSpPr>
            <p:nvPr/>
          </p:nvSpPr>
          <p:spPr bwMode="auto">
            <a:xfrm flipH="1">
              <a:off x="672" y="2352"/>
              <a:ext cx="96"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14" name="Line 49"/>
            <p:cNvSpPr>
              <a:spLocks noChangeShapeType="1"/>
            </p:cNvSpPr>
            <p:nvPr/>
          </p:nvSpPr>
          <p:spPr bwMode="auto">
            <a:xfrm>
              <a:off x="912" y="2304"/>
              <a:ext cx="192"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50"/>
            <p:cNvSpPr>
              <a:spLocks noChangeShapeType="1"/>
            </p:cNvSpPr>
            <p:nvPr/>
          </p:nvSpPr>
          <p:spPr bwMode="auto">
            <a:xfrm flipH="1">
              <a:off x="884" y="2532"/>
              <a:ext cx="192"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16" name="Line 51"/>
            <p:cNvSpPr>
              <a:spLocks noChangeShapeType="1"/>
            </p:cNvSpPr>
            <p:nvPr/>
          </p:nvSpPr>
          <p:spPr bwMode="auto">
            <a:xfrm>
              <a:off x="1200" y="2496"/>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52"/>
            <p:cNvSpPr>
              <a:spLocks noChangeShapeType="1"/>
            </p:cNvSpPr>
            <p:nvPr/>
          </p:nvSpPr>
          <p:spPr bwMode="auto">
            <a:xfrm>
              <a:off x="1152" y="2496"/>
              <a:ext cx="24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53"/>
            <p:cNvSpPr>
              <a:spLocks noChangeShapeType="1"/>
            </p:cNvSpPr>
            <p:nvPr/>
          </p:nvSpPr>
          <p:spPr bwMode="auto">
            <a:xfrm flipH="1">
              <a:off x="1248" y="2784"/>
              <a:ext cx="144"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19" name="Line 54"/>
            <p:cNvSpPr>
              <a:spLocks noChangeShapeType="1"/>
            </p:cNvSpPr>
            <p:nvPr/>
          </p:nvSpPr>
          <p:spPr bwMode="auto">
            <a:xfrm>
              <a:off x="1488" y="2784"/>
              <a:ext cx="192"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a:p>
            <a:pPr marL="0" indent="0">
              <a:buNone/>
            </a:pPr>
            <a:endParaRPr lang="en-US" sz="2600" b="1" dirty="0">
              <a:solidFill>
                <a:schemeClr val="tx1"/>
              </a:solidFill>
            </a:endParaRPr>
          </a:p>
        </p:txBody>
      </p:sp>
      <p:sp>
        <p:nvSpPr>
          <p:cNvPr id="5" name="TextBox 4"/>
          <p:cNvSpPr txBox="1"/>
          <p:nvPr/>
        </p:nvSpPr>
        <p:spPr>
          <a:xfrm>
            <a:off x="1066987" y="1219032"/>
            <a:ext cx="7626847" cy="5940088"/>
          </a:xfrm>
          <a:prstGeom prst="rect">
            <a:avLst/>
          </a:prstGeom>
          <a:noFill/>
        </p:spPr>
        <p:txBody>
          <a:bodyPr wrap="square" rtlCol="0">
            <a:spAutoFit/>
          </a:bodyPr>
          <a:lstStyle/>
          <a:p>
            <a:pPr algn="just"/>
            <a:endParaRPr lang="en-US" dirty="0"/>
          </a:p>
          <a:p>
            <a:pPr algn="just"/>
            <a:r>
              <a:rPr lang="en-US" dirty="0"/>
              <a:t>The tree has an interior node labeled * with </a:t>
            </a:r>
            <a:r>
              <a:rPr lang="en-US" b="1" dirty="0"/>
              <a:t>(id, 3) </a:t>
            </a:r>
            <a:r>
              <a:rPr lang="en-US" dirty="0"/>
              <a:t>as its left child and the integer </a:t>
            </a:r>
            <a:r>
              <a:rPr lang="en-US" b="1" dirty="0"/>
              <a:t>60 </a:t>
            </a:r>
            <a:r>
              <a:rPr lang="en-US" dirty="0"/>
              <a:t>as its right child. The node </a:t>
            </a:r>
            <a:r>
              <a:rPr lang="en-US" b="1" dirty="0"/>
              <a:t>(id, 3) </a:t>
            </a:r>
            <a:r>
              <a:rPr lang="en-US" dirty="0"/>
              <a:t>represents the identifier </a:t>
            </a:r>
            <a:r>
              <a:rPr lang="en-US" b="1" dirty="0"/>
              <a:t>rate. </a:t>
            </a:r>
            <a:r>
              <a:rPr lang="en-US" dirty="0"/>
              <a:t>The node labeled * makes it explicit that we must first multiply the value of </a:t>
            </a:r>
            <a:r>
              <a:rPr lang="en-US" b="1" dirty="0"/>
              <a:t>r a t e </a:t>
            </a:r>
            <a:r>
              <a:rPr lang="en-US" dirty="0"/>
              <a:t>by </a:t>
            </a:r>
            <a:r>
              <a:rPr lang="en-US" b="1" dirty="0"/>
              <a:t>60. </a:t>
            </a:r>
            <a:r>
              <a:rPr lang="en-US" dirty="0"/>
              <a:t>The node labeled + indicates that we must add the result of this multiplication to the value of </a:t>
            </a:r>
            <a:r>
              <a:rPr lang="en-US" dirty="0" err="1"/>
              <a:t>i</a:t>
            </a:r>
            <a:r>
              <a:rPr lang="en-US" dirty="0"/>
              <a:t> n </a:t>
            </a:r>
            <a:r>
              <a:rPr lang="en-US" dirty="0" err="1"/>
              <a:t>i</a:t>
            </a:r>
            <a:r>
              <a:rPr lang="en-US" dirty="0"/>
              <a:t> t </a:t>
            </a:r>
            <a:r>
              <a:rPr lang="en-US" dirty="0" err="1"/>
              <a:t>i</a:t>
            </a:r>
            <a:r>
              <a:rPr lang="en-US" dirty="0"/>
              <a:t> a l . The root of the tree, labeled =, indicates that we must store the result of this addition into the location for the identifier p o s </a:t>
            </a:r>
            <a:r>
              <a:rPr lang="en-US" dirty="0" err="1"/>
              <a:t>i</a:t>
            </a:r>
            <a:r>
              <a:rPr lang="en-US" dirty="0"/>
              <a:t> t </a:t>
            </a:r>
            <a:r>
              <a:rPr lang="en-US" dirty="0" err="1"/>
              <a:t>i</a:t>
            </a:r>
            <a:r>
              <a:rPr lang="en-US" dirty="0"/>
              <a:t> o n . This ordering of operations is consistent with the usual conventions of arithmetic which tell us that multiplication has higher precedence than addition, and hence that the multiplication is to be performed before the addition.</a:t>
            </a:r>
            <a:endParaRPr lang="en-US" dirty="0"/>
          </a:p>
          <a:p>
            <a:pPr algn="just"/>
            <a:endParaRPr lang="en-US" dirty="0"/>
          </a:p>
          <a:p>
            <a:pPr algn="just"/>
            <a:r>
              <a:rPr lang="en-US" dirty="0"/>
              <a:t>		 </a:t>
            </a:r>
            <a:endParaRPr lang="nn-NO" sz="2000" b="1" dirty="0"/>
          </a:p>
          <a:p>
            <a:r>
              <a:rPr lang="nn-NO" sz="2000" b="1" dirty="0"/>
              <a:t>Syntax Error: </a:t>
            </a:r>
            <a:r>
              <a:rPr lang="en-US" dirty="0"/>
              <a:t>A grammatical error is a one that violates the (grammatical) rules of the language, for example if x = 7 y := 4 (missing </a:t>
            </a:r>
            <a:r>
              <a:rPr lang="en-US" b="1" dirty="0"/>
              <a:t>then</a:t>
            </a:r>
            <a:r>
              <a:rPr lang="en-US" dirty="0"/>
              <a:t>).</a:t>
            </a:r>
            <a:endParaRPr lang="nn-NO" b="1" dirty="0"/>
          </a:p>
          <a:p>
            <a:pPr algn="just"/>
            <a:endParaRPr lang="en-US" dirty="0"/>
          </a:p>
          <a:p>
            <a:pPr lvl="2" algn="just"/>
            <a:endParaRPr lang="en-US" dirty="0"/>
          </a:p>
          <a:p>
            <a:pPr algn="just"/>
            <a:endParaRPr lang="en-US" dirty="0"/>
          </a:p>
          <a:p>
            <a:r>
              <a:rPr lang="en-US" dirty="0"/>
              <a:t>                                                                                                                     </a:t>
            </a:r>
            <a:endParaRPr lang="en-US" dirty="0"/>
          </a:p>
          <a:p>
            <a:r>
              <a:rPr lang="en-US" dirty="0"/>
              <a:t>                                                                                                                                </a:t>
            </a: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p:txBody>
      </p:sp>
      <p:sp>
        <p:nvSpPr>
          <p:cNvPr id="5" name="TextBox 4"/>
          <p:cNvSpPr txBox="1"/>
          <p:nvPr/>
        </p:nvSpPr>
        <p:spPr>
          <a:xfrm>
            <a:off x="994491" y="1718131"/>
            <a:ext cx="7556508" cy="4832092"/>
          </a:xfrm>
          <a:prstGeom prst="rect">
            <a:avLst/>
          </a:prstGeom>
          <a:noFill/>
        </p:spPr>
        <p:txBody>
          <a:bodyPr wrap="square" rtlCol="0">
            <a:spAutoFit/>
          </a:bodyPr>
          <a:lstStyle/>
          <a:p>
            <a:pPr algn="just"/>
            <a:r>
              <a:rPr lang="en-US" sz="2000" b="1" dirty="0"/>
              <a:t>Semantic Analyzer: </a:t>
            </a:r>
            <a:r>
              <a:rPr lang="en-US" dirty="0"/>
              <a:t>The </a:t>
            </a:r>
            <a:r>
              <a:rPr lang="en-US" i="1" dirty="0"/>
              <a:t>semantic analyzer </a:t>
            </a:r>
            <a:r>
              <a:rPr lang="en-US" dirty="0"/>
              <a:t>uses the syntax tree and the information in the symbol table to check the source program for semantic consistency with the language definition. It also gathers type information and saves it in either the syntax tree or the symbol table, for subsequent use during intermediate-code generation.</a:t>
            </a:r>
            <a:endParaRPr lang="en-US" dirty="0"/>
          </a:p>
          <a:p>
            <a:pPr algn="just"/>
            <a:endParaRPr lang="en-US" dirty="0"/>
          </a:p>
          <a:p>
            <a:pPr algn="just"/>
            <a:r>
              <a:rPr lang="en-US" dirty="0"/>
              <a:t>Semantic analysis checks whether the parse tree constructed follows the rules of language. For example, assignment of values is between compatible data types, and adding string to an integer. Also, the semantic analyzer keeps track of identifiers, their types and expressions; whether identifiers are declared before use or not etc. In practice semantic analyzers are mainly concerned with type checking and type coercion based on type rules. The semantic analyzer produces an annotated syntax tree as an output.</a:t>
            </a:r>
            <a:endParaRPr lang="en-US" dirty="0"/>
          </a:p>
          <a:p>
            <a:endParaRPr lang="en-US" dirty="0"/>
          </a:p>
          <a:p>
            <a:endParaRPr lang="en-US" dirty="0"/>
          </a:p>
          <a:p>
            <a:endParaRPr lang="en-US" dirty="0"/>
          </a:p>
          <a:p>
            <a:r>
              <a:rPr lang="en-US" dirty="0"/>
              <a:t>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p:txBody>
      </p:sp>
      <p:sp>
        <p:nvSpPr>
          <p:cNvPr id="3" name="TextBox 2"/>
          <p:cNvSpPr txBox="1"/>
          <p:nvPr/>
        </p:nvSpPr>
        <p:spPr>
          <a:xfrm>
            <a:off x="994491" y="1774402"/>
            <a:ext cx="7556508" cy="5139869"/>
          </a:xfrm>
          <a:prstGeom prst="rect">
            <a:avLst/>
          </a:prstGeom>
          <a:noFill/>
        </p:spPr>
        <p:txBody>
          <a:bodyPr wrap="square" rtlCol="0">
            <a:spAutoFit/>
          </a:bodyPr>
          <a:lstStyle/>
          <a:p>
            <a:pPr algn="just"/>
            <a:endParaRPr lang="en-US" sz="2000" b="1" dirty="0"/>
          </a:p>
          <a:p>
            <a:pPr algn="just"/>
            <a:endParaRPr lang="en-US" sz="2000" b="1" dirty="0"/>
          </a:p>
          <a:p>
            <a:pPr algn="just"/>
            <a:endParaRPr lang="en-US" sz="2000" b="1" dirty="0"/>
          </a:p>
          <a:p>
            <a:pPr algn="just"/>
            <a:endParaRPr lang="en-US" sz="2000" b="1" dirty="0"/>
          </a:p>
          <a:p>
            <a:pPr algn="just"/>
            <a:endParaRPr lang="en-US" sz="2000" b="1" dirty="0"/>
          </a:p>
          <a:p>
            <a:pPr algn="just"/>
            <a:endParaRPr lang="en-US" sz="2000" b="1" dirty="0"/>
          </a:p>
          <a:p>
            <a:pPr algn="just"/>
            <a:endParaRPr lang="en-US" sz="2000" b="1" dirty="0"/>
          </a:p>
          <a:p>
            <a:pPr algn="just"/>
            <a:endParaRPr lang="en-US" sz="2000" b="1" dirty="0"/>
          </a:p>
          <a:p>
            <a:pPr algn="just"/>
            <a:endParaRPr lang="en-US" sz="2000" b="1" dirty="0"/>
          </a:p>
          <a:p>
            <a:pPr algn="just"/>
            <a:endParaRPr lang="en-US" sz="2000" b="1" dirty="0"/>
          </a:p>
          <a:p>
            <a:pPr algn="just"/>
            <a:endParaRPr lang="en-US" sz="2000" b="1" dirty="0"/>
          </a:p>
          <a:p>
            <a:pPr lvl="1" algn="just"/>
            <a:endParaRPr lang="en-US" dirty="0"/>
          </a:p>
          <a:p>
            <a:pPr algn="just"/>
            <a:endParaRPr lang="en-US" dirty="0"/>
          </a:p>
          <a:p>
            <a:endParaRPr lang="en-US" dirty="0"/>
          </a:p>
          <a:p>
            <a:endParaRPr lang="en-US" dirty="0"/>
          </a:p>
          <a:p>
            <a:endParaRPr lang="en-US" dirty="0"/>
          </a:p>
          <a:p>
            <a:r>
              <a:rPr lang="en-US" dirty="0"/>
              <a:t>                                                                                                                                    </a:t>
            </a:r>
            <a:endParaRPr lang="en-US" dirty="0"/>
          </a:p>
        </p:txBody>
      </p:sp>
      <p:grpSp>
        <p:nvGrpSpPr>
          <p:cNvPr id="4" name="Group 40"/>
          <p:cNvGrpSpPr/>
          <p:nvPr/>
        </p:nvGrpSpPr>
        <p:grpSpPr bwMode="auto">
          <a:xfrm>
            <a:off x="1960273" y="1899819"/>
            <a:ext cx="3742610" cy="2348743"/>
            <a:chOff x="247" y="2201"/>
            <a:chExt cx="1865" cy="895"/>
          </a:xfrm>
        </p:grpSpPr>
        <p:sp>
          <p:nvSpPr>
            <p:cNvPr id="5" name="Text Box 41"/>
            <p:cNvSpPr txBox="1">
              <a:spLocks noChangeArrowheads="1"/>
            </p:cNvSpPr>
            <p:nvPr/>
          </p:nvSpPr>
          <p:spPr bwMode="auto">
            <a:xfrm>
              <a:off x="247" y="2369"/>
              <a:ext cx="72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(id, 1)</a:t>
              </a:r>
              <a:endParaRPr lang="en-US" altLang="en-US" sz="1800" dirty="0">
                <a:latin typeface="Times New Roman" panose="02020603050405020304" pitchFamily="18" charset="0"/>
              </a:endParaRPr>
            </a:p>
          </p:txBody>
        </p:sp>
        <p:sp>
          <p:nvSpPr>
            <p:cNvPr id="6" name="Text Box 42"/>
            <p:cNvSpPr txBox="1">
              <a:spLocks noChangeArrowheads="1"/>
            </p:cNvSpPr>
            <p:nvPr/>
          </p:nvSpPr>
          <p:spPr bwMode="auto">
            <a:xfrm>
              <a:off x="444" y="2667"/>
              <a:ext cx="72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(id,2)</a:t>
              </a:r>
              <a:endParaRPr lang="en-US" altLang="en-US" sz="1800" dirty="0">
                <a:latin typeface="Times New Roman" panose="02020603050405020304" pitchFamily="18" charset="0"/>
              </a:endParaRPr>
            </a:p>
          </p:txBody>
        </p:sp>
        <p:sp>
          <p:nvSpPr>
            <p:cNvPr id="7" name="Text Box 43"/>
            <p:cNvSpPr txBox="1">
              <a:spLocks noChangeArrowheads="1"/>
            </p:cNvSpPr>
            <p:nvPr/>
          </p:nvSpPr>
          <p:spPr bwMode="auto">
            <a:xfrm>
              <a:off x="821" y="2955"/>
              <a:ext cx="72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(id,3)</a:t>
              </a:r>
              <a:endParaRPr lang="en-US" altLang="en-US" sz="1800" dirty="0">
                <a:latin typeface="Times New Roman" panose="02020603050405020304" pitchFamily="18" charset="0"/>
              </a:endParaRPr>
            </a:p>
          </p:txBody>
        </p:sp>
        <p:sp>
          <p:nvSpPr>
            <p:cNvPr id="8" name="Text Box 44"/>
            <p:cNvSpPr txBox="1">
              <a:spLocks noChangeArrowheads="1"/>
            </p:cNvSpPr>
            <p:nvPr/>
          </p:nvSpPr>
          <p:spPr bwMode="auto">
            <a:xfrm>
              <a:off x="640" y="2201"/>
              <a:ext cx="38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a:t>
              </a:r>
              <a:endParaRPr lang="en-US" altLang="en-US" sz="1800" dirty="0">
                <a:latin typeface="Times New Roman" panose="02020603050405020304" pitchFamily="18" charset="0"/>
              </a:endParaRPr>
            </a:p>
          </p:txBody>
        </p:sp>
        <p:sp>
          <p:nvSpPr>
            <p:cNvPr id="9" name="Text Box 45"/>
            <p:cNvSpPr txBox="1">
              <a:spLocks noChangeArrowheads="1"/>
            </p:cNvSpPr>
            <p:nvPr/>
          </p:nvSpPr>
          <p:spPr bwMode="auto">
            <a:xfrm>
              <a:off x="820" y="2352"/>
              <a:ext cx="38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  +</a:t>
              </a:r>
              <a:endParaRPr lang="en-US" altLang="en-US" sz="1800" dirty="0">
                <a:latin typeface="Times New Roman" panose="02020603050405020304" pitchFamily="18" charset="0"/>
              </a:endParaRPr>
            </a:p>
          </p:txBody>
        </p:sp>
        <p:sp>
          <p:nvSpPr>
            <p:cNvPr id="10" name="Text Box 46"/>
            <p:cNvSpPr txBox="1">
              <a:spLocks noChangeArrowheads="1"/>
            </p:cNvSpPr>
            <p:nvPr/>
          </p:nvSpPr>
          <p:spPr bwMode="auto">
            <a:xfrm>
              <a:off x="1164" y="2640"/>
              <a:ext cx="38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a:latin typeface="Times New Roman" panose="02020603050405020304" pitchFamily="18" charset="0"/>
                </a:rPr>
                <a:t>   *</a:t>
              </a:r>
              <a:endParaRPr lang="en-US" altLang="en-US" sz="1800" dirty="0">
                <a:latin typeface="Times New Roman" panose="02020603050405020304" pitchFamily="18" charset="0"/>
              </a:endParaRPr>
            </a:p>
          </p:txBody>
        </p:sp>
        <p:sp>
          <p:nvSpPr>
            <p:cNvPr id="11" name="Text Box 47"/>
            <p:cNvSpPr txBox="1">
              <a:spLocks noChangeArrowheads="1"/>
            </p:cNvSpPr>
            <p:nvPr/>
          </p:nvSpPr>
          <p:spPr bwMode="auto">
            <a:xfrm>
              <a:off x="1536" y="2928"/>
              <a:ext cx="576"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dirty="0" err="1">
                  <a:latin typeface="Times New Roman" panose="02020603050405020304" pitchFamily="18" charset="0"/>
                </a:rPr>
                <a:t>inttofloat</a:t>
              </a:r>
              <a:endParaRPr lang="en-US" altLang="en-US" sz="1800" dirty="0">
                <a:latin typeface="Times New Roman" panose="02020603050405020304" pitchFamily="18" charset="0"/>
              </a:endParaRPr>
            </a:p>
          </p:txBody>
        </p:sp>
        <p:sp>
          <p:nvSpPr>
            <p:cNvPr id="12" name="Line 48"/>
            <p:cNvSpPr>
              <a:spLocks noChangeShapeType="1"/>
            </p:cNvSpPr>
            <p:nvPr/>
          </p:nvSpPr>
          <p:spPr bwMode="auto">
            <a:xfrm flipH="1">
              <a:off x="656" y="2314"/>
              <a:ext cx="96"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dirty="0"/>
            </a:p>
          </p:txBody>
        </p:sp>
        <p:sp>
          <p:nvSpPr>
            <p:cNvPr id="13" name="Line 49"/>
            <p:cNvSpPr>
              <a:spLocks noChangeShapeType="1"/>
            </p:cNvSpPr>
            <p:nvPr/>
          </p:nvSpPr>
          <p:spPr bwMode="auto">
            <a:xfrm>
              <a:off x="912" y="2304"/>
              <a:ext cx="104" cy="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dirty="0"/>
            </a:p>
          </p:txBody>
        </p:sp>
        <p:sp>
          <p:nvSpPr>
            <p:cNvPr id="14" name="Line 50"/>
            <p:cNvSpPr>
              <a:spLocks noChangeShapeType="1"/>
            </p:cNvSpPr>
            <p:nvPr/>
          </p:nvSpPr>
          <p:spPr bwMode="auto">
            <a:xfrm flipH="1">
              <a:off x="820" y="2476"/>
              <a:ext cx="192"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dirty="0"/>
            </a:p>
          </p:txBody>
        </p:sp>
        <p:sp>
          <p:nvSpPr>
            <p:cNvPr id="15" name="Line 51"/>
            <p:cNvSpPr>
              <a:spLocks noChangeShapeType="1"/>
            </p:cNvSpPr>
            <p:nvPr/>
          </p:nvSpPr>
          <p:spPr bwMode="auto">
            <a:xfrm>
              <a:off x="1200" y="2496"/>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16" name="Line 52"/>
            <p:cNvSpPr>
              <a:spLocks noChangeShapeType="1"/>
            </p:cNvSpPr>
            <p:nvPr/>
          </p:nvSpPr>
          <p:spPr bwMode="auto">
            <a:xfrm>
              <a:off x="1136" y="2463"/>
              <a:ext cx="24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17" name="Line 53"/>
            <p:cNvSpPr>
              <a:spLocks noChangeShapeType="1"/>
            </p:cNvSpPr>
            <p:nvPr/>
          </p:nvSpPr>
          <p:spPr bwMode="auto">
            <a:xfrm flipH="1">
              <a:off x="1206" y="2760"/>
              <a:ext cx="144"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dirty="0"/>
            </a:p>
          </p:txBody>
        </p:sp>
        <p:sp>
          <p:nvSpPr>
            <p:cNvPr id="18" name="Line 54"/>
            <p:cNvSpPr>
              <a:spLocks noChangeShapeType="1"/>
            </p:cNvSpPr>
            <p:nvPr/>
          </p:nvSpPr>
          <p:spPr bwMode="auto">
            <a:xfrm>
              <a:off x="1488" y="2784"/>
              <a:ext cx="192"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grpSp>
      <p:sp>
        <p:nvSpPr>
          <p:cNvPr id="19" name="Line 71"/>
          <p:cNvSpPr>
            <a:spLocks noChangeShapeType="1"/>
          </p:cNvSpPr>
          <p:nvPr/>
        </p:nvSpPr>
        <p:spPr bwMode="auto">
          <a:xfrm>
            <a:off x="5008098" y="4150509"/>
            <a:ext cx="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20" name="Text Box 72"/>
          <p:cNvSpPr txBox="1">
            <a:spLocks noChangeArrowheads="1"/>
          </p:cNvSpPr>
          <p:nvPr/>
        </p:nvSpPr>
        <p:spPr bwMode="auto">
          <a:xfrm>
            <a:off x="4835962" y="445530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60</a:t>
            </a:r>
            <a:endParaRPr lang="en-US" altLang="en-US" sz="1800" dirty="0">
              <a:latin typeface="Times New Roman" panose="02020603050405020304" pitchFamily="18" charset="0"/>
            </a:endParaRPr>
          </a:p>
        </p:txBody>
      </p:sp>
      <p:sp>
        <p:nvSpPr>
          <p:cNvPr id="21" name="Text Box 73"/>
          <p:cNvSpPr txBox="1">
            <a:spLocks noChangeArrowheads="1"/>
          </p:cNvSpPr>
          <p:nvPr/>
        </p:nvSpPr>
        <p:spPr bwMode="auto">
          <a:xfrm>
            <a:off x="2702362" y="4919707"/>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Conversion Action</a:t>
            </a:r>
            <a:endParaRPr lang="en-US" altLang="en-US" sz="1800" dirty="0">
              <a:latin typeface="Times New Roman" panose="02020603050405020304" pitchFamily="18" charset="0"/>
            </a:endParaRPr>
          </a:p>
        </p:txBody>
      </p:sp>
      <p:cxnSp>
        <p:nvCxnSpPr>
          <p:cNvPr id="24" name="AutoShape 74"/>
          <p:cNvCxnSpPr>
            <a:cxnSpLocks noChangeShapeType="1"/>
          </p:cNvCxnSpPr>
          <p:nvPr/>
        </p:nvCxnSpPr>
        <p:spPr bwMode="auto">
          <a:xfrm rot="16200000">
            <a:off x="3945729" y="4048196"/>
            <a:ext cx="776288" cy="1066800"/>
          </a:xfrm>
          <a:prstGeom prst="curvedConnector3">
            <a:avLst>
              <a:gd name="adj1" fmla="val 49898"/>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p:txBody>
      </p:sp>
      <p:sp>
        <p:nvSpPr>
          <p:cNvPr id="3" name="TextBox 2"/>
          <p:cNvSpPr txBox="1"/>
          <p:nvPr/>
        </p:nvSpPr>
        <p:spPr>
          <a:xfrm>
            <a:off x="994491" y="1718131"/>
            <a:ext cx="7556508" cy="4001095"/>
          </a:xfrm>
          <a:prstGeom prst="rect">
            <a:avLst/>
          </a:prstGeom>
          <a:noFill/>
        </p:spPr>
        <p:txBody>
          <a:bodyPr wrap="square" rtlCol="0">
            <a:spAutoFit/>
          </a:bodyPr>
          <a:lstStyle/>
          <a:p>
            <a:pPr algn="just"/>
            <a:r>
              <a:rPr lang="en-US" sz="2000" b="1" dirty="0"/>
              <a:t>Semantic Errors: </a:t>
            </a:r>
            <a:r>
              <a:rPr lang="en-US" dirty="0"/>
              <a:t>During compilation Semantic analyzer will recognize the following semantic errors.</a:t>
            </a:r>
            <a:endParaRPr lang="en-US" dirty="0"/>
          </a:p>
          <a:p>
            <a:pPr algn="just"/>
            <a:endParaRPr lang="en-US" dirty="0"/>
          </a:p>
          <a:p>
            <a:pPr algn="just"/>
            <a:endParaRPr lang="en-US" dirty="0"/>
          </a:p>
          <a:p>
            <a:pPr marL="742950" lvl="1" indent="-285750" algn="just">
              <a:buFont typeface="Wingdings" panose="05000000000000000000" pitchFamily="2" charset="2"/>
              <a:buChar char="v"/>
            </a:pPr>
            <a:r>
              <a:rPr lang="en-US" dirty="0"/>
              <a:t>Datatype mismatch</a:t>
            </a:r>
            <a:endParaRPr lang="en-US" dirty="0"/>
          </a:p>
          <a:p>
            <a:pPr marL="742950" lvl="1" indent="-285750" algn="just">
              <a:buFont typeface="Wingdings" panose="05000000000000000000" pitchFamily="2" charset="2"/>
              <a:buChar char="v"/>
            </a:pPr>
            <a:r>
              <a:rPr lang="en-US" dirty="0"/>
              <a:t>Undeclared variable</a:t>
            </a:r>
            <a:endParaRPr lang="en-US" dirty="0"/>
          </a:p>
          <a:p>
            <a:pPr marL="742950" lvl="1" indent="-285750" algn="just">
              <a:buFont typeface="Wingdings" panose="05000000000000000000" pitchFamily="2" charset="2"/>
              <a:buChar char="v"/>
            </a:pPr>
            <a:r>
              <a:rPr lang="en-US" dirty="0"/>
              <a:t>Multiple declaration of a variable in a scope </a:t>
            </a:r>
            <a:endParaRPr lang="en-US" dirty="0"/>
          </a:p>
          <a:p>
            <a:pPr marL="742950" lvl="1" indent="-285750" algn="just">
              <a:buFont typeface="Wingdings" panose="05000000000000000000" pitchFamily="2" charset="2"/>
              <a:buChar char="v"/>
            </a:pPr>
            <a:r>
              <a:rPr lang="en-US" dirty="0"/>
              <a:t>Actual and formal parameter mismatch</a:t>
            </a:r>
            <a:endParaRPr lang="en-US" dirty="0"/>
          </a:p>
          <a:p>
            <a:pPr lvl="1" algn="just"/>
            <a:endParaRPr lang="en-US" dirty="0"/>
          </a:p>
          <a:p>
            <a:pPr algn="just"/>
            <a:endParaRPr lang="en-US" dirty="0"/>
          </a:p>
          <a:p>
            <a:endParaRPr lang="en-US" dirty="0"/>
          </a:p>
          <a:p>
            <a:endParaRPr lang="en-US" dirty="0"/>
          </a:p>
          <a:p>
            <a:endParaRPr lang="en-US" dirty="0"/>
          </a:p>
          <a:p>
            <a:r>
              <a:rPr lang="en-US" dirty="0"/>
              <a:t>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p:txBody>
      </p:sp>
      <p:sp>
        <p:nvSpPr>
          <p:cNvPr id="3" name="TextBox 2"/>
          <p:cNvSpPr txBox="1"/>
          <p:nvPr/>
        </p:nvSpPr>
        <p:spPr>
          <a:xfrm>
            <a:off x="994491" y="1718131"/>
            <a:ext cx="7556508" cy="4585871"/>
          </a:xfrm>
          <a:prstGeom prst="rect">
            <a:avLst/>
          </a:prstGeom>
          <a:noFill/>
        </p:spPr>
        <p:txBody>
          <a:bodyPr wrap="square" rtlCol="0">
            <a:spAutoFit/>
          </a:bodyPr>
          <a:lstStyle/>
          <a:p>
            <a:pPr algn="just"/>
            <a:endParaRPr lang="en-US" sz="2000" b="1" dirty="0"/>
          </a:p>
          <a:p>
            <a:pPr algn="just"/>
            <a:r>
              <a:rPr lang="en-US" sz="2000" b="1" dirty="0"/>
              <a:t>Intermediate Code generator: </a:t>
            </a:r>
            <a:r>
              <a:rPr lang="en-US" dirty="0"/>
              <a:t>After syntax and semantic analysis of the source program, many compilers generate an explicit low-level or machine-like intermediate representation, which we can think of as a program for an abstract machine. This intermediate representation should have two important properties:</a:t>
            </a:r>
            <a:endParaRPr lang="en-US" dirty="0"/>
          </a:p>
          <a:p>
            <a:pPr algn="just"/>
            <a:endParaRPr lang="en-US" dirty="0"/>
          </a:p>
          <a:p>
            <a:pPr marL="742950" lvl="1" indent="-285750" algn="just">
              <a:buFont typeface="Wingdings" panose="05000000000000000000" pitchFamily="2" charset="2"/>
              <a:buChar char="Ø"/>
            </a:pPr>
            <a:r>
              <a:rPr lang="en-US" altLang="en-US" dirty="0"/>
              <a:t>Easy to Produce and </a:t>
            </a:r>
            <a:endParaRPr lang="en-US" altLang="en-US" dirty="0"/>
          </a:p>
          <a:p>
            <a:pPr marL="742950" lvl="1" indent="-285750" algn="just">
              <a:buFont typeface="Wingdings" panose="05000000000000000000" pitchFamily="2" charset="2"/>
              <a:buChar char="Ø"/>
            </a:pPr>
            <a:r>
              <a:rPr lang="en-US" altLang="en-US" dirty="0"/>
              <a:t>Easy to translate into target program</a:t>
            </a:r>
            <a:endParaRPr lang="en-US" altLang="en-US" dirty="0"/>
          </a:p>
          <a:p>
            <a:pPr lvl="1" algn="just"/>
            <a:endParaRPr lang="en-US" dirty="0"/>
          </a:p>
          <a:p>
            <a:pPr algn="just"/>
            <a:endParaRPr lang="en-US" b="1" dirty="0"/>
          </a:p>
          <a:p>
            <a:r>
              <a:rPr lang="en-US" dirty="0"/>
              <a:t>The intermediate representation can have a variety of forms. In this course we consider an intermediate  form called “ </a:t>
            </a:r>
            <a:r>
              <a:rPr lang="en-US" b="1" dirty="0"/>
              <a:t>three address code</a:t>
            </a:r>
            <a:r>
              <a:rPr lang="en-US" dirty="0"/>
              <a:t>”.</a:t>
            </a:r>
            <a:endParaRPr lang="en-US" dirty="0"/>
          </a:p>
          <a:p>
            <a:endParaRPr lang="en-US" dirty="0"/>
          </a:p>
          <a:p>
            <a:endParaRPr lang="en-US" dirty="0"/>
          </a:p>
          <a:p>
            <a:r>
              <a:rPr lang="en-US" dirty="0"/>
              <a:t>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p:txBody>
      </p:sp>
      <p:sp>
        <p:nvSpPr>
          <p:cNvPr id="3" name="TextBox 2"/>
          <p:cNvSpPr txBox="1"/>
          <p:nvPr/>
        </p:nvSpPr>
        <p:spPr>
          <a:xfrm>
            <a:off x="994491" y="1718131"/>
            <a:ext cx="7556508" cy="5078313"/>
          </a:xfrm>
          <a:prstGeom prst="rect">
            <a:avLst/>
          </a:prstGeom>
          <a:noFill/>
        </p:spPr>
        <p:txBody>
          <a:bodyPr wrap="square" rtlCol="0">
            <a:spAutoFit/>
          </a:bodyPr>
          <a:lstStyle/>
          <a:p>
            <a:r>
              <a:rPr lang="en-US" dirty="0"/>
              <a:t>We need to follow some steps to generate three address code.</a:t>
            </a:r>
            <a:endParaRPr lang="en-US" dirty="0"/>
          </a:p>
          <a:p>
            <a:endParaRPr lang="en-US" dirty="0"/>
          </a:p>
          <a:p>
            <a:pPr marL="742950" lvl="1" indent="-285750">
              <a:buFont typeface="Wingdings" panose="05000000000000000000" pitchFamily="2" charset="2"/>
              <a:buChar char="Ø"/>
            </a:pPr>
            <a:r>
              <a:rPr lang="en-US" dirty="0"/>
              <a:t>Each three address instruction has at most one operator on the right side.</a:t>
            </a:r>
            <a:endParaRPr lang="en-US" dirty="0"/>
          </a:p>
          <a:p>
            <a:pPr marL="742950" lvl="1" indent="-285750">
              <a:buFont typeface="Wingdings" panose="05000000000000000000" pitchFamily="2" charset="2"/>
              <a:buChar char="Ø"/>
            </a:pPr>
            <a:endParaRPr lang="en-US" dirty="0"/>
          </a:p>
          <a:p>
            <a:pPr marL="742950" lvl="1" indent="-285750">
              <a:buFont typeface="Wingdings" panose="05000000000000000000" pitchFamily="2" charset="2"/>
              <a:buChar char="Ø"/>
            </a:pPr>
            <a:r>
              <a:rPr lang="en-US" dirty="0"/>
              <a:t>The compiler must generate a temporary name to hold the value computed by each instruction.</a:t>
            </a:r>
            <a:endParaRPr lang="en-US" dirty="0"/>
          </a:p>
          <a:p>
            <a:pPr marL="742950" lvl="1" indent="-285750">
              <a:buFont typeface="Wingdings" panose="05000000000000000000" pitchFamily="2" charset="2"/>
              <a:buChar char="Ø"/>
            </a:pPr>
            <a:endParaRPr lang="en-US" dirty="0"/>
          </a:p>
          <a:p>
            <a:pPr marL="742950" lvl="1" indent="-285750">
              <a:buFont typeface="Wingdings" panose="05000000000000000000" pitchFamily="2" charset="2"/>
              <a:buChar char="Ø"/>
            </a:pPr>
            <a:r>
              <a:rPr lang="en-US" dirty="0"/>
              <a:t>Some three address instructions have fewer than three operands. </a:t>
            </a:r>
            <a:endParaRPr lang="en-US" dirty="0"/>
          </a:p>
          <a:p>
            <a:pPr lvl="1"/>
            <a:endParaRPr lang="en-US" dirty="0"/>
          </a:p>
          <a:p>
            <a:r>
              <a:rPr lang="en-US" dirty="0"/>
              <a:t> So the output of the intermediate code generator will be </a:t>
            </a:r>
            <a:endParaRPr lang="en-US" dirty="0"/>
          </a:p>
          <a:p>
            <a:endParaRPr lang="en-US" dirty="0"/>
          </a:p>
          <a:p>
            <a:endParaRPr lang="en-US" dirty="0"/>
          </a:p>
          <a:p>
            <a:endParaRPr lang="en-US" dirty="0"/>
          </a:p>
          <a:p>
            <a:endParaRPr lang="en-US" dirty="0"/>
          </a:p>
          <a:p>
            <a:pPr lvl="1"/>
            <a:endParaRPr lang="en-US" dirty="0"/>
          </a:p>
          <a:p>
            <a:pPr lvl="1"/>
            <a:endParaRPr lang="en-US" dirty="0"/>
          </a:p>
          <a:p>
            <a:pPr lvl="1"/>
            <a:r>
              <a:rPr lang="en-US" dirty="0"/>
              <a:t>        </a:t>
            </a:r>
            <a:endParaRPr lang="en-US" dirty="0"/>
          </a:p>
        </p:txBody>
      </p:sp>
      <p:sp>
        <p:nvSpPr>
          <p:cNvPr id="4" name="Text Box 73"/>
          <p:cNvSpPr txBox="1">
            <a:spLocks noChangeArrowheads="1"/>
          </p:cNvSpPr>
          <p:nvPr/>
        </p:nvSpPr>
        <p:spPr bwMode="auto">
          <a:xfrm>
            <a:off x="3096345" y="5122398"/>
            <a:ext cx="3352800" cy="1229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temp1 := </a:t>
            </a:r>
            <a:r>
              <a:rPr lang="en-US" altLang="en-US" sz="1600" dirty="0" err="1">
                <a:latin typeface="Times New Roman" panose="02020603050405020304" pitchFamily="18" charset="0"/>
              </a:rPr>
              <a:t>inttofloat</a:t>
            </a:r>
            <a:r>
              <a:rPr lang="en-US" altLang="en-US" sz="1600" dirty="0">
                <a:latin typeface="Times New Roman" panose="02020603050405020304" pitchFamily="18" charset="0"/>
              </a:rPr>
              <a:t>(60)</a:t>
            </a:r>
            <a:endParaRPr lang="en-US" altLang="en-US" sz="1600" dirty="0">
              <a:latin typeface="Times New Roman" panose="02020603050405020304" pitchFamily="18" charset="0"/>
            </a:endParaRPr>
          </a:p>
          <a:p>
            <a:pPr algn="l">
              <a:lnSpc>
                <a:spcPct val="70000"/>
              </a:lnSpc>
              <a:spcBef>
                <a:spcPct val="50000"/>
              </a:spcBef>
            </a:pPr>
            <a:r>
              <a:rPr lang="en-US" altLang="en-US" sz="1600" dirty="0">
                <a:latin typeface="Times New Roman" panose="02020603050405020304" pitchFamily="18" charset="0"/>
              </a:rPr>
              <a:t>temp2 := id3 * temp1</a:t>
            </a:r>
            <a:endParaRPr lang="en-US" altLang="en-US" sz="1600" dirty="0">
              <a:latin typeface="Times New Roman" panose="02020603050405020304" pitchFamily="18" charset="0"/>
            </a:endParaRPr>
          </a:p>
          <a:p>
            <a:pPr algn="l">
              <a:lnSpc>
                <a:spcPct val="70000"/>
              </a:lnSpc>
              <a:spcBef>
                <a:spcPct val="50000"/>
              </a:spcBef>
            </a:pPr>
            <a:r>
              <a:rPr lang="en-US" altLang="en-US" sz="1600" dirty="0">
                <a:latin typeface="Times New Roman" panose="02020603050405020304" pitchFamily="18" charset="0"/>
              </a:rPr>
              <a:t>temp3 := id2 + temp2</a:t>
            </a:r>
            <a:endParaRPr lang="en-US" altLang="en-US" sz="1600" dirty="0">
              <a:latin typeface="Times New Roman" panose="02020603050405020304" pitchFamily="18" charset="0"/>
            </a:endParaRPr>
          </a:p>
          <a:p>
            <a:pPr algn="l">
              <a:lnSpc>
                <a:spcPct val="70000"/>
              </a:lnSpc>
              <a:spcBef>
                <a:spcPct val="50000"/>
              </a:spcBef>
            </a:pPr>
            <a:r>
              <a:rPr lang="en-US" altLang="en-US" sz="1600" dirty="0">
                <a:latin typeface="Times New Roman" panose="02020603050405020304" pitchFamily="18" charset="0"/>
              </a:rPr>
              <a:t>id1 := temp3</a:t>
            </a:r>
            <a:endParaRPr lang="en-US" altLang="en-US" sz="1600" dirty="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p:txBody>
      </p:sp>
      <p:sp>
        <p:nvSpPr>
          <p:cNvPr id="3" name="TextBox 2"/>
          <p:cNvSpPr txBox="1"/>
          <p:nvPr/>
        </p:nvSpPr>
        <p:spPr>
          <a:xfrm>
            <a:off x="994491" y="1718131"/>
            <a:ext cx="7556508" cy="4031873"/>
          </a:xfrm>
          <a:prstGeom prst="rect">
            <a:avLst/>
          </a:prstGeom>
          <a:noFill/>
        </p:spPr>
        <p:txBody>
          <a:bodyPr wrap="square" rtlCol="0">
            <a:spAutoFit/>
          </a:bodyPr>
          <a:lstStyle/>
          <a:p>
            <a:pPr algn="just"/>
            <a:endParaRPr lang="en-US" sz="2000" b="1" dirty="0"/>
          </a:p>
          <a:p>
            <a:pPr algn="just"/>
            <a:r>
              <a:rPr lang="en-US" sz="2000" b="1" dirty="0"/>
              <a:t>Code Optimizer: </a:t>
            </a:r>
            <a:r>
              <a:rPr lang="en-US" dirty="0"/>
              <a:t>The machine-independent code-optimization phase attempts to improve the intermediate code so that better target code will result. </a:t>
            </a:r>
            <a:endParaRPr lang="en-US" dirty="0"/>
          </a:p>
          <a:p>
            <a:pPr algn="just"/>
            <a:endParaRPr lang="en-US" dirty="0"/>
          </a:p>
          <a:p>
            <a:pPr marL="742950" lvl="1" indent="-285750">
              <a:buFont typeface="Wingdings" panose="05000000000000000000" pitchFamily="2" charset="2"/>
              <a:buChar char="Ø"/>
            </a:pPr>
            <a:r>
              <a:rPr lang="en-US" altLang="en-US" dirty="0"/>
              <a:t>Find More Efficient Ways to Execute Code</a:t>
            </a:r>
            <a:endParaRPr lang="en-US" altLang="en-US" dirty="0"/>
          </a:p>
          <a:p>
            <a:pPr marL="742950" lvl="1" indent="-285750">
              <a:buFont typeface="Wingdings" panose="05000000000000000000" pitchFamily="2" charset="2"/>
              <a:buChar char="Ø"/>
            </a:pPr>
            <a:r>
              <a:rPr lang="en-US" altLang="en-US" dirty="0"/>
              <a:t>Replace Code With More Optimal Statements</a:t>
            </a:r>
            <a:endParaRPr lang="en-US" altLang="en-US" dirty="0"/>
          </a:p>
          <a:p>
            <a:pPr marL="742950" lvl="1" indent="-285750">
              <a:buFont typeface="Wingdings" panose="05000000000000000000" pitchFamily="2" charset="2"/>
              <a:buChar char="Ø"/>
            </a:pPr>
            <a:r>
              <a:rPr lang="en-US" dirty="0"/>
              <a:t>Significantly improve the running time of the target program</a:t>
            </a:r>
            <a:endParaRPr lang="en-US" dirty="0"/>
          </a:p>
          <a:p>
            <a:pPr lvl="1"/>
            <a:endParaRPr lang="en-US" altLang="en-US" dirty="0"/>
          </a:p>
          <a:p>
            <a:r>
              <a:rPr lang="en-US" dirty="0"/>
              <a:t>So this phase optimized the code and produced the output as follows</a:t>
            </a:r>
            <a:endParaRPr lang="en-US" dirty="0"/>
          </a:p>
          <a:p>
            <a:r>
              <a:rPr lang="en-US" dirty="0"/>
              <a:t>	</a:t>
            </a:r>
            <a:endParaRPr lang="en-US" dirty="0"/>
          </a:p>
          <a:p>
            <a:pPr lvl="1"/>
            <a:endParaRPr lang="en-US" dirty="0"/>
          </a:p>
          <a:p>
            <a:pPr lvl="1"/>
            <a:endParaRPr lang="en-US" dirty="0"/>
          </a:p>
          <a:p>
            <a:pPr lvl="1"/>
            <a:r>
              <a:rPr lang="en-US" dirty="0"/>
              <a:t>        </a:t>
            </a:r>
            <a:endParaRPr lang="en-US" dirty="0"/>
          </a:p>
        </p:txBody>
      </p:sp>
      <p:sp>
        <p:nvSpPr>
          <p:cNvPr id="5" name="Text Box 74"/>
          <p:cNvSpPr txBox="1">
            <a:spLocks noChangeArrowheads="1"/>
          </p:cNvSpPr>
          <p:nvPr/>
        </p:nvSpPr>
        <p:spPr bwMode="auto">
          <a:xfrm>
            <a:off x="3352800" y="4958273"/>
            <a:ext cx="3352800"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temp1 := id3 * 60.0</a:t>
            </a:r>
            <a:endParaRPr lang="en-US" altLang="en-US" sz="1600" dirty="0">
              <a:latin typeface="Times New Roman" panose="02020603050405020304" pitchFamily="18" charset="0"/>
            </a:endParaRPr>
          </a:p>
          <a:p>
            <a:pPr algn="l">
              <a:lnSpc>
                <a:spcPct val="70000"/>
              </a:lnSpc>
              <a:spcBef>
                <a:spcPct val="50000"/>
              </a:spcBef>
            </a:pPr>
            <a:r>
              <a:rPr lang="en-US" altLang="en-US" sz="1600" dirty="0">
                <a:latin typeface="Times New Roman" panose="02020603050405020304" pitchFamily="18" charset="0"/>
              </a:rPr>
              <a:t>id1 := id2 + temp1</a:t>
            </a:r>
            <a:endParaRPr lang="en-US" altLang="en-US" sz="1600" dirty="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Phases of  a Compiler</a:t>
            </a:r>
            <a:endParaRPr lang="en-US" sz="2600" b="1" dirty="0">
              <a:solidFill>
                <a:schemeClr val="tx1"/>
              </a:solidFill>
            </a:endParaRPr>
          </a:p>
        </p:txBody>
      </p:sp>
      <p:sp>
        <p:nvSpPr>
          <p:cNvPr id="3" name="TextBox 2"/>
          <p:cNvSpPr txBox="1"/>
          <p:nvPr/>
        </p:nvSpPr>
        <p:spPr>
          <a:xfrm>
            <a:off x="994491" y="1718131"/>
            <a:ext cx="7556508" cy="5416868"/>
          </a:xfrm>
          <a:prstGeom prst="rect">
            <a:avLst/>
          </a:prstGeom>
          <a:noFill/>
        </p:spPr>
        <p:txBody>
          <a:bodyPr wrap="square" rtlCol="0">
            <a:spAutoFit/>
          </a:bodyPr>
          <a:lstStyle/>
          <a:p>
            <a:pPr algn="just"/>
            <a:endParaRPr lang="en-US" sz="2000" b="1" dirty="0"/>
          </a:p>
          <a:p>
            <a:r>
              <a:rPr lang="en-US" sz="2000" b="1" dirty="0"/>
              <a:t>Code Generator: </a:t>
            </a:r>
            <a:r>
              <a:rPr lang="en-US" dirty="0"/>
              <a:t>The final phase of the compiler is to generate code for a specific machine. In this phase we consider:</a:t>
            </a:r>
            <a:endParaRPr lang="en-US" dirty="0"/>
          </a:p>
          <a:p>
            <a:endParaRPr lang="en-US" dirty="0"/>
          </a:p>
          <a:p>
            <a:pPr marL="742950" lvl="1" indent="-285750">
              <a:buFont typeface="Wingdings" panose="05000000000000000000" pitchFamily="2" charset="2"/>
              <a:buChar char="Ø"/>
            </a:pPr>
            <a:r>
              <a:rPr lang="en-US" dirty="0"/>
              <a:t>memory management</a:t>
            </a:r>
            <a:endParaRPr lang="en-US" dirty="0"/>
          </a:p>
          <a:p>
            <a:pPr marL="742950" lvl="1" indent="-285750">
              <a:buFont typeface="Wingdings" panose="05000000000000000000" pitchFamily="2" charset="2"/>
              <a:buChar char="Ø"/>
            </a:pPr>
            <a:r>
              <a:rPr lang="en-US" dirty="0"/>
              <a:t>register assignment</a:t>
            </a:r>
            <a:endParaRPr lang="en-US" dirty="0"/>
          </a:p>
          <a:p>
            <a:endParaRPr lang="en-US" dirty="0"/>
          </a:p>
          <a:p>
            <a:r>
              <a:rPr lang="en-US" dirty="0"/>
              <a:t>The output from this phase is usually assembly language or relocatable machine code.</a:t>
            </a:r>
            <a:endParaRPr lang="en-US" dirty="0"/>
          </a:p>
          <a:p>
            <a:endParaRPr lang="en-US" dirty="0"/>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7" name="Text Box 75"/>
          <p:cNvSpPr txBox="1">
            <a:spLocks noChangeArrowheads="1"/>
          </p:cNvSpPr>
          <p:nvPr/>
        </p:nvSpPr>
        <p:spPr bwMode="auto">
          <a:xfrm>
            <a:off x="3581400" y="4821700"/>
            <a:ext cx="2133600" cy="143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MOVF R2,id3</a:t>
            </a:r>
            <a:endParaRPr lang="en-US" altLang="en-US" sz="1600" dirty="0">
              <a:latin typeface="Times New Roman" panose="02020603050405020304" pitchFamily="18" charset="0"/>
            </a:endParaRPr>
          </a:p>
          <a:p>
            <a:pPr algn="l">
              <a:lnSpc>
                <a:spcPct val="60000"/>
              </a:lnSpc>
              <a:spcBef>
                <a:spcPct val="50000"/>
              </a:spcBef>
            </a:pPr>
            <a:r>
              <a:rPr lang="en-US" altLang="en-US" sz="1600" dirty="0">
                <a:latin typeface="Times New Roman" panose="02020603050405020304" pitchFamily="18" charset="0"/>
              </a:rPr>
              <a:t>MULF R2,#60.0</a:t>
            </a:r>
            <a:endParaRPr lang="en-US" altLang="en-US" sz="1600" dirty="0">
              <a:latin typeface="Times New Roman" panose="02020603050405020304" pitchFamily="18" charset="0"/>
            </a:endParaRPr>
          </a:p>
          <a:p>
            <a:pPr algn="l">
              <a:lnSpc>
                <a:spcPct val="60000"/>
              </a:lnSpc>
              <a:spcBef>
                <a:spcPct val="50000"/>
              </a:spcBef>
            </a:pPr>
            <a:r>
              <a:rPr lang="en-US" altLang="en-US" sz="1600" dirty="0">
                <a:latin typeface="Times New Roman" panose="02020603050405020304" pitchFamily="18" charset="0"/>
              </a:rPr>
              <a:t>MOVF R1,id2</a:t>
            </a:r>
            <a:endParaRPr lang="en-US" altLang="en-US" sz="1600" dirty="0">
              <a:latin typeface="Times New Roman" panose="02020603050405020304" pitchFamily="18" charset="0"/>
            </a:endParaRPr>
          </a:p>
          <a:p>
            <a:pPr algn="l">
              <a:lnSpc>
                <a:spcPct val="60000"/>
              </a:lnSpc>
              <a:spcBef>
                <a:spcPct val="50000"/>
              </a:spcBef>
            </a:pPr>
            <a:r>
              <a:rPr lang="en-US" altLang="en-US" sz="1600" dirty="0">
                <a:latin typeface="Times New Roman" panose="02020603050405020304" pitchFamily="18" charset="0"/>
              </a:rPr>
              <a:t>ADDF R1, R2</a:t>
            </a:r>
            <a:endParaRPr lang="en-US" altLang="en-US" sz="1600" dirty="0">
              <a:latin typeface="Times New Roman" panose="02020603050405020304" pitchFamily="18" charset="0"/>
            </a:endParaRPr>
          </a:p>
          <a:p>
            <a:pPr algn="l">
              <a:lnSpc>
                <a:spcPct val="60000"/>
              </a:lnSpc>
              <a:spcBef>
                <a:spcPct val="50000"/>
              </a:spcBef>
            </a:pPr>
            <a:r>
              <a:rPr lang="en-US" altLang="en-US" sz="1600" dirty="0">
                <a:latin typeface="Times New Roman" panose="02020603050405020304" pitchFamily="18" charset="0"/>
              </a:rPr>
              <a:t>MOVF id1,R1</a:t>
            </a:r>
            <a:endParaRPr lang="en-US" altLang="en-US" sz="1600" dirty="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Reviewing the Entire Process</a:t>
            </a:r>
            <a:endParaRPr lang="en-US" sz="2600" b="1" dirty="0">
              <a:solidFill>
                <a:schemeClr val="tx1"/>
              </a:solidFill>
            </a:endParaRPr>
          </a:p>
        </p:txBody>
      </p:sp>
      <p:sp>
        <p:nvSpPr>
          <p:cNvPr id="3" name="TextBox 2"/>
          <p:cNvSpPr txBox="1"/>
          <p:nvPr/>
        </p:nvSpPr>
        <p:spPr>
          <a:xfrm>
            <a:off x="994491" y="1718131"/>
            <a:ext cx="7556508" cy="5109091"/>
          </a:xfrm>
          <a:prstGeom prst="rect">
            <a:avLst/>
          </a:prstGeom>
          <a:noFill/>
        </p:spPr>
        <p:txBody>
          <a:bodyPr wrap="square" rtlCol="0">
            <a:spAutoFit/>
          </a:bodyPr>
          <a:lstStyle/>
          <a:p>
            <a:pPr algn="just"/>
            <a:endParaRPr lang="en-US" sz="2000"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6" name="Text Box 18"/>
          <p:cNvSpPr txBox="1">
            <a:spLocks noChangeArrowheads="1"/>
          </p:cNvSpPr>
          <p:nvPr/>
        </p:nvSpPr>
        <p:spPr bwMode="auto">
          <a:xfrm>
            <a:off x="2819400" y="1963025"/>
            <a:ext cx="3505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600" dirty="0">
                <a:latin typeface="Times New Roman" panose="02020603050405020304" pitchFamily="18" charset="0"/>
              </a:rPr>
              <a:t>position   :=   initial  +  rate * 60</a:t>
            </a:r>
            <a:endParaRPr lang="en-US" altLang="en-US" sz="1600" dirty="0">
              <a:latin typeface="Times New Roman" panose="02020603050405020304" pitchFamily="18" charset="0"/>
            </a:endParaRPr>
          </a:p>
        </p:txBody>
      </p:sp>
      <p:grpSp>
        <p:nvGrpSpPr>
          <p:cNvPr id="8" name="Group 19"/>
          <p:cNvGrpSpPr/>
          <p:nvPr/>
        </p:nvGrpSpPr>
        <p:grpSpPr bwMode="auto">
          <a:xfrm>
            <a:off x="2552700" y="2639377"/>
            <a:ext cx="4038600" cy="336550"/>
            <a:chOff x="912" y="528"/>
            <a:chExt cx="2544" cy="212"/>
          </a:xfrm>
        </p:grpSpPr>
        <p:sp>
          <p:nvSpPr>
            <p:cNvPr id="9" name="Rectangle 20"/>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0" name="Text Box 21"/>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lexical analyzer</a:t>
              </a:r>
              <a:endParaRPr lang="en-US" altLang="en-US" sz="1600" dirty="0">
                <a:latin typeface="Times New Roman" panose="02020603050405020304" pitchFamily="18" charset="0"/>
              </a:endParaRPr>
            </a:p>
          </p:txBody>
        </p:sp>
      </p:grpSp>
      <p:cxnSp>
        <p:nvCxnSpPr>
          <p:cNvPr id="11" name="Straight Arrow Connector 10"/>
          <p:cNvCxnSpPr/>
          <p:nvPr/>
        </p:nvCxnSpPr>
        <p:spPr>
          <a:xfrm>
            <a:off x="4445391" y="2299575"/>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4445391" y="2975927"/>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 Box 31"/>
          <p:cNvSpPr txBox="1">
            <a:spLocks noChangeArrowheads="1"/>
          </p:cNvSpPr>
          <p:nvPr/>
        </p:nvSpPr>
        <p:spPr bwMode="auto">
          <a:xfrm>
            <a:off x="2780992" y="3340251"/>
            <a:ext cx="3505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id1  :=   id2  +  id3 * 60</a:t>
            </a:r>
            <a:endParaRPr lang="en-US" altLang="en-US" sz="1600" dirty="0">
              <a:latin typeface="Times New Roman" panose="02020603050405020304" pitchFamily="18" charset="0"/>
            </a:endParaRPr>
          </a:p>
        </p:txBody>
      </p:sp>
      <p:grpSp>
        <p:nvGrpSpPr>
          <p:cNvPr id="15" name="Group 22"/>
          <p:cNvGrpSpPr/>
          <p:nvPr/>
        </p:nvGrpSpPr>
        <p:grpSpPr bwMode="auto">
          <a:xfrm>
            <a:off x="2552700" y="3728898"/>
            <a:ext cx="4038600" cy="336550"/>
            <a:chOff x="912" y="528"/>
            <a:chExt cx="2544" cy="212"/>
          </a:xfrm>
        </p:grpSpPr>
        <p:sp>
          <p:nvSpPr>
            <p:cNvPr id="16" name="Rectangle 23"/>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7" name="Text Box 24"/>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syntax analyzer</a:t>
              </a:r>
              <a:endParaRPr lang="en-US" altLang="en-US" sz="1600" dirty="0">
                <a:latin typeface="Times New Roman" panose="02020603050405020304" pitchFamily="18" charset="0"/>
              </a:endParaRPr>
            </a:p>
          </p:txBody>
        </p:sp>
      </p:grpSp>
      <p:cxnSp>
        <p:nvCxnSpPr>
          <p:cNvPr id="18" name="Straight Arrow Connector 17"/>
          <p:cNvCxnSpPr/>
          <p:nvPr/>
        </p:nvCxnSpPr>
        <p:spPr>
          <a:xfrm>
            <a:off x="4445391" y="4065448"/>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4" name="Group 32"/>
          <p:cNvGrpSpPr/>
          <p:nvPr/>
        </p:nvGrpSpPr>
        <p:grpSpPr bwMode="auto">
          <a:xfrm>
            <a:off x="2840499" y="4395560"/>
            <a:ext cx="3429000" cy="1281113"/>
            <a:chOff x="1344" y="1392"/>
            <a:chExt cx="2160" cy="807"/>
          </a:xfrm>
        </p:grpSpPr>
        <p:sp>
          <p:nvSpPr>
            <p:cNvPr id="35" name="Text Box 33"/>
            <p:cNvSpPr txBox="1">
              <a:spLocks noChangeArrowheads="1"/>
            </p:cNvSpPr>
            <p:nvPr/>
          </p:nvSpPr>
          <p:spPr bwMode="auto">
            <a:xfrm>
              <a:off x="1872" y="1392"/>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endParaRPr lang="en-US" altLang="en-US" sz="1800">
                <a:latin typeface="Times New Roman" panose="02020603050405020304" pitchFamily="18" charset="0"/>
              </a:endParaRPr>
            </a:p>
          </p:txBody>
        </p:sp>
        <p:sp>
          <p:nvSpPr>
            <p:cNvPr id="36" name="Text Box 34"/>
            <p:cNvSpPr txBox="1">
              <a:spLocks noChangeArrowheads="1"/>
            </p:cNvSpPr>
            <p:nvPr/>
          </p:nvSpPr>
          <p:spPr bwMode="auto">
            <a:xfrm>
              <a:off x="1344" y="1632"/>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id1</a:t>
              </a:r>
              <a:endParaRPr lang="en-US" altLang="en-US" sz="1800">
                <a:latin typeface="Times New Roman" panose="02020603050405020304" pitchFamily="18" charset="0"/>
              </a:endParaRPr>
            </a:p>
          </p:txBody>
        </p:sp>
        <p:sp>
          <p:nvSpPr>
            <p:cNvPr id="37" name="Text Box 35"/>
            <p:cNvSpPr txBox="1">
              <a:spLocks noChangeArrowheads="1"/>
            </p:cNvSpPr>
            <p:nvPr/>
          </p:nvSpPr>
          <p:spPr bwMode="auto">
            <a:xfrm>
              <a:off x="1920" y="1776"/>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id2</a:t>
              </a:r>
              <a:endParaRPr lang="en-US" altLang="en-US" sz="1800">
                <a:latin typeface="Times New Roman" panose="02020603050405020304" pitchFamily="18" charset="0"/>
              </a:endParaRPr>
            </a:p>
          </p:txBody>
        </p:sp>
        <p:sp>
          <p:nvSpPr>
            <p:cNvPr id="38" name="Text Box 36"/>
            <p:cNvSpPr txBox="1">
              <a:spLocks noChangeArrowheads="1"/>
            </p:cNvSpPr>
            <p:nvPr/>
          </p:nvSpPr>
          <p:spPr bwMode="auto">
            <a:xfrm>
              <a:off x="2352" y="1968"/>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id3</a:t>
              </a:r>
              <a:endParaRPr lang="en-US" altLang="en-US" sz="1800">
                <a:latin typeface="Times New Roman" panose="02020603050405020304" pitchFamily="18" charset="0"/>
              </a:endParaRPr>
            </a:p>
          </p:txBody>
        </p:sp>
        <p:sp>
          <p:nvSpPr>
            <p:cNvPr id="39" name="Text Box 37"/>
            <p:cNvSpPr txBox="1">
              <a:spLocks noChangeArrowheads="1"/>
            </p:cNvSpPr>
            <p:nvPr/>
          </p:nvSpPr>
          <p:spPr bwMode="auto">
            <a:xfrm>
              <a:off x="2304" y="1584"/>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a:t>
              </a:r>
              <a:endParaRPr lang="en-US" altLang="en-US" sz="1800">
                <a:latin typeface="Times New Roman" panose="02020603050405020304" pitchFamily="18" charset="0"/>
              </a:endParaRPr>
            </a:p>
          </p:txBody>
        </p:sp>
        <p:sp>
          <p:nvSpPr>
            <p:cNvPr id="40" name="Text Box 38"/>
            <p:cNvSpPr txBox="1">
              <a:spLocks noChangeArrowheads="1"/>
            </p:cNvSpPr>
            <p:nvPr/>
          </p:nvSpPr>
          <p:spPr bwMode="auto">
            <a:xfrm>
              <a:off x="2736" y="177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a:t>
              </a:r>
              <a:endParaRPr lang="en-US" altLang="en-US" sz="1800">
                <a:latin typeface="Times New Roman" panose="02020603050405020304" pitchFamily="18" charset="0"/>
              </a:endParaRPr>
            </a:p>
          </p:txBody>
        </p:sp>
        <p:sp>
          <p:nvSpPr>
            <p:cNvPr id="41" name="Text Box 39"/>
            <p:cNvSpPr txBox="1">
              <a:spLocks noChangeArrowheads="1"/>
            </p:cNvSpPr>
            <p:nvPr/>
          </p:nvSpPr>
          <p:spPr bwMode="auto">
            <a:xfrm>
              <a:off x="3120" y="1968"/>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endParaRPr lang="en-US" altLang="en-US" sz="1800">
                <a:latin typeface="Times New Roman" panose="02020603050405020304" pitchFamily="18" charset="0"/>
              </a:endParaRPr>
            </a:p>
          </p:txBody>
        </p:sp>
        <p:sp>
          <p:nvSpPr>
            <p:cNvPr id="42" name="Line 40"/>
            <p:cNvSpPr>
              <a:spLocks noChangeShapeType="1"/>
            </p:cNvSpPr>
            <p:nvPr/>
          </p:nvSpPr>
          <p:spPr bwMode="auto">
            <a:xfrm>
              <a:off x="2352" y="1777"/>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41"/>
            <p:cNvSpPr>
              <a:spLocks noChangeShapeType="1"/>
            </p:cNvSpPr>
            <p:nvPr/>
          </p:nvSpPr>
          <p:spPr bwMode="auto">
            <a:xfrm flipH="1">
              <a:off x="1728" y="1584"/>
              <a:ext cx="144"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2"/>
            <p:cNvSpPr>
              <a:spLocks noChangeShapeType="1"/>
            </p:cNvSpPr>
            <p:nvPr/>
          </p:nvSpPr>
          <p:spPr bwMode="auto">
            <a:xfrm>
              <a:off x="2112" y="1584"/>
              <a:ext cx="288"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45" name="Line 43"/>
            <p:cNvSpPr>
              <a:spLocks noChangeShapeType="1"/>
            </p:cNvSpPr>
            <p:nvPr/>
          </p:nvSpPr>
          <p:spPr bwMode="auto">
            <a:xfrm>
              <a:off x="2544" y="1728"/>
              <a:ext cx="288"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4"/>
            <p:cNvSpPr>
              <a:spLocks noChangeShapeType="1"/>
            </p:cNvSpPr>
            <p:nvPr/>
          </p:nvSpPr>
          <p:spPr bwMode="auto">
            <a:xfrm>
              <a:off x="3024" y="1920"/>
              <a:ext cx="24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45"/>
            <p:cNvSpPr>
              <a:spLocks noChangeShapeType="1"/>
            </p:cNvSpPr>
            <p:nvPr/>
          </p:nvSpPr>
          <p:spPr bwMode="auto">
            <a:xfrm flipH="1">
              <a:off x="2784" y="1920"/>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46"/>
            <p:cNvSpPr>
              <a:spLocks noChangeShapeType="1"/>
            </p:cNvSpPr>
            <p:nvPr/>
          </p:nvSpPr>
          <p:spPr bwMode="auto">
            <a:xfrm flipH="1">
              <a:off x="2304" y="1728"/>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grpSp>
      <p:cxnSp>
        <p:nvCxnSpPr>
          <p:cNvPr id="49" name="Straight Arrow Connector 48"/>
          <p:cNvCxnSpPr/>
          <p:nvPr/>
        </p:nvCxnSpPr>
        <p:spPr>
          <a:xfrm>
            <a:off x="4516899" y="5676673"/>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Reviewing the Entire Process</a:t>
            </a:r>
            <a:endParaRPr lang="en-US" sz="2600" b="1" dirty="0">
              <a:solidFill>
                <a:schemeClr val="tx1"/>
              </a:solidFill>
            </a:endParaRPr>
          </a:p>
        </p:txBody>
      </p:sp>
      <p:sp>
        <p:nvSpPr>
          <p:cNvPr id="3" name="TextBox 2"/>
          <p:cNvSpPr txBox="1"/>
          <p:nvPr/>
        </p:nvSpPr>
        <p:spPr>
          <a:xfrm>
            <a:off x="994491" y="1816606"/>
            <a:ext cx="7556508" cy="5109091"/>
          </a:xfrm>
          <a:prstGeom prst="rect">
            <a:avLst/>
          </a:prstGeom>
          <a:noFill/>
        </p:spPr>
        <p:txBody>
          <a:bodyPr wrap="square" rtlCol="0">
            <a:spAutoFit/>
          </a:bodyPr>
          <a:lstStyle/>
          <a:p>
            <a:pPr algn="just"/>
            <a:endParaRPr lang="en-US" sz="2000" b="1"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grpSp>
        <p:nvGrpSpPr>
          <p:cNvPr id="8" name="Group 19"/>
          <p:cNvGrpSpPr/>
          <p:nvPr/>
        </p:nvGrpSpPr>
        <p:grpSpPr bwMode="auto">
          <a:xfrm>
            <a:off x="2552700" y="1964120"/>
            <a:ext cx="4038600" cy="336550"/>
            <a:chOff x="912" y="528"/>
            <a:chExt cx="2544" cy="212"/>
          </a:xfrm>
        </p:grpSpPr>
        <p:sp>
          <p:nvSpPr>
            <p:cNvPr id="9" name="Rectangle 20"/>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0" name="Text Box 21"/>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Semantic analyzer</a:t>
              </a:r>
              <a:endParaRPr lang="en-US" altLang="en-US" sz="1600" dirty="0">
                <a:latin typeface="Times New Roman" panose="02020603050405020304" pitchFamily="18" charset="0"/>
              </a:endParaRPr>
            </a:p>
          </p:txBody>
        </p:sp>
      </p:grpSp>
      <p:cxnSp>
        <p:nvCxnSpPr>
          <p:cNvPr id="11" name="Straight Arrow Connector 10"/>
          <p:cNvCxnSpPr/>
          <p:nvPr/>
        </p:nvCxnSpPr>
        <p:spPr>
          <a:xfrm>
            <a:off x="4445391" y="1624326"/>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67" name="Group 47"/>
          <p:cNvGrpSpPr/>
          <p:nvPr/>
        </p:nvGrpSpPr>
        <p:grpSpPr bwMode="auto">
          <a:xfrm>
            <a:off x="2494673" y="2191630"/>
            <a:ext cx="4038600" cy="1662113"/>
            <a:chOff x="1056" y="2304"/>
            <a:chExt cx="2544" cy="1047"/>
          </a:xfrm>
        </p:grpSpPr>
        <p:sp>
          <p:nvSpPr>
            <p:cNvPr id="68" name="Text Box 48"/>
            <p:cNvSpPr txBox="1">
              <a:spLocks noChangeArrowheads="1"/>
            </p:cNvSpPr>
            <p:nvPr/>
          </p:nvSpPr>
          <p:spPr bwMode="auto">
            <a:xfrm>
              <a:off x="1584" y="230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endParaRPr lang="en-US" altLang="en-US" sz="1800">
                <a:latin typeface="Times New Roman" panose="02020603050405020304" pitchFamily="18" charset="0"/>
              </a:endParaRPr>
            </a:p>
          </p:txBody>
        </p:sp>
        <p:sp>
          <p:nvSpPr>
            <p:cNvPr id="69" name="Text Box 49"/>
            <p:cNvSpPr txBox="1">
              <a:spLocks noChangeArrowheads="1"/>
            </p:cNvSpPr>
            <p:nvPr/>
          </p:nvSpPr>
          <p:spPr bwMode="auto">
            <a:xfrm>
              <a:off x="1056" y="2544"/>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id1</a:t>
              </a:r>
              <a:endParaRPr lang="en-US" altLang="en-US" sz="1800">
                <a:latin typeface="Times New Roman" panose="02020603050405020304" pitchFamily="18" charset="0"/>
              </a:endParaRPr>
            </a:p>
          </p:txBody>
        </p:sp>
        <p:sp>
          <p:nvSpPr>
            <p:cNvPr id="70" name="Text Box 50"/>
            <p:cNvSpPr txBox="1">
              <a:spLocks noChangeArrowheads="1"/>
            </p:cNvSpPr>
            <p:nvPr/>
          </p:nvSpPr>
          <p:spPr bwMode="auto">
            <a:xfrm>
              <a:off x="1632" y="2796"/>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id2l</a:t>
              </a:r>
              <a:endParaRPr lang="en-US" altLang="en-US" sz="1800" dirty="0">
                <a:latin typeface="Times New Roman" panose="02020603050405020304" pitchFamily="18" charset="0"/>
              </a:endParaRPr>
            </a:p>
          </p:txBody>
        </p:sp>
        <p:sp>
          <p:nvSpPr>
            <p:cNvPr id="71" name="Text Box 51"/>
            <p:cNvSpPr txBox="1">
              <a:spLocks noChangeArrowheads="1"/>
            </p:cNvSpPr>
            <p:nvPr/>
          </p:nvSpPr>
          <p:spPr bwMode="auto">
            <a:xfrm>
              <a:off x="2064" y="2880"/>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id3</a:t>
              </a:r>
              <a:endParaRPr lang="en-US" altLang="en-US" sz="1800">
                <a:latin typeface="Times New Roman" panose="02020603050405020304" pitchFamily="18" charset="0"/>
              </a:endParaRPr>
            </a:p>
          </p:txBody>
        </p:sp>
        <p:sp>
          <p:nvSpPr>
            <p:cNvPr id="72" name="Text Box 52"/>
            <p:cNvSpPr txBox="1">
              <a:spLocks noChangeArrowheads="1"/>
            </p:cNvSpPr>
            <p:nvPr/>
          </p:nvSpPr>
          <p:spPr bwMode="auto">
            <a:xfrm>
              <a:off x="2088" y="249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a:t>
              </a:r>
              <a:endParaRPr lang="en-US" altLang="en-US" sz="1800" dirty="0">
                <a:latin typeface="Times New Roman" panose="02020603050405020304" pitchFamily="18" charset="0"/>
              </a:endParaRPr>
            </a:p>
          </p:txBody>
        </p:sp>
        <p:sp>
          <p:nvSpPr>
            <p:cNvPr id="73" name="Text Box 53"/>
            <p:cNvSpPr txBox="1">
              <a:spLocks noChangeArrowheads="1"/>
            </p:cNvSpPr>
            <p:nvPr/>
          </p:nvSpPr>
          <p:spPr bwMode="auto">
            <a:xfrm>
              <a:off x="2547" y="2688"/>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a:latin typeface="Times New Roman" panose="02020603050405020304" pitchFamily="18" charset="0"/>
                </a:rPr>
                <a:t>*</a:t>
              </a:r>
              <a:endParaRPr lang="en-US" altLang="en-US" sz="1800" dirty="0">
                <a:latin typeface="Times New Roman" panose="02020603050405020304" pitchFamily="18" charset="0"/>
              </a:endParaRPr>
            </a:p>
          </p:txBody>
        </p:sp>
        <p:sp>
          <p:nvSpPr>
            <p:cNvPr id="74" name="Text Box 54"/>
            <p:cNvSpPr txBox="1">
              <a:spLocks noChangeArrowheads="1"/>
            </p:cNvSpPr>
            <p:nvPr/>
          </p:nvSpPr>
          <p:spPr bwMode="auto">
            <a:xfrm>
              <a:off x="2832" y="2880"/>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dirty="0" err="1">
                  <a:latin typeface="Times New Roman" panose="02020603050405020304" pitchFamily="18" charset="0"/>
                </a:rPr>
                <a:t>inttofloat</a:t>
              </a:r>
              <a:endParaRPr lang="en-US" altLang="en-US" sz="1800" dirty="0">
                <a:latin typeface="Times New Roman" panose="02020603050405020304" pitchFamily="18" charset="0"/>
              </a:endParaRPr>
            </a:p>
          </p:txBody>
        </p:sp>
        <p:sp>
          <p:nvSpPr>
            <p:cNvPr id="75" name="Line 55"/>
            <p:cNvSpPr>
              <a:spLocks noChangeShapeType="1"/>
            </p:cNvSpPr>
            <p:nvPr/>
          </p:nvSpPr>
          <p:spPr bwMode="auto">
            <a:xfrm>
              <a:off x="2064" y="2689"/>
              <a:ext cx="1"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56"/>
            <p:cNvSpPr>
              <a:spLocks noChangeShapeType="1"/>
            </p:cNvSpPr>
            <p:nvPr/>
          </p:nvSpPr>
          <p:spPr bwMode="auto">
            <a:xfrm flipH="1">
              <a:off x="1440" y="2496"/>
              <a:ext cx="16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7" name="Line 57"/>
            <p:cNvSpPr>
              <a:spLocks noChangeShapeType="1"/>
            </p:cNvSpPr>
            <p:nvPr/>
          </p:nvSpPr>
          <p:spPr bwMode="auto">
            <a:xfrm>
              <a:off x="1824" y="2496"/>
              <a:ext cx="324"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78" name="Line 58"/>
            <p:cNvSpPr>
              <a:spLocks noChangeShapeType="1"/>
            </p:cNvSpPr>
            <p:nvPr/>
          </p:nvSpPr>
          <p:spPr bwMode="auto">
            <a:xfrm>
              <a:off x="2256" y="2640"/>
              <a:ext cx="324"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9" name="Line 59"/>
            <p:cNvSpPr>
              <a:spLocks noChangeShapeType="1"/>
            </p:cNvSpPr>
            <p:nvPr/>
          </p:nvSpPr>
          <p:spPr bwMode="auto">
            <a:xfrm>
              <a:off x="2736" y="2832"/>
              <a:ext cx="27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80" name="Line 60"/>
            <p:cNvSpPr>
              <a:spLocks noChangeShapeType="1"/>
            </p:cNvSpPr>
            <p:nvPr/>
          </p:nvSpPr>
          <p:spPr bwMode="auto">
            <a:xfrm flipH="1">
              <a:off x="2496" y="2832"/>
              <a:ext cx="108"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81" name="Line 61"/>
            <p:cNvSpPr>
              <a:spLocks noChangeShapeType="1"/>
            </p:cNvSpPr>
            <p:nvPr/>
          </p:nvSpPr>
          <p:spPr bwMode="auto">
            <a:xfrm flipH="1">
              <a:off x="1902" y="2640"/>
              <a:ext cx="222"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dirty="0"/>
            </a:p>
          </p:txBody>
        </p:sp>
        <p:sp>
          <p:nvSpPr>
            <p:cNvPr id="82" name="Text Box 62"/>
            <p:cNvSpPr txBox="1">
              <a:spLocks noChangeArrowheads="1"/>
            </p:cNvSpPr>
            <p:nvPr/>
          </p:nvSpPr>
          <p:spPr bwMode="auto">
            <a:xfrm>
              <a:off x="2976" y="312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endParaRPr lang="en-US" altLang="en-US" sz="1800">
                <a:latin typeface="Times New Roman" panose="02020603050405020304" pitchFamily="18" charset="0"/>
              </a:endParaRPr>
            </a:p>
          </p:txBody>
        </p:sp>
        <p:sp>
          <p:nvSpPr>
            <p:cNvPr id="83" name="Line 63"/>
            <p:cNvSpPr>
              <a:spLocks noChangeShapeType="1"/>
            </p:cNvSpPr>
            <p:nvPr/>
          </p:nvSpPr>
          <p:spPr bwMode="auto">
            <a:xfrm>
              <a:off x="3216" y="3120"/>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4" name="Group 28"/>
          <p:cNvGrpSpPr/>
          <p:nvPr/>
        </p:nvGrpSpPr>
        <p:grpSpPr bwMode="auto">
          <a:xfrm>
            <a:off x="2552700" y="3846172"/>
            <a:ext cx="4038600" cy="361950"/>
            <a:chOff x="912" y="492"/>
            <a:chExt cx="2544" cy="228"/>
          </a:xfrm>
        </p:grpSpPr>
        <p:sp>
          <p:nvSpPr>
            <p:cNvPr id="85" name="Rectangle 29"/>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86" name="Text Box 30"/>
            <p:cNvSpPr txBox="1">
              <a:spLocks noChangeArrowheads="1"/>
            </p:cNvSpPr>
            <p:nvPr/>
          </p:nvSpPr>
          <p:spPr bwMode="auto">
            <a:xfrm>
              <a:off x="954" y="492"/>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intermediate code generator</a:t>
              </a:r>
              <a:endParaRPr lang="en-US" altLang="en-US" sz="1600" dirty="0">
                <a:latin typeface="Times New Roman" panose="02020603050405020304" pitchFamily="18" charset="0"/>
              </a:endParaRPr>
            </a:p>
          </p:txBody>
        </p:sp>
      </p:grpSp>
      <p:cxnSp>
        <p:nvCxnSpPr>
          <p:cNvPr id="87" name="Straight Arrow Connector 86"/>
          <p:cNvCxnSpPr/>
          <p:nvPr/>
        </p:nvCxnSpPr>
        <p:spPr>
          <a:xfrm>
            <a:off x="4428979" y="3563230"/>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a:off x="4459461" y="4248739"/>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Text Box 73"/>
          <p:cNvSpPr txBox="1">
            <a:spLocks noChangeArrowheads="1"/>
          </p:cNvSpPr>
          <p:nvPr/>
        </p:nvSpPr>
        <p:spPr bwMode="auto">
          <a:xfrm>
            <a:off x="3183985" y="4507526"/>
            <a:ext cx="3352800"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temp1 := </a:t>
            </a:r>
            <a:r>
              <a:rPr lang="en-US" altLang="en-US" sz="1600" dirty="0" err="1">
                <a:latin typeface="Times New Roman" panose="02020603050405020304" pitchFamily="18" charset="0"/>
              </a:rPr>
              <a:t>inttoreal</a:t>
            </a:r>
            <a:r>
              <a:rPr lang="en-US" altLang="en-US" sz="1600" dirty="0">
                <a:latin typeface="Times New Roman" panose="02020603050405020304" pitchFamily="18" charset="0"/>
              </a:rPr>
              <a:t>(60)</a:t>
            </a:r>
            <a:endParaRPr lang="en-US" altLang="en-US" sz="1600" dirty="0">
              <a:latin typeface="Times New Roman" panose="02020603050405020304" pitchFamily="18" charset="0"/>
            </a:endParaRPr>
          </a:p>
          <a:p>
            <a:pPr algn="l">
              <a:lnSpc>
                <a:spcPct val="70000"/>
              </a:lnSpc>
              <a:spcBef>
                <a:spcPct val="50000"/>
              </a:spcBef>
            </a:pPr>
            <a:r>
              <a:rPr lang="en-US" altLang="en-US" sz="1600" dirty="0">
                <a:latin typeface="Times New Roman" panose="02020603050405020304" pitchFamily="18" charset="0"/>
              </a:rPr>
              <a:t>temp2 := id3 * temp1</a:t>
            </a:r>
            <a:endParaRPr lang="en-US" altLang="en-US" sz="1600" dirty="0">
              <a:latin typeface="Times New Roman" panose="02020603050405020304" pitchFamily="18" charset="0"/>
            </a:endParaRPr>
          </a:p>
          <a:p>
            <a:pPr algn="l">
              <a:lnSpc>
                <a:spcPct val="70000"/>
              </a:lnSpc>
              <a:spcBef>
                <a:spcPct val="50000"/>
              </a:spcBef>
            </a:pPr>
            <a:r>
              <a:rPr lang="en-US" altLang="en-US" sz="1600" dirty="0">
                <a:latin typeface="Times New Roman" panose="02020603050405020304" pitchFamily="18" charset="0"/>
              </a:rPr>
              <a:t>temp3 := id2 + temp2</a:t>
            </a:r>
            <a:endParaRPr lang="en-US" altLang="en-US" sz="1600" dirty="0">
              <a:latin typeface="Times New Roman" panose="02020603050405020304" pitchFamily="18" charset="0"/>
            </a:endParaRPr>
          </a:p>
          <a:p>
            <a:pPr algn="l">
              <a:lnSpc>
                <a:spcPct val="70000"/>
              </a:lnSpc>
              <a:spcBef>
                <a:spcPct val="50000"/>
              </a:spcBef>
            </a:pPr>
            <a:r>
              <a:rPr lang="en-US" altLang="en-US" sz="1600" dirty="0">
                <a:latin typeface="Times New Roman" panose="02020603050405020304" pitchFamily="18" charset="0"/>
              </a:rPr>
              <a:t>id1 := temp3</a:t>
            </a:r>
            <a:endParaRPr lang="en-US" altLang="en-US" sz="1600" dirty="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Reviewing the Entire Process</a:t>
            </a:r>
            <a:endParaRPr lang="en-US" sz="2600" b="1" dirty="0">
              <a:solidFill>
                <a:schemeClr val="tx1"/>
              </a:solidFill>
            </a:endParaRPr>
          </a:p>
        </p:txBody>
      </p:sp>
      <p:cxnSp>
        <p:nvCxnSpPr>
          <p:cNvPr id="11" name="Straight Arrow Connector 10"/>
          <p:cNvCxnSpPr/>
          <p:nvPr/>
        </p:nvCxnSpPr>
        <p:spPr>
          <a:xfrm>
            <a:off x="4445391" y="1624326"/>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1" name="Group 67"/>
          <p:cNvGrpSpPr/>
          <p:nvPr/>
        </p:nvGrpSpPr>
        <p:grpSpPr bwMode="auto">
          <a:xfrm>
            <a:off x="2467707" y="1966539"/>
            <a:ext cx="4038600" cy="336550"/>
            <a:chOff x="912" y="528"/>
            <a:chExt cx="2544" cy="212"/>
          </a:xfrm>
        </p:grpSpPr>
        <p:sp>
          <p:nvSpPr>
            <p:cNvPr id="32" name="Rectangle 68"/>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3" name="Text Box 69"/>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code optimizer</a:t>
              </a:r>
              <a:endParaRPr lang="en-US" altLang="en-US" sz="1600" dirty="0">
                <a:latin typeface="Times New Roman" panose="02020603050405020304" pitchFamily="18" charset="0"/>
              </a:endParaRPr>
            </a:p>
          </p:txBody>
        </p:sp>
      </p:grpSp>
      <p:sp>
        <p:nvSpPr>
          <p:cNvPr id="34" name="Text Box 74"/>
          <p:cNvSpPr txBox="1">
            <a:spLocks noChangeArrowheads="1"/>
          </p:cNvSpPr>
          <p:nvPr/>
        </p:nvSpPr>
        <p:spPr bwMode="auto">
          <a:xfrm>
            <a:off x="2747890" y="2580832"/>
            <a:ext cx="3352800" cy="639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temp1 := id3 * 60.0</a:t>
            </a:r>
            <a:endParaRPr lang="en-US" altLang="en-US" sz="1600" dirty="0">
              <a:latin typeface="Times New Roman" panose="02020603050405020304" pitchFamily="18" charset="0"/>
            </a:endParaRPr>
          </a:p>
          <a:p>
            <a:pPr algn="ctr">
              <a:lnSpc>
                <a:spcPct val="70000"/>
              </a:lnSpc>
              <a:spcBef>
                <a:spcPct val="50000"/>
              </a:spcBef>
            </a:pPr>
            <a:r>
              <a:rPr lang="en-US" altLang="en-US" sz="1600" dirty="0">
                <a:latin typeface="Times New Roman" panose="02020603050405020304" pitchFamily="18" charset="0"/>
              </a:rPr>
              <a:t>id1 := id2 + temp1</a:t>
            </a:r>
            <a:endParaRPr lang="en-US" altLang="en-US" sz="1600" dirty="0">
              <a:latin typeface="Times New Roman" panose="02020603050405020304" pitchFamily="18" charset="0"/>
            </a:endParaRPr>
          </a:p>
        </p:txBody>
      </p:sp>
      <p:grpSp>
        <p:nvGrpSpPr>
          <p:cNvPr id="35" name="Group 70"/>
          <p:cNvGrpSpPr/>
          <p:nvPr/>
        </p:nvGrpSpPr>
        <p:grpSpPr bwMode="auto">
          <a:xfrm>
            <a:off x="2453640" y="3443654"/>
            <a:ext cx="4038600" cy="336550"/>
            <a:chOff x="912" y="528"/>
            <a:chExt cx="2544" cy="212"/>
          </a:xfrm>
        </p:grpSpPr>
        <p:sp>
          <p:nvSpPr>
            <p:cNvPr id="36" name="Rectangle 71"/>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7" name="Text Box 72"/>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dirty="0">
                  <a:latin typeface="Times New Roman" panose="02020603050405020304" pitchFamily="18" charset="0"/>
                </a:rPr>
                <a:t> code generator</a:t>
              </a:r>
              <a:endParaRPr lang="en-US" altLang="en-US" sz="1600" dirty="0">
                <a:latin typeface="Times New Roman" panose="02020603050405020304" pitchFamily="18" charset="0"/>
              </a:endParaRPr>
            </a:p>
          </p:txBody>
        </p:sp>
      </p:grpSp>
      <p:sp>
        <p:nvSpPr>
          <p:cNvPr id="38" name="Text Box 75"/>
          <p:cNvSpPr txBox="1">
            <a:spLocks noChangeArrowheads="1"/>
          </p:cNvSpPr>
          <p:nvPr/>
        </p:nvSpPr>
        <p:spPr bwMode="auto">
          <a:xfrm>
            <a:off x="3581400" y="3865097"/>
            <a:ext cx="2133600" cy="143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dirty="0">
                <a:latin typeface="Times New Roman" panose="02020603050405020304" pitchFamily="18" charset="0"/>
              </a:rPr>
              <a:t>MOVF R2,id3</a:t>
            </a:r>
            <a:endParaRPr lang="en-US" altLang="en-US" sz="1600" dirty="0">
              <a:latin typeface="Times New Roman" panose="02020603050405020304" pitchFamily="18" charset="0"/>
            </a:endParaRPr>
          </a:p>
          <a:p>
            <a:pPr algn="l">
              <a:lnSpc>
                <a:spcPct val="60000"/>
              </a:lnSpc>
              <a:spcBef>
                <a:spcPct val="50000"/>
              </a:spcBef>
            </a:pPr>
            <a:r>
              <a:rPr lang="en-US" altLang="en-US" sz="1600" dirty="0">
                <a:latin typeface="Times New Roman" panose="02020603050405020304" pitchFamily="18" charset="0"/>
              </a:rPr>
              <a:t>MULF R2,#60.0</a:t>
            </a:r>
            <a:endParaRPr lang="en-US" altLang="en-US" sz="1600" dirty="0">
              <a:latin typeface="Times New Roman" panose="02020603050405020304" pitchFamily="18" charset="0"/>
            </a:endParaRPr>
          </a:p>
          <a:p>
            <a:pPr algn="l">
              <a:lnSpc>
                <a:spcPct val="60000"/>
              </a:lnSpc>
              <a:spcBef>
                <a:spcPct val="50000"/>
              </a:spcBef>
            </a:pPr>
            <a:r>
              <a:rPr lang="en-US" altLang="en-US" sz="1600" dirty="0">
                <a:latin typeface="Times New Roman" panose="02020603050405020304" pitchFamily="18" charset="0"/>
              </a:rPr>
              <a:t>MOVF R1,id2</a:t>
            </a:r>
            <a:endParaRPr lang="en-US" altLang="en-US" sz="1600" dirty="0">
              <a:latin typeface="Times New Roman" panose="02020603050405020304" pitchFamily="18" charset="0"/>
            </a:endParaRPr>
          </a:p>
          <a:p>
            <a:pPr algn="l">
              <a:lnSpc>
                <a:spcPct val="60000"/>
              </a:lnSpc>
              <a:spcBef>
                <a:spcPct val="50000"/>
              </a:spcBef>
            </a:pPr>
            <a:r>
              <a:rPr lang="en-US" altLang="en-US" sz="1600" dirty="0">
                <a:latin typeface="Times New Roman" panose="02020603050405020304" pitchFamily="18" charset="0"/>
              </a:rPr>
              <a:t>ADDF R1, R2</a:t>
            </a:r>
            <a:endParaRPr lang="en-US" altLang="en-US" sz="1600" dirty="0">
              <a:latin typeface="Times New Roman" panose="02020603050405020304" pitchFamily="18" charset="0"/>
            </a:endParaRPr>
          </a:p>
          <a:p>
            <a:pPr algn="l">
              <a:lnSpc>
                <a:spcPct val="60000"/>
              </a:lnSpc>
              <a:spcBef>
                <a:spcPct val="50000"/>
              </a:spcBef>
            </a:pPr>
            <a:r>
              <a:rPr lang="en-US" altLang="en-US" sz="1600" dirty="0">
                <a:latin typeface="Times New Roman" panose="02020603050405020304" pitchFamily="18" charset="0"/>
              </a:rPr>
              <a:t>MOVF id1,R1</a:t>
            </a:r>
            <a:endParaRPr lang="en-US" altLang="en-US" sz="1600" dirty="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Exercises</a:t>
            </a:r>
            <a:endParaRPr lang="en-US" sz="2600" b="1" dirty="0">
              <a:solidFill>
                <a:schemeClr val="tx1"/>
              </a:solidFill>
            </a:endParaRPr>
          </a:p>
        </p:txBody>
      </p:sp>
      <p:sp>
        <p:nvSpPr>
          <p:cNvPr id="3" name="TextBox 2"/>
          <p:cNvSpPr txBox="1"/>
          <p:nvPr/>
        </p:nvSpPr>
        <p:spPr>
          <a:xfrm>
            <a:off x="994491" y="1718131"/>
            <a:ext cx="7556508" cy="1477328"/>
          </a:xfrm>
          <a:prstGeom prst="rect">
            <a:avLst/>
          </a:prstGeom>
          <a:noFill/>
        </p:spPr>
        <p:txBody>
          <a:bodyPr wrap="square" rtlCol="0">
            <a:spAutoFit/>
          </a:bodyPr>
          <a:lstStyle/>
          <a:p>
            <a:pPr algn="just"/>
            <a:r>
              <a:rPr lang="en-US" dirty="0"/>
              <a:t>Find the output for the following expressions</a:t>
            </a:r>
            <a:endParaRPr lang="en-US" dirty="0"/>
          </a:p>
          <a:p>
            <a:pPr marL="800100" lvl="1" indent="-342900">
              <a:buFont typeface="+mj-lt"/>
              <a:buAutoNum type="arabicPeriod"/>
            </a:pPr>
            <a:r>
              <a:rPr lang="en-US"/>
              <a:t>a=a +b *c *2</a:t>
            </a:r>
            <a:endParaRPr lang="en-US" dirty="0"/>
          </a:p>
          <a:p>
            <a:pPr marL="800100" lvl="1" indent="-342900">
              <a:buFont typeface="+mj-lt"/>
              <a:buAutoNum type="arabicPeriod"/>
            </a:pPr>
            <a:r>
              <a:rPr lang="en-US" dirty="0"/>
              <a:t>Y= b+c-d+20</a:t>
            </a:r>
            <a:endParaRPr lang="en-US" dirty="0"/>
          </a:p>
          <a:p>
            <a:pPr lvl="1"/>
            <a:endParaRPr lang="en-US" dirty="0"/>
          </a:p>
          <a:p>
            <a:pPr lvl="1"/>
            <a:r>
              <a:rPr lang="en-US" dirty="0"/>
              <a:t>        </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endParaRPr lang="en-US" sz="2600" b="1" dirty="0">
              <a:solidFill>
                <a:schemeClr val="tx1"/>
              </a:solidFill>
            </a:endParaRPr>
          </a:p>
        </p:txBody>
      </p:sp>
      <p:sp>
        <p:nvSpPr>
          <p:cNvPr id="5" name="TextBox 4"/>
          <p:cNvSpPr txBox="1"/>
          <p:nvPr/>
        </p:nvSpPr>
        <p:spPr>
          <a:xfrm>
            <a:off x="783772" y="2435897"/>
            <a:ext cx="7151958" cy="923330"/>
          </a:xfrm>
          <a:prstGeom prst="rect">
            <a:avLst/>
          </a:prstGeom>
          <a:noFill/>
        </p:spPr>
        <p:txBody>
          <a:bodyPr wrap="none" rtlCol="0">
            <a:spAutoFit/>
          </a:bodyPr>
          <a:lstStyle/>
          <a:p>
            <a:r>
              <a:rPr lang="en-US" dirty="0"/>
              <a:t>A. </a:t>
            </a:r>
            <a:r>
              <a:rPr lang="en-US" dirty="0" err="1"/>
              <a:t>Aho</a:t>
            </a:r>
            <a:r>
              <a:rPr lang="en-US" dirty="0"/>
              <a:t>, R. </a:t>
            </a:r>
            <a:r>
              <a:rPr lang="en-US" dirty="0" err="1"/>
              <a:t>Sethi</a:t>
            </a:r>
            <a:r>
              <a:rPr lang="en-US" dirty="0"/>
              <a:t> and J. Ullman, </a:t>
            </a:r>
            <a:r>
              <a:rPr lang="en-US" b="1" i="1" dirty="0"/>
              <a:t>Compilers: Principles, Techniques and Tools</a:t>
            </a:r>
            <a:endParaRPr lang="en-US" b="1" i="1" dirty="0"/>
          </a:p>
          <a:p>
            <a:r>
              <a:rPr lang="en-US" i="1" dirty="0"/>
              <a:t>(</a:t>
            </a:r>
            <a:r>
              <a:rPr lang="en-US" dirty="0"/>
              <a:t>The Dragon Book</a:t>
            </a:r>
            <a:r>
              <a:rPr lang="en-US" i="1" dirty="0"/>
              <a:t>)</a:t>
            </a:r>
            <a:r>
              <a:rPr lang="en-US" dirty="0"/>
              <a:t>,   [ Second Edition]</a:t>
            </a:r>
            <a:endParaRPr lang="en-US" dirty="0"/>
          </a:p>
          <a:p>
            <a:endParaRPr lang="en-US" dirty="0"/>
          </a:p>
        </p:txBody>
      </p:sp>
      <p:sp>
        <p:nvSpPr>
          <p:cNvPr id="2" name="TextBox 1"/>
          <p:cNvSpPr txBox="1"/>
          <p:nvPr/>
        </p:nvSpPr>
        <p:spPr>
          <a:xfrm>
            <a:off x="10213145" y="6977575"/>
            <a:ext cx="184731" cy="369332"/>
          </a:xfrm>
          <a:prstGeom prst="rect">
            <a:avLst/>
          </a:prstGeom>
          <a:noFill/>
        </p:spPr>
        <p:txBody>
          <a:bodyPr wrap="none" rtlCol="0">
            <a:spAutoFit/>
          </a:bodyPr>
          <a:lstStyle/>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endParaRPr lang="en-US" sz="2600" b="1" dirty="0">
              <a:solidFill>
                <a:schemeClr val="tx1"/>
              </a:solidFill>
            </a:endParaRPr>
          </a:p>
        </p:txBody>
      </p:sp>
      <p:sp>
        <p:nvSpPr>
          <p:cNvPr id="3" name="TextBox 2"/>
          <p:cNvSpPr txBox="1"/>
          <p:nvPr/>
        </p:nvSpPr>
        <p:spPr>
          <a:xfrm>
            <a:off x="783772" y="2435897"/>
            <a:ext cx="184731" cy="369332"/>
          </a:xfrm>
          <a:prstGeom prst="rect">
            <a:avLst/>
          </a:prstGeom>
          <a:noFill/>
        </p:spPr>
        <p:txBody>
          <a:bodyPr wrap="none" rtlCol="0">
            <a:spAutoFit/>
          </a:bodyPr>
          <a:lstStyle/>
          <a:p>
            <a:endParaRPr lang="en-US" dirty="0"/>
          </a:p>
        </p:txBody>
      </p:sp>
      <p:sp>
        <p:nvSpPr>
          <p:cNvPr id="2" name="Rectangle 1"/>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dirty="0"/>
              <a:t>A. </a:t>
            </a:r>
            <a:r>
              <a:rPr lang="en-US" dirty="0" err="1"/>
              <a:t>Aho</a:t>
            </a:r>
            <a:r>
              <a:rPr lang="en-US" dirty="0"/>
              <a:t>, R. </a:t>
            </a:r>
            <a:r>
              <a:rPr lang="en-US" dirty="0" err="1"/>
              <a:t>Sethi</a:t>
            </a:r>
            <a:r>
              <a:rPr lang="en-US" dirty="0"/>
              <a:t> and J. Ullman, </a:t>
            </a:r>
            <a:r>
              <a:rPr lang="en-US" b="1" i="1" dirty="0"/>
              <a:t>Compilers: Principles, Techniques and Tools</a:t>
            </a:r>
            <a:r>
              <a:rPr lang="en-US" i="1" dirty="0"/>
              <a:t>(</a:t>
            </a:r>
            <a:r>
              <a:rPr lang="en-US" dirty="0"/>
              <a:t>The Dragon Book</a:t>
            </a:r>
            <a:r>
              <a:rPr lang="en-US" i="1" dirty="0"/>
              <a:t>)</a:t>
            </a:r>
            <a:r>
              <a:rPr lang="en-US" dirty="0"/>
              <a:t>,   [ Second Edition]</a:t>
            </a:r>
            <a:endParaRPr lang="en-US" dirty="0"/>
          </a:p>
          <a:p>
            <a:pPr marL="342900" indent="-342900">
              <a:buFont typeface="+mj-lt"/>
              <a:buAutoNum type="arabicPeriod"/>
            </a:pPr>
            <a:endParaRPr lang="en-US" dirty="0"/>
          </a:p>
          <a:p>
            <a:pPr marL="342900" indent="-342900">
              <a:buFont typeface="+mj-lt"/>
              <a:buAutoNum type="arabicPeriod"/>
            </a:pPr>
            <a:r>
              <a:rPr lang="en-US" b="1" dirty="0"/>
              <a:t>Principles of Compiler Design </a:t>
            </a:r>
            <a:r>
              <a:rPr lang="en-US" dirty="0"/>
              <a:t>(2nd Revised Edition 2009) A. A. Puntambekar</a:t>
            </a:r>
            <a:endParaRPr lang="en-US" dirty="0"/>
          </a:p>
          <a:p>
            <a:pPr marL="342900" indent="-342900">
              <a:buFont typeface="+mj-lt"/>
              <a:buAutoNum type="arabicPeriod"/>
            </a:pPr>
            <a:endParaRPr lang="en-US" dirty="0"/>
          </a:p>
          <a:p>
            <a:pPr marL="342900" indent="-342900">
              <a:buFont typeface="+mj-lt"/>
              <a:buAutoNum type="arabicPeriod"/>
            </a:pPr>
            <a:r>
              <a:rPr lang="en-US" dirty="0">
                <a:solidFill>
                  <a:prstClr val="black"/>
                </a:solidFill>
              </a:rPr>
              <a:t>Basics of Compiler Design Torben </a:t>
            </a:r>
            <a:r>
              <a:rPr lang="en-US" dirty="0" err="1">
                <a:solidFill>
                  <a:prstClr val="black"/>
                </a:solidFill>
              </a:rPr>
              <a:t>Mogensen</a:t>
            </a:r>
            <a:endParaRPr lang="en-US" dirty="0">
              <a:solidFill>
                <a:prstClr val="black"/>
              </a:solidFill>
            </a:endParaRPr>
          </a:p>
          <a:p>
            <a:endParaRPr lang="en-US" dirty="0"/>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0</TotalTime>
  <Words>10898</Words>
  <Application>WPS Presentation</Application>
  <PresentationFormat>On-screen Show (4:3)</PresentationFormat>
  <Paragraphs>521</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Wingdings</vt:lpstr>
      <vt:lpstr>Courier New</vt:lpstr>
      <vt:lpstr>Times New Roman</vt:lpstr>
      <vt:lpstr>Corbel</vt:lpstr>
      <vt:lpstr>Calibri</vt:lpstr>
      <vt:lpstr>Microsoft YaHei</vt:lpstr>
      <vt:lpstr>Arial Unicode MS</vt:lpstr>
      <vt:lpstr>Spectrum</vt:lpstr>
      <vt:lpstr>Introduction To Compiler</vt:lpstr>
      <vt:lpstr>Lecture Outline</vt:lpstr>
      <vt:lpstr>Objectives and Outcomes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Teacher</cp:lastModifiedBy>
  <cp:revision>68</cp:revision>
  <dcterms:created xsi:type="dcterms:W3CDTF">2018-12-10T17:20:00Z</dcterms:created>
  <dcterms:modified xsi:type="dcterms:W3CDTF">2025-07-16T07:36:06Z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42AD41269E5046E695C71460C9995556_13</vt:lpwstr>
  </property>
  <property fmtid="{D5CDD505-2E9C-101B-9397-08002B2CF9AE}" pid="3" name="KSOProductBuildVer">
    <vt:lpwstr>2057-12.2.0.21936</vt:lpwstr>
  </property>
</Properties>
</file>