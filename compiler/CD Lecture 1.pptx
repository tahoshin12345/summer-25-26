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3"/>
    <p:sldId id="286" r:id="rId4"/>
    <p:sldId id="277" r:id="rId5"/>
    <p:sldId id="278" r:id="rId6"/>
    <p:sldId id="279" r:id="rId7"/>
    <p:sldId id="280" r:id="rId8"/>
    <p:sldId id="281" r:id="rId9"/>
    <p:sldId id="282" r:id="rId10"/>
    <p:sldId id="283" r:id="rId11"/>
    <p:sldId id="285" r:id="rId12"/>
    <p:sldId id="267" r:id="rId13"/>
    <p:sldId id="268" r:id="rId14"/>
    <p:sldId id="269" r:id="rId15"/>
    <p:sldId id="270" r:id="rId16"/>
    <p:sldId id="258" r:id="rId17"/>
    <p:sldId id="271" r:id="rId18"/>
    <p:sldId id="273" r:id="rId19"/>
    <p:sldId id="275" r:id="rId20"/>
    <p:sldId id="287" r:id="rId21"/>
    <p:sldId id="288" r:id="rId22"/>
    <p:sldId id="274" r:id="rId23"/>
    <p:sldId id="276" r:id="rId24"/>
    <p:sldId id="264" r:id="rId25"/>
    <p:sldId id="265"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2148" autoAdjust="0"/>
  </p:normalViewPr>
  <p:slideViewPr>
    <p:cSldViewPr snapToGrid="0" snapToObjects="1" showGuides="1">
      <p:cViewPr varScale="1">
        <p:scale>
          <a:sx n="61" d="100"/>
          <a:sy n="61" d="100"/>
        </p:scale>
        <p:origin x="780"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notesMaster" Target="notesMasters/notesMaster1.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3BF448-7BA4-480B-B564-ADB798C85B6D}"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168669-65FF-463C-98E1-9914589FD11D}"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lang="fi-FI"/>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pic>
        <p:nvPicPr>
          <p:cNvPr id="1026" name="Picture 2" descr="Image result for AIUB logo"/>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Content Placeholder 2"/>
          <p:cNvSpPr>
            <a:spLocks noGrp="1"/>
          </p:cNvSpPr>
          <p:nvPr>
            <p:ph idx="1"/>
          </p:nvPr>
        </p:nvSpPr>
        <p:spPr/>
        <p:txBody>
          <a:bodyPr/>
          <a:lstStyle>
            <a:lvl5pPr>
              <a:defRPr/>
            </a:lvl5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
        <p:nvSpPr>
          <p:cNvPr id="8" name="Picture Placeholder 7"/>
          <p:cNvSpPr>
            <a:spLocks noGrp="1"/>
          </p:cNvSpPr>
          <p:nvPr>
            <p:ph type="pic" sz="quarter" idx="13" hasCustomPrompt="1"/>
          </p:nvPr>
        </p:nvSpPr>
        <p:spPr>
          <a:xfrm>
            <a:off x="284162" y="2017058"/>
            <a:ext cx="8574087" cy="4377391"/>
          </a:xfrm>
        </p:spPr>
        <p:txBody>
          <a:bodyPr/>
          <a:lstStyle>
            <a:lvl1pPr>
              <a:buNone/>
              <a:defRPr/>
            </a:lvl1pPr>
          </a:lstStyle>
          <a:p>
            <a:r>
              <a:rPr lang="fi-FI"/>
              <a:t>Drag picture to placeholder or click icon to add</a:t>
            </a:r>
            <a:endParaRPr lang="fi-FI"/>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lang="fi-FI"/>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lang="fi-FI"/>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anose="05000000000000000000" pitchFamily="2" charset="2"/>
              <a:buNone/>
            </a:pPr>
            <a:r>
              <a:rPr lang="fi-FI"/>
              <a:t>Click to edit Master text styles</a:t>
            </a:r>
            <a:endParaRPr lang="fi-FI"/>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hasCustomPrompt="1"/>
          </p:nvPr>
        </p:nvSpPr>
        <p:spPr>
          <a:xfrm>
            <a:off x="284162" y="443754"/>
            <a:ext cx="8574087" cy="4370293"/>
          </a:xfrm>
        </p:spPr>
        <p:txBody>
          <a:bodyPr/>
          <a:lstStyle>
            <a:lvl1pPr>
              <a:buNone/>
              <a:defRPr/>
            </a:lvl1pPr>
          </a:lstStyle>
          <a:p>
            <a:r>
              <a:rPr lang="fi-FI"/>
              <a:t>Drag picture to placeholder or click icon to add</a:t>
            </a:r>
            <a:endParaRPr lang="fi-FI"/>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lang="fi-FI"/>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endParaRPr lang="fi-FI"/>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lvl1pPr>
              <a:defRPr/>
            </a:lvl1pPr>
          </a:lstStyle>
          <a:p>
            <a:r>
              <a:rPr lang="fi-FI"/>
              <a:t>Click to edit Master title style</a:t>
            </a:r>
            <a:endParaRPr lang="fi-FI"/>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endParaRPr lang="fi-FI"/>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endParaRPr lang="fi-FI"/>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Date Placeholder 2"/>
          <p:cNvSpPr>
            <a:spLocks noGrp="1"/>
          </p:cNvSpPr>
          <p:nvPr>
            <p:ph type="dt" sz="half" idx="10"/>
          </p:nvPr>
        </p:nvSpPr>
        <p:spPr/>
        <p:txBody>
          <a:bodyPr/>
          <a:lstStyle/>
          <a:p>
            <a:fld id="{4251665B-C24A-4702-B522-6A4334602E03}"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pic>
        <p:nvPicPr>
          <p:cNvPr id="2050" name="Picture 2" descr="Image result for AIUB logo"/>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lang="fi-FI"/>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lang="fi-FI"/>
          </a:p>
        </p:txBody>
      </p:sp>
      <p:sp>
        <p:nvSpPr>
          <p:cNvPr id="3" name="Picture Placeholder 2"/>
          <p:cNvSpPr>
            <a:spLocks noGrp="1"/>
          </p:cNvSpPr>
          <p:nvPr>
            <p:ph type="pic" idx="1" hasCustomPrompt="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lang="fi-FI"/>
          </a:p>
        </p:txBody>
      </p:sp>
      <p:sp>
        <p:nvSpPr>
          <p:cNvPr id="3" name="Picture Placeholder 2"/>
          <p:cNvSpPr>
            <a:spLocks noGrp="1"/>
          </p:cNvSpPr>
          <p:nvPr>
            <p:ph type="pic" idx="1" hasCustomPrompt="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lang="fi-FI"/>
          </a:p>
        </p:txBody>
      </p:sp>
      <p:sp>
        <p:nvSpPr>
          <p:cNvPr id="14" name="Picture Placeholder 13"/>
          <p:cNvSpPr>
            <a:spLocks noGrp="1"/>
          </p:cNvSpPr>
          <p:nvPr>
            <p:ph type="pic" sz="quarter" idx="13" hasCustomPrompt="1"/>
          </p:nvPr>
        </p:nvSpPr>
        <p:spPr>
          <a:xfrm>
            <a:off x="284164" y="594360"/>
            <a:ext cx="2743200" cy="3675888"/>
          </a:xfrm>
        </p:spPr>
        <p:txBody>
          <a:bodyPr/>
          <a:lstStyle>
            <a:lvl1pPr>
              <a:buNone/>
              <a:defRPr/>
            </a:lvl1pPr>
          </a:lstStyle>
          <a:p>
            <a:r>
              <a:rPr lang="fi-FI"/>
              <a:t>Drag picture to placeholder or click icon to add</a:t>
            </a:r>
            <a:endParaRPr lang="fi-FI"/>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lang="fi-FI"/>
          </a:p>
        </p:txBody>
      </p:sp>
      <p:sp>
        <p:nvSpPr>
          <p:cNvPr id="3" name="Picture Placeholder 2"/>
          <p:cNvSpPr>
            <a:spLocks noGrp="1"/>
          </p:cNvSpPr>
          <p:nvPr>
            <p:ph type="pic" idx="1" hasCustomPrompt="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
        <p:nvSpPr>
          <p:cNvPr id="13" name="Picture Placeholder 2"/>
          <p:cNvSpPr>
            <a:spLocks noGrp="1"/>
          </p:cNvSpPr>
          <p:nvPr>
            <p:ph type="pic" idx="13" hasCustomPrompt="1"/>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14" name="Picture Placeholder 2"/>
          <p:cNvSpPr>
            <a:spLocks noGrp="1"/>
          </p:cNvSpPr>
          <p:nvPr>
            <p:ph type="pic" idx="14" hasCustomPrompt="1"/>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lang="fi-FI"/>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lang="fi-FI"/>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6.png"/><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7.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8.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9.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Compiler</a:t>
            </a:r>
            <a:endParaRPr lang="en-US" dirty="0"/>
          </a:p>
        </p:txBody>
      </p:sp>
      <p:sp>
        <p:nvSpPr>
          <p:cNvPr id="3" name="Subtitle 2"/>
          <p:cNvSpPr>
            <a:spLocks noGrp="1"/>
          </p:cNvSpPr>
          <p:nvPr>
            <p:ph type="subTitle" idx="1"/>
          </p:nvPr>
        </p:nvSpPr>
        <p:spPr>
          <a:xfrm>
            <a:off x="476205" y="1532427"/>
            <a:ext cx="2789509" cy="484632"/>
          </a:xfrm>
        </p:spPr>
        <p:txBody>
          <a:bodyPr/>
          <a:lstStyle/>
          <a:p>
            <a:r>
              <a:rPr lang="en-US" dirty="0"/>
              <a:t>Course Code: CSC 3220</a:t>
            </a:r>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endParaRPr lang="en-US" sz="2000" b="1" dirty="0">
              <a:solidFill>
                <a:srgbClr val="0070C0"/>
              </a:solidFill>
              <a:latin typeface="Arial" panose="020B0604020202020204" pitchFamily="34" charset="0"/>
              <a:cs typeface="Arial" panose="020B0604020202020204" pitchFamily="34" charset="0"/>
            </a:endParaRP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p:cNvGraphicFramePr>
            <a:graphicFrameLocks noGrp="1"/>
          </p:cNvGraphicFramePr>
          <p:nvPr/>
        </p:nvGraphicFramePr>
        <p:xfrm>
          <a:off x="476205" y="5186042"/>
          <a:ext cx="8335798" cy="1018816"/>
        </p:xfrm>
        <a:graphic>
          <a:graphicData uri="http://schemas.openxmlformats.org/drawingml/2006/table">
            <a:tbl>
              <a:tblPr firstRow="1" bandRow="1">
                <a:tableStyleId>{D7AC3CCA-C797-4891-BE02-D94E43425B78}</a:tableStyleId>
              </a:tblPr>
              <a:tblGrid>
                <a:gridCol w="1483224"/>
                <a:gridCol w="1397725"/>
                <a:gridCol w="1227909"/>
                <a:gridCol w="1541417"/>
                <a:gridCol w="1240971"/>
                <a:gridCol w="1444552"/>
              </a:tblGrid>
              <a:tr h="378736">
                <a:tc>
                  <a:txBody>
                    <a:bodyPr/>
                    <a:lstStyle/>
                    <a:p>
                      <a:r>
                        <a:rPr lang="en-US" dirty="0"/>
                        <a:t>Lecture No:</a:t>
                      </a:r>
                      <a:endParaRPr lang="en-US" dirty="0"/>
                    </a:p>
                  </a:txBody>
                  <a:tcPr/>
                </a:tc>
                <a:tc>
                  <a:txBody>
                    <a:bodyPr/>
                    <a:lstStyle/>
                    <a:p>
                      <a:r>
                        <a:rPr lang="en-US" dirty="0"/>
                        <a:t>1</a:t>
                      </a:r>
                      <a:endParaRPr lang="en-US" dirty="0"/>
                    </a:p>
                  </a:txBody>
                  <a:tcPr/>
                </a:tc>
                <a:tc>
                  <a:txBody>
                    <a:bodyPr/>
                    <a:lstStyle/>
                    <a:p>
                      <a:r>
                        <a:rPr lang="en-US" dirty="0"/>
                        <a:t>Week No:</a:t>
                      </a:r>
                      <a:endParaRPr lang="en-US" dirty="0"/>
                    </a:p>
                  </a:txBody>
                  <a:tcPr/>
                </a:tc>
                <a:tc>
                  <a:txBody>
                    <a:bodyPr/>
                    <a:lstStyle/>
                    <a:p>
                      <a:r>
                        <a:rPr lang="en-US" dirty="0"/>
                        <a:t>1</a:t>
                      </a:r>
                      <a:endParaRPr lang="en-US" dirty="0"/>
                    </a:p>
                  </a:txBody>
                  <a:tcPr/>
                </a:tc>
                <a:tc>
                  <a:txBody>
                    <a:bodyPr/>
                    <a:lstStyle/>
                    <a:p>
                      <a:r>
                        <a:rPr lang="en-US" dirty="0"/>
                        <a:t>Semester:</a:t>
                      </a:r>
                      <a:endParaRPr lang="en-US" dirty="0"/>
                    </a:p>
                  </a:txBody>
                  <a:tcPr/>
                </a:tc>
                <a:tc>
                  <a:txBody>
                    <a:bodyPr/>
                    <a:lstStyle/>
                    <a:p>
                      <a:r>
                        <a:rPr lang="en-US" dirty="0"/>
                        <a:t>Summer</a:t>
                      </a:r>
                      <a:endParaRPr lang="en-US" dirty="0"/>
                    </a:p>
                  </a:txBody>
                  <a:tcPr/>
                </a:tc>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endParaRPr kumimoji="0" lang="en-US" sz="1800" b="1" i="0" u="none" strike="noStrike" kern="1200" cap="none" spc="0" normalizeH="0" baseline="0" noProof="0" dirty="0">
                        <a:ln>
                          <a:noFill/>
                        </a:ln>
                        <a:solidFill>
                          <a:prstClr val="black"/>
                        </a:solidFill>
                        <a:effectLst/>
                        <a:uLnTx/>
                        <a:uFillTx/>
                        <a:latin typeface="+mn-lt"/>
                        <a:ea typeface="+mn-ea"/>
                        <a:cs typeface="+mn-cs"/>
                      </a:endParaRPr>
                    </a:p>
                  </a:txBody>
                  <a:tcPr/>
                </a:tc>
                <a:tc gridSpan="5">
                  <a:txBody>
                    <a:bodyPr/>
                    <a:lstStyle/>
                    <a:p>
                      <a:r>
                        <a:rPr lang="en-US" i="1"/>
                        <a:t>Atkia Akila Karim</a:t>
                      </a:r>
                      <a:endParaRPr lang="en-US" i="1"/>
                    </a:p>
                  </a:txBody>
                  <a:tcPr/>
                </a:tc>
                <a:tc hMerge="1">
                  <a:tcPr/>
                </a:tc>
                <a:tc hMerge="1">
                  <a:tcPr/>
                </a:tc>
                <a:tc hMerge="1">
                  <a:tcPr/>
                </a:tc>
                <a:tc hMerge="1">
                  <a:tcPr/>
                </a:tc>
              </a:tr>
            </a:tbl>
          </a:graphicData>
        </a:graphic>
      </p:graphicFrame>
      <p:sp>
        <p:nvSpPr>
          <p:cNvPr id="8" name="Subtitle 2"/>
          <p:cNvSpPr txBox="1"/>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anose="05000000000000000000"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9pPr>
          </a:lstStyle>
          <a:p>
            <a:r>
              <a:rPr lang="en-US" dirty="0"/>
              <a:t>Course Title: Compiler Design</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endParaRPr lang="en-US" dirty="0"/>
          </a:p>
        </p:txBody>
      </p:sp>
      <p:sp>
        <p:nvSpPr>
          <p:cNvPr id="3" name="Subtitle 2"/>
          <p:cNvSpPr>
            <a:spLocks noGrp="1"/>
          </p:cNvSpPr>
          <p:nvPr>
            <p:ph type="subTitle" idx="1"/>
          </p:nvPr>
        </p:nvSpPr>
        <p:spPr>
          <a:xfrm>
            <a:off x="486697" y="2363927"/>
            <a:ext cx="7754112" cy="3722079"/>
          </a:xfrm>
        </p:spPr>
        <p:txBody>
          <a:bodyPr>
            <a:normAutofit/>
          </a:bodyPr>
          <a:lstStyle/>
          <a:p>
            <a:pPr marL="342900" indent="-342900">
              <a:buAutoNum type="arabicPeriod"/>
            </a:pPr>
            <a:r>
              <a:rPr lang="en-US" sz="2400" dirty="0">
                <a:solidFill>
                  <a:schemeClr val="tx1"/>
                </a:solidFill>
              </a:rPr>
              <a:t>Vision, Mission, Quality Policy, and Goals of AIUB</a:t>
            </a:r>
            <a:endParaRPr lang="en-US" sz="2400" dirty="0">
              <a:solidFill>
                <a:schemeClr val="tx1"/>
              </a:solidFill>
            </a:endParaRPr>
          </a:p>
          <a:p>
            <a:pPr marL="342900" indent="-342900">
              <a:buAutoNum type="arabicPeriod"/>
            </a:pPr>
            <a:r>
              <a:rPr lang="en-US" sz="2400" dirty="0">
                <a:solidFill>
                  <a:schemeClr val="tx1"/>
                </a:solidFill>
              </a:rPr>
              <a:t>Vision and Mission of Computer Science Department</a:t>
            </a:r>
            <a:endParaRPr lang="en-US" sz="2400" dirty="0">
              <a:solidFill>
                <a:schemeClr val="tx1"/>
              </a:solidFill>
            </a:endParaRPr>
          </a:p>
          <a:p>
            <a:pPr marL="342900" indent="-342900">
              <a:buAutoNum type="arabicPeriod"/>
            </a:pPr>
            <a:r>
              <a:rPr lang="en-US" sz="2400" dirty="0">
                <a:solidFill>
                  <a:schemeClr val="tx1"/>
                </a:solidFill>
              </a:rPr>
              <a:t>Course Evaluation</a:t>
            </a:r>
            <a:endParaRPr lang="en-US" sz="2400" dirty="0">
              <a:solidFill>
                <a:schemeClr val="tx1"/>
              </a:solidFill>
            </a:endParaRPr>
          </a:p>
          <a:p>
            <a:pPr marL="342900" indent="-342900">
              <a:buAutoNum type="arabicPeriod"/>
            </a:pPr>
            <a:r>
              <a:rPr lang="en-US" sz="2400" dirty="0">
                <a:solidFill>
                  <a:schemeClr val="tx1"/>
                </a:solidFill>
              </a:rPr>
              <a:t>Objective of this Course</a:t>
            </a:r>
            <a:endParaRPr lang="en-US" sz="2400" dirty="0">
              <a:solidFill>
                <a:schemeClr val="tx1"/>
              </a:solidFill>
            </a:endParaRPr>
          </a:p>
          <a:p>
            <a:pPr marL="342900" indent="-342900">
              <a:buAutoNum type="arabicPeriod"/>
            </a:pPr>
            <a:r>
              <a:rPr lang="en-US" sz="2400" dirty="0">
                <a:solidFill>
                  <a:schemeClr val="tx1"/>
                </a:solidFill>
              </a:rPr>
              <a:t>Basic things of a Compiler</a:t>
            </a:r>
            <a:endParaRPr lang="en-US" sz="2400" dirty="0">
              <a:solidFill>
                <a:schemeClr val="tx1"/>
              </a:solidFill>
            </a:endParaRPr>
          </a:p>
          <a:p>
            <a:pPr marL="342900" indent="-342900">
              <a:buAutoNum type="arabicPeriod"/>
            </a:pPr>
            <a:r>
              <a:rPr lang="en-US" sz="2400" dirty="0">
                <a:solidFill>
                  <a:schemeClr val="tx1"/>
                </a:solidFill>
              </a:rPr>
              <a:t>Language Processors</a:t>
            </a:r>
            <a:endParaRPr lang="en-US" sz="2400" dirty="0">
              <a:solidFill>
                <a:schemeClr val="tx1"/>
              </a:solidFill>
            </a:endParaRPr>
          </a:p>
          <a:p>
            <a:pPr marL="342900" indent="-342900">
              <a:buAutoNum type="arabicPeriod"/>
            </a:pPr>
            <a:endParaRPr lang="en-US" sz="2400" dirty="0">
              <a:solidFill>
                <a:schemeClr val="tx1"/>
              </a:solidFill>
            </a:endParaRPr>
          </a:p>
          <a:p>
            <a:pPr marL="342900" indent="-342900">
              <a:buAutoNum type="arabicPeriod"/>
            </a:pPr>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Vision</a:t>
            </a:r>
            <a:endParaRPr lang="en-US" dirty="0"/>
          </a:p>
        </p:txBody>
      </p:sp>
      <p:sp>
        <p:nvSpPr>
          <p:cNvPr id="6" name="TextBox 5"/>
          <p:cNvSpPr txBox="1"/>
          <p:nvPr/>
        </p:nvSpPr>
        <p:spPr>
          <a:xfrm>
            <a:off x="421341" y="2435896"/>
            <a:ext cx="8469441" cy="1569660"/>
          </a:xfrm>
          <a:prstGeom prst="rect">
            <a:avLst/>
          </a:prstGeom>
          <a:noFill/>
        </p:spPr>
        <p:txBody>
          <a:bodyPr wrap="square" rtlCol="0">
            <a:spAutoFit/>
          </a:bodyPr>
          <a:lstStyle/>
          <a:p>
            <a:pPr algn="just"/>
            <a:r>
              <a:rPr lang="en-US" sz="2400" dirty="0"/>
              <a:t>AMERICAN INTERNATIONAL UNIVERSITY-BANGLADESH (AIUB) envisions promoting professionals and excellent leadership catering to the technological progress and development needs of the country.</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Mission</a:t>
            </a:r>
            <a:endParaRPr lang="en-US" dirty="0"/>
          </a:p>
        </p:txBody>
      </p:sp>
      <p:sp>
        <p:nvSpPr>
          <p:cNvPr id="6" name="TextBox 5"/>
          <p:cNvSpPr txBox="1"/>
          <p:nvPr/>
        </p:nvSpPr>
        <p:spPr>
          <a:xfrm>
            <a:off x="421341" y="2435896"/>
            <a:ext cx="8469441" cy="2677656"/>
          </a:xfrm>
          <a:prstGeom prst="rect">
            <a:avLst/>
          </a:prstGeom>
          <a:noFill/>
        </p:spPr>
        <p:txBody>
          <a:bodyPr wrap="square" rtlCol="0">
            <a:spAutoFit/>
          </a:bodyPr>
          <a:lstStyle/>
          <a:p>
            <a:pPr algn="just"/>
            <a:r>
              <a:rPr lang="en-US" sz="2400" dirty="0"/>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Quality Policy</a:t>
            </a:r>
            <a:endParaRPr lang="en-US" dirty="0"/>
          </a:p>
        </p:txBody>
      </p:sp>
      <p:sp>
        <p:nvSpPr>
          <p:cNvPr id="6" name="TextBox 5"/>
          <p:cNvSpPr txBox="1"/>
          <p:nvPr/>
        </p:nvSpPr>
        <p:spPr>
          <a:xfrm>
            <a:off x="421341" y="2435896"/>
            <a:ext cx="8469441" cy="3477875"/>
          </a:xfrm>
          <a:prstGeom prst="rect">
            <a:avLst/>
          </a:prstGeom>
          <a:noFill/>
        </p:spPr>
        <p:txBody>
          <a:bodyPr wrap="square" rtlCol="0">
            <a:spAutoFit/>
          </a:bodyPr>
          <a:lstStyle/>
          <a:p>
            <a:pPr algn="just"/>
            <a:r>
              <a:rPr lang="en-US" sz="2000" dirty="0"/>
              <a:t>“Quality shall be adhered to in conformity with the prescribed national and international standards of quality and excellence including those provided by the professional bodies and organizations. The American International University- Bangladesh is committed to translate into actions the programs, projects and activities related to the sustainable delivery of quality management operation system. The students being the valued customers are the central focus of the university shall be provided with utmost care and attention to meet their primordial needs and future career success. In view of this commitment, the university shall exert best efforts to harmonize its action through collaboration, cooperation and consultation with every unit and components of the university.”</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Goals</a:t>
            </a:r>
            <a:endParaRPr lang="en-US" dirty="0"/>
          </a:p>
        </p:txBody>
      </p:sp>
      <p:sp>
        <p:nvSpPr>
          <p:cNvPr id="6" name="TextBox 5"/>
          <p:cNvSpPr txBox="1"/>
          <p:nvPr/>
        </p:nvSpPr>
        <p:spPr>
          <a:xfrm>
            <a:off x="421341" y="1927900"/>
            <a:ext cx="8469441" cy="4401205"/>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t>Sustain development and progress of the university</a:t>
            </a:r>
            <a:endParaRPr lang="en-US" sz="2000" dirty="0"/>
          </a:p>
          <a:p>
            <a:pPr marL="342900" indent="-342900" algn="just">
              <a:buFont typeface="Wingdings" panose="05000000000000000000" pitchFamily="2" charset="2"/>
              <a:buChar char="Ø"/>
            </a:pPr>
            <a:r>
              <a:rPr lang="en-US" sz="2000" dirty="0"/>
              <a:t>Continue to upgrade educational services and facilities responsive</a:t>
            </a:r>
            <a:endParaRPr lang="en-US" sz="2000" dirty="0"/>
          </a:p>
          <a:p>
            <a:pPr algn="just"/>
            <a:r>
              <a:rPr lang="en-US" sz="2000" dirty="0"/>
              <a:t>      of the demands for change and needs of the society</a:t>
            </a:r>
            <a:endParaRPr lang="en-US" sz="2000" dirty="0"/>
          </a:p>
          <a:p>
            <a:pPr marL="342900" indent="-342900" algn="just">
              <a:buFont typeface="Wingdings" panose="05000000000000000000" pitchFamily="2" charset="2"/>
              <a:buChar char="Ø"/>
            </a:pPr>
            <a:r>
              <a:rPr lang="en-US" sz="2000" dirty="0"/>
              <a:t>Inculcate professional culture among management, faculty and </a:t>
            </a:r>
            <a:endParaRPr lang="en-US" sz="2000" dirty="0"/>
          </a:p>
          <a:p>
            <a:pPr algn="just"/>
            <a:r>
              <a:rPr lang="en-US" sz="2000" dirty="0"/>
              <a:t>      personnel in the attainment of the institution's vision, mission and goals</a:t>
            </a:r>
            <a:endParaRPr lang="en-US" sz="2000" dirty="0"/>
          </a:p>
          <a:p>
            <a:pPr marL="342900" indent="-342900" algn="just">
              <a:buFont typeface="Wingdings" panose="05000000000000000000" pitchFamily="2" charset="2"/>
              <a:buChar char="Ø"/>
            </a:pPr>
            <a:r>
              <a:rPr lang="en-US" sz="2000" dirty="0"/>
              <a:t>Enhance research consciousness in discovering new dimensions for curriculum development and enrichment</a:t>
            </a:r>
            <a:endParaRPr lang="en-US" sz="2000" dirty="0"/>
          </a:p>
          <a:p>
            <a:pPr marL="342900" indent="-342900" algn="just">
              <a:buFont typeface="Wingdings" panose="05000000000000000000" pitchFamily="2" charset="2"/>
              <a:buChar char="Ø"/>
            </a:pPr>
            <a:r>
              <a:rPr lang="en-US" sz="2000" dirty="0"/>
              <a:t>Implement meaningful and relevant community outreach programs reflective  of the available resources and expertise of the university</a:t>
            </a:r>
            <a:endParaRPr lang="en-US" sz="2000" dirty="0"/>
          </a:p>
          <a:p>
            <a:pPr marL="342900" indent="-342900" algn="just">
              <a:buFont typeface="Wingdings" panose="05000000000000000000" pitchFamily="2" charset="2"/>
              <a:buChar char="Ø"/>
            </a:pPr>
            <a:r>
              <a:rPr lang="en-US" sz="2000" dirty="0"/>
              <a:t>Establish strong networking of programs, sharing of resources and expertise </a:t>
            </a:r>
            <a:endParaRPr lang="en-US" sz="2000" dirty="0"/>
          </a:p>
          <a:p>
            <a:pPr algn="just"/>
            <a:r>
              <a:rPr lang="en-US" sz="2000" dirty="0"/>
              <a:t>      with local and international educational institutions and organizations</a:t>
            </a:r>
            <a:endParaRPr lang="en-US" sz="2000" dirty="0"/>
          </a:p>
          <a:p>
            <a:pPr marL="342900" indent="-342900" algn="just">
              <a:buFont typeface="Wingdings" panose="05000000000000000000" pitchFamily="2" charset="2"/>
              <a:buChar char="Ø"/>
            </a:pPr>
            <a:r>
              <a:rPr lang="en-US" sz="2000" dirty="0"/>
              <a:t>Accelerate the participation of alumni, students and professionals in the implementation of educational programs and development of projects designed to expand and improve global academic standards</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08659"/>
            <a:ext cx="7808976" cy="1088136"/>
          </a:xfrm>
        </p:spPr>
        <p:txBody>
          <a:bodyPr>
            <a:normAutofit fontScale="90000"/>
          </a:bodyPr>
          <a:lstStyle/>
          <a:p>
            <a:r>
              <a:rPr lang="en-US" sz="4400" dirty="0"/>
              <a:t>Vision of Computer Science Department</a:t>
            </a:r>
            <a:endParaRPr lang="en-US" dirty="0"/>
          </a:p>
        </p:txBody>
      </p:sp>
      <p:sp>
        <p:nvSpPr>
          <p:cNvPr id="6" name="TextBox 5"/>
          <p:cNvSpPr txBox="1"/>
          <p:nvPr/>
        </p:nvSpPr>
        <p:spPr>
          <a:xfrm>
            <a:off x="421341" y="2319786"/>
            <a:ext cx="8469441" cy="1631216"/>
          </a:xfrm>
          <a:prstGeom prst="rect">
            <a:avLst/>
          </a:prstGeom>
          <a:noFill/>
        </p:spPr>
        <p:txBody>
          <a:bodyPr wrap="square" rtlCol="0">
            <a:spAutoFit/>
          </a:bodyPr>
          <a:lstStyle/>
          <a:p>
            <a:pPr algn="just"/>
            <a:r>
              <a:rPr lang="en-US" sz="2000" dirty="0"/>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endParaRPr lang="en-US" sz="2000" dirty="0"/>
          </a:p>
          <a:p>
            <a:pPr algn="just"/>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08659"/>
            <a:ext cx="7808976" cy="1088136"/>
          </a:xfrm>
        </p:spPr>
        <p:txBody>
          <a:bodyPr>
            <a:normAutofit fontScale="90000"/>
          </a:bodyPr>
          <a:lstStyle/>
          <a:p>
            <a:r>
              <a:rPr lang="en-US" sz="4400" dirty="0"/>
              <a:t>Mission of Computer Science Department</a:t>
            </a:r>
            <a:endParaRPr lang="en-US" dirty="0"/>
          </a:p>
        </p:txBody>
      </p:sp>
      <p:sp>
        <p:nvSpPr>
          <p:cNvPr id="6" name="TextBox 5"/>
          <p:cNvSpPr txBox="1"/>
          <p:nvPr/>
        </p:nvSpPr>
        <p:spPr>
          <a:xfrm>
            <a:off x="421341" y="2319786"/>
            <a:ext cx="8469441" cy="1938992"/>
          </a:xfrm>
          <a:prstGeom prst="rect">
            <a:avLst/>
          </a:prstGeom>
          <a:noFill/>
        </p:spPr>
        <p:txBody>
          <a:bodyPr wrap="square" rtlCol="0">
            <a:spAutoFit/>
          </a:bodyPr>
          <a:lstStyle/>
          <a:p>
            <a:pPr algn="just"/>
            <a:r>
              <a:rPr lang="en-US" sz="2000" dirty="0"/>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endParaRPr lang="en-US" sz="2000" dirty="0"/>
          </a:p>
          <a:p>
            <a:pPr algn="just"/>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Course Evaluation</a:t>
            </a:r>
            <a:endParaRPr lang="en-US" dirty="0"/>
          </a:p>
        </p:txBody>
      </p:sp>
      <p:sp>
        <p:nvSpPr>
          <p:cNvPr id="8" name="Content Placeholder 2"/>
          <p:cNvSpPr txBox="1"/>
          <p:nvPr/>
        </p:nvSpPr>
        <p:spPr bwMode="auto">
          <a:xfrm>
            <a:off x="267293" y="2317068"/>
            <a:ext cx="8609414" cy="3506958"/>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20000"/>
              </a:spcBef>
              <a:spcAft>
                <a:spcPct val="0"/>
              </a:spcAft>
              <a:buClrTx/>
              <a:buSzTx/>
              <a:buFont typeface="Arial" panose="020B0604020202020204" pitchFamily="34" charset="0"/>
              <a:buNone/>
              <a:defRPr/>
            </a:pPr>
            <a:r>
              <a:rPr kumimoji="0" lang="en-US" sz="2800" i="0" strike="noStrike" kern="1200" cap="none" spc="0" normalizeH="0" baseline="0" noProof="0" dirty="0">
                <a:ln>
                  <a:noFill/>
                </a:ln>
                <a:solidFill>
                  <a:sysClr val="windowText" lastClr="000000"/>
                </a:solidFill>
                <a:effectLst/>
                <a:uLnTx/>
                <a:uFillTx/>
                <a:latin typeface="Calibri" panose="020F0502020204030204"/>
                <a:ea typeface="+mn-ea"/>
                <a:cs typeface="+mn-cs"/>
              </a:rPr>
              <a:t>Mid-Term Evaluation</a:t>
            </a:r>
            <a:endParaRPr kumimoji="0" lang="en-US" sz="2800" i="0"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anose="05000000000000000000" pitchFamily="2" charset="2"/>
              <a:buChar char="§"/>
              <a:defRPr/>
            </a:pPr>
            <a:r>
              <a:rPr kumimoji="0" lang="en-US"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Attendance                                :	10%</a:t>
            </a:r>
            <a:endParaRPr kumimoji="0" lang="en-US"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anose="05000000000000000000" pitchFamily="2" charset="2"/>
              <a:buChar char="§"/>
              <a:defRPr/>
            </a:pPr>
            <a:endParaRPr kumimoji="0" lang="en-US"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anose="05000000000000000000" pitchFamily="2" charset="2"/>
              <a:buChar char="§"/>
              <a:defRPr/>
            </a:pPr>
            <a:r>
              <a:rPr kumimoji="0" lang="en-US"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Quizzes 				:	30%</a:t>
            </a:r>
            <a:endParaRPr kumimoji="0" lang="en-US"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anose="05000000000000000000" pitchFamily="2" charset="2"/>
              <a:buChar char="§"/>
              <a:defRPr/>
            </a:pPr>
            <a:endParaRPr lang="en-US" sz="2800" dirty="0">
              <a:solidFill>
                <a:sysClr val="windowText" lastClr="000000"/>
              </a:solidFill>
              <a:latin typeface="Calibri" panose="020F0502020204030204"/>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anose="05000000000000000000" pitchFamily="2" charset="2"/>
              <a:buChar char="§"/>
              <a:defRPr/>
            </a:pPr>
            <a:r>
              <a:rPr kumimoji="0" lang="en-US"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Lab Performance		:	10%</a:t>
            </a:r>
            <a:endParaRPr kumimoji="0" lang="en-US"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anose="05000000000000000000" pitchFamily="2" charset="2"/>
              <a:buChar char="§"/>
              <a:defRPr/>
            </a:pPr>
            <a:endParaRPr kumimoji="0" lang="en-US"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anose="05000000000000000000" pitchFamily="2" charset="2"/>
              <a:buChar char="§"/>
              <a:defRPr/>
            </a:pPr>
            <a:r>
              <a:rPr kumimoji="0" lang="en-US"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Term Exam			:	50%</a:t>
            </a:r>
            <a:endParaRPr kumimoji="0" lang="en-US"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anose="05000000000000000000" pitchFamily="2" charset="2"/>
              <a:buChar char="§"/>
              <a:defRPr/>
            </a:pPr>
            <a:endParaRPr kumimoji="0" lang="en-US"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Course Evaluation</a:t>
            </a:r>
            <a:endParaRPr lang="en-US" dirty="0"/>
          </a:p>
        </p:txBody>
      </p:sp>
      <p:sp>
        <p:nvSpPr>
          <p:cNvPr id="8" name="Content Placeholder 2"/>
          <p:cNvSpPr txBox="1"/>
          <p:nvPr/>
        </p:nvSpPr>
        <p:spPr bwMode="auto">
          <a:xfrm>
            <a:off x="267293" y="2060364"/>
            <a:ext cx="8609414" cy="4122722"/>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20000"/>
              </a:spcBef>
              <a:spcAft>
                <a:spcPct val="0"/>
              </a:spcAft>
              <a:buClrTx/>
              <a:buSzTx/>
              <a:buFont typeface="Arial" panose="020B0604020202020204" pitchFamily="34" charset="0"/>
              <a:buNone/>
              <a:defRPr/>
            </a:pPr>
            <a:r>
              <a:rPr kumimoji="0" lang="en-US" sz="2800" i="0" strike="noStrike" kern="1200" cap="none" spc="0" normalizeH="0" baseline="0" noProof="0" dirty="0">
                <a:ln>
                  <a:noFill/>
                </a:ln>
                <a:solidFill>
                  <a:sysClr val="windowText" lastClr="000000"/>
                </a:solidFill>
                <a:effectLst/>
                <a:uLnTx/>
                <a:uFillTx/>
                <a:latin typeface="Calibri" panose="020F0502020204030204"/>
                <a:ea typeface="+mn-ea"/>
                <a:cs typeface="+mn-cs"/>
              </a:rPr>
              <a:t>Final Term Evaluation</a:t>
            </a:r>
            <a:endParaRPr kumimoji="0" lang="en-US" sz="2800" i="0"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anose="05000000000000000000" pitchFamily="2" charset="2"/>
              <a:buChar char="§"/>
              <a:defRPr/>
            </a:pPr>
            <a:r>
              <a:rPr kumimoji="0" lang="en-US"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Attendance                                :	10%</a:t>
            </a:r>
            <a:endParaRPr kumimoji="0" lang="en-US"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anose="05000000000000000000" pitchFamily="2" charset="2"/>
              <a:buChar char="§"/>
              <a:defRPr/>
            </a:pPr>
            <a:endParaRPr kumimoji="0" lang="en-US"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anose="05000000000000000000" pitchFamily="2" charset="2"/>
              <a:buChar char="§"/>
              <a:defRPr/>
            </a:pPr>
            <a:r>
              <a:rPr kumimoji="0" lang="en-US"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Quizzes 				:	30%</a:t>
            </a:r>
            <a:endParaRPr kumimoji="0" lang="en-US"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anose="05000000000000000000" pitchFamily="2" charset="2"/>
              <a:buChar char="§"/>
              <a:defRPr/>
            </a:pPr>
            <a:endParaRPr lang="en-US" sz="2800" dirty="0">
              <a:solidFill>
                <a:sysClr val="windowText" lastClr="000000"/>
              </a:solidFill>
              <a:latin typeface="Calibri" panose="020F0502020204030204"/>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anose="05000000000000000000" pitchFamily="2" charset="2"/>
              <a:buChar char="§"/>
              <a:defRPr/>
            </a:pPr>
            <a:r>
              <a:rPr kumimoji="0" lang="en-US"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Lab performance		: 	10%</a:t>
            </a:r>
            <a:endParaRPr kumimoji="0" lang="en-US"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0" marR="0" lvl="0" indent="0" algn="l" defTabSz="914400" rtl="0" eaLnBrk="1" fontAlgn="base" latinLnBrk="0" hangingPunct="1">
              <a:lnSpc>
                <a:spcPct val="80000"/>
              </a:lnSpc>
              <a:spcBef>
                <a:spcPct val="20000"/>
              </a:spcBef>
              <a:spcAft>
                <a:spcPct val="0"/>
              </a:spcAft>
              <a:buClr>
                <a:srgbClr val="FF0000"/>
              </a:buClr>
              <a:buSzTx/>
              <a:buFont typeface="Wingdings" panose="05000000000000000000" pitchFamily="2" charset="2"/>
              <a:buNone/>
              <a:defRPr/>
            </a:pPr>
            <a:endParaRPr kumimoji="0" lang="en-US"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anose="05000000000000000000" pitchFamily="2" charset="2"/>
              <a:buChar char="§"/>
              <a:defRPr/>
            </a:pPr>
            <a:r>
              <a:rPr kumimoji="0" lang="en-US"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Final Term </a:t>
            </a:r>
            <a:r>
              <a:rPr lang="en-US" sz="2800" dirty="0">
                <a:solidFill>
                  <a:sysClr val="windowText" lastClr="000000"/>
                </a:solidFill>
                <a:latin typeface="Calibri" panose="020F0502020204030204"/>
              </a:rPr>
              <a:t>	</a:t>
            </a:r>
            <a:r>
              <a:rPr kumimoji="0" lang="en-US"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a:t>
            </a:r>
            <a:r>
              <a:rPr kumimoji="0" lang="en-US" sz="2800" b="0" i="0" u="none" strike="noStrike" kern="1200" cap="none" spc="0" normalizeH="0" baseline="0" noProof="0">
                <a:ln>
                  <a:noFill/>
                </a:ln>
                <a:solidFill>
                  <a:sysClr val="windowText" lastClr="000000"/>
                </a:solidFill>
                <a:effectLst/>
                <a:uLnTx/>
                <a:uFillTx/>
                <a:latin typeface="Calibri" panose="020F0502020204030204"/>
                <a:ea typeface="+mn-ea"/>
                <a:cs typeface="+mn-cs"/>
              </a:rPr>
              <a:t>	50</a:t>
            </a:r>
            <a:r>
              <a:rPr kumimoji="0" lang="en-US"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a:t>
            </a:r>
            <a:endParaRPr kumimoji="0" lang="en-US"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anose="05000000000000000000" pitchFamily="2" charset="2"/>
              <a:buChar char="§"/>
              <a:defRPr/>
            </a:pPr>
            <a:endParaRPr kumimoji="0" lang="en-US"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342900" marR="0" lvl="0" indent="-342900" algn="l" defTabSz="914400" rtl="0" eaLnBrk="0" fontAlgn="base" latinLnBrk="0" hangingPunct="0">
              <a:lnSpc>
                <a:spcPct val="80000"/>
              </a:lnSpc>
              <a:spcBef>
                <a:spcPct val="20000"/>
              </a:spcBef>
              <a:spcAft>
                <a:spcPct val="0"/>
              </a:spcAft>
              <a:buClr>
                <a:srgbClr val="FF0000"/>
              </a:buClr>
              <a:buSzTx/>
              <a:buFont typeface="Wingdings" panose="05000000000000000000" pitchFamily="2" charset="2"/>
              <a:buChar char="§"/>
              <a:defRPr/>
            </a:pPr>
            <a:r>
              <a:rPr kumimoji="0" lang="en-US" sz="2800" b="1" i="0" u="none" strike="noStrike" kern="1200" cap="none" spc="0" normalizeH="0" baseline="0" noProof="0" dirty="0">
                <a:ln>
                  <a:noFill/>
                </a:ln>
                <a:solidFill>
                  <a:srgbClr val="0000FF"/>
                </a:solidFill>
                <a:effectLst/>
                <a:uLnTx/>
                <a:uFillTx/>
                <a:latin typeface="Calibri" panose="020F0502020204030204"/>
                <a:ea typeface="+mn-ea"/>
                <a:cs typeface="+mn-cs"/>
              </a:rPr>
              <a:t>Grand Final = </a:t>
            </a:r>
            <a:r>
              <a:rPr kumimoji="0" lang="en-US" sz="2800" b="1" i="0" u="none" strike="noStrike" kern="1200" cap="none" spc="0" normalizeH="0" baseline="0" noProof="0" dirty="0">
                <a:ln>
                  <a:noFill/>
                </a:ln>
                <a:solidFill>
                  <a:srgbClr val="FF0000"/>
                </a:solidFill>
                <a:effectLst/>
                <a:uLnTx/>
                <a:uFillTx/>
                <a:latin typeface="Calibri" panose="020F0502020204030204"/>
                <a:ea typeface="+mn-ea"/>
                <a:cs typeface="+mn-cs"/>
              </a:rPr>
              <a:t>40%</a:t>
            </a:r>
            <a:r>
              <a:rPr kumimoji="0" lang="en-US" sz="2800" b="1" i="0" u="none" strike="noStrike" kern="1200" cap="none" spc="0" normalizeH="0" baseline="0" noProof="0" dirty="0">
                <a:ln>
                  <a:noFill/>
                </a:ln>
                <a:solidFill>
                  <a:srgbClr val="0000FF"/>
                </a:solidFill>
                <a:effectLst/>
                <a:uLnTx/>
                <a:uFillTx/>
                <a:latin typeface="Calibri" panose="020F0502020204030204"/>
                <a:ea typeface="+mn-ea"/>
                <a:cs typeface="+mn-cs"/>
              </a:rPr>
              <a:t> of Midterm + </a:t>
            </a:r>
            <a:r>
              <a:rPr kumimoji="0" lang="en-US" sz="2800" b="1" i="0" u="none" strike="noStrike" kern="1200" cap="none" spc="0" normalizeH="0" baseline="0" noProof="0" dirty="0">
                <a:ln>
                  <a:noFill/>
                </a:ln>
                <a:solidFill>
                  <a:srgbClr val="FF0000"/>
                </a:solidFill>
                <a:effectLst/>
                <a:uLnTx/>
                <a:uFillTx/>
                <a:latin typeface="Calibri" panose="020F0502020204030204"/>
                <a:ea typeface="+mn-ea"/>
                <a:cs typeface="+mn-cs"/>
              </a:rPr>
              <a:t>60%</a:t>
            </a:r>
            <a:r>
              <a:rPr kumimoji="0" lang="en-US" sz="2800" b="1" i="0" u="none" strike="noStrike" kern="1200" cap="none" spc="0" normalizeH="0" baseline="0" noProof="0" dirty="0">
                <a:ln>
                  <a:noFill/>
                </a:ln>
                <a:solidFill>
                  <a:srgbClr val="0000FF"/>
                </a:solidFill>
                <a:effectLst/>
                <a:uLnTx/>
                <a:uFillTx/>
                <a:latin typeface="Calibri" panose="020F0502020204030204"/>
                <a:ea typeface="+mn-ea"/>
                <a:cs typeface="+mn-cs"/>
              </a:rPr>
              <a:t> of Final Term</a:t>
            </a:r>
            <a:endParaRPr kumimoji="0" lang="en-US" sz="2800" b="1" i="0" u="none" strike="noStrike" kern="1200" cap="none" spc="0" normalizeH="0" baseline="0" noProof="0" dirty="0">
              <a:ln>
                <a:noFill/>
              </a:ln>
              <a:solidFill>
                <a:srgbClr val="0000FF"/>
              </a:solidFill>
              <a:effectLst/>
              <a:uLnTx/>
              <a:uFillTx/>
              <a:latin typeface="Calibri" panose="020F0502020204030204"/>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Objectives and Outcomes</a:t>
            </a:r>
            <a:endParaRPr lang="en-US" dirty="0"/>
          </a:p>
        </p:txBody>
      </p:sp>
      <p:sp>
        <p:nvSpPr>
          <p:cNvPr id="5" name="Subtitle 4"/>
          <p:cNvSpPr>
            <a:spLocks noGrp="1"/>
          </p:cNvSpPr>
          <p:nvPr>
            <p:ph type="subTitle" idx="1"/>
          </p:nvPr>
        </p:nvSpPr>
        <p:spPr/>
        <p:txBody>
          <a:bodyPr/>
          <a:lstStyle/>
          <a:p>
            <a:endParaRPr lang="en-US" dirty="0"/>
          </a:p>
        </p:txBody>
      </p:sp>
      <p:sp>
        <p:nvSpPr>
          <p:cNvPr id="4" name="TextBox 3"/>
          <p:cNvSpPr txBox="1"/>
          <p:nvPr/>
        </p:nvSpPr>
        <p:spPr>
          <a:xfrm>
            <a:off x="783772" y="2435897"/>
            <a:ext cx="7484741" cy="2954655"/>
          </a:xfrm>
          <a:prstGeom prst="rect">
            <a:avLst/>
          </a:prstGeom>
          <a:noFill/>
        </p:spPr>
        <p:txBody>
          <a:bodyPr wrap="none" rtlCol="0">
            <a:spAutoFit/>
          </a:bodyPr>
          <a:lstStyle/>
          <a:p>
            <a:r>
              <a:rPr lang="en-US" sz="2000" b="1" dirty="0"/>
              <a:t>Objectives:</a:t>
            </a:r>
            <a:endParaRPr lang="en-US" sz="2000" dirty="0"/>
          </a:p>
          <a:p>
            <a:pPr marL="800100" lvl="1" indent="-342900">
              <a:buFont typeface="Wingdings" panose="05000000000000000000" pitchFamily="2" charset="2"/>
              <a:buChar char="Ø"/>
            </a:pPr>
            <a:r>
              <a:rPr lang="en-US" dirty="0"/>
              <a:t>Understand the objective of this Course</a:t>
            </a:r>
            <a:endParaRPr lang="en-US" dirty="0"/>
          </a:p>
          <a:p>
            <a:pPr marL="800100" lvl="1" indent="-342900">
              <a:buFont typeface="Wingdings" panose="05000000000000000000" pitchFamily="2" charset="2"/>
              <a:buChar char="Ø"/>
            </a:pPr>
            <a:r>
              <a:rPr lang="en-US" dirty="0"/>
              <a:t>Understand the basic concept of a compiler</a:t>
            </a:r>
            <a:endParaRPr lang="en-US" dirty="0"/>
          </a:p>
          <a:p>
            <a:pPr lvl="1"/>
            <a:endParaRPr lang="en-US" dirty="0"/>
          </a:p>
          <a:p>
            <a:pPr marL="342900" indent="-342900">
              <a:buFont typeface="Wingdings" panose="05000000000000000000" pitchFamily="2" charset="2"/>
              <a:buChar char="Ø"/>
            </a:pPr>
            <a:endParaRPr lang="en-US" sz="2000" b="1" dirty="0"/>
          </a:p>
          <a:p>
            <a:r>
              <a:rPr lang="en-US" sz="2000" b="1" dirty="0"/>
              <a:t>Outcomes:</a:t>
            </a:r>
            <a:endParaRPr lang="en-US" sz="2000" b="1" dirty="0"/>
          </a:p>
          <a:p>
            <a:pPr marL="800100" lvl="1" indent="-342900">
              <a:buFont typeface="Wingdings" panose="05000000000000000000" pitchFamily="2" charset="2"/>
              <a:buChar char="Ø"/>
            </a:pPr>
            <a:r>
              <a:rPr lang="en-US" dirty="0"/>
              <a:t>Students should be able to understand the importance of a compiler</a:t>
            </a:r>
            <a:endParaRPr lang="en-US" dirty="0"/>
          </a:p>
          <a:p>
            <a:pPr marL="800100" lvl="1" indent="-342900">
              <a:buFont typeface="Wingdings" panose="05000000000000000000" pitchFamily="2" charset="2"/>
              <a:buChar char="Ø"/>
            </a:pPr>
            <a:r>
              <a:rPr lang="en-US" dirty="0"/>
              <a:t>Students will analyze  the language Processors.</a:t>
            </a:r>
            <a:endParaRPr lang="en-US" dirty="0"/>
          </a:p>
          <a:p>
            <a:pPr lvl="1"/>
            <a:endParaRPr lang="en-US" dirty="0"/>
          </a:p>
          <a:p>
            <a:r>
              <a:rPr lang="en-US" dirty="0"/>
              <a:t>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Basic things of a Compiler</a:t>
            </a:r>
            <a:endParaRPr lang="en-US" dirty="0"/>
          </a:p>
        </p:txBody>
      </p:sp>
      <p:sp>
        <p:nvSpPr>
          <p:cNvPr id="5" name="Subtitle 4"/>
          <p:cNvSpPr>
            <a:spLocks noGrp="1"/>
          </p:cNvSpPr>
          <p:nvPr>
            <p:ph type="subTitle" idx="1"/>
          </p:nvPr>
        </p:nvSpPr>
        <p:spPr/>
        <p:txBody>
          <a:bodyPr/>
          <a:lstStyle/>
          <a:p>
            <a:endParaRPr lang="en-US" dirty="0"/>
          </a:p>
        </p:txBody>
      </p:sp>
      <p:sp>
        <p:nvSpPr>
          <p:cNvPr id="4" name="TextBox 3"/>
          <p:cNvSpPr txBox="1"/>
          <p:nvPr/>
        </p:nvSpPr>
        <p:spPr>
          <a:xfrm>
            <a:off x="783772" y="2435897"/>
            <a:ext cx="7484741" cy="1754326"/>
          </a:xfrm>
          <a:prstGeom prst="rect">
            <a:avLst/>
          </a:prstGeom>
          <a:noFill/>
        </p:spPr>
        <p:txBody>
          <a:bodyPr wrap="none" rtlCol="0">
            <a:spAutoFit/>
          </a:bodyPr>
          <a:lstStyle/>
          <a:p>
            <a:pPr marL="342900" indent="-342900">
              <a:buAutoNum type="arabicPeriod"/>
            </a:pPr>
            <a:r>
              <a:rPr lang="en-US" dirty="0"/>
              <a:t>What is a Compiler?</a:t>
            </a:r>
            <a:endParaRPr lang="en-US" dirty="0"/>
          </a:p>
          <a:p>
            <a:pPr marL="342900" indent="-342900">
              <a:buAutoNum type="arabicPeriod"/>
            </a:pPr>
            <a:r>
              <a:rPr lang="en-US" dirty="0"/>
              <a:t>Why do we need a compiler?</a:t>
            </a:r>
            <a:endParaRPr lang="en-US" dirty="0"/>
          </a:p>
          <a:p>
            <a:pPr marL="342900" indent="-342900">
              <a:buAutoNum type="arabicPeriod"/>
            </a:pPr>
            <a:r>
              <a:rPr lang="en-US" dirty="0"/>
              <a:t>Why study compilers?</a:t>
            </a:r>
            <a:endParaRPr lang="en-US" dirty="0"/>
          </a:p>
          <a:p>
            <a:pPr marL="342900" indent="-342900">
              <a:buAutoNum type="arabicPeriod"/>
            </a:pPr>
            <a:endParaRPr lang="en-US" dirty="0"/>
          </a:p>
          <a:p>
            <a:pPr lvl="1"/>
            <a:endParaRPr lang="en-US" dirty="0"/>
          </a:p>
          <a:p>
            <a:r>
              <a:rPr lang="en-US" dirty="0"/>
              <a:t>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Basic things of a Compiler</a:t>
            </a:r>
            <a:endParaRPr lang="en-US" dirty="0"/>
          </a:p>
        </p:txBody>
      </p:sp>
      <p:sp>
        <p:nvSpPr>
          <p:cNvPr id="5" name="Subtitle 4"/>
          <p:cNvSpPr>
            <a:spLocks noGrp="1"/>
          </p:cNvSpPr>
          <p:nvPr>
            <p:ph type="subTitle" idx="1"/>
          </p:nvPr>
        </p:nvSpPr>
        <p:spPr/>
        <p:txBody>
          <a:bodyPr>
            <a:normAutofit/>
          </a:bodyPr>
          <a:lstStyle/>
          <a:p>
            <a:endParaRPr lang="en-US" dirty="0"/>
          </a:p>
        </p:txBody>
      </p:sp>
      <p:sp>
        <p:nvSpPr>
          <p:cNvPr id="4" name="TextBox 3"/>
          <p:cNvSpPr txBox="1"/>
          <p:nvPr/>
        </p:nvSpPr>
        <p:spPr>
          <a:xfrm>
            <a:off x="900332" y="2098266"/>
            <a:ext cx="7329985" cy="6340197"/>
          </a:xfrm>
          <a:prstGeom prst="rect">
            <a:avLst/>
          </a:prstGeom>
          <a:noFill/>
        </p:spPr>
        <p:txBody>
          <a:bodyPr wrap="square" rtlCol="0">
            <a:spAutoFit/>
          </a:bodyPr>
          <a:lstStyle/>
          <a:p>
            <a:r>
              <a:rPr lang="en-US" sz="2400" b="1" dirty="0"/>
              <a:t>Compilers Construction touches many topics in Computer Science</a:t>
            </a:r>
            <a:endParaRPr lang="en-US" sz="2400" dirty="0"/>
          </a:p>
          <a:p>
            <a:pPr marL="457200" indent="-457200">
              <a:buFont typeface="+mj-lt"/>
              <a:buAutoNum type="arabicPeriod"/>
            </a:pPr>
            <a:r>
              <a:rPr lang="en-US" sz="2000" dirty="0"/>
              <a:t>Theory</a:t>
            </a:r>
            <a:endParaRPr lang="en-US" sz="2000" dirty="0"/>
          </a:p>
          <a:p>
            <a:pPr marL="800100" lvl="1" indent="-342900">
              <a:buFont typeface="Wingdings" panose="05000000000000000000" pitchFamily="2" charset="2"/>
              <a:buChar char="§"/>
            </a:pPr>
            <a:r>
              <a:rPr lang="en-US" sz="2000" dirty="0"/>
              <a:t>Finite State Automata, Grammars and Parsing, data-flow</a:t>
            </a:r>
            <a:endParaRPr lang="en-US" sz="2000" dirty="0"/>
          </a:p>
          <a:p>
            <a:pPr marL="457200" indent="-457200">
              <a:buFont typeface="+mj-lt"/>
              <a:buAutoNum type="arabicPeriod"/>
            </a:pPr>
            <a:r>
              <a:rPr lang="en-US" sz="2000" dirty="0"/>
              <a:t>Algorithms</a:t>
            </a:r>
            <a:endParaRPr lang="en-US" sz="2000" dirty="0"/>
          </a:p>
          <a:p>
            <a:pPr marL="914400" lvl="1" indent="-457200">
              <a:buFont typeface="Wingdings" panose="05000000000000000000" pitchFamily="2" charset="2"/>
              <a:buChar char="§"/>
            </a:pPr>
            <a:r>
              <a:rPr lang="en-US" sz="2000" dirty="0"/>
              <a:t>Graph manipulation, dynamic programming</a:t>
            </a:r>
            <a:endParaRPr lang="en-US" sz="2000" dirty="0"/>
          </a:p>
          <a:p>
            <a:pPr marL="457200" indent="-457200">
              <a:buFont typeface="+mj-lt"/>
              <a:buAutoNum type="arabicPeriod"/>
            </a:pPr>
            <a:r>
              <a:rPr lang="en-US" sz="2000" dirty="0"/>
              <a:t>Data structures</a:t>
            </a:r>
            <a:endParaRPr lang="en-US" sz="2000" dirty="0"/>
          </a:p>
          <a:p>
            <a:pPr marL="914400" lvl="1" indent="-457200">
              <a:buFont typeface="Wingdings" panose="05000000000000000000" pitchFamily="2" charset="2"/>
              <a:buChar char="§"/>
            </a:pPr>
            <a:r>
              <a:rPr lang="en-US" sz="2000" dirty="0"/>
              <a:t>Symbol tables, abstract syntax trees</a:t>
            </a:r>
            <a:endParaRPr lang="en-US" sz="2000" dirty="0"/>
          </a:p>
          <a:p>
            <a:pPr marL="457200" indent="-457200">
              <a:buFont typeface="+mj-lt"/>
              <a:buAutoNum type="arabicPeriod"/>
            </a:pPr>
            <a:r>
              <a:rPr lang="en-US" sz="2000" dirty="0"/>
              <a:t>Software Engineering</a:t>
            </a:r>
            <a:endParaRPr lang="en-US" sz="2000" dirty="0"/>
          </a:p>
          <a:p>
            <a:pPr marL="914400" lvl="1" indent="-457200">
              <a:buFont typeface="Wingdings" panose="05000000000000000000" pitchFamily="2" charset="2"/>
              <a:buChar char="§"/>
            </a:pPr>
            <a:r>
              <a:rPr lang="en-US" sz="2000" dirty="0"/>
              <a:t>Software development environments, debugging</a:t>
            </a:r>
            <a:endParaRPr lang="en-US" sz="2000" dirty="0"/>
          </a:p>
          <a:p>
            <a:pPr marL="457200" indent="-457200">
              <a:buFont typeface="+mj-lt"/>
              <a:buAutoNum type="arabicPeriod"/>
            </a:pPr>
            <a:r>
              <a:rPr lang="en-US" sz="2000" dirty="0"/>
              <a:t>Artificial Intelligence</a:t>
            </a:r>
            <a:endParaRPr lang="en-US" sz="2000" dirty="0"/>
          </a:p>
          <a:p>
            <a:pPr marL="914400" lvl="1" indent="-457200">
              <a:buFont typeface="Wingdings" panose="05000000000000000000" pitchFamily="2" charset="2"/>
              <a:buChar char="§"/>
            </a:pPr>
            <a:r>
              <a:rPr lang="en-US" sz="2000" dirty="0"/>
              <a:t>Heuristic based search</a:t>
            </a:r>
            <a:endParaRPr lang="en-US" sz="2000" dirty="0"/>
          </a:p>
          <a:p>
            <a:pPr marL="914400" lvl="1" indent="-457200">
              <a:buFont typeface="Wingdings" panose="05000000000000000000" pitchFamily="2" charset="2"/>
              <a:buChar char="§"/>
            </a:pPr>
            <a:endParaRPr lang="en-US" sz="2000" dirty="0"/>
          </a:p>
          <a:p>
            <a:pPr marL="457200" indent="-457200">
              <a:buFont typeface="+mj-lt"/>
              <a:buAutoNum type="arabicPeriod"/>
            </a:pPr>
            <a:endParaRPr lang="en-US" sz="2000" dirty="0"/>
          </a:p>
          <a:p>
            <a:pPr marL="457200" indent="-457200">
              <a:buFont typeface="+mj-lt"/>
              <a:buAutoNum type="arabicPeriod"/>
            </a:pPr>
            <a:endParaRPr lang="en-US" sz="2000" dirty="0"/>
          </a:p>
          <a:p>
            <a:pPr marL="457200" indent="-457200">
              <a:buFont typeface="+mj-lt"/>
              <a:buAutoNum type="arabicPeriod"/>
            </a:pPr>
            <a:endParaRPr lang="en-US" sz="2000" dirty="0"/>
          </a:p>
          <a:p>
            <a:pPr lvl="1"/>
            <a:endParaRPr lang="en-US" dirty="0"/>
          </a:p>
          <a:p>
            <a:r>
              <a:rPr lang="en-US" dirty="0"/>
              <a:t>                                                                                                                                          </a:t>
            </a:r>
            <a:endParaRPr lang="en-US" dirty="0"/>
          </a:p>
          <a:p>
            <a:pPr lvl="1"/>
            <a:endParaRPr lang="en-US" sz="2400" dirty="0"/>
          </a:p>
          <a:p>
            <a:r>
              <a:rPr lang="en-US" dirty="0"/>
              <a:t>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Language processors</a:t>
            </a:r>
            <a:endParaRPr lang="en-US" dirty="0"/>
          </a:p>
        </p:txBody>
      </p:sp>
      <p:sp>
        <p:nvSpPr>
          <p:cNvPr id="5" name="Subtitle 4"/>
          <p:cNvSpPr>
            <a:spLocks noGrp="1"/>
          </p:cNvSpPr>
          <p:nvPr>
            <p:ph type="subTitle" idx="1"/>
          </p:nvPr>
        </p:nvSpPr>
        <p:spPr/>
        <p:txBody>
          <a:bodyPr>
            <a:normAutofit/>
          </a:bodyPr>
          <a:lstStyle/>
          <a:p>
            <a:endParaRPr lang="en-US" dirty="0"/>
          </a:p>
        </p:txBody>
      </p:sp>
      <p:sp>
        <p:nvSpPr>
          <p:cNvPr id="4" name="TextBox 3"/>
          <p:cNvSpPr txBox="1"/>
          <p:nvPr/>
        </p:nvSpPr>
        <p:spPr>
          <a:xfrm>
            <a:off x="900332" y="2253014"/>
            <a:ext cx="7329985" cy="3754874"/>
          </a:xfrm>
          <a:prstGeom prst="rect">
            <a:avLst/>
          </a:prstGeom>
          <a:noFill/>
        </p:spPr>
        <p:txBody>
          <a:bodyPr wrap="square" rtlCol="0">
            <a:spAutoFit/>
          </a:bodyPr>
          <a:lstStyle/>
          <a:p>
            <a:pPr lvl="1"/>
            <a:r>
              <a:rPr lang="en-US" sz="2000" dirty="0"/>
              <a:t>Some common language processors are:</a:t>
            </a:r>
            <a:endParaRPr lang="en-US" sz="2000" dirty="0"/>
          </a:p>
          <a:p>
            <a:pPr marL="914400" lvl="1" indent="-457200">
              <a:buAutoNum type="arabicPeriod"/>
            </a:pPr>
            <a:r>
              <a:rPr lang="en-US" sz="2000" dirty="0"/>
              <a:t>Compiler</a:t>
            </a:r>
            <a:endParaRPr lang="en-US" sz="2000" dirty="0"/>
          </a:p>
          <a:p>
            <a:pPr marL="914400" lvl="1" indent="-457200">
              <a:buAutoNum type="arabicPeriod"/>
            </a:pPr>
            <a:r>
              <a:rPr lang="en-US" sz="2000" dirty="0"/>
              <a:t>Interpreter</a:t>
            </a:r>
            <a:endParaRPr lang="en-US" sz="2000" dirty="0"/>
          </a:p>
          <a:p>
            <a:pPr marL="914400" lvl="1" indent="-457200">
              <a:buAutoNum type="arabicPeriod"/>
            </a:pPr>
            <a:r>
              <a:rPr lang="en-US" sz="2000" dirty="0"/>
              <a:t>Preprocessor</a:t>
            </a:r>
            <a:endParaRPr lang="en-US" sz="2000" dirty="0"/>
          </a:p>
          <a:p>
            <a:pPr marL="914400" lvl="1" indent="-457200">
              <a:buAutoNum type="arabicPeriod"/>
            </a:pPr>
            <a:r>
              <a:rPr lang="en-US" sz="2000" dirty="0"/>
              <a:t>Assembler</a:t>
            </a:r>
            <a:endParaRPr lang="en-US" sz="2000" dirty="0"/>
          </a:p>
          <a:p>
            <a:pPr marL="457200" indent="-457200">
              <a:buFont typeface="+mj-lt"/>
              <a:buAutoNum type="arabicPeriod"/>
            </a:pPr>
            <a:endParaRPr lang="en-US" sz="2000" dirty="0"/>
          </a:p>
          <a:p>
            <a:pPr marL="457200" indent="-457200">
              <a:buFont typeface="+mj-lt"/>
              <a:buAutoNum type="arabicPeriod"/>
            </a:pPr>
            <a:endParaRPr lang="en-US" sz="2000" dirty="0"/>
          </a:p>
          <a:p>
            <a:pPr marL="457200" indent="-457200">
              <a:buFont typeface="+mj-lt"/>
              <a:buAutoNum type="arabicPeriod"/>
            </a:pPr>
            <a:endParaRPr lang="en-US" sz="2000" dirty="0"/>
          </a:p>
          <a:p>
            <a:pPr lvl="1"/>
            <a:endParaRPr lang="en-US" dirty="0"/>
          </a:p>
          <a:p>
            <a:r>
              <a:rPr lang="en-US" dirty="0"/>
              <a:t>                                                                                                                                          </a:t>
            </a:r>
            <a:endParaRPr lang="en-US" dirty="0"/>
          </a:p>
          <a:p>
            <a:pPr lvl="1"/>
            <a:endParaRPr lang="en-US" sz="2400" dirty="0"/>
          </a:p>
          <a:p>
            <a:r>
              <a:rPr lang="en-US" dirty="0"/>
              <a:t>                                                                                                                                          </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Compiler </a:t>
            </a:r>
            <a:endParaRPr lang="en-US" sz="2600" b="1" dirty="0">
              <a:solidFill>
                <a:schemeClr val="tx1"/>
              </a:solidFill>
            </a:endParaRPr>
          </a:p>
          <a:p>
            <a:pPr marL="0" indent="0">
              <a:buNone/>
            </a:pPr>
            <a:endParaRPr lang="en-US" sz="2600" b="1" dirty="0">
              <a:solidFill>
                <a:schemeClr val="tx1"/>
              </a:solidFill>
            </a:endParaRPr>
          </a:p>
        </p:txBody>
      </p:sp>
      <p:sp>
        <p:nvSpPr>
          <p:cNvPr id="5" name="TextBox 4"/>
          <p:cNvSpPr txBox="1"/>
          <p:nvPr/>
        </p:nvSpPr>
        <p:spPr>
          <a:xfrm>
            <a:off x="1066986" y="1795817"/>
            <a:ext cx="7261087" cy="4524315"/>
          </a:xfrm>
          <a:prstGeom prst="rect">
            <a:avLst/>
          </a:prstGeom>
          <a:noFill/>
        </p:spPr>
        <p:txBody>
          <a:bodyPr wrap="square" rtlCol="0">
            <a:spAutoFit/>
          </a:bodyPr>
          <a:lstStyle/>
          <a:p>
            <a:r>
              <a:rPr lang="en-US" dirty="0"/>
              <a:t>A compiler is a program that reads a program written in one language and translates it into another language</a:t>
            </a:r>
            <a:r>
              <a:rPr lang="en-US" b="1" dirty="0"/>
              <a:t>.</a:t>
            </a:r>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dirty="0"/>
          </a:p>
          <a:p>
            <a:endParaRPr lang="en-US" dirty="0"/>
          </a:p>
          <a:p>
            <a:endParaRPr lang="en-US" dirty="0"/>
          </a:p>
        </p:txBody>
      </p:sp>
      <p:pic>
        <p:nvPicPr>
          <p:cNvPr id="6" name="Picture 5"/>
          <p:cNvPicPr>
            <a:picLocks noChangeAspect="1"/>
          </p:cNvPicPr>
          <p:nvPr/>
        </p:nvPicPr>
        <p:blipFill>
          <a:blip r:embed="rId1"/>
          <a:stretch>
            <a:fillRect/>
          </a:stretch>
        </p:blipFill>
        <p:spPr>
          <a:xfrm>
            <a:off x="1414462" y="3010224"/>
            <a:ext cx="6315075" cy="2095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Example</a:t>
            </a:r>
            <a:endParaRPr lang="en-US" sz="2600" b="1" dirty="0">
              <a:solidFill>
                <a:schemeClr val="tx1"/>
              </a:solidFill>
            </a:endParaRPr>
          </a:p>
          <a:p>
            <a:pPr marL="0" indent="0">
              <a:buNone/>
            </a:pPr>
            <a:endParaRPr lang="en-US" sz="2600" b="1" dirty="0">
              <a:solidFill>
                <a:schemeClr val="tx1"/>
              </a:solidFill>
            </a:endParaRPr>
          </a:p>
        </p:txBody>
      </p:sp>
      <p:sp>
        <p:nvSpPr>
          <p:cNvPr id="5" name="TextBox 4"/>
          <p:cNvSpPr txBox="1"/>
          <p:nvPr/>
        </p:nvSpPr>
        <p:spPr>
          <a:xfrm>
            <a:off x="1066986" y="1795817"/>
            <a:ext cx="7261087" cy="3970318"/>
          </a:xfrm>
          <a:prstGeom prst="rect">
            <a:avLst/>
          </a:prstGeom>
          <a:noFill/>
        </p:spPr>
        <p:txBody>
          <a:bodyPr wrap="square" rtlCol="0">
            <a:spAutoFit/>
          </a:bodyPr>
          <a:lstStyle/>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dirty="0"/>
          </a:p>
          <a:p>
            <a:endParaRPr lang="en-US" dirty="0"/>
          </a:p>
          <a:p>
            <a:endParaRPr lang="en-US" dirty="0"/>
          </a:p>
        </p:txBody>
      </p:sp>
      <p:pic>
        <p:nvPicPr>
          <p:cNvPr id="4" name="Picture 3"/>
          <p:cNvPicPr>
            <a:picLocks noChangeAspect="1"/>
          </p:cNvPicPr>
          <p:nvPr/>
        </p:nvPicPr>
        <p:blipFill>
          <a:blip r:embed="rId1"/>
          <a:stretch>
            <a:fillRect/>
          </a:stretch>
        </p:blipFill>
        <p:spPr>
          <a:xfrm>
            <a:off x="1154061" y="2365492"/>
            <a:ext cx="6638925" cy="17049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Interpreter</a:t>
            </a:r>
            <a:endParaRPr lang="en-US" sz="2600" b="1" dirty="0">
              <a:solidFill>
                <a:schemeClr val="tx1"/>
              </a:solidFill>
            </a:endParaRPr>
          </a:p>
          <a:p>
            <a:pPr marL="0" indent="0">
              <a:buNone/>
            </a:pPr>
            <a:endParaRPr lang="en-US" sz="2600" b="1" dirty="0">
              <a:solidFill>
                <a:schemeClr val="tx1"/>
              </a:solidFill>
            </a:endParaRPr>
          </a:p>
        </p:txBody>
      </p:sp>
      <p:sp>
        <p:nvSpPr>
          <p:cNvPr id="5" name="TextBox 4"/>
          <p:cNvSpPr txBox="1"/>
          <p:nvPr/>
        </p:nvSpPr>
        <p:spPr>
          <a:xfrm>
            <a:off x="1066986" y="1795817"/>
            <a:ext cx="7261087" cy="3847207"/>
          </a:xfrm>
          <a:prstGeom prst="rect">
            <a:avLst/>
          </a:prstGeom>
          <a:noFill/>
        </p:spPr>
        <p:txBody>
          <a:bodyPr wrap="square" rtlCol="0">
            <a:spAutoFit/>
          </a:bodyPr>
          <a:lstStyle/>
          <a:p>
            <a:pPr algn="just"/>
            <a:r>
              <a:rPr lang="en-US" dirty="0"/>
              <a:t>An interpreter is another common kind of language processor. Instead of producing a target program as a translation, an interpreter appears to directly execute the operations specified in the source program on inputs supplied by the user.</a:t>
            </a:r>
            <a:endParaRPr lang="en-US" dirty="0"/>
          </a:p>
          <a:p>
            <a:pPr algn="just"/>
            <a:endParaRPr lang="en-US" dirty="0"/>
          </a:p>
          <a:p>
            <a:pPr algn="just"/>
            <a:endParaRPr lang="en-US" dirty="0"/>
          </a:p>
          <a:p>
            <a:pPr algn="just"/>
            <a:r>
              <a:rPr lang="en-US" sz="1400" dirty="0"/>
              <a:t>Source </a:t>
            </a:r>
            <a:endParaRPr lang="en-US" sz="1400" dirty="0"/>
          </a:p>
          <a:p>
            <a:pPr algn="just"/>
            <a:r>
              <a:rPr lang="en-US" sz="1400" dirty="0"/>
              <a:t>Program</a:t>
            </a:r>
            <a:endParaRPr lang="en-US" sz="1400" dirty="0"/>
          </a:p>
          <a:p>
            <a:pPr algn="just"/>
            <a:endParaRPr lang="en-US" dirty="0"/>
          </a:p>
          <a:p>
            <a:pPr algn="just"/>
            <a:r>
              <a:rPr lang="en-US" dirty="0"/>
              <a:t>			</a:t>
            </a:r>
            <a:endParaRPr lang="en-US" dirty="0"/>
          </a:p>
          <a:p>
            <a:pPr algn="just"/>
            <a:endParaRPr lang="en-US" dirty="0"/>
          </a:p>
          <a:p>
            <a:pPr algn="just"/>
            <a:endParaRPr lang="en-US" dirty="0"/>
          </a:p>
          <a:p>
            <a:pPr algn="just"/>
            <a:endParaRPr lang="en-US" dirty="0"/>
          </a:p>
          <a:p>
            <a:pPr algn="just"/>
            <a:endParaRPr lang="en-US" dirty="0"/>
          </a:p>
        </p:txBody>
      </p:sp>
      <p:cxnSp>
        <p:nvCxnSpPr>
          <p:cNvPr id="8" name="Straight Arrow Connector 7"/>
          <p:cNvCxnSpPr/>
          <p:nvPr/>
        </p:nvCxnSpPr>
        <p:spPr>
          <a:xfrm>
            <a:off x="1969477" y="3757535"/>
            <a:ext cx="98473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Rectangle: Rounded Corners 8"/>
          <p:cNvSpPr/>
          <p:nvPr/>
        </p:nvSpPr>
        <p:spPr>
          <a:xfrm>
            <a:off x="2954215" y="3614278"/>
            <a:ext cx="3235570" cy="784105"/>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Interpreter</a:t>
            </a:r>
            <a:endParaRPr lang="en-US" sz="2400" dirty="0"/>
          </a:p>
        </p:txBody>
      </p:sp>
      <p:cxnSp>
        <p:nvCxnSpPr>
          <p:cNvPr id="18" name="Straight Arrow Connector 17"/>
          <p:cNvCxnSpPr/>
          <p:nvPr/>
        </p:nvCxnSpPr>
        <p:spPr>
          <a:xfrm>
            <a:off x="1969477" y="4183468"/>
            <a:ext cx="984738"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0" name="Picture 19"/>
          <p:cNvPicPr>
            <a:picLocks noChangeAspect="1"/>
          </p:cNvPicPr>
          <p:nvPr/>
        </p:nvPicPr>
        <p:blipFill>
          <a:blip r:embed="rId1"/>
          <a:stretch>
            <a:fillRect/>
          </a:stretch>
        </p:blipFill>
        <p:spPr>
          <a:xfrm>
            <a:off x="1277083" y="4040594"/>
            <a:ext cx="400050" cy="285750"/>
          </a:xfrm>
          <a:prstGeom prst="rect">
            <a:avLst/>
          </a:prstGeom>
        </p:spPr>
      </p:pic>
      <p:cxnSp>
        <p:nvCxnSpPr>
          <p:cNvPr id="22" name="Straight Arrow Connector 21"/>
          <p:cNvCxnSpPr>
            <a:stCxn id="9" idx="3"/>
          </p:cNvCxnSpPr>
          <p:nvPr/>
        </p:nvCxnSpPr>
        <p:spPr>
          <a:xfrm flipV="1">
            <a:off x="6189785" y="4006330"/>
            <a:ext cx="689317"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3" name="Picture 22"/>
          <p:cNvPicPr>
            <a:picLocks noChangeAspect="1"/>
          </p:cNvPicPr>
          <p:nvPr/>
        </p:nvPicPr>
        <p:blipFill>
          <a:blip r:embed="rId2"/>
          <a:stretch>
            <a:fillRect/>
          </a:stretch>
        </p:blipFill>
        <p:spPr>
          <a:xfrm>
            <a:off x="6841679" y="3872981"/>
            <a:ext cx="638175" cy="2667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Preprocessor</a:t>
            </a:r>
            <a:endParaRPr lang="en-US" sz="2600" b="1" dirty="0">
              <a:solidFill>
                <a:schemeClr val="tx1"/>
              </a:solidFill>
            </a:endParaRPr>
          </a:p>
          <a:p>
            <a:pPr marL="0" indent="0">
              <a:buNone/>
            </a:pPr>
            <a:endParaRPr lang="en-US" sz="2600" b="1" dirty="0">
              <a:solidFill>
                <a:schemeClr val="tx1"/>
              </a:solidFill>
            </a:endParaRPr>
          </a:p>
        </p:txBody>
      </p:sp>
      <p:sp>
        <p:nvSpPr>
          <p:cNvPr id="5" name="TextBox 4"/>
          <p:cNvSpPr txBox="1"/>
          <p:nvPr/>
        </p:nvSpPr>
        <p:spPr>
          <a:xfrm>
            <a:off x="523240" y="1231900"/>
            <a:ext cx="7804785" cy="4748530"/>
          </a:xfrm>
          <a:prstGeom prst="rect">
            <a:avLst/>
          </a:prstGeom>
          <a:noFill/>
        </p:spPr>
        <p:txBody>
          <a:bodyPr wrap="square" rtlCol="0">
            <a:noAutofit/>
          </a:bodyPr>
          <a:lstStyle/>
          <a:p>
            <a:pPr algn="just"/>
            <a:r>
              <a:rPr lang="en-US" dirty="0"/>
              <a:t>Preprocessing performs (usually simple) operations on the source file(s) prior to compilation. </a:t>
            </a:r>
            <a:r>
              <a:rPr lang="en-US" altLang="en-GB" dirty="0"/>
              <a:t> In the context of programming languages like C, a preprocessor performs various transformations on the source code before it is compiled. These transformations can include:</a:t>
            </a:r>
            <a:endParaRPr lang="en-US" altLang="en-GB" dirty="0"/>
          </a:p>
          <a:p>
            <a:pPr marL="285750" indent="-285750" algn="just">
              <a:buFont typeface="Arial" panose="020B0604020202020204" pitchFamily="34" charset="0"/>
              <a:buChar char="•"/>
            </a:pPr>
            <a:r>
              <a:rPr lang="en-US" altLang="en-GB" dirty="0"/>
              <a:t>macro expansions</a:t>
            </a:r>
            <a:endParaRPr lang="en-US" altLang="en-GB" dirty="0"/>
          </a:p>
          <a:p>
            <a:pPr marL="285750" indent="-285750" algn="just">
              <a:buFont typeface="Arial" panose="020B0604020202020204" pitchFamily="34" charset="0"/>
              <a:buChar char="•"/>
            </a:pPr>
            <a:r>
              <a:rPr lang="en-US" altLang="en-GB" dirty="0"/>
              <a:t>file inclusions</a:t>
            </a:r>
            <a:endParaRPr lang="en-US" altLang="en-GB" dirty="0"/>
          </a:p>
          <a:p>
            <a:pPr marL="285750" indent="-285750" algn="just">
              <a:buFont typeface="Arial" panose="020B0604020202020204" pitchFamily="34" charset="0"/>
              <a:buChar char="•"/>
            </a:pPr>
            <a:r>
              <a:rPr lang="en-US" altLang="en-GB" dirty="0"/>
              <a:t>conditional compilations.</a:t>
            </a:r>
            <a:endParaRPr lang="en-US" altLang="en-GB" dirty="0"/>
          </a:p>
          <a:p>
            <a:pPr algn="just"/>
            <a:r>
              <a:rPr lang="en-US" altLang="en-GB" b="1" dirty="0"/>
              <a:t>All of these preprocessor directives begin with a ‘#’ hash symbol.</a:t>
            </a:r>
            <a:endParaRPr lang="en-US" altLang="en-GB" b="1" dirty="0"/>
          </a:p>
          <a:p>
            <a:pPr algn="just"/>
            <a:r>
              <a:rPr lang="en-US" altLang="en-GB" dirty="0"/>
              <a:t>One of the most commonly used preprocessors is #include which is used to include the header files for different libraries in C programs.</a:t>
            </a:r>
            <a:endParaRPr lang="en-US" altLang="en-GB" dirty="0"/>
          </a:p>
          <a:p>
            <a:pPr algn="just"/>
            <a:endParaRPr lang="en-US" altLang="en-GB" dirty="0"/>
          </a:p>
          <a:p>
            <a:pPr algn="just"/>
            <a:endParaRPr lang="en-US" altLang="en-GB" dirty="0"/>
          </a:p>
          <a:p>
            <a:pPr algn="just"/>
            <a:endParaRPr lang="en-US" altLang="en-GB" dirty="0"/>
          </a:p>
          <a:p>
            <a:pPr algn="just"/>
            <a:endParaRPr lang="en-US" dirty="0"/>
          </a:p>
          <a:p>
            <a:pPr algn="just"/>
            <a:endParaRPr lang="en-US" sz="1400" dirty="0"/>
          </a:p>
          <a:p>
            <a:pPr marL="1828800" lvl="4" indent="457200" algn="just"/>
            <a:r>
              <a:rPr lang="en-US" sz="2400" b="1" dirty="0">
                <a:solidFill>
                  <a:schemeClr val="bg2">
                    <a:lumMod val="25000"/>
                  </a:schemeClr>
                </a:solidFill>
              </a:rPr>
              <a:t>         File inclusion</a:t>
            </a:r>
            <a:endParaRPr lang="en-US" sz="2400" b="1" dirty="0">
              <a:solidFill>
                <a:schemeClr val="bg2">
                  <a:lumMod val="25000"/>
                </a:schemeClr>
              </a:solidFill>
            </a:endParaRPr>
          </a:p>
          <a:p>
            <a:pPr algn="just"/>
            <a:endParaRPr lang="en-US" dirty="0"/>
          </a:p>
          <a:p>
            <a:pPr algn="just"/>
            <a:endParaRPr lang="en-US" dirty="0"/>
          </a:p>
          <a:p>
            <a:pPr algn="just"/>
            <a:endParaRPr lang="en-US" dirty="0"/>
          </a:p>
          <a:p>
            <a:pPr algn="just"/>
            <a:endParaRPr lang="en-US" dirty="0"/>
          </a:p>
        </p:txBody>
      </p:sp>
      <p:pic>
        <p:nvPicPr>
          <p:cNvPr id="3" name="Picture 2" descr="example1"/>
          <p:cNvPicPr>
            <a:picLocks noChangeAspect="1"/>
          </p:cNvPicPr>
          <p:nvPr/>
        </p:nvPicPr>
        <p:blipFill>
          <a:blip r:embed="rId1"/>
          <a:stretch>
            <a:fillRect/>
          </a:stretch>
        </p:blipFill>
        <p:spPr>
          <a:xfrm>
            <a:off x="1711960" y="4210685"/>
            <a:ext cx="5492750" cy="11684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example2"/>
          <p:cNvPicPr>
            <a:picLocks noChangeAspect="1"/>
          </p:cNvPicPr>
          <p:nvPr/>
        </p:nvPicPr>
        <p:blipFill>
          <a:blip r:embed="rId1"/>
          <a:stretch>
            <a:fillRect/>
          </a:stretch>
        </p:blipFill>
        <p:spPr>
          <a:xfrm>
            <a:off x="2320925" y="1889125"/>
            <a:ext cx="4502150" cy="3079750"/>
          </a:xfrm>
          <a:prstGeom prst="rect">
            <a:avLst/>
          </a:prstGeom>
        </p:spPr>
      </p:pic>
      <p:sp>
        <p:nvSpPr>
          <p:cNvPr id="3" name="Text Box 2"/>
          <p:cNvSpPr txBox="1"/>
          <p:nvPr/>
        </p:nvSpPr>
        <p:spPr>
          <a:xfrm>
            <a:off x="2653030" y="1648460"/>
            <a:ext cx="2477135" cy="460375"/>
          </a:xfrm>
          <a:prstGeom prst="rect">
            <a:avLst/>
          </a:prstGeom>
          <a:noFill/>
        </p:spPr>
        <p:txBody>
          <a:bodyPr wrap="square" rtlCol="0">
            <a:spAutoFit/>
          </a:bodyPr>
          <a:p>
            <a:r>
              <a:rPr lang="en-US" altLang="en-GB" sz="2400" b="1">
                <a:solidFill>
                  <a:schemeClr val="bg2">
                    <a:lumMod val="25000"/>
                  </a:schemeClr>
                </a:solidFill>
              </a:rPr>
              <a:t>Macros</a:t>
            </a:r>
            <a:endParaRPr lang="en-US" altLang="en-GB" sz="2400" b="1">
              <a:solidFill>
                <a:schemeClr val="bg2">
                  <a:lumMod val="25000"/>
                </a:schemeClr>
              </a:solidFill>
            </a:endParaRPr>
          </a:p>
        </p:txBody>
      </p:sp>
      <p:sp>
        <p:nvSpPr>
          <p:cNvPr id="4"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Preprocessor</a:t>
            </a:r>
            <a:endParaRPr lang="en-US" sz="2600" b="1" dirty="0">
              <a:solidFill>
                <a:schemeClr val="tx1"/>
              </a:solidFill>
            </a:endParaRPr>
          </a:p>
          <a:p>
            <a:pPr marL="0" indent="0">
              <a:buNone/>
            </a:pPr>
            <a:endParaRPr lang="en-US" sz="2600" b="1" dirty="0">
              <a:solidFill>
                <a:schemeClr val="tx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2348230" y="1394460"/>
            <a:ext cx="4559935" cy="460375"/>
          </a:xfrm>
          <a:prstGeom prst="rect">
            <a:avLst/>
          </a:prstGeom>
          <a:noFill/>
        </p:spPr>
        <p:txBody>
          <a:bodyPr wrap="square" rtlCol="0">
            <a:spAutoFit/>
          </a:bodyPr>
          <a:p>
            <a:r>
              <a:rPr lang="en-US" altLang="en-GB" sz="2400" b="1" dirty="0">
                <a:solidFill>
                  <a:schemeClr val="bg2">
                    <a:lumMod val="25000"/>
                  </a:schemeClr>
                </a:solidFill>
                <a:sym typeface="+mn-ea"/>
              </a:rPr>
              <a:t>Conditional compilations</a:t>
            </a:r>
            <a:endParaRPr lang="en-US" altLang="en-GB" sz="2400" b="1" dirty="0">
              <a:solidFill>
                <a:schemeClr val="bg2">
                  <a:lumMod val="25000"/>
                </a:schemeClr>
              </a:solidFill>
              <a:sym typeface="+mn-ea"/>
            </a:endParaRPr>
          </a:p>
        </p:txBody>
      </p:sp>
      <p:pic>
        <p:nvPicPr>
          <p:cNvPr id="4" name="Picture 3" descr="example3"/>
          <p:cNvPicPr>
            <a:picLocks noChangeAspect="1"/>
          </p:cNvPicPr>
          <p:nvPr/>
        </p:nvPicPr>
        <p:blipFill>
          <a:blip r:embed="rId1"/>
          <a:stretch>
            <a:fillRect/>
          </a:stretch>
        </p:blipFill>
        <p:spPr>
          <a:xfrm>
            <a:off x="2217420" y="1790700"/>
            <a:ext cx="5203190" cy="4972685"/>
          </a:xfrm>
          <a:prstGeom prst="rect">
            <a:avLst/>
          </a:prstGeom>
        </p:spPr>
      </p:pic>
      <p:sp>
        <p:nvSpPr>
          <p:cNvPr id="5"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Preprocessor</a:t>
            </a:r>
            <a:endParaRPr lang="en-US" sz="2600" b="1" dirty="0">
              <a:solidFill>
                <a:schemeClr val="tx1"/>
              </a:solidFill>
            </a:endParaRPr>
          </a:p>
          <a:p>
            <a:pPr marL="0" indent="0">
              <a:buNone/>
            </a:pPr>
            <a:endParaRPr lang="en-US" sz="2600" b="1" dirty="0">
              <a:solidFill>
                <a:schemeClr val="tx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Assembler</a:t>
            </a:r>
            <a:endParaRPr lang="en-US" sz="2600" b="1" dirty="0">
              <a:solidFill>
                <a:schemeClr val="tx1"/>
              </a:solidFill>
            </a:endParaRPr>
          </a:p>
          <a:p>
            <a:pPr marL="0" indent="0">
              <a:buNone/>
            </a:pPr>
            <a:endParaRPr lang="en-US" sz="2600" b="1" dirty="0">
              <a:solidFill>
                <a:schemeClr val="tx1"/>
              </a:solidFill>
            </a:endParaRPr>
          </a:p>
        </p:txBody>
      </p:sp>
      <p:sp>
        <p:nvSpPr>
          <p:cNvPr id="5" name="TextBox 4"/>
          <p:cNvSpPr txBox="1"/>
          <p:nvPr/>
        </p:nvSpPr>
        <p:spPr>
          <a:xfrm>
            <a:off x="1066986" y="1795817"/>
            <a:ext cx="7261087" cy="4154984"/>
          </a:xfrm>
          <a:prstGeom prst="rect">
            <a:avLst/>
          </a:prstGeom>
          <a:noFill/>
        </p:spPr>
        <p:txBody>
          <a:bodyPr wrap="square" rtlCol="0">
            <a:spAutoFit/>
          </a:bodyPr>
          <a:lstStyle/>
          <a:p>
            <a:pPr algn="just"/>
            <a:r>
              <a:rPr lang="en-US" dirty="0"/>
              <a:t>An Assembler is a translator that translates Assembly language to machine code. So, an assembler is a type of a compiler and the source code is written in Assembly language.</a:t>
            </a:r>
            <a:endParaRPr lang="en-US" dirty="0"/>
          </a:p>
          <a:p>
            <a:pPr algn="just"/>
            <a:endParaRPr lang="en-US" dirty="0"/>
          </a:p>
          <a:p>
            <a:pPr algn="just"/>
            <a:endParaRPr lang="en-US" sz="1400" dirty="0"/>
          </a:p>
          <a:p>
            <a:pPr algn="just"/>
            <a:endParaRPr lang="en-US" sz="1400" dirty="0"/>
          </a:p>
          <a:p>
            <a:pPr algn="just"/>
            <a:endParaRPr lang="en-US" sz="1400" dirty="0"/>
          </a:p>
          <a:p>
            <a:pPr algn="just"/>
            <a:endParaRPr lang="en-US" sz="1400" dirty="0"/>
          </a:p>
          <a:p>
            <a:pPr algn="just"/>
            <a:r>
              <a:rPr lang="en-US" sz="1400" dirty="0"/>
              <a:t>Assembly </a:t>
            </a:r>
            <a:endParaRPr lang="en-US" sz="1400" dirty="0"/>
          </a:p>
          <a:p>
            <a:pPr algn="just"/>
            <a:r>
              <a:rPr lang="en-US" sz="1400" dirty="0"/>
              <a:t>Program</a:t>
            </a:r>
            <a:endParaRPr lang="en-US" sz="1400" dirty="0"/>
          </a:p>
          <a:p>
            <a:pPr algn="just"/>
            <a:endParaRPr lang="en-US" dirty="0"/>
          </a:p>
          <a:p>
            <a:pPr algn="just"/>
            <a:r>
              <a:rPr lang="en-US" dirty="0"/>
              <a:t>			</a:t>
            </a:r>
            <a:endParaRPr lang="en-US" dirty="0"/>
          </a:p>
          <a:p>
            <a:pPr algn="just"/>
            <a:endParaRPr lang="en-US" dirty="0"/>
          </a:p>
          <a:p>
            <a:pPr algn="just"/>
            <a:endParaRPr lang="en-US" dirty="0"/>
          </a:p>
          <a:p>
            <a:pPr algn="just"/>
            <a:endParaRPr lang="en-US" dirty="0"/>
          </a:p>
          <a:p>
            <a:pPr algn="just"/>
            <a:endParaRPr lang="en-US" dirty="0"/>
          </a:p>
        </p:txBody>
      </p:sp>
      <p:sp>
        <p:nvSpPr>
          <p:cNvPr id="9" name="Rectangle: Rounded Corners 8"/>
          <p:cNvSpPr/>
          <p:nvPr/>
        </p:nvSpPr>
        <p:spPr>
          <a:xfrm>
            <a:off x="2954215" y="3614278"/>
            <a:ext cx="3235570" cy="784105"/>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Assembler</a:t>
            </a:r>
            <a:endParaRPr lang="en-US" sz="2400" dirty="0"/>
          </a:p>
        </p:txBody>
      </p:sp>
      <p:cxnSp>
        <p:nvCxnSpPr>
          <p:cNvPr id="18" name="Straight Arrow Connector 17"/>
          <p:cNvCxnSpPr/>
          <p:nvPr/>
        </p:nvCxnSpPr>
        <p:spPr>
          <a:xfrm>
            <a:off x="1969477" y="4006331"/>
            <a:ext cx="984738"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a:stCxn id="9" idx="3"/>
          </p:cNvCxnSpPr>
          <p:nvPr/>
        </p:nvCxnSpPr>
        <p:spPr>
          <a:xfrm flipV="1">
            <a:off x="6189785" y="4006330"/>
            <a:ext cx="689317"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3" name="Picture 2"/>
          <p:cNvPicPr>
            <a:picLocks noChangeAspect="1"/>
          </p:cNvPicPr>
          <p:nvPr/>
        </p:nvPicPr>
        <p:blipFill>
          <a:blip r:embed="rId1"/>
          <a:stretch>
            <a:fillRect/>
          </a:stretch>
        </p:blipFill>
        <p:spPr>
          <a:xfrm>
            <a:off x="6879102" y="3827142"/>
            <a:ext cx="1123950" cy="31334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Differences between Compiler and Interpreter</a:t>
            </a:r>
            <a:endParaRPr lang="en-US" sz="2600" b="1" dirty="0">
              <a:solidFill>
                <a:schemeClr val="tx1"/>
              </a:solidFill>
            </a:endParaRPr>
          </a:p>
          <a:p>
            <a:pPr marL="0" indent="0">
              <a:buNone/>
            </a:pPr>
            <a:endParaRPr lang="en-US" sz="2600" b="1" dirty="0">
              <a:solidFill>
                <a:schemeClr val="tx1"/>
              </a:solidFill>
            </a:endParaRPr>
          </a:p>
        </p:txBody>
      </p:sp>
      <p:sp>
        <p:nvSpPr>
          <p:cNvPr id="5" name="TextBox 4"/>
          <p:cNvSpPr txBox="1"/>
          <p:nvPr/>
        </p:nvSpPr>
        <p:spPr>
          <a:xfrm>
            <a:off x="1066986" y="1795817"/>
            <a:ext cx="7261087" cy="3477875"/>
          </a:xfrm>
          <a:prstGeom prst="rect">
            <a:avLst/>
          </a:prstGeom>
          <a:noFill/>
        </p:spPr>
        <p:txBody>
          <a:bodyPr wrap="square" rtlCol="0">
            <a:spAutoFit/>
          </a:bodyPr>
          <a:lstStyle/>
          <a:p>
            <a:pPr algn="just"/>
            <a:endParaRPr lang="en-US" sz="1400" dirty="0"/>
          </a:p>
          <a:p>
            <a:pPr algn="just"/>
            <a:endParaRPr lang="en-US" sz="1400" dirty="0"/>
          </a:p>
          <a:p>
            <a:pPr algn="just"/>
            <a:endParaRPr lang="en-US" sz="1400" dirty="0"/>
          </a:p>
          <a:p>
            <a:pPr algn="just"/>
            <a:endParaRPr lang="en-US" sz="1400" dirty="0"/>
          </a:p>
          <a:p>
            <a:pPr algn="just"/>
            <a:endParaRPr lang="en-US" sz="1400" dirty="0"/>
          </a:p>
          <a:p>
            <a:pPr algn="just"/>
            <a:endParaRPr lang="en-US" sz="1400" dirty="0"/>
          </a:p>
          <a:p>
            <a:pPr algn="just"/>
            <a:endParaRPr lang="en-US" sz="1400" dirty="0"/>
          </a:p>
          <a:p>
            <a:pPr algn="just"/>
            <a:endParaRPr lang="en-US" sz="1400" dirty="0"/>
          </a:p>
          <a:p>
            <a:pPr algn="just"/>
            <a:endParaRPr lang="en-US" dirty="0"/>
          </a:p>
          <a:p>
            <a:pPr algn="just"/>
            <a:r>
              <a:rPr lang="en-US" dirty="0"/>
              <a:t>			</a:t>
            </a:r>
            <a:endParaRPr lang="en-US" dirty="0"/>
          </a:p>
          <a:p>
            <a:pPr algn="just"/>
            <a:endParaRPr lang="en-US" dirty="0"/>
          </a:p>
          <a:p>
            <a:pPr algn="just"/>
            <a:endParaRPr lang="en-US" dirty="0"/>
          </a:p>
          <a:p>
            <a:pPr algn="just"/>
            <a:endParaRPr lang="en-US" dirty="0"/>
          </a:p>
          <a:p>
            <a:pPr algn="just"/>
            <a:endParaRPr lang="en-US" dirty="0"/>
          </a:p>
        </p:txBody>
      </p:sp>
      <p:graphicFrame>
        <p:nvGraphicFramePr>
          <p:cNvPr id="10" name="Table 10"/>
          <p:cNvGraphicFramePr>
            <a:graphicFrameLocks noGrp="1"/>
          </p:cNvGraphicFramePr>
          <p:nvPr/>
        </p:nvGraphicFramePr>
        <p:xfrm>
          <a:off x="1117600" y="1396999"/>
          <a:ext cx="7010401" cy="3726543"/>
        </p:xfrm>
        <a:graphic>
          <a:graphicData uri="http://schemas.openxmlformats.org/drawingml/2006/table">
            <a:tbl>
              <a:tblPr firstRow="1" bandRow="1">
                <a:tableStyleId>{5C22544A-7EE6-4342-B048-85BDC9FD1C3A}</a:tableStyleId>
              </a:tblPr>
              <a:tblGrid>
                <a:gridCol w="3645039"/>
                <a:gridCol w="3365362"/>
              </a:tblGrid>
              <a:tr h="470653">
                <a:tc>
                  <a:txBody>
                    <a:bodyPr/>
                    <a:lstStyle/>
                    <a:p>
                      <a:pPr algn="ctr"/>
                      <a:r>
                        <a:rPr lang="en-US" dirty="0"/>
                        <a:t>Compiler</a:t>
                      </a:r>
                      <a:endParaRPr lang="en-US" dirty="0"/>
                    </a:p>
                  </a:txBody>
                  <a:tcPr/>
                </a:tc>
                <a:tc>
                  <a:txBody>
                    <a:bodyPr/>
                    <a:lstStyle/>
                    <a:p>
                      <a:pPr algn="ctr"/>
                      <a:r>
                        <a:rPr lang="en-US" dirty="0"/>
                        <a:t>Interpreter</a:t>
                      </a:r>
                      <a:endParaRPr lang="en-US" dirty="0"/>
                    </a:p>
                  </a:txBody>
                  <a:tcPr/>
                </a:tc>
              </a:tr>
              <a:tr h="812361">
                <a:tc>
                  <a:txBody>
                    <a:bodyPr/>
                    <a:lstStyle/>
                    <a:p>
                      <a:pPr algn="just"/>
                      <a:r>
                        <a:rPr lang="en-US" dirty="0"/>
                        <a:t>Compiler takes whole program as input. </a:t>
                      </a:r>
                      <a:endParaRPr lang="en-US" dirty="0"/>
                    </a:p>
                  </a:txBody>
                  <a:tcPr/>
                </a:tc>
                <a:tc>
                  <a:txBody>
                    <a:bodyPr/>
                    <a:lstStyle/>
                    <a:p>
                      <a:r>
                        <a:rPr lang="en-US" sz="1800" kern="1200" dirty="0">
                          <a:solidFill>
                            <a:schemeClr val="dk1"/>
                          </a:solidFill>
                          <a:effectLst/>
                          <a:latin typeface="+mn-lt"/>
                          <a:ea typeface="+mn-ea"/>
                          <a:cs typeface="+mn-cs"/>
                        </a:rPr>
                        <a:t>Interpreter takes single instruction as input.</a:t>
                      </a:r>
                      <a:endParaRPr lang="en-US" dirty="0"/>
                    </a:p>
                  </a:txBody>
                  <a:tcPr/>
                </a:tc>
              </a:tr>
              <a:tr h="812361">
                <a:tc>
                  <a:txBody>
                    <a:bodyPr/>
                    <a:lstStyle/>
                    <a:p>
                      <a:pPr algn="just"/>
                      <a:r>
                        <a:rPr lang="en-US" sz="1800" kern="1200" dirty="0">
                          <a:solidFill>
                            <a:schemeClr val="dk1"/>
                          </a:solidFill>
                          <a:effectLst/>
                          <a:latin typeface="+mn-lt"/>
                          <a:ea typeface="+mn-ea"/>
                          <a:cs typeface="+mn-cs"/>
                        </a:rPr>
                        <a:t>Intermediate Object code is generated.</a:t>
                      </a:r>
                      <a:endParaRPr lang="en-US" b="0" dirty="0"/>
                    </a:p>
                  </a:txBody>
                  <a:tcPr/>
                </a:tc>
                <a:tc>
                  <a:txBody>
                    <a:bodyPr/>
                    <a:lstStyle/>
                    <a:p>
                      <a:r>
                        <a:rPr lang="en-US" dirty="0"/>
                        <a:t>No Intermediate Object Code is Generated</a:t>
                      </a:r>
                      <a:endParaRPr lang="en-US" dirty="0"/>
                    </a:p>
                  </a:txBody>
                  <a:tcPr/>
                </a:tc>
              </a:tr>
              <a:tr h="470653">
                <a:tc>
                  <a:txBody>
                    <a:bodyPr/>
                    <a:lstStyle/>
                    <a:p>
                      <a:r>
                        <a:rPr lang="en-US" sz="1800" b="0" kern="1200" dirty="0">
                          <a:solidFill>
                            <a:schemeClr val="dk1"/>
                          </a:solidFill>
                          <a:effectLst/>
                          <a:latin typeface="+mn-lt"/>
                          <a:ea typeface="+mn-ea"/>
                          <a:cs typeface="+mn-cs"/>
                        </a:rPr>
                        <a:t>Memory Requirement: More </a:t>
                      </a:r>
                      <a:endParaRPr lang="en-US" b="0" dirty="0"/>
                    </a:p>
                  </a:txBody>
                  <a:tcPr/>
                </a:tc>
                <a:tc>
                  <a:txBody>
                    <a:bodyPr/>
                    <a:lstStyle/>
                    <a:p>
                      <a:r>
                        <a:rPr lang="en-US" sz="1800" b="0" kern="1200" dirty="0">
                          <a:solidFill>
                            <a:schemeClr val="dk1"/>
                          </a:solidFill>
                          <a:effectLst/>
                          <a:latin typeface="+mn-lt"/>
                          <a:ea typeface="+mn-ea"/>
                          <a:cs typeface="+mn-cs"/>
                        </a:rPr>
                        <a:t>Memory Requirement is Less</a:t>
                      </a:r>
                      <a:endParaRPr lang="en-US" b="0" dirty="0"/>
                    </a:p>
                  </a:txBody>
                  <a:tcPr/>
                </a:tc>
              </a:tr>
              <a:tr h="1160515">
                <a:tc>
                  <a:txBody>
                    <a:bodyPr/>
                    <a:lstStyle/>
                    <a:p>
                      <a:pPr algn="just"/>
                      <a:r>
                        <a:rPr lang="en-US" dirty="0"/>
                        <a:t>Program need not be compiled every time . </a:t>
                      </a:r>
                      <a:endParaRPr lang="en-US" dirty="0"/>
                    </a:p>
                  </a:txBody>
                  <a:tcPr/>
                </a:tc>
                <a:tc>
                  <a:txBody>
                    <a:bodyPr/>
                    <a:lstStyle/>
                    <a:p>
                      <a:r>
                        <a:rPr lang="en-US" sz="1800" kern="1200" dirty="0">
                          <a:solidFill>
                            <a:schemeClr val="dk1"/>
                          </a:solidFill>
                          <a:effectLst/>
                          <a:latin typeface="+mn-lt"/>
                          <a:ea typeface="+mn-ea"/>
                          <a:cs typeface="+mn-cs"/>
                        </a:rPr>
                        <a:t>Every time higher level program</a:t>
                      </a:r>
                      <a:endParaRPr lang="en-US" sz="1800" kern="1200" dirty="0">
                        <a:solidFill>
                          <a:schemeClr val="dk1"/>
                        </a:solidFill>
                        <a:effectLst/>
                        <a:latin typeface="+mn-lt"/>
                        <a:ea typeface="+mn-ea"/>
                        <a:cs typeface="+mn-cs"/>
                      </a:endParaRPr>
                    </a:p>
                    <a:p>
                      <a:r>
                        <a:rPr lang="en-US" sz="1800" kern="1200" dirty="0">
                          <a:solidFill>
                            <a:schemeClr val="dk1"/>
                          </a:solidFill>
                          <a:effectLst/>
                          <a:latin typeface="+mn-lt"/>
                          <a:ea typeface="+mn-ea"/>
                          <a:cs typeface="+mn-cs"/>
                        </a:rPr>
                        <a:t>Is converted into lower level program. </a:t>
                      </a:r>
                      <a:endParaRPr lang="en-US" dirty="0"/>
                    </a:p>
                  </a:txBody>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Lecture References</a:t>
            </a:r>
            <a:endParaRPr lang="en-US" sz="2600" b="1" dirty="0">
              <a:solidFill>
                <a:schemeClr val="tx1"/>
              </a:solidFill>
            </a:endParaRPr>
          </a:p>
        </p:txBody>
      </p:sp>
      <p:sp>
        <p:nvSpPr>
          <p:cNvPr id="5" name="TextBox 4"/>
          <p:cNvSpPr txBox="1"/>
          <p:nvPr/>
        </p:nvSpPr>
        <p:spPr>
          <a:xfrm>
            <a:off x="783772" y="2435897"/>
            <a:ext cx="7151958" cy="646331"/>
          </a:xfrm>
          <a:prstGeom prst="rect">
            <a:avLst/>
          </a:prstGeom>
          <a:noFill/>
        </p:spPr>
        <p:txBody>
          <a:bodyPr wrap="none" rtlCol="0">
            <a:spAutoFit/>
          </a:bodyPr>
          <a:lstStyle/>
          <a:p>
            <a:r>
              <a:rPr lang="en-US" dirty="0"/>
              <a:t>A. </a:t>
            </a:r>
            <a:r>
              <a:rPr lang="en-US" dirty="0" err="1"/>
              <a:t>Aho</a:t>
            </a:r>
            <a:r>
              <a:rPr lang="en-US" dirty="0"/>
              <a:t>, R. </a:t>
            </a:r>
            <a:r>
              <a:rPr lang="en-US" dirty="0" err="1"/>
              <a:t>Sethi</a:t>
            </a:r>
            <a:r>
              <a:rPr lang="en-US" dirty="0"/>
              <a:t> and J. Ullman, </a:t>
            </a:r>
            <a:r>
              <a:rPr lang="en-US" b="1" i="1" dirty="0"/>
              <a:t>Compilers: Principles, Techniques and Tools</a:t>
            </a:r>
            <a:endParaRPr lang="en-US" b="1" i="1" dirty="0"/>
          </a:p>
          <a:p>
            <a:r>
              <a:rPr lang="en-US" i="1" dirty="0"/>
              <a:t>(</a:t>
            </a:r>
            <a:r>
              <a:rPr lang="en-US" dirty="0"/>
              <a:t>The Dragon Book</a:t>
            </a:r>
            <a:r>
              <a:rPr lang="en-US" i="1" dirty="0"/>
              <a:t>)</a:t>
            </a:r>
            <a:r>
              <a:rPr lang="en-US" dirty="0"/>
              <a:t>,   [ Second Edition]</a:t>
            </a:r>
            <a:endParaRPr lang="en-US" dirty="0"/>
          </a:p>
        </p:txBody>
      </p:sp>
      <p:sp>
        <p:nvSpPr>
          <p:cNvPr id="2" name="TextBox 1"/>
          <p:cNvSpPr txBox="1"/>
          <p:nvPr/>
        </p:nvSpPr>
        <p:spPr>
          <a:xfrm>
            <a:off x="10319657" y="4760686"/>
            <a:ext cx="184731" cy="369332"/>
          </a:xfrm>
          <a:prstGeom prst="rect">
            <a:avLst/>
          </a:prstGeom>
          <a:noFill/>
        </p:spPr>
        <p:txBody>
          <a:bodyPr wrap="none" rtlCol="0">
            <a:spAutoFit/>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endParaRPr lang="en-US" sz="2600" b="1" dirty="0">
              <a:solidFill>
                <a:schemeClr val="tx1"/>
              </a:solidFill>
            </a:endParaRPr>
          </a:p>
        </p:txBody>
      </p:sp>
      <p:sp>
        <p:nvSpPr>
          <p:cNvPr id="3" name="TextBox 2"/>
          <p:cNvSpPr txBox="1"/>
          <p:nvPr/>
        </p:nvSpPr>
        <p:spPr>
          <a:xfrm>
            <a:off x="783772" y="2435897"/>
            <a:ext cx="184731" cy="369332"/>
          </a:xfrm>
          <a:prstGeom prst="rect">
            <a:avLst/>
          </a:prstGeom>
          <a:noFill/>
        </p:spPr>
        <p:txBody>
          <a:bodyPr wrap="none" rtlCol="0">
            <a:spAutoFit/>
          </a:bodyPr>
          <a:lstStyle/>
          <a:p>
            <a:endParaRPr lang="en-US" dirty="0"/>
          </a:p>
        </p:txBody>
      </p:sp>
      <p:sp>
        <p:nvSpPr>
          <p:cNvPr id="2" name="Rectangle 1"/>
          <p:cNvSpPr/>
          <p:nvPr/>
        </p:nvSpPr>
        <p:spPr>
          <a:xfrm>
            <a:off x="783771" y="2235816"/>
            <a:ext cx="6925323" cy="2308324"/>
          </a:xfrm>
          <a:prstGeom prst="rect">
            <a:avLst/>
          </a:prstGeom>
        </p:spPr>
        <p:txBody>
          <a:bodyPr wrap="square">
            <a:spAutoFit/>
          </a:bodyPr>
          <a:lstStyle/>
          <a:p>
            <a:pPr marL="342900" indent="-342900">
              <a:buFont typeface="+mj-lt"/>
              <a:buAutoNum type="arabicPeriod"/>
            </a:pPr>
            <a:r>
              <a:rPr lang="en-US" dirty="0"/>
              <a:t>A. </a:t>
            </a:r>
            <a:r>
              <a:rPr lang="en-US" dirty="0" err="1"/>
              <a:t>Aho</a:t>
            </a:r>
            <a:r>
              <a:rPr lang="en-US" dirty="0"/>
              <a:t>, R. </a:t>
            </a:r>
            <a:r>
              <a:rPr lang="en-US" dirty="0" err="1"/>
              <a:t>Sethi</a:t>
            </a:r>
            <a:r>
              <a:rPr lang="en-US" dirty="0"/>
              <a:t> and J. Ullman, </a:t>
            </a:r>
            <a:r>
              <a:rPr lang="en-US" b="1" i="1" dirty="0"/>
              <a:t>Compilers: Principles, Techniques and Tools</a:t>
            </a:r>
            <a:r>
              <a:rPr lang="en-US" i="1" dirty="0"/>
              <a:t>(</a:t>
            </a:r>
            <a:r>
              <a:rPr lang="en-US" dirty="0"/>
              <a:t>The Dragon Book</a:t>
            </a:r>
            <a:r>
              <a:rPr lang="en-US" i="1" dirty="0"/>
              <a:t>)</a:t>
            </a:r>
            <a:r>
              <a:rPr lang="en-US" dirty="0"/>
              <a:t>,   [ Second Edition]</a:t>
            </a:r>
            <a:endParaRPr lang="en-US" dirty="0"/>
          </a:p>
          <a:p>
            <a:pPr marL="342900" indent="-342900">
              <a:buFont typeface="+mj-lt"/>
              <a:buAutoNum type="arabicPeriod"/>
            </a:pPr>
            <a:endParaRPr lang="en-US" dirty="0"/>
          </a:p>
          <a:p>
            <a:pPr marL="342900" indent="-342900">
              <a:buFont typeface="+mj-lt"/>
              <a:buAutoNum type="arabicPeriod"/>
            </a:pPr>
            <a:r>
              <a:rPr lang="en-US" b="1" dirty="0"/>
              <a:t>Principles of Compiler Design </a:t>
            </a:r>
            <a:r>
              <a:rPr lang="en-US" dirty="0"/>
              <a:t>(2nd Revised Edition 2009) A. A. Puntambekar</a:t>
            </a:r>
            <a:endParaRPr lang="en-US" dirty="0"/>
          </a:p>
          <a:p>
            <a:pPr marL="342900" indent="-342900">
              <a:buFont typeface="+mj-lt"/>
              <a:buAutoNum type="arabicPeriod"/>
            </a:pPr>
            <a:endParaRPr lang="en-US" dirty="0"/>
          </a:p>
          <a:p>
            <a:pPr marL="342900" indent="-342900">
              <a:buFont typeface="+mj-lt"/>
              <a:buAutoNum type="arabicPeriod"/>
            </a:pPr>
            <a:r>
              <a:rPr lang="en-US" dirty="0">
                <a:solidFill>
                  <a:prstClr val="black"/>
                </a:solidFill>
              </a:rPr>
              <a:t>Basics of Compiler Design Torben </a:t>
            </a:r>
            <a:r>
              <a:rPr lang="en-US" dirty="0" err="1">
                <a:solidFill>
                  <a:prstClr val="black"/>
                </a:solidFill>
              </a:rPr>
              <a:t>Mogensen</a:t>
            </a:r>
            <a:endParaRPr lang="en-US" dirty="0">
              <a:solidFill>
                <a:prstClr val="black"/>
              </a:solidFill>
            </a:endParaRPr>
          </a:p>
          <a:p>
            <a:endParaRPr lang="en-US" dirty="0"/>
          </a:p>
        </p:txBody>
      </p:sp>
    </p:spTree>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7366</Words>
  <Application>WPS Presentation</Application>
  <PresentationFormat>On-screen Show (4:3)</PresentationFormat>
  <Paragraphs>320</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Arial</vt:lpstr>
      <vt:lpstr>SimSun</vt:lpstr>
      <vt:lpstr>Wingdings</vt:lpstr>
      <vt:lpstr>Wingdings</vt:lpstr>
      <vt:lpstr>Calibri</vt:lpstr>
      <vt:lpstr>Corbel</vt:lpstr>
      <vt:lpstr>Microsoft YaHei</vt:lpstr>
      <vt:lpstr>Arial Unicode MS</vt:lpstr>
      <vt:lpstr>Calibri</vt:lpstr>
      <vt:lpstr>Spectrum</vt:lpstr>
      <vt:lpstr>Introduction To Compiler</vt:lpstr>
      <vt:lpstr>Lecture Outline</vt:lpstr>
      <vt:lpstr>Vision</vt:lpstr>
      <vt:lpstr>Mission</vt:lpstr>
      <vt:lpstr>Quality Policy</vt:lpstr>
      <vt:lpstr>Goals</vt:lpstr>
      <vt:lpstr>Vision of Computer Science Department</vt:lpstr>
      <vt:lpstr>Mission of Computer Science Department</vt:lpstr>
      <vt:lpstr>Course Evaluation</vt:lpstr>
      <vt:lpstr>Course Evaluation</vt:lpstr>
      <vt:lpstr>Objectives and Outcomes</vt:lpstr>
      <vt:lpstr>Basic things of a Compiler</vt:lpstr>
      <vt:lpstr>Basic things of a Compiler</vt:lpstr>
      <vt:lpstr>Language processors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Compiler</dc:title>
  <dc:creator>Tohedul Islam</dc:creator>
  <cp:lastModifiedBy>Teacher</cp:lastModifiedBy>
  <cp:revision>57</cp:revision>
  <dcterms:created xsi:type="dcterms:W3CDTF">2020-04-25T17:58:00Z</dcterms:created>
  <dcterms:modified xsi:type="dcterms:W3CDTF">2025-07-16T08:15:29Z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5006D5FBDB574688A34D9BA8D0452C3C_12</vt:lpwstr>
  </property>
  <property fmtid="{D5CDD505-2E9C-101B-9397-08002B2CF9AE}" pid="3" name="KSOProductBuildVer">
    <vt:lpwstr>2057-12.2.0.21936</vt:lpwstr>
  </property>
</Properties>
</file>